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a:p>
            <a:r>
              <a:t>GitHub Invertocat logo: GitHub Brand Toolkit, https://brand.github.com/foundations/logo. Original white asset: https://brand.github.com/GitHub_Logos.zip.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 Type="http://schemas.openxmlformats.org/officeDocument/2006/relationships/hyperlink" Target="https://mech-lang.org" TargetMode="External" Id="rId1"/><Relationship Type="http://schemas.openxmlformats.org/officeDocument/2006/relationships/hyperlink" Target="https://github.com/mech-lang/mech" TargetMode="External" Id="rId2"/><Relationship Type="http://schemas.openxmlformats.org/officeDocument/2006/relationships/hyperlink" Target="https://github.com/mech-lang/mech" TargetMode="External" Id="rId3"/><Relationship Type="http://schemas.openxmlformats.org/officeDocument/2006/relationships/image" Target="../media/github-invertocat-white.png" Id="rId4"/></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C85E00"/>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762000"/>
            <a:ext cx="0" cy="4962293"/>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hlinkClick xmlns:r="http://schemas.openxmlformats.org/officeDocument/2006/relationships" r:id="rId1"/>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7" y="4000500"/>
            <a:ext cx="7403335"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4200">
                <a:solidFill>
                  <a:srgbClr val="9EB3C2"/>
                </a:solidFill>
                <a:latin typeface="Fira Code"/>
                <a:ea typeface="Fira Code"/>
                <a:cs typeface="Fira Code"/>
              </a:defRPr>
            </a:pPr>
            <a:r>
              <a:rPr sz="4200" u="none">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1386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1652825"/>
            <a:ext cx="1476375" cy="14763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logic</a:t>
            </a:r>
            <a:r>
              <a:rPr sz="2800">
                <a:solidFill>
                  <a:srgbClr val="99CCA4"/>
                </a:solidFill>
                <a:latin typeface="Fira Code"/>
                <a:ea typeface="Fira Code"/>
                <a:cs typeface="Fira Code"/>
              </a:rPr>
              <a:t>/</a:t>
            </a:r>
            <a:r>
              <a:rPr sz="2800">
                <a:solidFill>
                  <a:srgbClr val="BBDDC2"/>
                </a:solidFill>
                <a:latin typeface="Fira Code"/>
                <a:ea typeface="Fira Code"/>
                <a:cs typeface="Fira Code"/>
              </a:rPr>
              <a:t>all</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337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718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0992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28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offers a concrete syntax that expresses numerical algorithms as typed matrix equations. The bearing-only EKF below expresses prediction and correction at the matrix level.</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compiles a typed dataflow artifact. Its ordinary backend uses nalgebra. Other backends specialize the graph without backend-specific source annotations.</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71900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lowers the same syntax to each backend without source changes. In Rust, layout and batching require backend-specific code or a supporting library.</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19537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Rust SIMD implementation includes vector adapters and a batch dispatcher with rollback. Mech uses reusable compiler and runtime components for these operations, explaining the zero helper and SIMD-support entries.</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3260050" y="41148000"/>
            <a:ext cx="9029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429875"/>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477625"/>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runs standalone or embeds in Rust, from a single numerical function to a reactive subsystem. Rust hosts can compile Mech source or load a dylib. Browser applications can embed it through WebAssembly.</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2620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287375"/>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477875"/>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478375"/>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Compile once, then submit successive measurement updates. Each checked turn retains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2620625"/>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287375"/>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5811500"/>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859375"/>
            <a:ext cx="1014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bundle stores the dylib and metadata for named inputs, exported state and initial values.</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87166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1976437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Robots operate feedback loops over continuous data streams. Rust host drivers supply data directly or through ROS. Each turn checks candidate state against integrity constraints. Rejection notifies the caller and retains prior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4557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00262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19312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926050" y="20955000"/>
            <a:ext cx="37433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Activation checks host availability and capabilities (resource permissions).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622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575000"/>
            <a:ext cx="20716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Mech’s typed graph supports CPU, GPU and WebAssembly/WGPU; the right chart runs one f32 EKF implementation of the displayed equations through five backend configurations without source changes, checked and unchecked. Integrity checks add a runtime cost. Disabling them improves throughput without removing the reactive runtime.</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03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0375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527625"/>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5276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graphicFrame>
        <p:nvGraphicFramePr>
          <p:cNvPr id="681" name="Chart"/>
          <p:cNvGraphicFramePr/>
          <p:nvPr/>
        </p:nvGraphicFramePr>
        <p:xfrm>
          <a:off xmlns:a="http://schemas.openxmlformats.org/drawingml/2006/main" x="80962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581400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56997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581400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569970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checked (bottom)</a:t>
            </a:r>
          </a:p>
        </p:txBody>
      </p:sp>
      <p:graphicFrame>
        <p:nvGraphicFramePr>
          <p:cNvPr id="686" name="Chart"/>
          <p:cNvGraphicFramePr/>
          <p:nvPr/>
        </p:nvGraphicFramePr>
        <p:xfrm>
          <a:off xmlns:a="http://schemas.openxmlformats.org/drawingml/2006/main" x="1157287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45081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426233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3881280"/>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36354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325439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300855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262750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23816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00061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175477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137372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12788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446053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4165533"/>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37082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34132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295600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266099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2203738"/>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190873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14514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156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906250" y="35699700"/>
            <a:ext cx="976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SIMD JIT and AOT share the numerical compilation pipeline.</a:t>
            </a:r>
          </a:p>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1w/8w: one/eight workers. Worker scaling depends on host support.</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6385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7290375"/>
            <a:ext cx="20716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v0.4-beta is a prerelease with implemented features that need further validation and hardening. Over the next year, we plan to expand limited deployments on research robots, gather feedback, and implement additional hosts and language features toward a v1.0 release in 2028.</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88620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88620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88620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88620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86905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86905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88048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00"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86905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86905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098607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6C04E"/>
                </a:solidFill>
                <a:latin typeface="Avenir Next"/>
                <a:ea typeface="Avenir Next"/>
                <a:cs typeface="Avenir Next"/>
              </a:defRPr>
            </a:pPr>
            <a:r>
              <a:rPr sz="1800" b="0">
                <a:solidFill>
                  <a:srgbClr val="F6C04E"/>
                </a:solidFill>
                <a:latin typeface="Avenir Next"/>
                <a:ea typeface="Avenir Next"/>
                <a:cs typeface="Avenir Next"/>
              </a:rPr>
              <a:t>Experience this poster as a live reactive program: CPU/WGPU in WebAssembly.</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526875"/>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2740938"/>
            <a:ext cx="666750" cy="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274093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274093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2740938"/>
            <a:ext cx="6667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1764625"/>
            <a:ext cx="0" cy="357188"/>
          </a:xfrm>
          <a:prstGeom xmlns:a="http://schemas.openxmlformats.org/drawingml/2006/main" prst="straightConnector1">
            <a:avLst/>
          </a:prstGeom>
          <a:ln xmlns:a="http://schemas.openxmlformats.org/drawingml/2006/main" w="38100">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1764625"/>
            <a:ext cx="0" cy="57150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593675"/>
            <a:ext cx="0" cy="171450"/>
          </a:xfrm>
          <a:prstGeom xmlns:a="http://schemas.openxmlformats.org/drawingml/2006/main" prst="straightConnector1">
            <a:avLst/>
          </a:prstGeom>
          <a:ln xmlns:a="http://schemas.openxmlformats.org/drawingml/2006/main" w="38100">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6532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6532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788938"/>
            <a:ext cx="809625" cy="1"/>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788938"/>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788938"/>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5925860"/>
            <a:ext cx="1131094" cy="857250"/>
          </a:xfrm>
          <a:prstGeom xmlns:a="http://schemas.openxmlformats.org/drawingml/2006/main" prst="curvedConnector3">
            <a:avLst>
              <a:gd name="adj1" fmla="val 50000"/>
            </a:avLst>
          </a:prstGeom>
          <a:ln xmlns:a="http://schemas.openxmlformats.org/drawingml/2006/main" w="38100">
            <a:solidFill>
              <a:srgbClr val="EF948D"/>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191244"/>
            <a:ext cx="528638"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5972294"/>
            <a:ext cx="1033462"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19312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33612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33612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12181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33612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33612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computation</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18122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38125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169813"/>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6697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1936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7651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4985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4985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360313"/>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360313"/>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497455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550938"/>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0510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F948D"/>
                </a:solidFill>
                <a:latin typeface="Fira Code"/>
                <a:ea typeface="Fira Code"/>
                <a:cs typeface="Fira Code"/>
              </a:defRPr>
            </a:pPr>
            <a:r>
              <a:rPr sz="1875" b="1">
                <a:solidFill>
                  <a:srgbClr val="EF948D"/>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431625"/>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289000"/>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384125"/>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5078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EKF state telemetry</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4860250"/>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193625"/>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3842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717625"/>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431750"/>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346150"/>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419350" y="41757600"/>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xmlns:a="http://schemas.openxmlformats.org/drawingml/2006/main" w="36195" cap="rnd">
            <a:solidFill>
              <a:srgbClr val="F6C04E"/>
            </a:solidFill>
            <a:custDash>
              <a:ds d="200000" sp="170000"/>
              <a:ds d="145000" sp="210000"/>
              <a:ds d="235000" sp="155000"/>
              <a:ds d="175000" sp="190000"/>
            </a:custDash>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383000"/>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3717250"/>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145750"/>
            <a:ext cx="0" cy="571500"/>
          </a:xfrm>
          <a:prstGeom xmlns:a="http://schemas.openxmlformats.org/drawingml/2006/main" prst="straightConnector1">
            <a:avLst/>
          </a:prstGeom>
          <a:ln xmlns:a="http://schemas.openxmlformats.org/drawingml/2006/main" w="38100">
            <a:solidFill>
              <a:srgbClr val="EF948D"/>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446053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446053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37082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37082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295600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295600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2203738"/>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2203738"/>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14514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14514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4165533"/>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4165533"/>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34132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34132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266099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266099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190873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190873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156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156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6573500"/>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7146250" y="15176497"/>
            <a:ext cx="4857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+&gt; import library</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mutable</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define</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assign</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matrix multiply</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transpose</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broadcast multiply</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x! integrity constraint</a:t>
            </a:r>
          </a:p>
        </p:txBody>
      </p:sp>
      <p:sp>
        <p:nvSpPr>
          <p:cNvPr id="816" name="Motivation Rust">
            <a:extLst xmlns:a="http://schemas.openxmlformats.org/drawingml/2006/main">
              <a:ext uri="{FF2B5EF4-FFF2-40B4-BE49-F238E27FC236}">
                <a16:creationId xmlns:a16="http://schemas.microsoft.com/office/drawing/2014/main" id="{68FFA313-5A71-40BE-9812-76E8E24DE968}"/>
              </a:ext>
            </a:extLst>
          </p:cNvPr>
          <p:cNvSpPr>
            <a:spLocks xmlns:a="http://schemas.openxmlformats.org/drawingml/2006/main" noGrp="1"/>
          </p:cNvSpPr>
          <p:nvPr/>
        </p:nvSpPr>
        <p:spPr>
          <a:xfrm xmlns:a="http://schemas.openxmlformats.org/drawingml/2006/main">
            <a:off x="952500" y="7524750"/>
            <a:ext cx="9953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Rust’s memory safety and per­for­mance make it a strong foun­da­tion for robotics. Still, nu­mer­i­cal kernels can require sub­stan­tial code for SIMD layouts and GPU ex­e­cu­tion. Backend-specific im­ple­men­ta­tions can be harder to verify against the equations and maintain.</a:t>
            </a:r>
          </a:p>
        </p:txBody>
      </p:sp>
      <p:sp>
        <p:nvSpPr>
          <p:cNvPr id="817" name="Motivation Mech">
            <a:extLst xmlns:a="http://schemas.openxmlformats.org/drawingml/2006/main">
              <a:ext uri="{FF2B5EF4-FFF2-40B4-BE49-F238E27FC236}">
                <a16:creationId xmlns:a16="http://schemas.microsoft.com/office/drawing/2014/main" id="{DEE16B77-DA84-4EC8-8EF8-100B6EA5909D}"/>
              </a:ext>
            </a:extLst>
          </p:cNvPr>
          <p:cNvSpPr>
            <a:spLocks xmlns:a="http://schemas.openxmlformats.org/drawingml/2006/main" noGrp="1"/>
          </p:cNvSpPr>
          <p:nvPr/>
        </p:nvSpPr>
        <p:spPr>
          <a:xfrm xmlns:a="http://schemas.openxmlformats.org/drawingml/2006/main">
            <a:off x="11715750" y="7524750"/>
            <a:ext cx="9953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Mech is an open-source, Rust-native em­bed­dable language that aims to make nu­mer­i­cal kernels easier to write in Rust. For robotics, it adds re­ac­tive semantics that process suc­ces­sive sensor updates, validate can­di­date state and retain the last accepted state when a turn fails.</a:t>
            </a:r>
          </a:p>
        </p:txBody>
      </p:sp>
      <p:sp>
        <p:nvSpPr>
          <p:cNvPr id="818" name="Motivation scope and demo">
            <a:extLst xmlns:a="http://schemas.openxmlformats.org/drawingml/2006/main">
              <a:ext uri="{FF2B5EF4-FFF2-40B4-BE49-F238E27FC236}">
                <a16:creationId xmlns:a16="http://schemas.microsoft.com/office/drawing/2014/main" id="{F01A6859-AE51-4FA3-8C51-A58720F278CB}"/>
              </a:ext>
            </a:extLst>
          </p:cNvPr>
          <p:cNvSpPr>
            <a:spLocks xmlns:a="http://schemas.openxmlformats.org/drawingml/2006/main" noGrp="1"/>
          </p:cNvSpPr>
          <p:nvPr/>
        </p:nvSpPr>
        <p:spPr>
          <a:xfrm xmlns:a="http://schemas.openxmlformats.org/drawingml/2006/main">
            <a:off x="1190625" y="10029825"/>
            <a:ext cx="1857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2EAD9"/>
                </a:solidFill>
                <a:latin typeface="Avenir Next"/>
                <a:ea typeface="Avenir Next"/>
                <a:cs typeface="Avenir Next"/>
              </a:defRPr>
            </a:pPr>
            <a:r>
              <a:rPr sz="2100">
                <a:solidFill>
                  <a:srgbClr val="F2EAD9"/>
                </a:solidFill>
                <a:latin typeface="Avenir Next"/>
                <a:ea typeface="Avenir Next"/>
                <a:cs typeface="Avenir Next"/>
              </a:rPr>
              <a:t>This case study presents Mech’s numerical features. Mech also has first-class state machines and pattern matching. </a:t>
            </a:r>
            <a:r>
              <a:rPr sz="2100" b="1">
                <a:solidFill>
                  <a:srgbClr val="F6C04E"/>
                </a:solidFill>
                <a:latin typeface="Avenir Next"/>
                <a:ea typeface="Avenir Next"/>
                <a:cs typeface="Avenir Next"/>
              </a:rPr>
              <a:t>Scan the QR code.</a:t>
            </a:r>
          </a:p>
        </p:txBody>
      </p:sp>
      <p:sp>
        <p:nvSpPr>
          <p:cNvPr id="823" name="Benchmark note 0">
            <a:extLst xmlns:a="http://schemas.openxmlformats.org/drawingml/2006/main">
              <a:ext uri="{FF2B5EF4-FFF2-40B4-BE49-F238E27FC236}">
                <a16:creationId xmlns:a16="http://schemas.microsoft.com/office/drawing/2014/main" id="{CC0DB177-484E-41EB-89BF-6763E656A03F}"/>
              </a:ext>
            </a:extLst>
          </p:cNvPr>
          <p:cNvSpPr>
            <a:spLocks xmlns:a="http://schemas.openxmlformats.org/drawingml/2006/main" noGrp="1"/>
          </p:cNvSpPr>
          <p:nvPr/>
        </p:nvSpPr>
        <p:spPr>
          <a:xfrm xmlns:a="http://schemas.openxmlformats.org/drawingml/2006/main">
            <a:off x="3829050" y="419862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Benchmark setup. Apple M1: 4P + 4E CPU, 8-core GPU, 8 GB, macOS 15.6.1. Charts: f32, 500,000 filters × 40 turns, n=10. Median ± MAD.</a:t>
            </a:r>
          </a:p>
        </p:txBody>
      </p:sp>
      <p:sp>
        <p:nvSpPr>
          <p:cNvPr id="824" name="Benchmark note 1">
            <a:extLst xmlns:a="http://schemas.openxmlformats.org/drawingml/2006/main">
              <a:ext uri="{FF2B5EF4-FFF2-40B4-BE49-F238E27FC236}">
                <a16:creationId xmlns:a16="http://schemas.microsoft.com/office/drawing/2014/main" id="{CCFB6DA7-0564-4FEB-867A-2F2801D1B77C}"/>
              </a:ext>
            </a:extLst>
          </p:cNvPr>
          <p:cNvSpPr>
            <a:spLocks xmlns:a="http://schemas.openxmlformats.org/drawingml/2006/main" noGrp="1"/>
          </p:cNvSpPr>
          <p:nvPr/>
        </p:nvSpPr>
        <p:spPr>
          <a:xfrm xmlns:a="http://schemas.openxmlformats.org/drawingml/2006/main">
            <a:off x="3829050" y="422529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Rust 1.96.0-nightly ec818fda3/LLVM 22.1.0. Cranelift 0.131.3. Julia 1.12.6. Mojo 1.1.0/MAX 26.6.0. Futhark 0.27.1/ISPC 1.31.0/LLVM 22.1.8. Python 3.12.14/NumPy 2.2.6/Numba 0.61.2. Clang 17.0.0.</a:t>
            </a:r>
          </a:p>
        </p:txBody>
      </p:sp>
      <p:sp>
        <p:nvSpPr>
          <p:cNvPr id="825" name="Benchmark note 2">
            <a:extLst xmlns:a="http://schemas.openxmlformats.org/drawingml/2006/main">
              <a:ext uri="{FF2B5EF4-FFF2-40B4-BE49-F238E27FC236}">
                <a16:creationId xmlns:a16="http://schemas.microsoft.com/office/drawing/2014/main" id="{55C031D4-494D-43D3-9DCF-924C84FB2E0E}"/>
              </a:ext>
            </a:extLst>
          </p:cNvPr>
          <p:cNvSpPr>
            <a:spLocks xmlns:a="http://schemas.openxmlformats.org/drawingml/2006/main" noGrp="1"/>
          </p:cNvSpPr>
          <p:nvPr/>
        </p:nvSpPr>
        <p:spPr>
          <a:xfrm xmlns:a="http://schemas.openxmlformats.org/drawingml/2006/main">
            <a:off x="3829050" y="425196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Mech v0.4 development (package 0.3.6). Backend pairs f4b69052c, CPU eedc1c75b, dylibs dab98af1d. iros-workshop-benchmarks, benchmarks/iros-2026.</a:t>
            </a:r>
          </a:p>
        </p:txBody>
      </p:sp>
      <p:sp>
        <p:nvSpPr>
          <p:cNvPr id="826" name="Benchmark note 3">
            <a:extLst xmlns:a="http://schemas.openxmlformats.org/drawingml/2006/main">
              <a:ext uri="{FF2B5EF4-FFF2-40B4-BE49-F238E27FC236}">
                <a16:creationId xmlns:a16="http://schemas.microsoft.com/office/drawing/2014/main" id="{C5E5E0F0-C311-4005-8B3E-2162DF6FB474}"/>
              </a:ext>
            </a:extLst>
          </p:cNvPr>
          <p:cNvSpPr>
            <a:spLocks xmlns:a="http://schemas.openxmlformats.org/drawingml/2006/main" noGrp="1"/>
          </p:cNvSpPr>
          <p:nvPr/>
        </p:nvSpPr>
        <p:spPr>
          <a:xfrm xmlns:a="http://schemas.openxmlformats.org/drawingml/2006/main">
            <a:off x="3829050" y="427863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Dylibs: minimal native-ABI hosts, 1 worker, 10,000 filters × 200 turns, n=7. Whole-process peak RSS. Timing excludes compilation, loading and warmup.</a:t>
            </a:r>
          </a:p>
        </p:txBody>
      </p:sp>
      <p:sp>
        <p:nvSpPr>
          <p:cNvPr id="827" name="Benchmark marker 3">
            <a:extLst xmlns:a="http://schemas.openxmlformats.org/drawingml/2006/main">
              <a:ext uri="{FF2B5EF4-FFF2-40B4-BE49-F238E27FC236}">
                <a16:creationId xmlns:a16="http://schemas.microsoft.com/office/drawing/2014/main" id="{C3604088-F319-4527-9958-4B7FA5719E6E}"/>
              </a:ext>
            </a:extLst>
          </p:cNvPr>
          <p:cNvSpPr>
            <a:spLocks xmlns:a="http://schemas.openxmlformats.org/drawingml/2006/main" noGrp="1"/>
          </p:cNvSpPr>
          <p:nvPr/>
        </p:nvSpPr>
        <p:spPr>
          <a:xfrm xmlns:a="http://schemas.openxmlformats.org/drawingml/2006/main">
            <a:off x="3619500" y="427863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7CE6E"/>
                </a:solidFill>
                <a:latin typeface="Fira Code"/>
                <a:ea typeface="Fira Code"/>
                <a:cs typeface="Fira Code"/>
              </a:defRPr>
            </a:pPr>
            <a:r>
              <a:rPr sz="2100">
                <a:solidFill>
                  <a:srgbClr val="F7CE6E"/>
                </a:solidFill>
                <a:latin typeface="Fira Code"/>
                <a:ea typeface="Fira Code"/>
                <a:cs typeface="Fira Code"/>
              </a:rPr>
              <a:t>†</a:t>
            </a:r>
          </a:p>
        </p:txBody>
      </p:sp>
      <p:sp>
        <p:nvSpPr>
          <p:cNvPr id="832" name="Motivation information accent">
            <a:extLst xmlns:a="http://schemas.openxmlformats.org/drawingml/2006/main">
              <a:ext uri="{FF2B5EF4-FFF2-40B4-BE49-F238E27FC236}">
                <a16:creationId xmlns:a16="http://schemas.microsoft.com/office/drawing/2014/main" id="{0BCD3C3A-BD75-4527-9C78-47B07437846D}"/>
              </a:ext>
            </a:extLst>
          </p:cNvPr>
          <p:cNvSpPr>
            <a:spLocks xmlns:a="http://schemas.openxmlformats.org/drawingml/2006/main" noGrp="1"/>
          </p:cNvSpPr>
          <p:nvPr/>
        </p:nvSpPr>
        <p:spPr>
          <a:xfrm xmlns:a="http://schemas.openxmlformats.org/drawingml/2006/main">
            <a:off x="952500" y="10029825"/>
            <a:ext cx="57150" cy="3619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4" name="Visible dylib dagger">
            <a:extLst xmlns:a="http://schemas.openxmlformats.org/drawingml/2006/main">
              <a:ext uri="{FF2B5EF4-FFF2-40B4-BE49-F238E27FC236}">
                <a16:creationId xmlns:a16="http://schemas.microsoft.com/office/drawing/2014/main" id="{4484D0DE-2981-47C6-989F-D43F7EC7986F}"/>
              </a:ext>
            </a:extLst>
          </p:cNvPr>
          <p:cNvSpPr>
            <a:spLocks xmlns:a="http://schemas.openxmlformats.org/drawingml/2006/main" noGrp="1"/>
          </p:cNvSpPr>
          <p:nvPr/>
        </p:nvSpPr>
        <p:spPr>
          <a:xfrm xmlns:a="http://schemas.openxmlformats.org/drawingml/2006/main">
            <a:off x="14516100" y="12553950"/>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550">
                <a:solidFill>
                  <a:srgbClr val="F6C04E"/>
                </a:solidFill>
                <a:latin typeface="Fira Code"/>
                <a:ea typeface="Fira Code"/>
                <a:cs typeface="Fira Code"/>
              </a:defRPr>
            </a:pPr>
            <a:r>
              <a:rPr sz="2550">
                <a:solidFill>
                  <a:srgbClr val="F6C04E"/>
                </a:solidFill>
                <a:latin typeface="Fira Code"/>
                <a:ea typeface="Fira Code"/>
                <a:cs typeface="Fira Code"/>
              </a:rPr>
              <a:t>†</a:t>
            </a:r>
          </a:p>
        </p:txBody>
      </p:sp>
      <p:sp>
        <p:nvSpPr>
          <p:cNvPr id="835" name="Activation information accent">
            <a:extLst xmlns:a="http://schemas.openxmlformats.org/drawingml/2006/main">
              <a:ext uri="{FF2B5EF4-FFF2-40B4-BE49-F238E27FC236}">
                <a16:creationId xmlns:a16="http://schemas.microsoft.com/office/drawing/2014/main" id="{2E220D12-8EA1-465F-8887-B9EBC5158EE3}"/>
              </a:ext>
            </a:extLst>
          </p:cNvPr>
          <p:cNvSpPr>
            <a:spLocks xmlns:a="http://schemas.openxmlformats.org/drawingml/2006/main" noGrp="1"/>
          </p:cNvSpPr>
          <p:nvPr/>
        </p:nvSpPr>
        <p:spPr>
          <a:xfrm xmlns:a="http://schemas.openxmlformats.org/drawingml/2006/main">
            <a:off x="17716500" y="20955000"/>
            <a:ext cx="57150" cy="10096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6" name="Source comparison title continuation">
            <a:extLst xmlns:a="http://schemas.openxmlformats.org/drawingml/2006/main">
              <a:ext uri="{FF2B5EF4-FFF2-40B4-BE49-F238E27FC236}">
                <a16:creationId xmlns:a16="http://schemas.microsoft.com/office/drawing/2014/main" id="{5B87583D-9095-4EDF-BAB9-8547E9AEF640}"/>
              </a:ext>
            </a:extLst>
          </p:cNvPr>
          <p:cNvSpPr>
            <a:spLocks xmlns:a="http://schemas.openxmlformats.org/drawingml/2006/main" noGrp="1"/>
          </p:cNvSpPr>
          <p:nvPr/>
        </p:nvSpPr>
        <p:spPr>
          <a:xfrm xmlns:a="http://schemas.openxmlformats.org/drawingml/2006/main">
            <a:off x="25336500" y="3409950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50">
                <a:solidFill>
                  <a:srgbClr val="7FC7FF"/>
                </a:solidFill>
                <a:latin typeface="Fira Code"/>
                <a:ea typeface="Fira Code"/>
                <a:cs typeface="Fira Code"/>
              </a:defRPr>
            </a:pPr>
            <a:r>
              <a:rPr sz="2850" b="1">
                <a:solidFill>
                  <a:srgbClr val="7FC7FF"/>
                </a:solidFill>
                <a:latin typeface="Fira Code"/>
                <a:ea typeface="Fira Code"/>
                <a:cs typeface="Fira Code"/>
              </a:rPr>
              <a:t>source characters</a:t>
            </a:r>
          </a:p>
        </p:txBody>
      </p:sp>
      <p:sp>
        <p:nvSpPr>
          <p:cNvPr id="837" name="Normalization diamond reference">
            <a:extLst xmlns:a="http://schemas.openxmlformats.org/drawingml/2006/main">
              <a:ext uri="{FF2B5EF4-FFF2-40B4-BE49-F238E27FC236}">
                <a16:creationId xmlns:a16="http://schemas.microsoft.com/office/drawing/2014/main" id="{31B3873B-A372-41C5-B0CA-19C3287AFC79}"/>
              </a:ext>
            </a:extLst>
          </p:cNvPr>
          <p:cNvSpPr>
            <a:spLocks xmlns:a="http://schemas.openxmlformats.org/drawingml/2006/main" noGrp="1"/>
          </p:cNvSpPr>
          <p:nvPr/>
        </p:nvSpPr>
        <p:spPr>
          <a:xfrm xmlns:a="http://schemas.openxmlformats.org/drawingml/2006/main">
            <a:off x="25050750" y="34204275"/>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8" name="Normalization diamond note">
            <a:extLst xmlns:a="http://schemas.openxmlformats.org/drawingml/2006/main">
              <a:ext uri="{FF2B5EF4-FFF2-40B4-BE49-F238E27FC236}">
                <a16:creationId xmlns:a16="http://schemas.microsoft.com/office/drawing/2014/main" id="{DEAB11C8-530D-461A-96D5-9F143B114A4E}"/>
              </a:ext>
            </a:extLst>
          </p:cNvPr>
          <p:cNvSpPr>
            <a:spLocks xmlns:a="http://schemas.openxmlformats.org/drawingml/2006/main" noGrp="1"/>
          </p:cNvSpPr>
          <p:nvPr/>
        </p:nvSpPr>
        <p:spPr>
          <a:xfrm xmlns:a="http://schemas.openxmlformats.org/drawingml/2006/main">
            <a:off x="22764750" y="41205150"/>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9" name="GitHub repository link">
            <a:hlinkClick xmlns:r="http://schemas.openxmlformats.org/officeDocument/2006/relationships" r:id="rId2"/>
            <a:extLst xmlns:a="http://schemas.openxmlformats.org/drawingml/2006/main">
              <a:ext uri="{FF2B5EF4-FFF2-40B4-BE49-F238E27FC236}">
                <a16:creationId xmlns:a16="http://schemas.microsoft.com/office/drawing/2014/main" id="{6ADE8C1B-F812-47D9-8751-4D68ACA56770}"/>
              </a:ext>
            </a:extLst>
          </p:cNvPr>
          <p:cNvSpPr>
            <a:spLocks xmlns:a="http://schemas.openxmlformats.org/drawingml/2006/main" noGrp="1"/>
          </p:cNvSpPr>
          <p:nvPr/>
        </p:nvSpPr>
        <p:spPr>
          <a:xfrm xmlns:a="http://schemas.openxmlformats.org/drawingml/2006/main">
            <a:off x="2952750" y="4772025"/>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200">
                <a:solidFill>
                  <a:srgbClr val="9EB3C2"/>
                </a:solidFill>
                <a:latin typeface="Fira Code"/>
                <a:ea typeface="Fira Code"/>
                <a:cs typeface="Fira Code"/>
              </a:defRPr>
            </a:pPr>
            <a:r>
              <a:rPr sz="4200" u="none">
                <a:solidFill>
                  <a:srgbClr val="9EB3C2"/>
                </a:solidFill>
                <a:latin typeface="Fira Code"/>
                <a:ea typeface="Fira Code"/>
                <a:cs typeface="Fira Code"/>
              </a:rPr>
              <a:t>mech-lang/mech</a:t>
            </a:r>
          </a:p>
        </p:txBody>
      </p:sp>
      <p:sp>
        <p:nvSpPr>
          <p:cNvPr id="840" name="QR invitation hook">
            <a:extLst xmlns:a="http://schemas.openxmlformats.org/drawingml/2006/main">
              <a:ext uri="{FF2B5EF4-FFF2-40B4-BE49-F238E27FC236}">
                <a16:creationId xmlns:a16="http://schemas.microsoft.com/office/drawing/2014/main" id="{5D82B73E-F2EC-47C0-9AFF-802F5EB68028}"/>
              </a:ext>
            </a:extLst>
          </p:cNvPr>
          <p:cNvSpPr>
            <a:spLocks xmlns:a="http://schemas.openxmlformats.org/drawingml/2006/main" noGrp="1"/>
          </p:cNvSpPr>
          <p:nvPr/>
        </p:nvSpPr>
        <p:spPr>
          <a:xfrm xmlns:a="http://schemas.openxmlformats.org/drawingml/2006/main">
            <a:off x="17554575" y="10096500"/>
            <a:ext cx="1066800" cy="809625"/>
          </a:xfrm>
          <a:custGeom>
            <a:avLst/>
            <a:gdLst/>
            <a:ahLst/>
            <a:cxnLst/>
            <a:rect l="0" t="0" r="r" b="b"/>
            <a:pathLst>
              <a:path w="1120" h="850" fill="none" stroke="1">
                <a:moveTo>
                  <a:pt x="0" y="130"/>
                </a:moveTo>
                <a:cubicBezTo>
                  <a:pt x="930" y="-40"/>
                  <a:pt x="1000" y="60"/>
                  <a:pt x="930" y="220"/>
                </a:cubicBezTo>
                <a:cubicBezTo>
                  <a:pt x="810" y="380"/>
                  <a:pt x="460" y="330"/>
                  <a:pt x="190" y="850"/>
                </a:cubicBezTo>
              </a:path>
            </a:pathLst>
          </a:custGeom>
          <a:noFill/>
          <a:ln w="42863" cap="rnd">
            <a:solidFill>
              <a:srgbClr val="F6C04E"/>
            </a:solidFill>
            <a:prstDash val="sysDot"/>
            <a:tailEnd type="arrow" w="lg" len="lg"/>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41" name="Benchmark setup title reference">
            <a:extLst xmlns:a="http://schemas.openxmlformats.org/drawingml/2006/main">
              <a:ext uri="{FF2B5EF4-FFF2-40B4-BE49-F238E27FC236}">
                <a16:creationId xmlns:a16="http://schemas.microsoft.com/office/drawing/2014/main" id="{42D6F962-7EE6-4B9D-9E97-C1590F804BB5}"/>
              </a:ext>
            </a:extLst>
          </p:cNvPr>
          <p:cNvSpPr>
            <a:spLocks xmlns:a="http://schemas.openxmlformats.org/drawingml/2006/main" noGrp="1"/>
          </p:cNvSpPr>
          <p:nvPr/>
        </p:nvSpPr>
        <p:spPr>
          <a:xfrm xmlns:a="http://schemas.openxmlformats.org/drawingml/2006/main">
            <a:off x="9222391" y="29937075"/>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400">
                <a:solidFill>
                  <a:srgbClr val="F6C04E"/>
                </a:solidFill>
                <a:latin typeface="Fira Code"/>
                <a:ea typeface="Fira Code"/>
                <a:cs typeface="Fira Code"/>
              </a:defRPr>
            </a:pPr>
            <a:r>
              <a:rPr sz="2400">
                <a:solidFill>
                  <a:srgbClr val="F6C04E"/>
                </a:solidFill>
                <a:latin typeface="Fira Code"/>
                <a:ea typeface="Fira Code"/>
                <a:cs typeface="Fira Code"/>
              </a:rPr>
              <a:t>‡</a:t>
            </a:r>
          </a:p>
        </p:txBody>
      </p:sp>
      <p:sp>
        <p:nvSpPr>
          <p:cNvPr id="842" name="EKF integrity constraint">
            <a:extLst xmlns:a="http://schemas.openxmlformats.org/drawingml/2006/main">
              <a:ext uri="{FF2B5EF4-FFF2-40B4-BE49-F238E27FC236}">
                <a16:creationId xmlns:a16="http://schemas.microsoft.com/office/drawing/2014/main" id="{BB9B39EC-5AB5-4A66-9059-747376F98062}"/>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00">
                <a:solidFill>
                  <a:srgbClr val="EDDAF1"/>
                </a:solidFill>
                <a:latin typeface="Fira Code"/>
                <a:ea typeface="Fira Code"/>
                <a:cs typeface="Fira Code"/>
              </a:defRPr>
            </a:pPr>
            <a:r>
              <a:rPr sz="2800">
                <a:solidFill>
                  <a:srgbClr val="FFAA80"/>
                </a:solidFill>
                <a:latin typeface="Fira Code"/>
                <a:ea typeface="Fira Code"/>
                <a:cs typeface="Fira Code"/>
              </a:rPr>
              <a:t>variance!</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all</a:t>
            </a:r>
            <a:r>
              <a:rPr sz="2800">
                <a:solidFill>
                  <a:srgbClr val="AB7AB8"/>
                </a:solidFill>
                <a:latin typeface="Fira Code"/>
                <a:ea typeface="Fira Code"/>
                <a:cs typeface="Fira Code"/>
              </a:rPr>
              <a:t>(</a:t>
            </a:r>
            <a:r>
              <a:rPr sz="2800">
                <a:solidFill>
                  <a:srgbClr val="EDDAF1"/>
                </a:solidFill>
                <a:latin typeface="Fira Code"/>
                <a:ea typeface="Fira Code"/>
                <a:cs typeface="Fira Code"/>
              </a:rPr>
              <a:t>Σ₊</a:t>
            </a:r>
            <a:r>
              <a:rPr sz="2800">
                <a:solidFill>
                  <a:srgbClr val="AB7AB8"/>
                </a:solidFill>
                <a:latin typeface="Fira Code"/>
                <a:ea typeface="Fira Code"/>
                <a:cs typeface="Fira Code"/>
              </a:rPr>
              <a:t>[[</a:t>
            </a:r>
            <a:r>
              <a:rPr sz="2800">
                <a:solidFill>
                  <a:srgbClr val="93C1E8"/>
                </a:solidFill>
                <a:latin typeface="Fira Code"/>
                <a:ea typeface="Fira Code"/>
                <a:cs typeface="Fira Code"/>
              </a:rPr>
              <a:t>1 5 9</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&gt;</a:t>
            </a:r>
            <a:r>
              <a:rPr sz="2800">
                <a:solidFill>
                  <a:srgbClr val="EDDAF1"/>
                </a:solidFill>
                <a:latin typeface="Fira Code"/>
                <a:ea typeface="Fira Code"/>
                <a:cs typeface="Fira Code"/>
              </a:rPr>
              <a:t> </a:t>
            </a:r>
            <a:r>
              <a:rPr sz="2800">
                <a:solidFill>
                  <a:srgbClr val="93C1E8"/>
                </a:solidFill>
                <a:latin typeface="Fira Code"/>
                <a:ea typeface="Fira Code"/>
                <a:cs typeface="Fira Code"/>
              </a:rPr>
              <a:t>0</a:t>
            </a:r>
            <a:r>
              <a:rPr sz="2800">
                <a:solidFill>
                  <a:srgbClr val="AB7AB8"/>
                </a:solidFill>
                <a:latin typeface="Fira Code"/>
                <a:ea typeface="Fira Code"/>
                <a:cs typeface="Fira Code"/>
              </a:rPr>
              <a:t>)</a:t>
            </a:r>
          </a:p>
        </p:txBody>
      </p:sp>
      <p:sp>
        <p:nvSpPr>
          <p:cNvPr id="843" name="Contributions invitation">
            <a:hlinkClick xmlns:r="http://schemas.openxmlformats.org/officeDocument/2006/relationships" r:id="rId3"/>
            <a:extLst xmlns:a="http://schemas.openxmlformats.org/drawingml/2006/main">
              <a:ext uri="{FF2B5EF4-FFF2-40B4-BE49-F238E27FC236}">
                <a16:creationId xmlns:a16="http://schemas.microsoft.com/office/drawing/2014/main" id="{1CEF8EC6-C0BB-40D7-A6E6-C8E9F1B01E18}"/>
              </a:ext>
            </a:extLst>
          </p:cNvPr>
          <p:cNvSpPr>
            <a:spLocks xmlns:a="http://schemas.openxmlformats.org/drawingml/2006/main" noGrp="1"/>
          </p:cNvSpPr>
          <p:nvPr/>
        </p:nvSpPr>
        <p:spPr>
          <a:xfrm xmlns:a="http://schemas.openxmlformats.org/drawingml/2006/main">
            <a:off x="952500" y="4127182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u="none">
                <a:solidFill>
                  <a:srgbClr val="F2EAD9"/>
                </a:solidFill>
                <a:latin typeface="Avenir Next"/>
                <a:ea typeface="Avenir Next"/>
                <a:cs typeface="Avenir Next"/>
              </a:rPr>
              <a:t>Contributions and bug reports are welcome on GitHub: </a:t>
            </a:r>
            <a:r>
              <a:rPr sz="1800" u="none">
                <a:solidFill>
                  <a:srgbClr val="F6C04E"/>
                </a:solidFill>
                <a:latin typeface="Avenir Next"/>
                <a:ea typeface="Avenir Next"/>
                <a:cs typeface="Avenir Next"/>
              </a:rPr>
              <a:t>mech-lang/mech</a:t>
            </a:r>
            <a:r>
              <a:rPr sz="1800" u="none">
                <a:solidFill>
                  <a:srgbClr val="F2EAD9"/>
                </a:solidFill>
                <a:latin typeface="Avenir Next"/>
                <a:ea typeface="Avenir Next"/>
                <a:cs typeface="Avenir Next"/>
              </a:rPr>
              <a:t>.</a:t>
            </a:r>
          </a:p>
        </p:txBody>
      </p:sp>
      <p:sp>
        <p:nvSpPr>
          <p:cNvPr id="844" name="Benchmark setup note reference">
            <a:extLst xmlns:a="http://schemas.openxmlformats.org/drawingml/2006/main">
              <a:ext uri="{FF2B5EF4-FFF2-40B4-BE49-F238E27FC236}">
                <a16:creationId xmlns:a16="http://schemas.microsoft.com/office/drawing/2014/main" id="{36FF6434-F66E-4F00-BD64-3B9D9AAAD5AB}"/>
              </a:ext>
            </a:extLst>
          </p:cNvPr>
          <p:cNvSpPr>
            <a:spLocks xmlns:a="http://schemas.openxmlformats.org/drawingml/2006/main" noGrp="1"/>
          </p:cNvSpPr>
          <p:nvPr/>
        </p:nvSpPr>
        <p:spPr>
          <a:xfrm xmlns:a="http://schemas.openxmlformats.org/drawingml/2006/main">
            <a:off x="3619500" y="419862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6C04E"/>
                </a:solidFill>
                <a:latin typeface="Fira Code"/>
                <a:ea typeface="Fira Code"/>
                <a:cs typeface="Fira Code"/>
              </a:defRPr>
            </a:pPr>
            <a:r>
              <a:rPr sz="2100">
                <a:solidFill>
                  <a:srgbClr val="F6C04E"/>
                </a:solidFill>
                <a:latin typeface="Fira Code"/>
                <a:ea typeface="Fira Code"/>
                <a:cs typeface="Fira Code"/>
              </a:rPr>
              <a:t>‡</a:t>
            </a:r>
          </a:p>
        </p:txBody>
      </p:sp>
      <p:pic>
        <p:nvPicPr>
          <p:cNvPr id="845" name="GitHub repository logo" descr="GitHub Invertocat logo">
            <a:hlinkClick xmlns:r="http://schemas.openxmlformats.org/officeDocument/2006/relationships" r:id="rId2"/>
          </p:cNvPr>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2266950" y="4900904"/>
            <a:ext cx="495300" cy="485192"/>
          </a:xfrm>
          <a:prstGeom xmlns:a="http://schemas.openxmlformats.org/drawingml/2006/main" prst="rect">
            <a:avLst/>
          </a:prstGeom>
        </p:spPr>
      </p:pic>
      <p:sp>
        <p:nvSpPr>
          <p:cNvPr id="846" name="Benchmark implementation scope">
            <a:extLst xmlns:a="http://schemas.openxmlformats.org/drawingml/2006/main">
              <a:ext uri="{FF2B5EF4-FFF2-40B4-BE49-F238E27FC236}">
                <a16:creationId xmlns:a16="http://schemas.microsoft.com/office/drawing/2014/main" id="{CDAAE41A-DA71-48BA-AAE4-36A0C570AC41}"/>
              </a:ext>
            </a:extLst>
          </p:cNvPr>
          <p:cNvSpPr>
            <a:spLocks xmlns:a="http://schemas.openxmlformats.org/drawingml/2006/main" noGrp="1"/>
          </p:cNvSpPr>
          <p:nvPr/>
        </p:nvSpPr>
        <p:spPr>
          <a:xfrm xmlns:a="http://schemas.openxmlformats.org/drawingml/2006/main">
            <a:off x="1143000" y="36099750"/>
            <a:ext cx="976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Illustrative implementations; performance specialists may optimize them further.</a:t>
            </a:r>
          </a:p>
        </p:txBody>
      </p:sp>
      <p:sp>
        <p:nvSpPr>
          <p:cNvPr id="847" name="Benchmark implementation scope accent">
            <a:extLst xmlns:a="http://schemas.openxmlformats.org/drawingml/2006/main">
              <a:ext uri="{FF2B5EF4-FFF2-40B4-BE49-F238E27FC236}">
                <a16:creationId xmlns:a16="http://schemas.microsoft.com/office/drawing/2014/main" id="{59CCD09A-6072-47E0-9D3D-4E34D521DE4A}"/>
              </a:ext>
            </a:extLst>
          </p:cNvPr>
          <p:cNvSpPr>
            <a:spLocks xmlns:a="http://schemas.openxmlformats.org/drawingml/2006/main" noGrp="1"/>
          </p:cNvSpPr>
          <p:nvPr/>
        </p:nvSpPr>
        <p:spPr>
          <a:xfrm xmlns:a="http://schemas.openxmlformats.org/drawingml/2006/main">
            <a:off x="952500" y="36147375"/>
            <a:ext cx="57150" cy="22860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48" name="Backend compilation note accent">
            <a:extLst xmlns:a="http://schemas.openxmlformats.org/drawingml/2006/main">
              <a:ext uri="{FF2B5EF4-FFF2-40B4-BE49-F238E27FC236}">
                <a16:creationId xmlns:a16="http://schemas.microsoft.com/office/drawing/2014/main" id="{47DA5003-0207-4DE4-BAE3-D8BAA5A0EE79}"/>
              </a:ext>
            </a:extLst>
          </p:cNvPr>
          <p:cNvSpPr>
            <a:spLocks xmlns:a="http://schemas.openxmlformats.org/drawingml/2006/main" noGrp="1"/>
          </p:cNvSpPr>
          <p:nvPr/>
        </p:nvSpPr>
        <p:spPr>
          <a:xfrm xmlns:a="http://schemas.openxmlformats.org/drawingml/2006/main">
            <a:off x="11715750" y="35747325"/>
            <a:ext cx="57150" cy="495300"/>
          </a:xfrm>
          <a:prstGeom xmlns:a="http://schemas.openxmlformats.org/drawingml/2006/main" prst="rect">
            <a:avLst/>
          </a:prstGeom>
          <a:solidFill xmlns:a="http://schemas.openxmlformats.org/drawingml/2006/main">
            <a:srgbClr val="B89A5A"/>
          </a:solidFill>
          <a:ln xmlns:a="http://schemas.openxmlformats.org/drawingml/2006/main" w="0">
            <a:noFill/>
          </a:ln>
        </p:spPr>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