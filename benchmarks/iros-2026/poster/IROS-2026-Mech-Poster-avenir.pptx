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524750"/>
            <a:ext cx="20526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spcAft>
                <a:spcPts val="1800"/>
              </a:spcAft>
              <a:buChar char="•"/>
              <a:defRPr sz="2850">
                <a:solidFill>
                  <a:srgbClr val="E8EDF0"/>
                </a:solidFill>
                <a:latin typeface="Avenir Next"/>
                <a:ea typeface="Segoe UI"/>
                <a:cs typeface="Segoe UI"/>
              </a:defRPr>
            </a:pPr>
            <a:r>
              <a:rPr sz="2850">
                <a:solidFill>
                  <a:srgbClr val="E8EDF0"/>
                </a:solidFill>
                <a:latin typeface="Avenir Next"/>
                <a:ea typeface="Segoe UI"/>
                <a:cs typeface="Segoe UI"/>
              </a:rPr>
              <a:t>Rust’s memory safety, performance and low-level control make it a strong foundation for robotics. Numerical kernels can still become lengthy and difficult to verify when each backend requires specialized code.</a:t>
            </a:r>
          </a:p>
          <a:p xmlns:a="http://schemas.openxmlformats.org/drawingml/2006/main">
            <a:pPr marL="698500" indent="-508000">
              <a:spcAft>
                <a:spcPts val="1800"/>
              </a:spcAft>
              <a:buChar char="•"/>
              <a:defRPr sz="2850">
                <a:solidFill>
                  <a:srgbClr val="E8EDF0"/>
                </a:solidFill>
                <a:latin typeface="Avenir Next"/>
                <a:ea typeface="Segoe UI"/>
                <a:cs typeface="Segoe UI"/>
              </a:defRPr>
            </a:pPr>
            <a:r>
              <a:rPr sz="2850">
                <a:solidFill>
                  <a:srgbClr val="E8EDF0"/>
                </a:solidFill>
                <a:latin typeface="Avenir Next"/>
                <a:ea typeface="Segoe UI"/>
                <a:cs typeface="Segoe UI"/>
              </a:rPr>
              <a:t>Mech is a numerical language implemented in Rust and embeddable in Rust applications. Its compiler specializes typed equations without backend-specific source annotations. A bearing-only EKF illustrates its numerical and reactive features, which also apply beyond state estimation.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 xml:space="preserve">+&gt;</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math</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52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90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Mech offers a concrete syntax that expresses numerical algorithms as typed matrix equations. The bearing-only EKF below adapts the textbook formulation [1], preserving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Avenir Next"/>
                <a:ea typeface="Segoe UI"/>
                <a:cs typeface="Segoe UI"/>
              </a:defRPr>
            </a:pPr>
            <a:r>
              <a:rPr sz="2625" b="0">
                <a:solidFill>
                  <a:srgbClr val="E8EDF0"/>
                </a:solidFill>
                <a:latin typeface="Avenir Next"/>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6237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Avenir Next"/>
                <a:ea typeface="Segoe UI"/>
                <a:cs typeface="Segoe UI"/>
              </a:defRPr>
            </a:pPr>
            <a:r>
              <a:rPr sz="2100" b="0">
                <a:solidFill>
                  <a:srgbClr val="E8EDF0"/>
                </a:solidFill>
                <a:latin typeface="Avenir Next"/>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0525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Avenir Next"/>
                <a:ea typeface="Segoe UI"/>
                <a:cs typeface="Segoe UI"/>
              </a:defRPr>
            </a:pPr>
            <a:r>
              <a:rPr sz="2100" b="0">
                <a:solidFill>
                  <a:srgbClr val="E8EDF0"/>
                </a:solidFill>
                <a:latin typeface="Avenir Next"/>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08622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Avenir Next"/>
                <a:ea typeface="Segoe UI"/>
                <a:cs typeface="Segoe UI"/>
              </a:defRPr>
            </a:pPr>
            <a:r>
              <a:rPr sz="1725" b="0">
                <a:solidFill>
                  <a:srgbClr val="A4BAC8"/>
                </a:solidFill>
                <a:latin typeface="Avenir Next"/>
                <a:ea typeface="Avenir Next"/>
                <a:cs typeface="Avenir Next"/>
              </a:rPr>
              <a:t>* 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Rust applications can embed Mech source through its Rust library, or load a compiled dylib. Both interfaces bind named inputs and retain state between updates. C++ and Python bindings are planned.</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Avenir Next"/>
                <a:ea typeface="Segoe UI"/>
                <a:cs typeface="Segoe UI"/>
              </a:defRPr>
            </a:pPr>
            <a:r>
              <a:rPr sz="2025" b="0">
                <a:solidFill>
                  <a:srgbClr val="A4BAC8"/>
                </a:solidFill>
                <a:latin typeface="Avenir Next"/>
                <a:ea typeface="Segoe UI"/>
                <a:cs typeface="Segoe UI"/>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240125"/>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383250"/>
            <a:ext cx="1014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Avenir Next"/>
                <a:ea typeface="Segoe UI"/>
                <a:cs typeface="Segoe UI"/>
              </a:defRPr>
            </a:pPr>
            <a:r>
              <a:rPr sz="1875" b="0">
                <a:solidFill>
                  <a:srgbClr val="A4BAC8"/>
                </a:solidFill>
                <a:latin typeface="Avenir Next"/>
                <a:ea typeface="Segoe UI"/>
                <a:cs typeface="Segoe UI"/>
              </a:rPr>
              <a:t>The bundle contains the dylib and its saved interface. Loading native code requires a trusted library.</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Robots commonly use feedback control loops over continuous data streams. Mech handles successive updates through its native Rust interface or ROS channels. Each turn validates candidate state against integrity constraints. Rejection notifies the caller and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203132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526500"/>
            <a:ext cx="3952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Avenir Next"/>
                <a:ea typeface="Segoe UI"/>
                <a:cs typeface="Segoe UI"/>
              </a:defRPr>
            </a:pPr>
            <a:r>
              <a:rPr sz="1950" b="0">
                <a:solidFill>
                  <a:srgbClr val="A4BAC8"/>
                </a:solidFill>
                <a:latin typeface="Avenir Next"/>
                <a:ea typeface="Avenir Next"/>
                <a:cs typeface="Avenir Next"/>
              </a:rPr>
              <a:t>Activation checks host availability and capabilities (permissions for resource operations).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Avenir Next"/>
                <a:ea typeface="Segoe UI"/>
                <a:cs typeface="Segoe UI"/>
              </a:defRPr>
            </a:pPr>
            <a:r>
              <a:rPr sz="2400" b="0">
                <a:solidFill>
                  <a:srgbClr val="E8EDF0"/>
                </a:solidFill>
                <a:latin typeface="Avenir Next"/>
                <a:ea typeface="Segoe UI"/>
                <a:cs typeface="Segoe UI"/>
              </a:rPr>
              <a:t>Mech’s typed, declarative IR supports interpretation, scalar/SIMD CPU, multicore, GPU and WebAssembly/WGPU from the same source.</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194125"/>
            <a:ext cx="2071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Avenir Next"/>
                <a:ea typeface="Segoe UI"/>
                <a:cs typeface="Segoe UI"/>
              </a:defRPr>
            </a:pPr>
            <a:r>
              <a:rPr sz="2400" b="0">
                <a:solidFill>
                  <a:srgbClr val="E8EDF0"/>
                </a:solidFill>
                <a:latin typeface="Avenir Next"/>
                <a:ea typeface="Avenir Next"/>
                <a:cs typeface="Avenir Next"/>
              </a:rPr>
              <a:t>The Mech rows use the same f32 EKF source shown at right.</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432375"/>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432375"/>
            <a:ext cx="995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1003875"/>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8 workers, fused execution, 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1003875"/>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Per-turn publication, 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593064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556495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499814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463246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406564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369996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313315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2767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220065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83496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214175"/>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A4BAC8"/>
                </a:solidFill>
                <a:latin typeface="Avenir Next"/>
                <a:ea typeface="Segoe UI"/>
                <a:cs typeface="Segoe UI"/>
              </a:defRPr>
            </a:pPr>
            <a:r>
              <a:rPr sz="1800" b="0">
                <a:solidFill>
                  <a:srgbClr val="A4BAC8"/>
                </a:solidFill>
                <a:latin typeface="Avenir Next"/>
                <a:ea typeface="Avenir Next"/>
                <a:cs typeface="Avenir Next"/>
              </a:rPr>
              <a:t>1w / 8w: one / eight CPU workers</a:t>
            </a:r>
          </a:p>
          <a:p xmlns:a="http://schemas.openxmlformats.org/drawingml/2006/main">
            <a:pPr algn="l">
              <a:lnSpc>
                <a:spcPct val="108000"/>
              </a:lnSpc>
              <a:buNone/>
              <a:defRPr sz="1800" b="0">
                <a:solidFill>
                  <a:srgbClr val="A4BAC8"/>
                </a:solidFill>
                <a:latin typeface="Avenir Next"/>
                <a:ea typeface="Segoe UI"/>
                <a:cs typeface="Segoe UI"/>
              </a:defRPr>
            </a:pPr>
            <a:r>
              <a:rPr sz="1800" b="0">
                <a:solidFill>
                  <a:srgbClr val="A4BAC8"/>
                </a:solidFill>
                <a:latin typeface="Avenir Next"/>
                <a:ea typeface="Avenir Next"/>
                <a:cs typeface="Avenir Next"/>
              </a:rPr>
              <a:t>JIT and AOT share the numerical compilation pipeline.‡</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Avenir Next"/>
                <a:ea typeface="Segoe UI"/>
                <a:cs typeface="Segoe UI"/>
              </a:defRPr>
            </a:pPr>
            <a:r>
              <a:rPr sz="2550" b="0">
                <a:solidFill>
                  <a:srgbClr val="E8EDF0"/>
                </a:solidFill>
                <a:latin typeface="Avenir Next"/>
                <a:ea typeface="Segoe UI"/>
                <a:cs typeface="Segoe UI"/>
              </a:rPr>
              <a:t>Mech is in beta. Further validation is needed beyond the EKF case study.</a:t>
            </a:r>
          </a:p>
          <a:p xmlns:a="http://schemas.openxmlformats.org/drawingml/2006/main">
            <a:pPr algn="l">
              <a:lnSpc>
                <a:spcPct val="108000"/>
              </a:lnSpc>
              <a:buNone/>
              <a:defRPr sz="2550" b="0">
                <a:solidFill>
                  <a:srgbClr val="E8EDF0"/>
                </a:solidFill>
                <a:latin typeface="Avenir Next"/>
                <a:ea typeface="Segoe UI"/>
                <a:cs typeface="Segoe UI"/>
              </a:defRPr>
            </a:pPr>
            <a:r>
              <a:rPr sz="2550" b="0">
                <a:solidFill>
                  <a:srgbClr val="E8EDF0"/>
                </a:solidFill>
                <a:latin typeface="Avenir Next"/>
                <a:ea typeface="Segoe UI"/>
                <a:cs typeface="Segoe UI"/>
              </a:rPr>
              <a:t>Over the next year, we plan evaluation across real robot hardware platforms and in robot deployments.</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400431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9859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814750"/>
            <a:ext cx="2071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Avenir Next"/>
                <a:ea typeface="Segoe UI"/>
                <a:cs typeface="Segoe UI"/>
              </a:defRPr>
            </a:pPr>
            <a:r>
              <a:rPr sz="1950" b="0">
                <a:solidFill>
                  <a:srgbClr val="F6C04E"/>
                </a:solidFill>
                <a:latin typeface="Avenir Next"/>
                <a:ea typeface="Segoe UI"/>
                <a:cs typeface="Segoe UI"/>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195750"/>
            <a:ext cx="2343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Benchmark setup. Apple M1: 4P + 4E CPU, 8-core GPU, 8 GB, macOS 15.6.1. Charts: f32, 500,000 filters × 40 turns, n=10. Median ± MAD.</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Rust 1.96.0-nightly ec818fda3 / LLVM 22.1.0, Cranelift 0.131.3. Julia 1.12.6. Mojo 1.1.0 / MAX 26.6.0. Futhark 0.27.1 / ISPC 1.31.0 / LLVM 22.1.8. Python 3.12.14 / NumPy 2.2.6 / Numba 0.61.2. Apple clang 17.0.0.</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Mech v0.4 development (package 0.3.6). Backend pairs f4b69052c, CPU eedc1c75b, dylibs dab98af1d. iros-workshop-benchmarks, benchmarks/iros-2026.</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 Dylib table: minimal ABI loader, 1 thread, 10,000 filters × 200 turns, n=7. RSS covers the process. Compile/load/warmup excluded. File sizes reflect linker/segment layout. The new embedding wrapper is not timed.</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 SIMD JIT and AOT share the Cranelift pipeline. JIT compiles on demand. AOT emits a library ahead of deployment, allowing the host to omit the compiler.</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[1] Thrun, Burgard &amp; Fox. Probabilistic Robotics. MIT Press, 2005. §7.4.2, Table 7.2 (adapted).</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28575">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28575">
            <a:solidFill>
              <a:srgbClr val="CD8DCA"/>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23813">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068735"/>
            <a:ext cx="1131094" cy="857250"/>
          </a:xfrm>
          <a:prstGeom xmlns:a="http://schemas.openxmlformats.org/drawingml/2006/main" prst="curvedConnector3">
            <a:avLst>
              <a:gd name="adj1" fmla="val 50000"/>
            </a:avLst>
          </a:prstGeom>
          <a:ln xmlns:a="http://schemas.openxmlformats.org/drawingml/2006/main" w="28575">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Avenir Next"/>
                <a:ea typeface="Segoe UI"/>
                <a:cs typeface="Segoe UI"/>
              </a:defRPr>
            </a:pPr>
            <a:r>
              <a:rPr sz="2100" b="0">
                <a:solidFill>
                  <a:srgbClr val="A4BAC8"/>
                </a:solidFill>
                <a:latin typeface="Avenir Next"/>
                <a:ea typeface="Segoe UI"/>
                <a:cs typeface="Segoe UI"/>
              </a:rPr>
              <a:t>Native Rust interface</a:t>
            </a:r>
          </a:p>
          <a:p xmlns:a="http://schemas.openxmlformats.org/drawingml/2006/main">
            <a:pPr algn="l">
              <a:lnSpc>
                <a:spcPct val="108000"/>
              </a:lnSpc>
              <a:buNone/>
              <a:defRPr sz="2100" b="0">
                <a:solidFill>
                  <a:srgbClr val="A4BAC8"/>
                </a:solidFill>
                <a:latin typeface="Avenir Next"/>
                <a:ea typeface="Segoe UI"/>
                <a:cs typeface="Segoe UI"/>
              </a:defRPr>
            </a:pPr>
            <a:r>
              <a:rPr sz="2100" b="0">
                <a:solidFill>
                  <a:srgbClr val="A4BAC8"/>
                </a:solidFill>
                <a:latin typeface="Avenir Next"/>
                <a:ea typeface="Segoe UI"/>
                <a:cs typeface="Segoe UI"/>
              </a:rPr>
              <a:t>ROS is another channel</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693813"/>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1938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87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Example turn 800</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811625"/>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879175"/>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622000"/>
            <a:ext cx="0" cy="257175"/>
          </a:xfrm>
          <a:prstGeom xmlns:a="http://schemas.openxmlformats.org/drawingml/2006/main" prst="straightConnector1">
            <a:avLst/>
          </a:prstGeom>
          <a:ln xmlns:a="http://schemas.openxmlformats.org/drawingml/2006/main" w="28575">
            <a:solidFill>
              <a:srgbClr val="CE7979"/>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593064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593064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499814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499814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406564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406564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313315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313315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220065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220065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556495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556495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463246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463246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369996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369996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2767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2767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83496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83496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7002125"/>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8003500" y="14430375"/>
            <a:ext cx="371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mutable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define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assign</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matrix multiply</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transpose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broadcast multiply</a:t>
            </a:r>
          </a:p>
        </p:txBody>
      </p:sp>
      <p:sp>
        <p:nvSpPr>
          <p:cNvPr id="815" name="Checking cost explanation">
            <a:extLst xmlns:a="http://schemas.openxmlformats.org/drawingml/2006/main">
              <a:ext uri="{FF2B5EF4-FFF2-40B4-BE49-F238E27FC236}">
                <a16:creationId xmlns:a16="http://schemas.microsoft.com/office/drawing/2014/main" id="{F59DC4F6-C4B8-4359-A1FF-C481CF851198}"/>
              </a:ext>
            </a:extLst>
          </p:cNvPr>
          <p:cNvSpPr>
            <a:spLocks xmlns:a="http://schemas.openxmlformats.org/drawingml/2006/main" noGrp="1"/>
          </p:cNvSpPr>
          <p:nvPr/>
        </p:nvSpPr>
        <p:spPr>
          <a:xfrm xmlns:a="http://schemas.openxmlformats.org/drawingml/2006/main">
            <a:off x="952500" y="29603700"/>
            <a:ext cx="20716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a:solidFill>
                  <a:srgbClr val="E8EDF0"/>
                </a:solidFill>
                <a:latin typeface="Avenir Next"/>
                <a:ea typeface="Segoe UI"/>
                <a:cs typeface="Segoe UI"/>
              </a:defRPr>
            </a:pPr>
            <a:r>
              <a:rPr sz="2250">
                <a:solidFill>
                  <a:srgbClr val="E8EDF0"/>
                </a:solidFill>
                <a:latin typeface="Avenir Next"/>
                <a:ea typeface="Avenir Next"/>
                <a:cs typeface="Avenir Next"/>
              </a:rPr>
              <a:t>Unchecked runs omit integrity predicates and retain per-turn publication in the Mech chart. Checking reduces SIMD AOT throughput by 6.6%. The Metal difference is within measured variation.</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