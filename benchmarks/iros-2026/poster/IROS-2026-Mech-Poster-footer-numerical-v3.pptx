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Regular.fntdata" ContentType="application/x-fontdata"/>
  <Override PartName="/ppt/fonts/FiraCode-Bold.fntdata" ContentType="application/x-fontdata"/>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1a9e2af50e422e" /><Relationship Type="http://schemas.openxmlformats.org/officeDocument/2006/relationships/extended-properties" Target="/docProps/app.xml" Id="R02102787064c495d" /><Relationship Type="http://schemas.openxmlformats.org/officeDocument/2006/relationships/officeDocument" Target="/ppt/presentation.xml" Id="Ra5574dd378cb4cc3" /></Relationships>
</file>

<file path=ppt/presentation.xml><?xml version="1.0" encoding="utf-8"?>
<p:presentation xmlns:p="http://schemas.openxmlformats.org/presentationml/2006/main" xmlns:r="http://schemas.openxmlformats.org/officeDocument/2006/relationships" embedTrueTypeFonts="1" saveSubsetFonts="0">
  <p:sldMasterIdLst>
    <p:sldMasterId xmlns:r="http://schemas.openxmlformats.org/officeDocument/2006/relationships" id="2147483648" r:id="R3608204dd5334c74"/>
  </p:sldMasterIdLst>
  <p:notesMasterIdLst>
    <p:notesMasterId xmlns:r="http://schemas.openxmlformats.org/officeDocument/2006/relationships" r:id="R8cde2fa243844fbb"/>
  </p:notesMasterIdLst>
  <p:sldIdLst>
    <p:sldId xmlns:r="http://schemas.openxmlformats.org/officeDocument/2006/relationships" id="256" r:id="R0cf6e64c85334a7c"/>
  </p:sldIdLst>
  <p:sldSz cx="32918400" cy="43891200"/>
  <p:notesSz cx="6858000" cy="9144000"/>
  <p:embeddedFontLst>
    <p:embeddedFont>
      <p:font typeface="Fira Code" pitchFamily="49" charset="1"/>
      <p:regular r:id="rIdFiraCodeRegular"/>
      <p:bold r:id="rIdFiraCodeBol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Relationships xmlns="http://schemas.openxmlformats.org/package/2006/relationships"><Relationship Type="http://schemas.openxmlformats.org/officeDocument/2006/relationships/theme" Target="/ppt/theme/theme1.xml" Id="R6eb2d90b9c964f50"/><Relationship Type="http://schemas.openxmlformats.org/officeDocument/2006/relationships/slideMaster" Target="/ppt/slideMasters/slideMaster1.xml" Id="R3608204dd5334c74"/><Relationship Type="http://schemas.openxmlformats.org/officeDocument/2006/relationships/notesMaster" Target="/ppt/notesMasters/notesMaster1.xml" Id="R8cde2fa243844fbb"/><Relationship Type="http://schemas.openxmlformats.org/officeDocument/2006/relationships/presProps" Target="/ppt/presProps.xml" Id="Rf6463631d682489c"/><Relationship Type="http://schemas.openxmlformats.org/officeDocument/2006/relationships/viewProps" Target="/ppt/viewProps.xml" Id="Rf55db8856d0e495d"/><Relationship Type="http://schemas.openxmlformats.org/officeDocument/2006/relationships/tableStyles" Target="/ppt/tableStyles.xml" Id="R87933298a71d4499"/><Relationship Type="http://schemas.openxmlformats.org/officeDocument/2006/relationships/slide" Target="/ppt/slides/slide1.xml" Id="R0cf6e64c85334a7c"/><Relationship Id="rIdFiraCodeRegular" Type="http://schemas.openxmlformats.org/officeDocument/2006/relationships/font" Target="fonts/FiraCode-Regular.fntdata"/><Relationship Id="rIdFiraCodeBold" Type="http://schemas.openxmlformats.org/officeDocument/2006/relationships/font" Target="fonts/FiraCode-Bold.fntdata"/></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407254ccc45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3fa5c18cfd4ffd" /><Relationship Type="http://schemas.openxmlformats.org/officeDocument/2006/relationships/notesMaster" Target="/ppt/notesMasters/notesMaster1.xml" Id="R10055b27baa24c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66e8f2baf844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91c08c779e4c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a26378d6674c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9ba456fe824d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3fe56bc09147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0eac945781462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0335258add1464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4386437909b419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d6e8695d7d7412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b24ffc22eb54b9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1224790e5214d4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5f0ff508424a15" /><Relationship Type="http://schemas.openxmlformats.org/officeDocument/2006/relationships/slideLayout" Target="/ppt/slideLayouts/slideLayout1.xml" Id="R767c0327e2e24355" /><Relationship Type="http://schemas.openxmlformats.org/officeDocument/2006/relationships/slideLayout" Target="/ppt/slideLayouts/slideLayout2.xml" Id="R7d553b7a941149d3" /><Relationship Type="http://schemas.openxmlformats.org/officeDocument/2006/relationships/slideLayout" Target="/ppt/slideLayouts/slideLayout3.xml" Id="Red8de4f9a8164db7" /><Relationship Type="http://schemas.openxmlformats.org/officeDocument/2006/relationships/slideLayout" Target="/ppt/slideLayouts/slideLayout4.xml" Id="R36506af973ab4678" /><Relationship Type="http://schemas.openxmlformats.org/officeDocument/2006/relationships/slideLayout" Target="/ppt/slideLayouts/slideLayout5.xml" Id="R0346d881306d415d" /><Relationship Type="http://schemas.openxmlformats.org/officeDocument/2006/relationships/slideLayout" Target="/ppt/slideLayouts/slideLayout6.xml" Id="R9462be3807c04e78" /><Relationship Type="http://schemas.openxmlformats.org/officeDocument/2006/relationships/slideLayout" Target="/ppt/slideLayouts/slideLayout7.xml" Id="R3b7f6e7884e543b6" /><Relationship Type="http://schemas.openxmlformats.org/officeDocument/2006/relationships/slideLayout" Target="/ppt/slideLayouts/slideLayout8.xml" Id="R6884e968a869481d" /><Relationship Type="http://schemas.openxmlformats.org/officeDocument/2006/relationships/slideLayout" Target="/ppt/slideLayouts/slideLayout9.xml" Id="R4d7b4dc9515448fc" /><Relationship Type="http://schemas.openxmlformats.org/officeDocument/2006/relationships/slideLayout" Target="/ppt/slideLayouts/slideLayout10.xml" Id="R20112b393ad64fc1" /><Relationship Type="http://schemas.openxmlformats.org/officeDocument/2006/relationships/slideLayout" Target="/ppt/slideLayouts/slideLayout11.xml" Id="R60ef0e2964e14e7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7c0327e2e24355"/>
    <p:sldLayoutId xmlns:r="http://schemas.openxmlformats.org/officeDocument/2006/relationships" id="2147483650" r:id="R7d553b7a941149d3"/>
    <p:sldLayoutId xmlns:r="http://schemas.openxmlformats.org/officeDocument/2006/relationships" id="2147483651" r:id="Red8de4f9a8164db7"/>
    <p:sldLayoutId xmlns:r="http://schemas.openxmlformats.org/officeDocument/2006/relationships" id="2147483652" r:id="R36506af973ab4678"/>
    <p:sldLayoutId xmlns:r="http://schemas.openxmlformats.org/officeDocument/2006/relationships" id="2147483653" r:id="R0346d881306d415d"/>
    <p:sldLayoutId xmlns:r="http://schemas.openxmlformats.org/officeDocument/2006/relationships" id="2147483654" r:id="R9462be3807c04e78"/>
    <p:sldLayoutId xmlns:r="http://schemas.openxmlformats.org/officeDocument/2006/relationships" id="2147483655" r:id="R3b7f6e7884e543b6"/>
    <p:sldLayoutId xmlns:r="http://schemas.openxmlformats.org/officeDocument/2006/relationships" id="2147483656" r:id="R6884e968a869481d"/>
    <p:sldLayoutId xmlns:r="http://schemas.openxmlformats.org/officeDocument/2006/relationships" id="2147483657" r:id="R4d7b4dc9515448fc"/>
    <p:sldLayoutId xmlns:r="http://schemas.openxmlformats.org/officeDocument/2006/relationships" id="2147483658" r:id="R20112b393ad64fc1"/>
    <p:sldLayoutId xmlns:r="http://schemas.openxmlformats.org/officeDocument/2006/relationships" id="2147483659" r:id="R60ef0e2964e14e7f"/>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3cfb505499448d" /><Relationship Type="http://schemas.openxmlformats.org/officeDocument/2006/relationships/image" Target="/ppt/media/image.png" Id="Rab6fd4b332624646" /><Relationship Type="http://schemas.openxmlformats.org/officeDocument/2006/relationships/image" Target="/ppt/media/image2.png" Id="R6886ede196ba44ff" /><Relationship Type="http://schemas.openxmlformats.org/officeDocument/2006/relationships/image" Target="/ppt/media/image.svg" Id="Rb0d69cc208f54ae1" /><Relationship Type="http://schemas.openxmlformats.org/officeDocument/2006/relationships/image" Target="/ppt/media/image3.png" Id="Rddabe341c14143fb" /><Relationship Type="http://schemas.openxmlformats.org/officeDocument/2006/relationships/chart" Target="/ppt/slides/charts/chart1.xml" Id="Ra64d65a026594216" /><Relationship Type="http://schemas.openxmlformats.org/officeDocument/2006/relationships/chart" Target="/ppt/slides/charts/chart2.xml" Id="R3e36ded667ab4c9f" /><Relationship Type="http://schemas.openxmlformats.org/officeDocument/2006/relationships/notesSlide" Target="/ppt/notesSlides/notesSlide1.xml" Id="R3f0a3a4e34d743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3"/>
          <c:w val="0.86"/>
          <c:h val="0.89"/>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2"/>
          <c:y val="0.03"/>
          <c:w val="0.68"/>
          <c:h val="0.89"/>
        </c:manualLayout>
      </c:layout>
      <c:barChart>
        <c:barDir val="bar"/>
        <c:grouping val="clustered"/>
        <c:varyColors val="0"/>
        <c:ser>
          <c:idx val="0"/>
          <c:order val="0"/>
          <c:tx>
            <c:v>Checked</c:v>
          </c:tx>
          <c:spPr>
            <a:solidFill xmlns:a="http://schemas.openxmlformats.org/drawingml/2006/main">
              <a:srgbClr val="F6C04E"/>
            </a:solidFill>
          </c:spPr>
          <c:dPt>
            <c:idx val="4"/>
            <c:invertIfNegative val="0"/>
            <c:spPr>
              <a:pattFill xmlns:a="http://schemas.openxmlformats.org/drawingml/2006/main" prst="upDiag">
                <a:fgClr>
                  <a:srgbClr val="D9A637"/>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dPt>
            <c:idx val="4"/>
            <c:invertIfNegative val="0"/>
            <c:spPr>
              <a:pattFill xmlns:a="http://schemas.openxmlformats.org/drawingml/2006/main" prst="upDiag">
                <a:fgClr>
                  <a:srgbClr val="6B4A00"/>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logBase val="10"/>
          <c:orientation val="minMax"/>
          <c:max val="1000"/>
          <c:min val="0.1"/>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326" name="Picture 12"/>
          <p:cNvPicPr>
            <a:picLocks xmlns:a="http://schemas.openxmlformats.org/drawingml/2006/main" noChangeAspect="1"/>
          </p:cNvPicPr>
          <p:nvPr/>
        </p:nvPicPr>
        <p:blipFill>
          <a:blip xmlns:r="http://schemas.openxmlformats.org/officeDocument/2006/relationships" xmlns:a="http://schemas.openxmlformats.org/drawingml/2006/main" r:embed="Rab6fd4b332624646"/>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328" name="Graphic 67"/>
          <p:cNvPicPr>
            <a:picLocks xmlns:a="http://schemas.openxmlformats.org/drawingml/2006/main" noChangeAspect="1"/>
          </p:cNvPicPr>
          <p:nvPr/>
        </p:nvPicPr>
        <p:blipFill>
          <a:blip xmlns:r="http://schemas.openxmlformats.org/officeDocument/2006/relationships" xmlns:a="http://schemas.openxmlformats.org/drawingml/2006/main" r:embed="R6886ede196ba44ff">
            <a:extLst>
              <a:ext uri="{96DAC541-7B7A-43D3-8B79-37D633B846F1}">
                <asvg:svgBlip xmlns:asvg="http://schemas.microsoft.com/office/drawing/2016/SVG/main" r:embed="Rb0d69cc208f54ae1"/>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329" name="Picture 104"/>
          <p:cNvPicPr>
            <a:picLocks xmlns:a="http://schemas.openxmlformats.org/drawingml/2006/main" noChangeAspect="1"/>
          </p:cNvPicPr>
          <p:nvPr/>
        </p:nvPicPr>
        <p:blipFill>
          <a:blip xmlns:r="http://schemas.openxmlformats.org/officeDocument/2006/relationships" xmlns:a="http://schemas.openxmlformats.org/drawingml/2006/main" r:embed="Rddabe341c14143fb">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EKF below is comparable in scale to the textbook pseudocode [1], retaining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39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867150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400050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1624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40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764750"/>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764750"/>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621875"/>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764750"/>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764750"/>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cxnSp>
        <p:nvCxnSpPr>
          <p:cNvPr id="418" name=""/>
          <p:cNvCxnSpPr>
            <a:stCxn xmlns:a="http://schemas.openxmlformats.org/drawingml/2006/main" id="196" idx="3"/>
            <a:endCxn xmlns:a="http://schemas.openxmlformats.org/drawingml/2006/main" id="197" idx="1"/>
          </p:cNvCxnSpPr>
          <p:nvPr/>
        </p:nvCxnSpPr>
        <p:spPr>
          <a:xfrm xmlns:a="http://schemas.openxmlformats.org/drawingml/2006/main">
            <a:off x="3619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9" name=""/>
          <p:cNvCxnSpPr>
            <a:stCxn xmlns:a="http://schemas.openxmlformats.org/drawingml/2006/main" id="197" idx="3"/>
            <a:endCxn xmlns:a="http://schemas.openxmlformats.org/drawingml/2006/main" id="198" idx="1"/>
          </p:cNvCxnSpPr>
          <p:nvPr/>
        </p:nvCxnSpPr>
        <p:spPr>
          <a:xfrm xmlns:a="http://schemas.openxmlformats.org/drawingml/2006/main">
            <a:off x="7524750" y="23169563"/>
            <a:ext cx="3810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20" name=""/>
          <p:cNvCxnSpPr>
            <a:stCxn xmlns:a="http://schemas.openxmlformats.org/drawingml/2006/main" id="198" idx="3"/>
            <a:endCxn xmlns:a="http://schemas.openxmlformats.org/drawingml/2006/main" id="199" idx="1"/>
          </p:cNvCxnSpPr>
          <p:nvPr/>
        </p:nvCxnSpPr>
        <p:spPr>
          <a:xfrm xmlns:a="http://schemas.openxmlformats.org/drawingml/2006/main" flipV="1">
            <a:off x="12382500" y="23169563"/>
            <a:ext cx="9525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21" name=""/>
          <p:cNvCxnSpPr>
            <a:stCxn xmlns:a="http://schemas.openxmlformats.org/drawingml/2006/main" id="199" idx="3"/>
            <a:endCxn xmlns:a="http://schemas.openxmlformats.org/drawingml/2006/main" id="200" idx="1"/>
          </p:cNvCxnSpPr>
          <p:nvPr/>
        </p:nvCxnSpPr>
        <p:spPr>
          <a:xfrm xmlns:a="http://schemas.openxmlformats.org/drawingml/2006/main">
            <a:off x="17335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22" nam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81000"/>
          </a:xfrm>
          <a:prstGeom xmlns:a="http://schemas.openxmlformats.org/drawingml/2006/main" prst="straightConnector1">
            <a:avLst/>
          </a:prstGeom>
          <a:ln xmlns:a="http://schemas.openxmlformats.org/drawingml/2006/main" w="38100">
            <a:solidFill>
              <a:srgbClr val="7FC7FF"/>
            </a:solidFill>
            <a:headEnd type="arrow" w="med" len="med"/>
            <a:tailEnd type="arrow" w="med" len="med"/>
          </a:ln>
        </p:spPr>
      </p:cxnSp>
      <p:cxnSp>
        <p:nvCxnSpPr>
          <p:cNvPr id="423" name=""/>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23875"/>
          </a:xfrm>
          <a:prstGeom xmlns:a="http://schemas.openxmlformats.org/drawingml/2006/main" prst="straightConnector1">
            <a:avLst/>
          </a:prstGeom>
          <a:ln xmlns:a="http://schemas.openxmlformats.org/drawingml/2006/main" w="38100">
            <a:solidFill>
              <a:srgbClr val="7FC7FF"/>
            </a:solidFill>
            <a:tailEnd type="arrow" w="med" len="med"/>
          </a:ln>
        </p:spPr>
      </p:cxn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572750" y="22317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08" name="AOT preparation">
            <a:extLst xmlns:a="http://schemas.openxmlformats.org/drawingml/2006/main">
              <a:ext uri="{FF2B5EF4-FFF2-40B4-BE49-F238E27FC236}">
                <a16:creationId xmlns:a16="http://schemas.microsoft.com/office/drawing/2014/main" id="{FE0F5B9A-7DDA-4D62-AEB6-567E2870044A}"/>
              </a:ext>
            </a:extLst>
          </p:cNvPr>
          <p:cNvSpPr>
            <a:spLocks xmlns:a="http://schemas.openxmlformats.org/drawingml/2006/main" noGrp="1"/>
          </p:cNvSpPr>
          <p:nvPr/>
        </p:nvSpPr>
        <p:spPr>
          <a:xfrm xmlns:a="http://schemas.openxmlformats.org/drawingml/2006/main">
            <a:off x="12858750" y="23812500"/>
            <a:ext cx="52387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Fixed-shape lowering + AOT</a:t>
            </a:r>
          </a:p>
        </p:txBody>
      </p:sp>
      <p:sp>
        <p:nvSpPr>
          <p:cNvPr id="209" name="AOT dylib">
            <a:extLst xmlns:a="http://schemas.openxmlformats.org/drawingml/2006/main">
              <a:ext uri="{FF2B5EF4-FFF2-40B4-BE49-F238E27FC236}">
                <a16:creationId xmlns:a16="http://schemas.microsoft.com/office/drawing/2014/main" id="{0DA607F7-88D4-4352-B7FE-70F75706D3B9}"/>
              </a:ext>
            </a:extLst>
          </p:cNvPr>
          <p:cNvSpPr>
            <a:spLocks xmlns:a="http://schemas.openxmlformats.org/drawingml/2006/main" noGrp="1"/>
          </p:cNvSpPr>
          <p:nvPr/>
        </p:nvSpPr>
        <p:spPr>
          <a:xfrm xmlns:a="http://schemas.openxmlformats.org/drawingml/2006/main">
            <a:off x="18764250" y="23812500"/>
            <a:ext cx="2905125"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Native dylib</a:t>
            </a:r>
          </a:p>
        </p:txBody>
      </p:sp>
      <p:cxnSp>
        <p:nvCxnSpPr>
          <p:cNvPr id="427" name=""/>
          <p:cNvCxnSpPr>
            <a:stCxn xmlns:a="http://schemas.openxmlformats.org/drawingml/2006/main" id="198" idx="2"/>
            <a:endCxn xmlns:a="http://schemas.openxmlformats.org/drawingml/2006/main" id="208" idx="1"/>
          </p:cNvCxnSpPr>
          <p:nvPr/>
        </p:nvCxnSpPr>
        <p:spPr>
          <a:xfrm xmlns:a="http://schemas.openxmlformats.org/drawingml/2006/main">
            <a:off x="10144125" y="23860125"/>
            <a:ext cx="2714625" cy="238125"/>
          </a:xfrm>
          <a:prstGeom xmlns:a="http://schemas.openxmlformats.org/drawingml/2006/main" prst="bentConnector3">
            <a:avLst>
              <a:gd name="adj1" fmla="val 0"/>
            </a:avLst>
          </a:prstGeom>
          <a:ln xmlns:a="http://schemas.openxmlformats.org/drawingml/2006/main" w="38100">
            <a:solidFill>
              <a:srgbClr val="33AB94"/>
            </a:solidFill>
            <a:tailEnd type="arrow" w="med" len="med"/>
          </a:ln>
        </p:spPr>
      </p:cxnSp>
      <p:cxnSp>
        <p:nvCxnSpPr>
          <p:cNvPr id="428" name=""/>
          <p:cNvCxnSpPr>
            <a:stCxn xmlns:a="http://schemas.openxmlformats.org/drawingml/2006/main" id="208" idx="3"/>
            <a:endCxn xmlns:a="http://schemas.openxmlformats.org/drawingml/2006/main" id="209" idx="1"/>
          </p:cNvCxnSpPr>
          <p:nvPr/>
        </p:nvCxnSpPr>
        <p:spPr>
          <a:xfrm xmlns:a="http://schemas.openxmlformats.org/drawingml/2006/main">
            <a:off x="18097500" y="24098250"/>
            <a:ext cx="66675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2071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Rust host</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drivers</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289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667250" y="24765000"/>
            <a:ext cx="6191250" cy="2476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4905375" y="24860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4953000" y="25384125"/>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4953000" y="26003250"/>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495300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μ → circle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90575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cxnSp>
        <p:nvCxnSpPr>
          <p:cNvPr id="438" name=""/>
          <p:cNvCxnSpPr>
            <a:stCxn xmlns:a="http://schemas.openxmlformats.org/drawingml/2006/main" id="217" idx="2"/>
            <a:endCxn xmlns:a="http://schemas.openxmlformats.org/drawingml/2006/main" id="218" idx="0"/>
          </p:cNvCxnSpPr>
          <p:nvPr/>
        </p:nvCxnSpPr>
        <p:spPr>
          <a:xfrm xmlns:a="http://schemas.openxmlformats.org/drawingml/2006/main">
            <a:off x="7762875" y="25812750"/>
            <a:ext cx="0" cy="190500"/>
          </a:xfrm>
          <a:prstGeom xmlns:a="http://schemas.openxmlformats.org/drawingml/2006/main" prst="straightConnector1">
            <a:avLst/>
          </a:prstGeom>
          <a:ln xmlns:a="http://schemas.openxmlformats.org/drawingml/2006/main" w="38100">
            <a:solidFill>
              <a:srgbClr val="A4BAC8"/>
            </a:solidFill>
            <a:tailEnd type="arrow" w="med" len="med"/>
          </a:ln>
        </p:spPr>
      </p:cxnSp>
      <p:cxnSp>
        <p:nvCxnSpPr>
          <p:cNvPr id="439" name=""/>
          <p:cNvCxnSpPr>
            <a:stCxn xmlns:a="http://schemas.openxmlformats.org/drawingml/2006/main" id="218" idx="2"/>
            <a:endCxn xmlns:a="http://schemas.openxmlformats.org/drawingml/2006/main" id="219" idx="0"/>
          </p:cNvCxnSpPr>
          <p:nvPr/>
        </p:nvCxnSpPr>
        <p:spPr>
          <a:xfrm xmlns:a="http://schemas.openxmlformats.org/drawingml/2006/main" flipH="1">
            <a:off x="6286500"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cxnSp>
        <p:nvCxnSpPr>
          <p:cNvPr id="440" name=""/>
          <p:cNvCxnSpPr>
            <a:stCxn xmlns:a="http://schemas.openxmlformats.org/drawingml/2006/main" id="218" idx="2"/>
            <a:endCxn xmlns:a="http://schemas.openxmlformats.org/drawingml/2006/main" id="220" idx="0"/>
          </p:cNvCxnSpPr>
          <p:nvPr/>
        </p:nvCxnSpPr>
        <p:spPr>
          <a:xfrm xmlns:a="http://schemas.openxmlformats.org/drawingml/2006/main">
            <a:off x="7762875"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620500" y="25146000"/>
            <a:ext cx="32385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56210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Publish state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 record</a:t>
            </a:r>
          </a:p>
        </p:txBody>
      </p:sp>
      <p:cxnSp>
        <p:nvCxnSpPr>
          <p:cNvPr id="443" name=""/>
          <p:cNvCxnSpPr>
            <a:stCxn xmlns:a="http://schemas.openxmlformats.org/drawingml/2006/main" id="213" idx="3"/>
            <a:endCxn xmlns:a="http://schemas.openxmlformats.org/drawingml/2006/main" id="215" idx="1"/>
          </p:cNvCxnSpPr>
          <p:nvPr/>
        </p:nvCxnSpPr>
        <p:spPr>
          <a:xfrm xmlns:a="http://schemas.openxmlformats.org/drawingml/2006/main">
            <a:off x="4000500" y="25622250"/>
            <a:ext cx="66675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44" name=""/>
          <p:cNvCxnSpPr>
            <a:stCxn xmlns:a="http://schemas.openxmlformats.org/drawingml/2006/main" id="215" idx="3"/>
            <a:endCxn xmlns:a="http://schemas.openxmlformats.org/drawingml/2006/main" id="224" idx="1"/>
          </p:cNvCxnSpPr>
          <p:nvPr/>
        </p:nvCxnSpPr>
        <p:spPr>
          <a:xfrm xmlns:a="http://schemas.openxmlformats.org/drawingml/2006/main" flipV="1">
            <a:off x="10858500" y="25622250"/>
            <a:ext cx="76200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45" name=""/>
          <p:cNvCxnSpPr>
            <a:stCxn xmlns:a="http://schemas.openxmlformats.org/drawingml/2006/main" id="224" idx="3"/>
            <a:endCxn xmlns:a="http://schemas.openxmlformats.org/drawingml/2006/main" id="225" idx="1"/>
          </p:cNvCxnSpPr>
          <p:nvPr/>
        </p:nvCxnSpPr>
        <p:spPr>
          <a:xfrm xmlns:a="http://schemas.openxmlformats.org/drawingml/2006/main">
            <a:off x="14859000" y="25622250"/>
            <a:ext cx="76200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925675" y="24765000"/>
            <a:ext cx="80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1430000" y="26479500"/>
            <a:ext cx="3619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Abort candidate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retain prior state</a:t>
            </a:r>
          </a:p>
        </p:txBody>
      </p:sp>
      <p:cxnSp>
        <p:nvCxnSpPr>
          <p:cNvPr id="448" name=""/>
          <p:cNvCxnSpPr>
            <a:stCxn xmlns:a="http://schemas.openxmlformats.org/drawingml/2006/main" id="224" idx="2"/>
            <a:endCxn xmlns:a="http://schemas.openxmlformats.org/drawingml/2006/main" id="230" idx="0"/>
          </p:cNvCxnSpPr>
          <p:nvPr/>
        </p:nvCxnSpPr>
        <p:spPr>
          <a:xfrm xmlns:a="http://schemas.openxmlformats.org/drawingml/2006/main">
            <a:off x="13239750" y="26098500"/>
            <a:ext cx="0" cy="381000"/>
          </a:xfrm>
          <a:prstGeom xmlns:a="http://schemas.openxmlformats.org/drawingml/2006/main" prst="straightConnector1">
            <a:avLst/>
          </a:prstGeom>
          <a:ln xmlns:a="http://schemas.openxmlformats.org/drawingml/2006/main" w="38100">
            <a:solidFill>
              <a:srgbClr val="CE7979"/>
            </a:solidFill>
            <a:tailEnd type="arrow" w="med" len="med"/>
          </a:ln>
        </p:spPr>
      </p:cxn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3525500" y="260794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72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9431000" y="24717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Estimate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(μ, Σ)</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9431000" y="26241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SVG scene</a:t>
            </a:r>
          </a:p>
        </p:txBody>
      </p:sp>
      <p:cxnSp>
        <p:nvCxnSpPr>
          <p:cNvPr id="452" name=""/>
          <p:cNvCxnSpPr>
            <a:stCxn xmlns:a="http://schemas.openxmlformats.org/drawingml/2006/main" id="225" idx="3"/>
            <a:endCxn xmlns:a="http://schemas.openxmlformats.org/drawingml/2006/main" id="233" idx="1"/>
          </p:cNvCxnSpPr>
          <p:nvPr/>
        </p:nvCxnSpPr>
        <p:spPr>
          <a:xfrm xmlns:a="http://schemas.openxmlformats.org/drawingml/2006/main" flipV="1">
            <a:off x="18669000" y="25217438"/>
            <a:ext cx="762000" cy="404813"/>
          </a:xfrm>
          <a:prstGeom xmlns:a="http://schemas.openxmlformats.org/drawingml/2006/main" prst="straightConnector1">
            <a:avLst/>
          </a:prstGeom>
          <a:ln xmlns:a="http://schemas.openxmlformats.org/drawingml/2006/main" w="38100">
            <a:solidFill>
              <a:srgbClr val="33AB94"/>
            </a:solidFill>
            <a:tailEnd type="arrow" w="med" len="med"/>
          </a:ln>
        </p:spPr>
      </p:cxnSp>
      <p:cxnSp>
        <p:nvCxnSpPr>
          <p:cNvPr id="453" name=""/>
          <p:cNvCxnSpPr>
            <a:stCxn xmlns:a="http://schemas.openxmlformats.org/drawingml/2006/main" id="225" idx="3"/>
            <a:endCxn xmlns:a="http://schemas.openxmlformats.org/drawingml/2006/main" id="234" idx="1"/>
          </p:cNvCxnSpPr>
          <p:nvPr/>
        </p:nvCxnSpPr>
        <p:spPr>
          <a:xfrm xmlns:a="http://schemas.openxmlformats.org/drawingml/2006/main">
            <a:off x="18669000" y="25622250"/>
            <a:ext cx="762000" cy="1119188"/>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89375"/>
            <a:ext cx="20716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SIMD JIT and AOT share the numerical graph and Cranelift code generator. JIT compiles on demand. AOT emits a native library before deployment, allowing the host to omit the compiler.</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 log axis</a:t>
            </a:r>
          </a:p>
        </p:txBody>
      </p:sp>
      <p:graphicFrame>
        <p:nvGraphicFramePr>
          <p:cNvPr id="461" name="Chart"/>
          <p:cNvGraphicFramePr/>
          <p:nvPr/>
        </p:nvGraphicFramePr>
        <p:xfrm>
          <a:off xmlns:a="http://schemas.openxmlformats.org/drawingml/2006/main" x="80962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a64d65a026594216"/>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695700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68522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695700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68522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466" name="Chart"/>
          <p:cNvGraphicFramePr/>
          <p:nvPr/>
        </p:nvGraphicFramePr>
        <p:xfrm>
          <a:off xmlns:a="http://schemas.openxmlformats.org/drawingml/2006/main" x="1157287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3e36ded667ab4c9f"/>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493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4456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1722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674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3951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0904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180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133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40978"/>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362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63897"/>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591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296698" y="3590206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0.695 ± 0.001</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296698" y="355363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0.828 ± 0.001</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296698" y="3496957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13.22 ± 0.01</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296698" y="3460388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15.95 ± 0.03</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296698" y="3403707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34.62 ± 0.01</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296698" y="3367138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37.06 ± 0.08</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296698" y="3310457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121.07 ± 0.53</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296698" y="3273889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141.65 ± 0.83</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296698" y="3217207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420.90 ± 2.29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296698" y="3180639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420.75 ± 2.28</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6909375"/>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98145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7573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719500"/>
            <a:ext cx="2071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Experience this poster as a live reactive program. Mech’s WebAssembly runtime supports the CPU and WGPU comparison online.</a:t>
            </a:r>
          </a:p>
        </p:txBody>
      </p:sp>
      <p:sp>
        <p:nvSpPr>
          <p:cNvPr id="316" name="QR arrow start">
            <a:extLst xmlns:a="http://schemas.openxmlformats.org/drawingml/2006/main">
              <a:ext uri="{FF2B5EF4-FFF2-40B4-BE49-F238E27FC236}">
                <a16:creationId xmlns:a16="http://schemas.microsoft.com/office/drawing/2014/main" id="{A041A385-4B29-4425-9CBF-73A0DD300D38}"/>
              </a:ext>
            </a:extLst>
          </p:cNvPr>
          <p:cNvSpPr>
            <a:spLocks xmlns:a="http://schemas.openxmlformats.org/drawingml/2006/main" noGrp="1"/>
          </p:cNvSpPr>
          <p:nvPr/>
        </p:nvSpPr>
        <p:spPr>
          <a:xfrm xmlns:a="http://schemas.openxmlformats.org/drawingml/2006/main">
            <a:off x="3143250" y="42957750"/>
            <a:ext cx="9525" cy="9525"/>
          </a:xfrm>
          <a:prstGeom xmlns:a="http://schemas.openxmlformats.org/drawingml/2006/main" prst="rect">
            <a:avLst/>
          </a:prstGeom>
          <a:noFill xmlns:a="http://schemas.openxmlformats.org/drawingml/2006/main"/>
          <a:ln xmlns:a="http://schemas.openxmlformats.org/drawingml/2006/main" w="0">
            <a:noFill/>
          </a:ln>
        </p:spPr>
      </p:sp>
      <p:sp>
        <p:nvSpPr>
          <p:cNvPr id="317" name="QR arrow end">
            <a:extLst xmlns:a="http://schemas.openxmlformats.org/drawingml/2006/main">
              <a:ext uri="{FF2B5EF4-FFF2-40B4-BE49-F238E27FC236}">
                <a16:creationId xmlns:a16="http://schemas.microsoft.com/office/drawing/2014/main" id="{8AE0177E-54CE-40E1-B9A1-109AC16CCBBF}"/>
              </a:ext>
            </a:extLst>
          </p:cNvPr>
          <p:cNvSpPr>
            <a:spLocks xmlns:a="http://schemas.openxmlformats.org/drawingml/2006/main" noGrp="1"/>
          </p:cNvSpPr>
          <p:nvPr/>
        </p:nvSpPr>
        <p:spPr>
          <a:xfrm xmlns:a="http://schemas.openxmlformats.org/drawingml/2006/main">
            <a:off x="2638425" y="42957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35" name=""/>
          <p:cNvCxnSpPr>
            <a:stCxn xmlns:a="http://schemas.openxmlformats.org/drawingml/2006/main" id="316" idx="1"/>
            <a:endCxn xmlns:a="http://schemas.openxmlformats.org/drawingml/2006/main" id="317" idx="3"/>
          </p:cNvCxnSpPr>
          <p:nvPr/>
        </p:nvCxnSpPr>
        <p:spPr>
          <a:xfrm xmlns:a="http://schemas.openxmlformats.org/drawingml/2006/main" flipH="1">
            <a:off x="2647950" y="42962513"/>
            <a:ext cx="495300" cy="0"/>
          </a:xfrm>
          <a:prstGeom xmlns:a="http://schemas.openxmlformats.org/drawingml/2006/main" prst="straightConnector1">
            <a:avLst/>
          </a:prstGeom>
          <a:ln xmlns:a="http://schemas.openxmlformats.org/drawingml/2006/main" w="28575">
            <a:solidFill>
              <a:srgbClr val="F6C04E"/>
            </a:solidFill>
            <a:tailEnd type="triangle" w="med" len="med"/>
          </a:ln>
        </p:spPr>
      </p:cxn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Benchmark setup</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567225"/>
            <a:ext cx="2343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2026-09-25T15:52:45.9760000Z</dcterms:created>
  <dcterms:modified xsi:type="dcterms:W3CDTF">2026-09-25T15:52:45.9760000Z</dcterms:modified>
</coreProperties>
</file>