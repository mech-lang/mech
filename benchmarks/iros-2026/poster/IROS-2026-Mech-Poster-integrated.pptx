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C00E2DC1-455A-4ECF-BE66-20176529DC0B}"/>
              </a:ext>
            </a:extLst>
          </p:cNvPr>
          <p:cNvSpPr>
            <a:spLocks xmlns:a="http://schemas.openxmlformats.org/drawingml/2006/main" noGrp="1"/>
          </p:cNvSpPr>
          <p:nvPr/>
        </p:nvSpPr>
        <p:spPr>
          <a:xfrm xmlns:a="http://schemas.openxmlformats.org/drawingml/2006/main">
            <a:off x="952500" y="7524750"/>
            <a:ext cx="20526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spcAft>
                <a:spcPts val="1800"/>
              </a:spcAft>
              <a:buChar char="•"/>
              <a:defRPr sz="2850">
                <a:solidFill>
                  <a:srgbClr val="E8EDF0"/>
                </a:solidFill>
                <a:latin typeface="Segoe UI"/>
                <a:ea typeface="Segoe UI"/>
                <a:cs typeface="Segoe UI"/>
              </a:defRPr>
            </a:pPr>
            <a:r>
              <a:rPr sz="2850">
                <a:solidFill>
                  <a:srgbClr val="E8EDF0"/>
                </a:solidFill>
                <a:latin typeface="Segoe UI"/>
                <a:ea typeface="Segoe UI"/>
                <a:cs typeface="Segoe UI"/>
              </a:rPr>
              <a:t>Rust’s memory safety, performance and low-level control make it a strong foundation for robotics. Numerical kernels can still become lengthy and difficult to verify when each backend requires specialized code.</a:t>
            </a:r>
          </a:p>
          <a:p xmlns:a="http://schemas.openxmlformats.org/drawingml/2006/main">
            <a:pPr marL="698500" indent="-508000">
              <a:spcAft>
                <a:spcPts val="1800"/>
              </a:spcAft>
              <a:buChar char="•"/>
              <a:defRPr sz="2850">
                <a:solidFill>
                  <a:srgbClr val="E8EDF0"/>
                </a:solidFill>
                <a:latin typeface="Segoe UI"/>
                <a:ea typeface="Segoe UI"/>
                <a:cs typeface="Segoe UI"/>
              </a:defRPr>
            </a:pPr>
            <a:r>
              <a:rPr sz="2850">
                <a:solidFill>
                  <a:srgbClr val="E8EDF0"/>
                </a:solidFill>
                <a:latin typeface="Segoe UI"/>
                <a:ea typeface="Segoe UI"/>
                <a:cs typeface="Segoe UI"/>
              </a:rPr>
              <a:t>Mech is a numerical language implemented in Rust and embeddable in Rust applications. Its compiler specializes typed equations without backend-specific source annotations. A bearing-only EKF illustrates its numerical and reactive features, which also apply beyond state estimation.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 xml:space="preserve">+&gt;</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math</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669625" y="14382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669625" y="14763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669625" y="15144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669625" y="15525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669625" y="15906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669625" y="16287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669625" y="16668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669625" y="17049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669625" y="17430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669625" y="17811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669625" y="18192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669625" y="18573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669625" y="20097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669625" y="20478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669625" y="20859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669625" y="21240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669625" y="21621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669625" y="22002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669625" y="22383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669625" y="22764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669625" y="23526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669625" y="23907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669625" y="24288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669625" y="24669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669625" y="26193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669625" y="26574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669625" y="26955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669625" y="27336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669625" y="28098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669625" y="28479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669625" y="28860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669625" y="29622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669625" y="30003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669625" y="30384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669625" y="30765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669625" y="31527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669625" y="31908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669625" y="32670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669625" y="330517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bearing-only EKF below adapts the textbook formulation [1], preserving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6237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052500"/>
            <a:ext cx="952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08622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embed Mech source through its Rust library, or load a compiled dylib. Both interfaces bind named inputs and retain state between updates. C++ and Python bindings are planned.</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Compile once, then submit successive measurement updates. Each checked turn retains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240125"/>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8383250"/>
            <a:ext cx="1014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1875" b="0">
                <a:solidFill>
                  <a:srgbClr val="A4BAC8"/>
                </a:solidFill>
                <a:latin typeface="Segoe UI"/>
                <a:ea typeface="Segoe UI"/>
                <a:cs typeface="Segoe UI"/>
              </a:rPr>
              <a:t>The bundle contains the dylib and its saved interface. Loading native code requires a trusted library.</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Robots commonly use feedback control loops over continuous data streams. Mech handles successive updates through its native Rust interface or ROS channels. Each turn validates candidate state against integrity constraints. Rejection notifies the caller and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Mech’s typed, declarative IR supports interpretation, scalar/SIMD CPU, multicore, GPU and WebAssembly/WGPU from the same source.</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337000"/>
            <a:ext cx="20716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The Mech rows use the same f32 EKF source shown at right. JIT and AOT share the same numerical compilation pipeline.‡</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593064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556495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499814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463246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406564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369996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313315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2767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220065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83496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33800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Further validation is needed beyond the EKF case study.</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Over the next year, we plan evaluation across real robot hardware platforms and in robot deployments.</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400431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400431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400431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9859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814750"/>
            <a:ext cx="2071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Segoe UI"/>
                <a:ea typeface="Segoe UI"/>
                <a:cs typeface="Segoe UI"/>
              </a:defRPr>
            </a:pPr>
            <a:r>
              <a:rPr sz="1950" b="0">
                <a:solidFill>
                  <a:srgbClr val="F6C04E"/>
                </a:solidFill>
                <a:latin typeface="Segoe UI"/>
                <a:ea typeface="Segoe UI"/>
                <a:cs typeface="Segoe UI"/>
              </a:rPr>
              <a:t>Experience this poster as a live reactive program. Mech’s WebAssembly runtime supports the CPU and WGPU comparison online.</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195750"/>
            <a:ext cx="2343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Benchmark setup. Apple M1: 4P + 4E CPU, 8-core GPU, 8 GB, macOS 15.6.1. Charts: f32, 500,000 filters × 40 turns, n=10. Median ± MAD.</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Mech v0.4 development (package 0.3.6). Backend pairs f4b69052c, CPU eedc1c75b, dylibs dab98af1d. iros-workshop-benchmarks, benchmarks/iros-2026.</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 Dylib table: minimal ABI loader, 1 thread, 10,000 filters × 200 turns, n=7. RSS covers the process. Compile/load/warmup excluded. File sizes reflect linker/segment layout. The new embedding wrapper is not timed.</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 SIMD JIT and AOT share the Cranelift pipeline. JIT compiles on demand. AOT emits a library ahead of deployment, allowing the host to omit the compiler.</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Unchecked runs omit integrity predicates and retain per-turn publication in the Mech chart. Checking reduces SIMD AOT throughput by 6.6%. The Metal difference is within measured variation.</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[1] Thrun, Burgard &amp; Fox. Probabilistic Robotics. MIT Press, 2005. §7.4.2, Table 7.2 (adapted).</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669750"/>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217188"/>
            <a:ext cx="666750" cy="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21718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21718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217188"/>
            <a:ext cx="666750" cy="0"/>
          </a:xfrm>
          <a:prstGeom xmlns:a="http://schemas.openxmlformats.org/drawingml/2006/main" prst="straightConnector1">
            <a:avLst/>
          </a:prstGeom>
          <a:ln xmlns:a="http://schemas.openxmlformats.org/drawingml/2006/main" w="28575">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57188"/>
          </a:xfrm>
          <a:prstGeom xmlns:a="http://schemas.openxmlformats.org/drawingml/2006/main" prst="straightConnector1">
            <a:avLst/>
          </a:prstGeom>
          <a:ln xmlns:a="http://schemas.openxmlformats.org/drawingml/2006/main" w="28575">
            <a:solidFill>
              <a:srgbClr val="CD8DCA"/>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7150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736550"/>
            <a:ext cx="0" cy="171450"/>
          </a:xfrm>
          <a:prstGeom xmlns:a="http://schemas.openxmlformats.org/drawingml/2006/main" prst="straightConnector1">
            <a:avLst/>
          </a:prstGeom>
          <a:ln xmlns:a="http://schemas.openxmlformats.org/drawingml/2006/main" w="23813">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931813"/>
            <a:ext cx="809625" cy="1"/>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931813"/>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931813"/>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6068735"/>
            <a:ext cx="1131094" cy="857250"/>
          </a:xfrm>
          <a:prstGeom xmlns:a="http://schemas.openxmlformats.org/drawingml/2006/main" prst="curvedConnector3">
            <a:avLst>
              <a:gd name="adj1" fmla="val 50000"/>
            </a:avLst>
          </a:prstGeom>
          <a:ln xmlns:a="http://schemas.openxmlformats.org/drawingml/2006/main" w="28575">
            <a:solidFill>
              <a:srgbClr val="CE7979"/>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334119"/>
            <a:ext cx="528638"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115169"/>
            <a:ext cx="1033462"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81237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81237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59806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81237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81237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28850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312688"/>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741438"/>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Native Rust interface</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is another channel</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812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3365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9080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503188"/>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503188"/>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11742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693813"/>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1938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87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574500"/>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431875"/>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527000"/>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6507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Example turn 800</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00312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336500"/>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527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86050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574625"/>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489025"/>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524125" y="42243375"/>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xmlns:a="http://schemas.openxmlformats.org/drawingml/2006/main" w="36195" cap="rnd">
            <a:solidFill>
              <a:srgbClr val="F6C04E"/>
            </a:solidFill>
            <a:custDash>
              <a:ds d="200000" sp="170000"/>
              <a:ds d="145000" sp="210000"/>
              <a:ds d="235000" sp="155000"/>
              <a:ds d="175000" sp="190000"/>
            </a:custDash>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811625"/>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8763000" y="19402425"/>
            <a:ext cx="257175" cy="2571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9172575" y="1933575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a:solidFill>
                  <a:srgbClr val="A4BAC8"/>
                </a:solidFill>
                <a:latin typeface="Segoe UI"/>
                <a:ea typeface="Segoe UI"/>
                <a:cs typeface="Segoe UI"/>
              </a:defRPr>
            </a:pPr>
            <a:r>
              <a:rPr sz="2250">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12049125" y="19402425"/>
            <a:ext cx="257175" cy="2571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12458700" y="1933575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a:solidFill>
                  <a:srgbClr val="A4BAC8"/>
                </a:solidFill>
                <a:latin typeface="Segoe UI"/>
                <a:ea typeface="Segoe UI"/>
                <a:cs typeface="Segoe UI"/>
              </a:defRPr>
            </a:pPr>
            <a:r>
              <a:rPr sz="2250">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15335250" y="19402425"/>
            <a:ext cx="257175" cy="2571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15744825" y="1933575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a:solidFill>
                  <a:srgbClr val="A4BAC8"/>
                </a:solidFill>
                <a:latin typeface="Segoe UI"/>
                <a:ea typeface="Segoe UI"/>
                <a:cs typeface="Segoe UI"/>
              </a:defRPr>
            </a:pPr>
            <a:r>
              <a:rPr sz="2250">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18621375" y="19402425"/>
            <a:ext cx="257175" cy="25717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19030950" y="1933575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a:solidFill>
                  <a:srgbClr val="A4BAC8"/>
                </a:solidFill>
                <a:latin typeface="Segoe UI"/>
                <a:ea typeface="Segoe UI"/>
                <a:cs typeface="Segoe UI"/>
              </a:defRPr>
            </a:pPr>
            <a:r>
              <a:rPr sz="2250">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3879175"/>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622000"/>
            <a:ext cx="0" cy="257175"/>
          </a:xfrm>
          <a:prstGeom xmlns:a="http://schemas.openxmlformats.org/drawingml/2006/main" prst="straightConnector1">
            <a:avLst/>
          </a:prstGeom>
          <a:ln xmlns:a="http://schemas.openxmlformats.org/drawingml/2006/main" w="28575">
            <a:solidFill>
              <a:srgbClr val="CE7979"/>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593064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593064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499814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499814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406564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406564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313315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313315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220065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220065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556495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556495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463246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463246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369996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369996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2767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2767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83496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83496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7002125"/>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