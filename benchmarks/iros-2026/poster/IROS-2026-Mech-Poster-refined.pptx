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1.xml" ContentType="application/vnd.openxmlformats-officedocument.presentationml.notesSlide+xml"/>
  <Override PartName="/ppt/fonts/FiraCode-OFL.txt" ContentType="text/plain"/>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20f6c12cb7a452f" /><Relationship Type="http://schemas.openxmlformats.org/officeDocument/2006/relationships/extended-properties" Target="/docProps/app.xml" Id="R239210dfa33f43ff" /><Relationship Type="http://schemas.openxmlformats.org/officeDocument/2006/relationships/officeDocument" Target="/ppt/presentation.xml" Id="R82bc25c6992849db"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feae2fa9fd184233"/>
  </p:sldMasterIdLst>
  <p:notesMasterIdLst>
    <p:notesMasterId xmlns:r="http://schemas.openxmlformats.org/officeDocument/2006/relationships" r:id="Rad8b4f75be594aff"/>
  </p:notesMasterIdLst>
  <p:sldIdLst>
    <p:sldId xmlns:r="http://schemas.openxmlformats.org/officeDocument/2006/relationships" id="256" r:id="R20e20ded849147ca"/>
  </p:sldIdLst>
  <p:sldSz cx="32918400" cy="43891200"/>
  <p:notesSz cx="6858000" cy="9144000"/>
  <p:embeddedFontLst>
    <p:embeddedFont>
      <p:font typeface="Fira Code"/>
      <p:regular xmlns:r="http://schemas.openxmlformats.org/officeDocument/2006/relationships" r:id="R46daa1e720a74919"/>
      <p:bold xmlns:r="http://schemas.openxmlformats.org/officeDocument/2006/relationships" r:id="R78a6ab24acff48ce"/>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d5d1a5ee32d9435e" /><Relationship Type="http://schemas.openxmlformats.org/officeDocument/2006/relationships/slideMaster" Target="/ppt/slideMasters/slideMaster1.xml" Id="Rfeae2fa9fd184233" /><Relationship Type="http://schemas.openxmlformats.org/officeDocument/2006/relationships/notesMaster" Target="/ppt/notesMasters/notesMaster1.xml" Id="Rad8b4f75be594aff" /><Relationship Type="http://schemas.openxmlformats.org/officeDocument/2006/relationships/presProps" Target="/ppt/presProps.xml" Id="Rd3dfb6cb5b0a46a2" /><Relationship Type="http://schemas.openxmlformats.org/officeDocument/2006/relationships/viewProps" Target="/ppt/viewProps.xml" Id="Rfd2356f4e3774c5b" /><Relationship Type="http://schemas.openxmlformats.org/officeDocument/2006/relationships/tableStyles" Target="/ppt/tableStyles.xml" Id="R2c30c58b389b4a29" /><Relationship Type="http://schemas.openxmlformats.org/officeDocument/2006/relationships/font" Target="/ppt/fonts/font.dat" Id="R46daa1e720a74919" /><Relationship Type="http://schemas.openxmlformats.org/officeDocument/2006/relationships/font" Target="/ppt/fonts/font2.dat" Id="R78a6ab24acff48ce" /><Relationship Type="http://schemas.openxmlformats.org/officeDocument/2006/relationships/slide" Target="/ppt/slides/slide1.xml" Id="R20e20ded849147ca" /></Relationships>
</file>

<file path=ppt/fonts/FiraCode-OFL.txt>Copyright (c) 2014, The Fira Code Project Authors (https://github.com/tonsky/FiraCode)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file>

<file path=ppt/notesMasters/_rels/notesMaster1.xml.rels>&#65279;<?xml version="1.0" encoding="utf-8"?><Relationships xmlns="http://schemas.openxmlformats.org/package/2006/relationships"><Relationship Type="http://schemas.openxmlformats.org/officeDocument/2006/relationships/theme" Target="/ppt/notesMasters/theme/theme3.xml" Id="R7571bbd866eb418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14483b08adf4598" /><Relationship Type="http://schemas.openxmlformats.org/officeDocument/2006/relationships/notesMaster" Target="/ppt/notesMasters/notesMaster1.xml" Id="R035c2a1397634587" /></Relationships>
</file>

<file path=ppt/notesSlides/notesSlide1.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IROS 2026 poster update: factual provenance and comparison scope</a:t>
            </a:r>
          </a:p>
          <a:p xmlns:a="http://schemas.openxmlformats.org/drawingml/2006/main">
            <a:r>
              <a:t/>
            </a:r>
          </a:p>
          <a:p xmlns:a="http://schemas.openxmlformats.org/drawingml/2006/main">
            <a:r>
              <a:t>Original title/authors/logos/QR retained from the supplied poster. The roadmap follows the current public About Mech page. Future dates are plans, not guarantees.</a:t>
            </a:r>
          </a:p>
          <a:p xmlns:a="http://schemas.openxmlformats.org/drawingml/2006/main">
            <a:r>
              <a:t/>
            </a:r>
          </a:p>
          <a:p xmlns:a="http://schemas.openxmlformats.org/drawingml/2006/main">
            <a:r>
              <a:t>Repository: https://github.com/mech-lang/mech/tree/iros-workshop-benchmarks</a:t>
            </a:r>
          </a:p>
          <a:p xmlns:a="http://schemas.openxmlformats.org/drawingml/2006/main">
            <a:r>
              <a:t>Evidence snapshot: b2522772b280796bfb7c0de39ac9fff235fa9bf8</a:t>
            </a:r>
          </a:p>
          <a:p xmlns:a="http://schemas.openxmlformats.org/drawingml/2006/main">
            <a:r>
              <a:t>Ledger: https://github.com/mech-lang/mech/blob/b2522772b280796bfb7c0de39ac9fff235fa9bf8/benchmarks/iros-2026/EVIDENCE.md</a:t>
            </a:r>
          </a:p>
          <a:p xmlns:a="http://schemas.openxmlformats.org/drawingml/2006/main">
            <a:r>
              <a:t/>
            </a:r>
          </a:p>
          <a:p xmlns:a="http://schemas.openxmlformats.org/drawingml/2006/main">
            <a:r>
              <a:t>CPU values: benchmarks/iros-2026/results/apple-m1-cpu-equal-n10-2026-09-24.json, campaigns.cpu.rows. All 10 fresh-process samples retained; median absolute deviation. 500,000 filters × 40 turns, f32, warm-up excluded. Cross-language fused vs per-turn spectrum publication differs, so the two charts are not interchangeable. Cross-language checked guards use finite checks, positive diagonals, symmetry; positive diagonals do not imply positive definiteness. Numba/Julia/Futhark candidate rejection differs from Mech/Rust block-atomic rollback. These measurements are not a universal language ranking or inferential evidence of a Mech/Rust difference. Mech uses Cranelift, Rust LLVM. Mojo source fingerprint does not match retained fused behavior; its row is archived incomplete-provenance evidence, not a reproducible same-HEAD claim.</a:t>
            </a:r>
          </a:p>
          <a:p xmlns:a="http://schemas.openxmlformats.org/drawingml/2006/main">
            <a:r>
              <a:t/>
            </a:r>
          </a:p>
          <a:p xmlns:a="http://schemas.openxmlformats.org/drawingml/2006/main">
            <a:r>
              <a:t>AOT: checked, one host thread, 10,000 filters × 200 turns, n=7; common dylib runner, 100 warm-up turns/reset, no compile/load/packing in the timed section. Mech scalar 33,544 B /14.671420±0.007511 M/s; Rust scalar 50,016 B /21.120718±0.004868; Mech SIMD4 33,864 B /34.863147±0.010302. Whole-process peak RSS median all 2,818,048 B (MAD 0); ranges overlap. Rust is specialized scalar with local LLVM vectorization, not equivalent packed SIMD. Scalar Mech is slower than Rust; packed Mech outperformance is a strategy difference. Dylibs contain native selected compute/check machinery, not the full general Mech scheduler. C ABI buffers, not arbitrary Rust shared structures. Source snippet: benchmarks/iros-2026/rust-dylib/dylib-runner.rs.</a:t>
            </a:r>
          </a:p>
          <a:p xmlns:a="http://schemas.openxmlformats.org/drawingml/2006/main">
            <a:r>
              <a:t/>
            </a:r>
          </a:p>
          <a:p xmlns:a="http://schemas.openxmlformats.org/drawingml/2006/main">
            <a:r>
              <a:t>Source size: benchmarks/archive/compute/parallel-ekf/source-size-audit/selected/ekf.mec and rust_textbook.rs /rust_simd.rs. Names one character, no comments/whitespace; totals 1079/2355/5243. Rust SIMD wrapper1243 +batch/rollback1614=2857. General runtime/compiler internals excluded for both. The full 53-line EKF listing from the user-supplied poster is retained verbatim, including syntax colors. Source-size counts use the checked benchmark .mec with explicit guard expressions. The displayed listing uses the original poster notation. Ordinary nalgebra0.34.2 storage/ops; accelerated compute hot kernels do not call nalgebra.</a:t>
            </a:r>
          </a:p>
          <a:p xmlns:a="http://schemas.openxmlformats.org/drawingml/2006/main">
            <a:r>
              <a:t/>
            </a:r>
          </a:p>
          <a:p xmlns:a="http://schemas.openxmlformats.org/drawingml/2006/main">
            <a:r>
              <a:t>Versions: Apple M1 8 cores (4P+4E),8GB RAM; macOS15.6.1; Rust1.96.0-nightly ec818fda3 (2026-03-02); Cranelift0.131.3; Julia1.12.6; Mojo1.1.0 8189361e /MAX26.6.0; Futhark0.27.1 /ISPC1.31.0 /LLVM22.1.8; Python3.12.14 /NumPy2.2.6 /Numba0.61.2.</a:t>
            </a:r>
          </a:p>
          <a:p xmlns:a="http://schemas.openxmlformats.org/drawingml/2006/main">
            <a:r>
              <a:t/>
            </a:r>
          </a:p>
          <a:p xmlns:a="http://schemas.openxmlformats.org/drawingml/2006/main">
            <a:r>
              <a:t>Reactive figure is a conceptual turn contract, not a timing claim about the batched kernel. Effects are staged until accepted. Backend selection graphic intentionally does not claim every experimental backend is exposed through .mcfg today. Stable settings currently auto/cpu/gpu/cpu-scalar/wgpu; JIT/SIMD/AOT/Metal are compiler/registry/benchmark pathways.</a:t>
            </a:r>
          </a:p>
          <a:p xmlns:a="http://schemas.openxmlformats.org/drawingml/2006/main">
            <a:r>
              <a:t/>
            </a:r>
          </a:p>
          <a:p xmlns:a="http://schemas.openxmlformats.org/drawingml/2006/main">
            <a:r>
              <a:t>The scalar dylib pair uses the same ABI, AoS buffers, host loop, checks, and per-turn publication. Rust is hand-specialized scalar arithmetic compiled by LLVM, distinct from the textbook Rust source-size extract. The scalar difference does not isolate embedding overhead. A matched packed-SIMD Rust dylib is still required to compare equivalent SIMD embedding paths.</a:t>
            </a:r>
          </a:p>
          <a:p xmlns:a="http://schemas.openxmlformats.org/drawingml/2006/main">
            <a:r>
              <a:t/>
            </a:r>
          </a:p>
          <a:p xmlns:a="http://schemas.openxmlformats.org/drawingml/2006/main">
            <a:r>
              <a:t>Reactive figure: simplified from the user's supplied two-phase paper figure. Build/activation produces a resident instance once. Repeated turns bind sensor inputs, execute the affected graph, validate candidates, publish and record accepted state, and deliver effects after publication. Failed candidates preserve the previous accepted state.</a:t>
            </a:r>
          </a:p>
          <a:p xmlns:a="http://schemas.openxmlformats.org/drawingml/2006/main">
            <a:r>
              <a:t/>
            </a:r>
          </a:p>
          <a:p xmlns:a="http://schemas.openxmlformats.org/drawingml/2006/main">
            <a:r>
              <a:t/>
            </a:r>
          </a:p>
          <a:p xmlns:a="http://schemas.openxmlformats.org/drawingml/2006/main">
            <a:r>
              <a:t/>
            </a:r>
          </a:p>
          <a:p xmlns:a="http://schemas.openxmlformats.org/drawingml/2006/main">
            <a:r>
              <a:t>Mech execution revisions: CPU eedc1c75b5a780a92d3f50f094be873f93bca6b9; AOT dab98af1deb65d53cb9f88ee057f34ceb2e74609; Metal 45a21a62d4f0e68adc40bb537a8f26e1d11df7d5. Their Cargo manifests declare package 0.3.6. v0.4 is the integration/development line, not a released 0.4.0 compiler label. Rust LLVM 22.1.0 is retained for the identical full rustc hash ec818fda361ca216eb186f5cf45131bd9c776bb4 in the resident benchmark metadata. ISPC separately reports LLVM 22.1.8. Other systems' unrecorded internal LLVM versions are not inferred.</a:t>
            </a:r>
          </a:p>
          <a:p xmlns:a="http://schemas.openxmlformats.org/drawingml/2006/main">
            <a:r>
              <a:t/>
            </a:r>
          </a:p>
          <a:p xmlns:a="http://schemas.openxmlformats.org/drawingml/2006/main">
            <a:r>
              <a:t>Typography asset: Fira Code 6.2, https://github.com/tonsky/FiraCode/releases/tag/6.2, SIL Open Font License 1.1. The original full EKF source remains verbatim.</a:t>
            </a:r>
          </a:p>
          <a:p xmlns:a="http://schemas.openxmlformats.org/drawingml/2006/main">
            <a:r>
              <a:t/>
            </a:r>
          </a:p>
          <a:p xmlns:a="http://schemas.openxmlformats.org/drawingml/2006/main">
            <a:r>
              <a:t>The source table counts normalized source characters, not lines. Every identifier occurrence is normalized to one character; comments and nonliteral whitespace are removed. For these selected checked implementations, Rust SIMD totals 5,243 characters versus Mech 1,079. The 2,857-character SIMD/batch category accounts for most of the 4,164-character difference.</a:t>
            </a:r>
          </a:p>
          <a:p xmlns:a="http://schemas.openxmlformats.org/drawingml/2006/main">
            <a:r>
              <a:t/>
            </a:r>
          </a:p>
          <a:p xmlns:a="http://schemas.openxmlformats.org/drawingml/2006/main">
            <a:r>
              <a:t>EKF citation: Thrun, Burgard and Fox, Probabilistic Robotics, MIT Press, 2005, §7.4.2, Table 7.2. https://mitpress.mit.edu/9780262201629/probabilistic-robotics/ . The displayed implementation is a bearing-only, one-known-landmark adaptation with Euler motion and Joseph covariance, not the book's identical range-and-bearing pseudocode.</a:t>
            </a:r>
          </a:p>
          <a:p xmlns:a="http://schemas.openxmlformats.org/drawingml/2006/main">
            <a:r>
              <a:t/>
            </a:r>
          </a:p>
          <a:p xmlns:a="http://schemas.openxmlformats.org/drawingml/2006/main">
            <a:r>
              <a:t>Reactive diagram: RuntimeHostInputDriver and RuntimeIngress accept owned input packets into the host queue. A Rust ROS adapter is an illustrative integration route, not a claim that this evidence branch includes a released Mech–ROS bridge. The .mcfg input supplies host/provider instances, resource grants, runtime limits/durability and supported compute selection. Separate experimental compiler and benchmark pathways remain described above. Diagram is simplified from the user's supplied paper figure.</a:t>
            </a:r>
          </a:p>
          <a:p xmlns:a="http://schemas.openxmlformats.org/drawingml/2006/main">
            <a:r>
              <a:t/>
            </a:r>
          </a:p>
          <a:p xmlns:a="http://schemas.openxmlformats.org/drawingml/2006/main">
            <a:r>
              <a:t>Status and roadmap: https://about.mech-lang.org, read 2026-09-25. Source milestones: implementation begins 2018, first alpha 0.0.1 in 2019, v0.1 proof of concept 2023, v0.2 data specification 2025, v0.3 program specification 2026, v0.4 runtime currently in progress (site says Soon), v0.5 distribution and concurrency planned 2027, v1.0 stable platform planned 2028. The site identifies active beta development focused on the runtime, with experimental, lightly tested or incomplete parts of the wider platform and advises against critical-system use. Stable embedding API work is retained from the project discussion.</a:t>
            </a:r>
          </a:p>
          <a:p xmlns:a="http://schemas.openxmlformats.org/drawingml/2006/main">
            <a:r>
              <a:t/>
            </a:r>
          </a:p>
          <a:p xmlns:a="http://schemas.openxmlformats.org/drawingml/2006/main">
            <a:r>
              <a:t/>
            </a:r>
          </a:p>
          <a:p xmlns:a="http://schemas.openxmlformats.org/drawingml/2006/main">
            <a:r>
              <a:t/>
            </a:r>
          </a:p>
          <a:p xmlns:a="http://schemas.openxmlformats.org/drawingml/2006/main">
            <a:r>
              <a:t>Embedding alternatives: Rust can link mech-runtime and use load_source_program or load_bytecode_program, with configured host providers and grants as required (src/runtime/src/runtime/program/loading.rs:73,201). Hosts can register native function catalogs and Rust input drivers (src/runtime/src/runtime/builder.rs:121,137). The optional AOT path emits a native dylib during fixed-shape backend preparation, before turns run. simd_aot.rs:86-87 emits/reuses and loads the dylib, then prepare creates the session buffers. The configured compute-host route prepares this backend during RuntimeBuilder construction, before coordinator load_compiled_program activates the resident plan (src/cli/commands/run.rs:353-365). Activation is not a required dylib-emission operation.</a:t>
            </a:r>
          </a:p>
          <a:p xmlns:a="http://schemas.openxmlformats.org/drawingml/2006/main">
            <a:r>
              <a:t/>
            </a:r>
          </a:p>
          <a:p xmlns:a="http://schemas.openxmlformats.org/drawingml/2006/main">
            <a:r>
              <a:t>Artifact emphasis and serialization: the highlighted Program artifact is the typed dataflow representation. The bidirectional .mecb link denotes serialization and validated decoding (src/engine/src/artifact/bytecode.rs:258,427,725). The CLI currently rejects mixed compute bytecode loading, so this conceptual diagram does not claim every compute program can be launched from bytecode in this evidence revision.</a:t>
            </a:r>
          </a:p>
          <a:p xmlns:a="http://schemas.openxmlformats.org/drawingml/2006/main">
            <a:r>
              <a:t/>
            </a:r>
          </a:p>
          <a:p xmlns:a="http://schemas.openxmlformats.org/drawingml/2006/main">
            <a:r>
              <a:t>The user confirmed that the existing QR destination https://mech-lang.org/iros-r4r-2026/index.html should remain the live-poster address. The endpoint returned 404 during the 2026-09-25 check; content will be published there separately.</a:t>
            </a:r>
          </a:p>
          <a:p xmlns:a="http://schemas.openxmlformats.org/drawingml/2006/main">
            <a:r>
              <a:t/>
            </a:r>
          </a:p>
          <a:p xmlns:a="http://schemas.openxmlformats.org/drawingml/2006/main">
            <a:r>
              <a:t>Embedding interface: the displayed Rust excerpt is taken verbatim from the POSTER-BEGIN/POSTER-END region of examples/embedded_ekf/main.rs on iros-workshop-benchmarks. Run with cargo run --no-default-features --features kernel-aot --example embedded_ekf. The public mech::kernel module re-exports hosts/gpu/src/embed.rs. Kernel::from_source parses source during compile. input selects live bindings and supplies initial arrays, export selects persistent state by lexical source name. Backend::AotSimd emits and loads a four-instance Cranelift library before start allocates the session. turn validates the complete input packet before binding it, then computes and checks one candidate turn. Integrity failure preserves all previously published state, while valid input values remain bound. state returns a borrowed f32 slice in instance-major, column-major component order. The source file examples/embedded_ekf/ekf.mec uses the benchmark equations and explicit guards with self-contained defaults, without the benchmark's array driver section. The original poster listing at right retains its original notation.</a:t>
            </a:r>
          </a:p>
          <a:p xmlns:a="http://schemas.openxmlformats.org/drawingml/2006/main">
            <a:r>
              <a:t/>
            </a:r>
          </a:p>
          <a:p xmlns:a="http://schemas.openxmlformats.org/drawingml/2006/main">
            <a:r>
              <a:t>The emitted native library contains the numerical turn function. The Rust host library supplies named bindings, session allocation and publication. This convenience interface does not implement arbitrary pre-existing dylib loading, ROS transport or the full coordinator/effect system. The retained dylib measurements time the earlier common-ABI benchmark runner, not compilation or per-call named input binding in this new interface. See docs/embedding-kernels.md.</a:t>
            </a:r>
          </a:p>
          <a:p xmlns:a="http://schemas.openxmlformats.org/drawingml/2006/main">
            <a:r>
              <a:t/>
            </a:r>
          </a:p>
          <a:p xmlns:a="http://schemas.openxmlformats.org/drawingml/2006/main">
            <a:r>
              <a:t>Matched Mech backend pairs: benchmarks/iros-2026/results/apple-m1-mech-backend-pairs-n10-2026-09-25.json. Source revision f4b69052cc6d1d618e1c80acac947795ab2e8472. Executable SHA-256 2cd25bc77c5d87a6562cd7c62aa4009e3ccd7fe95af38bde498ce05e701185b1. The five rows now each contain checked and unchecked bars, all using 500,000 filters and 40 timed turns after five warmup turns in the same session. Ten fresh-process samples per case, deterministic interleaving, no outlier removal. Median plus unscaled MAD describes observed sample variability, not a confidence interval. Both modes retain per-turn publication. Unchecked removes only the three named source predicates and their otherwise-dead instructions. Source, inputs and numerical optimizations are shared within each backend pair. Seven source bindings are live in every backend. Compilation, AOT loading, allocation, packing, worker creation, warmup and final host readback are excluded. The new right-hand chart replaces all previous mixed-workload backend values; the left fused cross-language chart and the embeddable section's n=7 common-ABI dylib table retain their separately documented evidence.</a:t>
            </a:r>
          </a:p>
          <a:p xmlns:a="http://schemas.openxmlformats.org/drawingml/2006/main">
            <a:r>
              <a:t/>
            </a:r>
          </a:p>
          <a:p xmlns:a="http://schemas.openxmlformats.org/drawingml/2006/main">
            <a:r>
              <a:t>The fixed-shape evaluator interprets lowered numerical instructions, rather than running the general source-language interpreter. The kernel-bench Cargo profile optimizes mech, mech-gpu, mech-compute and wide at level 3; source compiler/catalog dependencies remain at level 0, with debug symbols and incremental compilation disabled. Generated Cranelift and Metal code have their own compilation settings. This is not a uniform release profile. See benchmarks/iros-2026/MECH-BACKEND-PAIRS.md.</a:t>
            </a:r>
          </a:p>
          <a:p xmlns:a="http://schemas.openxmlformats.org/drawingml/2006/main">
            <a:r>
              <a:t/>
            </a:r>
          </a:p>
          <a:p xmlns:a="http://schemas.openxmlformats.org/drawingml/2006/main">
            <a:r>
              <a:t>Preflight: all ten combinations compare every state component over 45 turns at 4,092 instances against the checked scalar evaluator with abs 2e-4 + rel 1e-5 tolerance. All checked paths verify the reported last-lane NaN fault and preserve the complete previously published state. The embedding API's twelve integration tests also pass with the benchmark features enabled.</a:t>
            </a:r>
          </a:p>
          <a:p xmlns:a="http://schemas.openxmlformats.org/drawingml/2006/main">
            <a:r>
              <a:t/>
            </a:r>
          </a:p>
          <a:p xmlns:a="http://schemas.openxmlformats.org/drawingml/2006/main">
            <a:r>
              <a:t>Complete paired summaries (million filter-turns/s):</a:t>
            </a:r>
          </a:p>
          <a:p xmlns:a="http://schemas.openxmlformats.org/drawingml/2006/main">
            <a:r>
              <a:t>{</a:t>
            </a:r>
          </a:p>
          <a:p xmlns:a="http://schemas.openxmlformats.org/drawingml/2006/main">
            <a:r>
              <a:t>  "evaluator": {</a:t>
            </a:r>
          </a:p>
          <a:p xmlns:a="http://schemas.openxmlformats.org/drawingml/2006/main">
            <a:r>
              <a:t>    "checked": {</a:t>
            </a:r>
          </a:p>
          <a:p xmlns:a="http://schemas.openxmlformats.org/drawingml/2006/main">
            <a:r>
              <a:t>      "n": 10,</a:t>
            </a:r>
          </a:p>
          <a:p xmlns:a="http://schemas.openxmlformats.org/drawingml/2006/main">
            <a:r>
              <a:t>      "median_million_filter_turns_per_second": 0.695042081257192,</a:t>
            </a:r>
          </a:p>
          <a:p xmlns:a="http://schemas.openxmlformats.org/drawingml/2006/main">
            <a:r>
              <a:t>      "mad_million_filter_turns_per_second": 0.00106619241415834,</a:t>
            </a:r>
          </a:p>
          <a:p xmlns:a="http://schemas.openxmlformats.org/drawingml/2006/main">
            <a:r>
              <a:t>      "minimum": 0.6914666541027176,</a:t>
            </a:r>
          </a:p>
          <a:p xmlns:a="http://schemas.openxmlformats.org/drawingml/2006/main">
            <a:r>
              <a:t>      "maximum": 0.6963894080737908,</a:t>
            </a:r>
          </a:p>
          <a:p xmlns:a="http://schemas.openxmlformats.org/drawingml/2006/main">
            <a:r>
              <a:t>      "samples_million_filter_turns_per_second": [</a:t>
            </a:r>
          </a:p>
          <a:p xmlns:a="http://schemas.openxmlformats.org/drawingml/2006/main">
            <a:r>
              <a:t>        0.6963119506784141,</a:t>
            </a:r>
          </a:p>
          <a:p xmlns:a="http://schemas.openxmlformats.org/drawingml/2006/main">
            <a:r>
              <a:t>        0.691474818202843,</a:t>
            </a:r>
          </a:p>
          <a:p xmlns:a="http://schemas.openxmlformats.org/drawingml/2006/main">
            <a:r>
              <a:t>        0.6914666541027176,</a:t>
            </a:r>
          </a:p>
          <a:p xmlns:a="http://schemas.openxmlformats.org/drawingml/2006/main">
            <a:r>
              <a:t>        0.6943103467182352,</a:t>
            </a:r>
          </a:p>
          <a:p xmlns:a="http://schemas.openxmlformats.org/drawingml/2006/main">
            <a:r>
              <a:t>        0.6954768079240193,</a:t>
            </a:r>
          </a:p>
          <a:p xmlns:a="http://schemas.openxmlformats.org/drawingml/2006/main">
            <a:r>
              <a:t>        0.6963518763439652,</a:t>
            </a:r>
          </a:p>
          <a:p xmlns:a="http://schemas.openxmlformats.org/drawingml/2006/main">
            <a:r>
              <a:t>        0.6945469192474181,</a:t>
            </a:r>
          </a:p>
          <a:p xmlns:a="http://schemas.openxmlformats.org/drawingml/2006/main">
            <a:r>
              <a:t>        0.6959045966642866,</a:t>
            </a:r>
          </a:p>
          <a:p xmlns:a="http://schemas.openxmlformats.org/drawingml/2006/main">
            <a:r>
              <a:t>        0.6963894080737908,</a:t>
            </a:r>
          </a:p>
          <a:p xmlns:a="http://schemas.openxmlformats.org/drawingml/2006/main">
            <a:r>
              <a:t>        0.6946073545903646</a:t>
            </a:r>
          </a:p>
          <a:p xmlns:a="http://schemas.openxmlformats.org/drawingml/2006/main">
            <a:r>
              <a:t>      ],</a:t>
            </a:r>
          </a:p>
          <a:p xmlns:a="http://schemas.openxmlformats.org/drawingml/2006/main">
            <a:r>
              <a:t>      "samples_elapsed_ns": [</a:t>
            </a:r>
          </a:p>
          <a:p xmlns:a="http://schemas.openxmlformats.org/drawingml/2006/main">
            <a:r>
              <a:t>        28722758500,</a:t>
            </a:r>
          </a:p>
          <a:p xmlns:a="http://schemas.openxmlformats.org/drawingml/2006/main">
            <a:r>
              <a:t>        28923685250,</a:t>
            </a:r>
          </a:p>
          <a:p xmlns:a="http://schemas.openxmlformats.org/drawingml/2006/main">
            <a:r>
              <a:t>        28924026750,</a:t>
            </a:r>
          </a:p>
          <a:p xmlns:a="http://schemas.openxmlformats.org/drawingml/2006/main">
            <a:r>
              <a:t>        28805562375,</a:t>
            </a:r>
          </a:p>
          <a:p xmlns:a="http://schemas.openxmlformats.org/drawingml/2006/main">
            <a:r>
              <a:t>        28757249375,</a:t>
            </a:r>
          </a:p>
          <a:p xmlns:a="http://schemas.openxmlformats.org/drawingml/2006/main">
            <a:r>
              <a:t>        28721111667,</a:t>
            </a:r>
          </a:p>
          <a:p xmlns:a="http://schemas.openxmlformats.org/drawingml/2006/main">
            <a:r>
              <a:t>        28795750792,</a:t>
            </a:r>
          </a:p>
          <a:p xmlns:a="http://schemas.openxmlformats.org/drawingml/2006/main">
            <a:r>
              <a:t>        28739571625,</a:t>
            </a:r>
          </a:p>
          <a:p xmlns:a="http://schemas.openxmlformats.org/drawingml/2006/main">
            <a:r>
              <a:t>        28719563750,</a:t>
            </a:r>
          </a:p>
          <a:p xmlns:a="http://schemas.openxmlformats.org/drawingml/2006/main">
            <a:r>
              <a:t>        28793245375</a:t>
            </a:r>
          </a:p>
          <a:p xmlns:a="http://schemas.openxmlformats.org/drawingml/2006/main">
            <a:r>
              <a:t>      ],</a:t>
            </a:r>
          </a:p>
          <a:p xmlns:a="http://schemas.openxmlformats.org/drawingml/2006/main">
            <a:r>
              <a:t>      "checksums": [</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a:t>
            </a:r>
          </a:p>
          <a:p xmlns:a="http://schemas.openxmlformats.org/drawingml/2006/main">
            <a:r>
              <a:t>    },</a:t>
            </a:r>
          </a:p>
          <a:p xmlns:a="http://schemas.openxmlformats.org/drawingml/2006/main">
            <a:r>
              <a:t>    "unchecked": {</a:t>
            </a:r>
          </a:p>
          <a:p xmlns:a="http://schemas.openxmlformats.org/drawingml/2006/main">
            <a:r>
              <a:t>      "n": 10,</a:t>
            </a:r>
          </a:p>
          <a:p xmlns:a="http://schemas.openxmlformats.org/drawingml/2006/main">
            <a:r>
              <a:t>      "median_million_filter_turns_per_second": 0.8278867294891764,</a:t>
            </a:r>
          </a:p>
          <a:p xmlns:a="http://schemas.openxmlformats.org/drawingml/2006/main">
            <a:r>
              <a:t>      "mad_million_filter_turns_per_second": 0.0010342682130255465,</a:t>
            </a:r>
          </a:p>
          <a:p xmlns:a="http://schemas.openxmlformats.org/drawingml/2006/main">
            <a:r>
              <a:t>      "minimum": 0.8252878258347235,</a:t>
            </a:r>
          </a:p>
          <a:p xmlns:a="http://schemas.openxmlformats.org/drawingml/2006/main">
            <a:r>
              <a:t>      "maximum": 0.8294064093323731,</a:t>
            </a:r>
          </a:p>
          <a:p xmlns:a="http://schemas.openxmlformats.org/drawingml/2006/main">
            <a:r>
              <a:t>      "samples_million_filter_turns_per_second": [</a:t>
            </a:r>
          </a:p>
          <a:p xmlns:a="http://schemas.openxmlformats.org/drawingml/2006/main">
            <a:r>
              <a:t>        0.8254288291068161,</a:t>
            </a:r>
          </a:p>
          <a:p xmlns:a="http://schemas.openxmlformats.org/drawingml/2006/main">
            <a:r>
              <a:t>        0.8253607752653016,</a:t>
            </a:r>
          </a:p>
          <a:p xmlns:a="http://schemas.openxmlformats.org/drawingml/2006/main">
            <a:r>
              <a:t>        0.8277262381964557,</a:t>
            </a:r>
          </a:p>
          <a:p xmlns:a="http://schemas.openxmlformats.org/drawingml/2006/main">
            <a:r>
              <a:t>        0.8287030600235645,</a:t>
            </a:r>
          </a:p>
          <a:p xmlns:a="http://schemas.openxmlformats.org/drawingml/2006/main">
            <a:r>
              <a:t>        0.8280472207818971,</a:t>
            </a:r>
          </a:p>
          <a:p xmlns:a="http://schemas.openxmlformats.org/drawingml/2006/main">
            <a:r>
              <a:t>        0.8274474938954149,</a:t>
            </a:r>
          </a:p>
          <a:p xmlns:a="http://schemas.openxmlformats.org/drawingml/2006/main">
            <a:r>
              <a:t>        0.8252878258347235,</a:t>
            </a:r>
          </a:p>
          <a:p xmlns:a="http://schemas.openxmlformats.org/drawingml/2006/main">
            <a:r>
              <a:t>        0.8291389353808394,</a:t>
            </a:r>
          </a:p>
          <a:p xmlns:a="http://schemas.openxmlformats.org/drawingml/2006/main">
            <a:r>
              <a:t>        0.8284888884047696,</a:t>
            </a:r>
          </a:p>
          <a:p xmlns:a="http://schemas.openxmlformats.org/drawingml/2006/main">
            <a:r>
              <a:t>        0.8294064093323731</a:t>
            </a:r>
          </a:p>
          <a:p xmlns:a="http://schemas.openxmlformats.org/drawingml/2006/main">
            <a:r>
              <a:t>      ],</a:t>
            </a:r>
          </a:p>
          <a:p xmlns:a="http://schemas.openxmlformats.org/drawingml/2006/main">
            <a:r>
              <a:t>      "samples_elapsed_ns": [</a:t>
            </a:r>
          </a:p>
          <a:p xmlns:a="http://schemas.openxmlformats.org/drawingml/2006/main">
            <a:r>
              <a:t>        24229829750,</a:t>
            </a:r>
          </a:p>
          <a:p xmlns:a="http://schemas.openxmlformats.org/drawingml/2006/main">
            <a:r>
              <a:t>        24231827583,</a:t>
            </a:r>
          </a:p>
          <a:p xmlns:a="http://schemas.openxmlformats.org/drawingml/2006/main">
            <a:r>
              <a:t>        24162578250,</a:t>
            </a:r>
          </a:p>
          <a:p xmlns:a="http://schemas.openxmlformats.org/drawingml/2006/main">
            <a:r>
              <a:t>        24134096958,</a:t>
            </a:r>
          </a:p>
          <a:p xmlns:a="http://schemas.openxmlformats.org/drawingml/2006/main">
            <a:r>
              <a:t>        24153211916,</a:t>
            </a:r>
          </a:p>
          <a:p xmlns:a="http://schemas.openxmlformats.org/drawingml/2006/main">
            <a:r>
              <a:t>        24170717958,</a:t>
            </a:r>
          </a:p>
          <a:p xmlns:a="http://schemas.openxmlformats.org/drawingml/2006/main">
            <a:r>
              <a:t>        24233969500,</a:t>
            </a:r>
          </a:p>
          <a:p xmlns:a="http://schemas.openxmlformats.org/drawingml/2006/main">
            <a:r>
              <a:t>        24121409750,</a:t>
            </a:r>
          </a:p>
          <a:p xmlns:a="http://schemas.openxmlformats.org/drawingml/2006/main">
            <a:r>
              <a:t>        24140335833,</a:t>
            </a:r>
          </a:p>
          <a:p xmlns:a="http://schemas.openxmlformats.org/drawingml/2006/main">
            <a:r>
              <a:t>        24113630875</a:t>
            </a:r>
          </a:p>
          <a:p xmlns:a="http://schemas.openxmlformats.org/drawingml/2006/main">
            <a:r>
              <a:t>      ],</a:t>
            </a:r>
          </a:p>
          <a:p xmlns:a="http://schemas.openxmlformats.org/drawingml/2006/main">
            <a:r>
              <a:t>      "checksums": [</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"scalar-jit": {</a:t>
            </a:r>
          </a:p>
          <a:p xmlns:a="http://schemas.openxmlformats.org/drawingml/2006/main">
            <a:r>
              <a:t>    "checked": {</a:t>
            </a:r>
          </a:p>
          <a:p xmlns:a="http://schemas.openxmlformats.org/drawingml/2006/main">
            <a:r>
              <a:t>      "n": 10,</a:t>
            </a:r>
          </a:p>
          <a:p xmlns:a="http://schemas.openxmlformats.org/drawingml/2006/main">
            <a:r>
              <a:t>      "median_million_filter_turns_per_second": 13.224083710585894,</a:t>
            </a:r>
          </a:p>
          <a:p xmlns:a="http://schemas.openxmlformats.org/drawingml/2006/main">
            <a:r>
              <a:t>      "mad_million_filter_turns_per_second": 0.0053554494577738865,</a:t>
            </a:r>
          </a:p>
          <a:p xmlns:a="http://schemas.openxmlformats.org/drawingml/2006/main">
            <a:r>
              <a:t>      "minimum": 13.213348055231718,</a:t>
            </a:r>
          </a:p>
          <a:p xmlns:a="http://schemas.openxmlformats.org/drawingml/2006/main">
            <a:r>
              <a:t>      "maximum": 13.291288195047787,</a:t>
            </a:r>
          </a:p>
          <a:p xmlns:a="http://schemas.openxmlformats.org/drawingml/2006/main">
            <a:r>
              <a:t>      "samples_million_filter_turns_per_second": [</a:t>
            </a:r>
          </a:p>
          <a:p xmlns:a="http://schemas.openxmlformats.org/drawingml/2006/main">
            <a:r>
              <a:t>        13.21602531987453,</a:t>
            </a:r>
          </a:p>
          <a:p xmlns:a="http://schemas.openxmlformats.org/drawingml/2006/main">
            <a:r>
              <a:t>        13.230390242373392,</a:t>
            </a:r>
          </a:p>
          <a:p xmlns:a="http://schemas.openxmlformats.org/drawingml/2006/main">
            <a:r>
              <a:t>        13.22333429530666,</a:t>
            </a:r>
          </a:p>
          <a:p xmlns:a="http://schemas.openxmlformats.org/drawingml/2006/main">
            <a:r>
              <a:t>        13.224833125865127,</a:t>
            </a:r>
          </a:p>
          <a:p xmlns:a="http://schemas.openxmlformats.org/drawingml/2006/main">
            <a:r>
              <a:t>        13.25392099011784,</a:t>
            </a:r>
          </a:p>
          <a:p xmlns:a="http://schemas.openxmlformats.org/drawingml/2006/main">
            <a:r>
              <a:t>        13.219679343457845,</a:t>
            </a:r>
          </a:p>
          <a:p xmlns:a="http://schemas.openxmlformats.org/drawingml/2006/main">
            <a:r>
              <a:t>        13.221980746763814,</a:t>
            </a:r>
          </a:p>
          <a:p xmlns:a="http://schemas.openxmlformats.org/drawingml/2006/main">
            <a:r>
              <a:t>        13.226292944533226,</a:t>
            </a:r>
          </a:p>
          <a:p xmlns:a="http://schemas.openxmlformats.org/drawingml/2006/main">
            <a:r>
              <a:t>        13.213348055231718,</a:t>
            </a:r>
          </a:p>
          <a:p xmlns:a="http://schemas.openxmlformats.org/drawingml/2006/main">
            <a:r>
              <a:t>        13.291288195047787</a:t>
            </a:r>
          </a:p>
          <a:p xmlns:a="http://schemas.openxmlformats.org/drawingml/2006/main">
            <a:r>
              <a:t>      ],</a:t>
            </a:r>
          </a:p>
          <a:p xmlns:a="http://schemas.openxmlformats.org/drawingml/2006/main">
            <a:r>
              <a:t>      "samples_elapsed_ns": [</a:t>
            </a:r>
          </a:p>
          <a:p xmlns:a="http://schemas.openxmlformats.org/drawingml/2006/main">
            <a:r>
              <a:t>        1513314292,</a:t>
            </a:r>
          </a:p>
          <a:p xmlns:a="http://schemas.openxmlformats.org/drawingml/2006/main">
            <a:r>
              <a:t>        1511671208,</a:t>
            </a:r>
          </a:p>
          <a:p xmlns:a="http://schemas.openxmlformats.org/drawingml/2006/main">
            <a:r>
              <a:t>        1512477833,</a:t>
            </a:r>
          </a:p>
          <a:p xmlns:a="http://schemas.openxmlformats.org/drawingml/2006/main">
            <a:r>
              <a:t>        1512306417,</a:t>
            </a:r>
          </a:p>
          <a:p xmlns:a="http://schemas.openxmlformats.org/drawingml/2006/main">
            <a:r>
              <a:t>        1508987417,</a:t>
            </a:r>
          </a:p>
          <a:p xmlns:a="http://schemas.openxmlformats.org/drawingml/2006/main">
            <a:r>
              <a:t>        1512896000,</a:t>
            </a:r>
          </a:p>
          <a:p xmlns:a="http://schemas.openxmlformats.org/drawingml/2006/main">
            <a:r>
              <a:t>        1512632667,</a:t>
            </a:r>
          </a:p>
          <a:p xmlns:a="http://schemas.openxmlformats.org/drawingml/2006/main">
            <a:r>
              <a:t>        1512139500,</a:t>
            </a:r>
          </a:p>
          <a:p xmlns:a="http://schemas.openxmlformats.org/drawingml/2006/main">
            <a:r>
              <a:t>        1513620917,</a:t>
            </a:r>
          </a:p>
          <a:p xmlns:a="http://schemas.openxmlformats.org/drawingml/2006/main">
            <a:r>
              <a:t>        1504745041</a:t>
            </a:r>
          </a:p>
          <a:p xmlns:a="http://schemas.openxmlformats.org/drawingml/2006/main">
            <a:r>
              <a:t>      ],</a:t>
            </a:r>
          </a:p>
          <a:p xmlns:a="http://schemas.openxmlformats.org/drawingml/2006/main">
            <a:r>
              <a:t>      "checksums": [</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a:t>
            </a:r>
          </a:p>
          <a:p xmlns:a="http://schemas.openxmlformats.org/drawingml/2006/main">
            <a:r>
              <a:t>    },</a:t>
            </a:r>
          </a:p>
          <a:p xmlns:a="http://schemas.openxmlformats.org/drawingml/2006/main">
            <a:r>
              <a:t>    "unchecked": {</a:t>
            </a:r>
          </a:p>
          <a:p xmlns:a="http://schemas.openxmlformats.org/drawingml/2006/main">
            <a:r>
              <a:t>      "n": 10,</a:t>
            </a:r>
          </a:p>
          <a:p xmlns:a="http://schemas.openxmlformats.org/drawingml/2006/main">
            <a:r>
              <a:t>      "median_million_filter_turns_per_second": 15.948693690507435,</a:t>
            </a:r>
          </a:p>
          <a:p xmlns:a="http://schemas.openxmlformats.org/drawingml/2006/main">
            <a:r>
              <a:t>      "mad_million_filter_turns_per_second": 0.032873735724533226,</a:t>
            </a:r>
          </a:p>
          <a:p xmlns:a="http://schemas.openxmlformats.org/drawingml/2006/main">
            <a:r>
              <a:t>      "minimum": 15.68643189085235,</a:t>
            </a:r>
          </a:p>
          <a:p xmlns:a="http://schemas.openxmlformats.org/drawingml/2006/main">
            <a:r>
              <a:t>      "maximum": 15.982320357220843,</a:t>
            </a:r>
          </a:p>
          <a:p xmlns:a="http://schemas.openxmlformats.org/drawingml/2006/main">
            <a:r>
              <a:t>      "samples_million_filter_turns_per_second": [</a:t>
            </a:r>
          </a:p>
          <a:p xmlns:a="http://schemas.openxmlformats.org/drawingml/2006/main">
            <a:r>
              <a:t>        15.970489193459889,</a:t>
            </a:r>
          </a:p>
          <a:p xmlns:a="http://schemas.openxmlformats.org/drawingml/2006/main">
            <a:r>
              <a:t>        15.897644074231627,</a:t>
            </a:r>
          </a:p>
          <a:p xmlns:a="http://schemas.openxmlformats.org/drawingml/2006/main">
            <a:r>
              <a:t>        15.68643189085235,</a:t>
            </a:r>
          </a:p>
          <a:p xmlns:a="http://schemas.openxmlformats.org/drawingml/2006/main">
            <a:r>
              <a:t>        15.980435153241887,</a:t>
            </a:r>
          </a:p>
          <a:p xmlns:a="http://schemas.openxmlformats.org/drawingml/2006/main">
            <a:r>
              <a:t>        15.974050678621442,</a:t>
            </a:r>
          </a:p>
          <a:p xmlns:a="http://schemas.openxmlformats.org/drawingml/2006/main">
            <a:r>
              <a:t>        15.982320357220843,</a:t>
            </a:r>
          </a:p>
          <a:p xmlns:a="http://schemas.openxmlformats.org/drawingml/2006/main">
            <a:r>
              <a:t>        15.879842529097784,</a:t>
            </a:r>
          </a:p>
          <a:p xmlns:a="http://schemas.openxmlformats.org/drawingml/2006/main">
            <a:r>
              <a:t>        15.980814495243093,</a:t>
            </a:r>
          </a:p>
          <a:p xmlns:a="http://schemas.openxmlformats.org/drawingml/2006/main">
            <a:r>
              <a:t>        15.92689818755498,</a:t>
            </a:r>
          </a:p>
          <a:p xmlns:a="http://schemas.openxmlformats.org/drawingml/2006/main">
            <a:r>
              <a:t>        15.90943395626059</a:t>
            </a:r>
          </a:p>
          <a:p xmlns:a="http://schemas.openxmlformats.org/drawingml/2006/main">
            <a:r>
              <a:t>      ],</a:t>
            </a:r>
          </a:p>
          <a:p xmlns:a="http://schemas.openxmlformats.org/drawingml/2006/main">
            <a:r>
              <a:t>      "samples_elapsed_ns": [</a:t>
            </a:r>
          </a:p>
          <a:p xmlns:a="http://schemas.openxmlformats.org/drawingml/2006/main">
            <a:r>
              <a:t>        1252309792,</a:t>
            </a:r>
          </a:p>
          <a:p xmlns:a="http://schemas.openxmlformats.org/drawingml/2006/main">
            <a:r>
              <a:t>        1258048042,</a:t>
            </a:r>
          </a:p>
          <a:p xmlns:a="http://schemas.openxmlformats.org/drawingml/2006/main">
            <a:r>
              <a:t>        1274987208,</a:t>
            </a:r>
          </a:p>
          <a:p xmlns:a="http://schemas.openxmlformats.org/drawingml/2006/main">
            <a:r>
              <a:t>        1251530375,</a:t>
            </a:r>
          </a:p>
          <a:p xmlns:a="http://schemas.openxmlformats.org/drawingml/2006/main">
            <a:r>
              <a:t>        1252030584,</a:t>
            </a:r>
          </a:p>
          <a:p xmlns:a="http://schemas.openxmlformats.org/drawingml/2006/main">
            <a:r>
              <a:t>        1251382750,</a:t>
            </a:r>
          </a:p>
          <a:p xmlns:a="http://schemas.openxmlformats.org/drawingml/2006/main">
            <a:r>
              <a:t>        1259458333,</a:t>
            </a:r>
          </a:p>
          <a:p xmlns:a="http://schemas.openxmlformats.org/drawingml/2006/main">
            <a:r>
              <a:t>        1251500667,</a:t>
            </a:r>
          </a:p>
          <a:p xmlns:a="http://schemas.openxmlformats.org/drawingml/2006/main">
            <a:r>
              <a:t>        1255737292,</a:t>
            </a:r>
          </a:p>
          <a:p xmlns:a="http://schemas.openxmlformats.org/drawingml/2006/main">
            <a:r>
              <a:t>        1257115750</a:t>
            </a:r>
          </a:p>
          <a:p xmlns:a="http://schemas.openxmlformats.org/drawingml/2006/main">
            <a:r>
              <a:t>      ],</a:t>
            </a:r>
          </a:p>
          <a:p xmlns:a="http://schemas.openxmlformats.org/drawingml/2006/main">
            <a:r>
              <a:t>      "checksums": [</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"simd-aot": {</a:t>
            </a:r>
          </a:p>
          <a:p xmlns:a="http://schemas.openxmlformats.org/drawingml/2006/main">
            <a:r>
              <a:t>    "checked": {</a:t>
            </a:r>
          </a:p>
          <a:p xmlns:a="http://schemas.openxmlformats.org/drawingml/2006/main">
            <a:r>
              <a:t>      "n": 10,</a:t>
            </a:r>
          </a:p>
          <a:p xmlns:a="http://schemas.openxmlformats.org/drawingml/2006/main">
            <a:r>
              <a:t>      "median_million_filter_turns_per_second": 34.61659955143526,</a:t>
            </a:r>
          </a:p>
          <a:p xmlns:a="http://schemas.openxmlformats.org/drawingml/2006/main">
            <a:r>
              <a:t>      "mad_million_filter_turns_per_second": 0.010267028789513688,</a:t>
            </a:r>
          </a:p>
          <a:p xmlns:a="http://schemas.openxmlformats.org/drawingml/2006/main">
            <a:r>
              <a:t>      "minimum": 34.29748567276126,</a:t>
            </a:r>
          </a:p>
          <a:p xmlns:a="http://schemas.openxmlformats.org/drawingml/2006/main">
            <a:r>
              <a:t>      "maximum": 34.6836120760145,</a:t>
            </a:r>
          </a:p>
          <a:p xmlns:a="http://schemas.openxmlformats.org/drawingml/2006/main">
            <a:r>
              <a:t>      "samples_million_filter_turns_per_second": [</a:t>
            </a:r>
          </a:p>
          <a:p xmlns:a="http://schemas.openxmlformats.org/drawingml/2006/main">
            <a:r>
              <a:t>        34.641627333538175,</a:t>
            </a:r>
          </a:p>
          <a:p xmlns:a="http://schemas.openxmlformats.org/drawingml/2006/main">
            <a:r>
              <a:t>        34.61564090426439,</a:t>
            </a:r>
          </a:p>
          <a:p xmlns:a="http://schemas.openxmlformats.org/drawingml/2006/main">
            <a:r>
              <a:t>        34.61328705684537,</a:t>
            </a:r>
          </a:p>
          <a:p xmlns:a="http://schemas.openxmlformats.org/drawingml/2006/main">
            <a:r>
              <a:t>        34.627335207970695,</a:t>
            </a:r>
          </a:p>
          <a:p xmlns:a="http://schemas.openxmlformats.org/drawingml/2006/main">
            <a:r>
              <a:t>        34.60680115039167,</a:t>
            </a:r>
          </a:p>
          <a:p xmlns:a="http://schemas.openxmlformats.org/drawingml/2006/main">
            <a:r>
              <a:t>        34.62262459236231,</a:t>
            </a:r>
          </a:p>
          <a:p xmlns:a="http://schemas.openxmlformats.org/drawingml/2006/main">
            <a:r>
              <a:t>        34.605755770145116,</a:t>
            </a:r>
          </a:p>
          <a:p xmlns:a="http://schemas.openxmlformats.org/drawingml/2006/main">
            <a:r>
              <a:t>        34.617558198606126,</a:t>
            </a:r>
          </a:p>
          <a:p xmlns:a="http://schemas.openxmlformats.org/drawingml/2006/main">
            <a:r>
              <a:t>        34.29748567276126,</a:t>
            </a:r>
          </a:p>
          <a:p xmlns:a="http://schemas.openxmlformats.org/drawingml/2006/main">
            <a:r>
              <a:t>        34.6836120760145</a:t>
            </a:r>
          </a:p>
          <a:p xmlns:a="http://schemas.openxmlformats.org/drawingml/2006/main">
            <a:r>
              <a:t>      ],</a:t>
            </a:r>
          </a:p>
          <a:p xmlns:a="http://schemas.openxmlformats.org/drawingml/2006/main">
            <a:r>
              <a:t>      "samples_elapsed_ns": [</a:t>
            </a:r>
          </a:p>
          <a:p xmlns:a="http://schemas.openxmlformats.org/drawingml/2006/main">
            <a:r>
              <a:t>        577340083,</a:t>
            </a:r>
          </a:p>
          <a:p xmlns:a="http://schemas.openxmlformats.org/drawingml/2006/main">
            <a:r>
              <a:t>        577773500,</a:t>
            </a:r>
          </a:p>
          <a:p xmlns:a="http://schemas.openxmlformats.org/drawingml/2006/main">
            <a:r>
              <a:t>        577812791,</a:t>
            </a:r>
          </a:p>
          <a:p xmlns:a="http://schemas.openxmlformats.org/drawingml/2006/main">
            <a:r>
              <a:t>        577578375,</a:t>
            </a:r>
          </a:p>
          <a:p xmlns:a="http://schemas.openxmlformats.org/drawingml/2006/main">
            <a:r>
              <a:t>        577921083,</a:t>
            </a:r>
          </a:p>
          <a:p xmlns:a="http://schemas.openxmlformats.org/drawingml/2006/main">
            <a:r>
              <a:t>        577656958,</a:t>
            </a:r>
          </a:p>
          <a:p xmlns:a="http://schemas.openxmlformats.org/drawingml/2006/main">
            <a:r>
              <a:t>        577938541,</a:t>
            </a:r>
          </a:p>
          <a:p xmlns:a="http://schemas.openxmlformats.org/drawingml/2006/main">
            <a:r>
              <a:t>        577741500,</a:t>
            </a:r>
          </a:p>
          <a:p xmlns:a="http://schemas.openxmlformats.org/drawingml/2006/main">
            <a:r>
              <a:t>        583133125,</a:t>
            </a:r>
          </a:p>
          <a:p xmlns:a="http://schemas.openxmlformats.org/drawingml/2006/main">
            <a:r>
              <a:t>        576641209</a:t>
            </a:r>
          </a:p>
          <a:p xmlns:a="http://schemas.openxmlformats.org/drawingml/2006/main">
            <a:r>
              <a:t>      ],</a:t>
            </a:r>
          </a:p>
          <a:p xmlns:a="http://schemas.openxmlformats.org/drawingml/2006/main">
            <a:r>
              <a:t>      "checksums": [</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a:t>
            </a:r>
          </a:p>
          <a:p xmlns:a="http://schemas.openxmlformats.org/drawingml/2006/main">
            <a:r>
              <a:t>    },</a:t>
            </a:r>
          </a:p>
          <a:p xmlns:a="http://schemas.openxmlformats.org/drawingml/2006/main">
            <a:r>
              <a:t>    "unchecked": {</a:t>
            </a:r>
          </a:p>
          <a:p xmlns:a="http://schemas.openxmlformats.org/drawingml/2006/main">
            <a:r>
              <a:t>      "n": 10,</a:t>
            </a:r>
          </a:p>
          <a:p xmlns:a="http://schemas.openxmlformats.org/drawingml/2006/main">
            <a:r>
              <a:t>      "median_million_filter_turns_per_second": 37.059153390893584,</a:t>
            </a:r>
          </a:p>
          <a:p xmlns:a="http://schemas.openxmlformats.org/drawingml/2006/main">
            <a:r>
              <a:t>      "mad_million_filter_turns_per_second": 0.08453453477176254,</a:t>
            </a:r>
          </a:p>
          <a:p xmlns:a="http://schemas.openxmlformats.org/drawingml/2006/main">
            <a:r>
              <a:t>      "minimum": 35.68238126885224,</a:t>
            </a:r>
          </a:p>
          <a:p xmlns:a="http://schemas.openxmlformats.org/drawingml/2006/main">
            <a:r>
              <a:t>      "maximum": 37.18796681066932,</a:t>
            </a:r>
          </a:p>
          <a:p xmlns:a="http://schemas.openxmlformats.org/drawingml/2006/main">
            <a:r>
              <a:t>      "samples_million_filter_turns_per_second": [</a:t>
            </a:r>
          </a:p>
          <a:p xmlns:a="http://schemas.openxmlformats.org/drawingml/2006/main">
            <a:r>
              <a:t>        37.00580194725714,</a:t>
            </a:r>
          </a:p>
          <a:p xmlns:a="http://schemas.openxmlformats.org/drawingml/2006/main">
            <a:r>
              <a:t>        35.68238126885224,</a:t>
            </a:r>
          </a:p>
          <a:p xmlns:a="http://schemas.openxmlformats.org/drawingml/2006/main">
            <a:r>
              <a:t>        36.993934513340825,</a:t>
            </a:r>
          </a:p>
          <a:p xmlns:a="http://schemas.openxmlformats.org/drawingml/2006/main">
            <a:r>
              <a:t>        37.135500510019895,</a:t>
            </a:r>
          </a:p>
          <a:p xmlns:a="http://schemas.openxmlformats.org/drawingml/2006/main">
            <a:r>
              <a:t>        37.1518753413108,</a:t>
            </a:r>
          </a:p>
          <a:p xmlns:a="http://schemas.openxmlformats.org/drawingml/2006/main">
            <a:r>
              <a:t>        37.11250483453003,</a:t>
            </a:r>
          </a:p>
          <a:p xmlns:a="http://schemas.openxmlformats.org/drawingml/2006/main">
            <a:r>
              <a:t>        36.808455370402136,</a:t>
            </a:r>
          </a:p>
          <a:p xmlns:a="http://schemas.openxmlformats.org/drawingml/2006/main">
            <a:r>
              <a:t>        37.18796681066932,</a:t>
            </a:r>
          </a:p>
          <a:p xmlns:a="http://schemas.openxmlformats.org/drawingml/2006/main">
            <a:r>
              <a:t>        37.11343745353572,</a:t>
            </a:r>
          </a:p>
          <a:p xmlns:a="http://schemas.openxmlformats.org/drawingml/2006/main">
            <a:r>
              <a:t>        36.695143627085606</a:t>
            </a:r>
          </a:p>
          <a:p xmlns:a="http://schemas.openxmlformats.org/drawingml/2006/main">
            <a:r>
              <a:t>      ],</a:t>
            </a:r>
          </a:p>
          <a:p xmlns:a="http://schemas.openxmlformats.org/drawingml/2006/main">
            <a:r>
              <a:t>      "samples_elapsed_ns": [</a:t>
            </a:r>
          </a:p>
          <a:p xmlns:a="http://schemas.openxmlformats.org/drawingml/2006/main">
            <a:r>
              <a:t>        540455792,</a:t>
            </a:r>
          </a:p>
          <a:p xmlns:a="http://schemas.openxmlformats.org/drawingml/2006/main">
            <a:r>
              <a:t>        560500709,</a:t>
            </a:r>
          </a:p>
          <a:p xmlns:a="http://schemas.openxmlformats.org/drawingml/2006/main">
            <a:r>
              <a:t>        540629167,</a:t>
            </a:r>
          </a:p>
          <a:p xmlns:a="http://schemas.openxmlformats.org/drawingml/2006/main">
            <a:r>
              <a:t>        538568209,</a:t>
            </a:r>
          </a:p>
          <a:p xmlns:a="http://schemas.openxmlformats.org/drawingml/2006/main">
            <a:r>
              <a:t>        538330833,</a:t>
            </a:r>
          </a:p>
          <a:p xmlns:a="http://schemas.openxmlformats.org/drawingml/2006/main">
            <a:r>
              <a:t>        538901917,</a:t>
            </a:r>
          </a:p>
          <a:p xmlns:a="http://schemas.openxmlformats.org/drawingml/2006/main">
            <a:r>
              <a:t>        543353417,</a:t>
            </a:r>
          </a:p>
          <a:p xmlns:a="http://schemas.openxmlformats.org/drawingml/2006/main">
            <a:r>
              <a:t>        537808375,</a:t>
            </a:r>
          </a:p>
          <a:p xmlns:a="http://schemas.openxmlformats.org/drawingml/2006/main">
            <a:r>
              <a:t>        538888375,</a:t>
            </a:r>
          </a:p>
          <a:p xmlns:a="http://schemas.openxmlformats.org/drawingml/2006/main">
            <a:r>
              <a:t>        545031250</a:t>
            </a:r>
          </a:p>
          <a:p xmlns:a="http://schemas.openxmlformats.org/drawingml/2006/main">
            <a:r>
              <a:t>      ],</a:t>
            </a:r>
          </a:p>
          <a:p xmlns:a="http://schemas.openxmlformats.org/drawingml/2006/main">
            <a:r>
              <a:t>      "checksums": [</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"simd-jit-8w": {</a:t>
            </a:r>
          </a:p>
          <a:p xmlns:a="http://schemas.openxmlformats.org/drawingml/2006/main">
            <a:r>
              <a:t>    "checked": {</a:t>
            </a:r>
          </a:p>
          <a:p xmlns:a="http://schemas.openxmlformats.org/drawingml/2006/main">
            <a:r>
              <a:t>      "n": 10,</a:t>
            </a:r>
          </a:p>
          <a:p xmlns:a="http://schemas.openxmlformats.org/drawingml/2006/main">
            <a:r>
              <a:t>      "median_million_filter_turns_per_second": 121.07117587985559,</a:t>
            </a:r>
          </a:p>
          <a:p xmlns:a="http://schemas.openxmlformats.org/drawingml/2006/main">
            <a:r>
              <a:t>      "mad_million_filter_turns_per_second": 0.5278566332348547,</a:t>
            </a:r>
          </a:p>
          <a:p xmlns:a="http://schemas.openxmlformats.org/drawingml/2006/main">
            <a:r>
              <a:t>      "minimum": 119.38195959517577,</a:t>
            </a:r>
          </a:p>
          <a:p xmlns:a="http://schemas.openxmlformats.org/drawingml/2006/main">
            <a:r>
              <a:t>      "maximum": 121.98524893377268,</a:t>
            </a:r>
          </a:p>
          <a:p xmlns:a="http://schemas.openxmlformats.org/drawingml/2006/main">
            <a:r>
              <a:t>      "samples_million_filter_turns_per_second": [</a:t>
            </a:r>
          </a:p>
          <a:p xmlns:a="http://schemas.openxmlformats.org/drawingml/2006/main">
            <a:r>
              <a:t>        121.44138783218014,</a:t>
            </a:r>
          </a:p>
          <a:p xmlns:a="http://schemas.openxmlformats.org/drawingml/2006/main">
            <a:r>
              <a:t>        119.38195959517577,</a:t>
            </a:r>
          </a:p>
          <a:p xmlns:a="http://schemas.openxmlformats.org/drawingml/2006/main">
            <a:r>
              <a:t>        120.53935382082871,</a:t>
            </a:r>
          </a:p>
          <a:p xmlns:a="http://schemas.openxmlformats.org/drawingml/2006/main">
            <a:r>
              <a:t>        121.80128880988723,</a:t>
            </a:r>
          </a:p>
          <a:p xmlns:a="http://schemas.openxmlformats.org/drawingml/2006/main">
            <a:r>
              <a:t>        121.30331263152804,</a:t>
            </a:r>
          </a:p>
          <a:p xmlns:a="http://schemas.openxmlformats.org/drawingml/2006/main">
            <a:r>
              <a:t>        121.0121153215448,</a:t>
            </a:r>
          </a:p>
          <a:p xmlns:a="http://schemas.openxmlformats.org/drawingml/2006/main">
            <a:r>
              <a:t>        121.98524893377268,</a:t>
            </a:r>
          </a:p>
          <a:p xmlns:a="http://schemas.openxmlformats.org/drawingml/2006/main">
            <a:r>
              <a:t>        121.13023643816636,</a:t>
            </a:r>
          </a:p>
          <a:p xmlns:a="http://schemas.openxmlformats.org/drawingml/2006/main">
            <a:r>
              <a:t>        120.48102047424342,</a:t>
            </a:r>
          </a:p>
          <a:p xmlns:a="http://schemas.openxmlformats.org/drawingml/2006/main">
            <a:r>
              <a:t>        120.54728467241276</a:t>
            </a:r>
          </a:p>
          <a:p xmlns:a="http://schemas.openxmlformats.org/drawingml/2006/main">
            <a:r>
              <a:t>      ],</a:t>
            </a:r>
          </a:p>
          <a:p xmlns:a="http://schemas.openxmlformats.org/drawingml/2006/main">
            <a:r>
              <a:t>      "samples_elapsed_ns": [</a:t>
            </a:r>
          </a:p>
          <a:p xmlns:a="http://schemas.openxmlformats.org/drawingml/2006/main">
            <a:r>
              <a:t>        164688500,</a:t>
            </a:r>
          </a:p>
          <a:p xmlns:a="http://schemas.openxmlformats.org/drawingml/2006/main">
            <a:r>
              <a:t>        167529500,</a:t>
            </a:r>
          </a:p>
          <a:p xmlns:a="http://schemas.openxmlformats.org/drawingml/2006/main">
            <a:r>
              <a:t>        165920916,</a:t>
            </a:r>
          </a:p>
          <a:p xmlns:a="http://schemas.openxmlformats.org/drawingml/2006/main">
            <a:r>
              <a:t>        164201875,</a:t>
            </a:r>
          </a:p>
          <a:p xmlns:a="http://schemas.openxmlformats.org/drawingml/2006/main">
            <a:r>
              <a:t>        164875959,</a:t>
            </a:r>
          </a:p>
          <a:p xmlns:a="http://schemas.openxmlformats.org/drawingml/2006/main">
            <a:r>
              <a:t>        165272708,</a:t>
            </a:r>
          </a:p>
          <a:p xmlns:a="http://schemas.openxmlformats.org/drawingml/2006/main">
            <a:r>
              <a:t>        163954250,</a:t>
            </a:r>
          </a:p>
          <a:p xmlns:a="http://schemas.openxmlformats.org/drawingml/2006/main">
            <a:r>
              <a:t>        165111541,</a:t>
            </a:r>
          </a:p>
          <a:p xmlns:a="http://schemas.openxmlformats.org/drawingml/2006/main">
            <a:r>
              <a:t>        166001250,</a:t>
            </a:r>
          </a:p>
          <a:p xmlns:a="http://schemas.openxmlformats.org/drawingml/2006/main">
            <a:r>
              <a:t>        165910000</a:t>
            </a:r>
          </a:p>
          <a:p xmlns:a="http://schemas.openxmlformats.org/drawingml/2006/main">
            <a:r>
              <a:t>      ],</a:t>
            </a:r>
          </a:p>
          <a:p xmlns:a="http://schemas.openxmlformats.org/drawingml/2006/main">
            <a:r>
              <a:t>      "checksums": [</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a:t>
            </a:r>
          </a:p>
          <a:p xmlns:a="http://schemas.openxmlformats.org/drawingml/2006/main">
            <a:r>
              <a:t>    },</a:t>
            </a:r>
          </a:p>
          <a:p xmlns:a="http://schemas.openxmlformats.org/drawingml/2006/main">
            <a:r>
              <a:t>    "unchecked": {</a:t>
            </a:r>
          </a:p>
          <a:p xmlns:a="http://schemas.openxmlformats.org/drawingml/2006/main">
            <a:r>
              <a:t>      "n": 10,</a:t>
            </a:r>
          </a:p>
          <a:p xmlns:a="http://schemas.openxmlformats.org/drawingml/2006/main">
            <a:r>
              <a:t>      "median_million_filter_turns_per_second": 141.64502845825743,</a:t>
            </a:r>
          </a:p>
          <a:p xmlns:a="http://schemas.openxmlformats.org/drawingml/2006/main">
            <a:r>
              <a:t>      "mad_million_filter_turns_per_second": 0.8321959454704881,</a:t>
            </a:r>
          </a:p>
          <a:p xmlns:a="http://schemas.openxmlformats.org/drawingml/2006/main">
            <a:r>
              <a:t>      "minimum": 111.9140947408769,</a:t>
            </a:r>
          </a:p>
          <a:p xmlns:a="http://schemas.openxmlformats.org/drawingml/2006/main">
            <a:r>
              <a:t>      "maximum": 142.53808662217696,</a:t>
            </a:r>
          </a:p>
          <a:p xmlns:a="http://schemas.openxmlformats.org/drawingml/2006/main">
            <a:r>
              <a:t>      "samples_million_filter_turns_per_second": [</a:t>
            </a:r>
          </a:p>
          <a:p xmlns:a="http://schemas.openxmlformats.org/drawingml/2006/main">
            <a:r>
              <a:t>        141.3460026467039,</a:t>
            </a:r>
          </a:p>
          <a:p xmlns:a="http://schemas.openxmlformats.org/drawingml/2006/main">
            <a:r>
              <a:t>        142.3079865020875,</a:t>
            </a:r>
          </a:p>
          <a:p xmlns:a="http://schemas.openxmlformats.org/drawingml/2006/main">
            <a:r>
              <a:t>        114.72258904929407,</a:t>
            </a:r>
          </a:p>
          <a:p xmlns:a="http://schemas.openxmlformats.org/drawingml/2006/main">
            <a:r>
              <a:t>        142.53808662217696,</a:t>
            </a:r>
          </a:p>
          <a:p xmlns:a="http://schemas.openxmlformats.org/drawingml/2006/main">
            <a:r>
              <a:t>        141.94405426981095,</a:t>
            </a:r>
          </a:p>
          <a:p xmlns:a="http://schemas.openxmlformats.org/drawingml/2006/main">
            <a:r>
              <a:t>        140.79281051087037,</a:t>
            </a:r>
          </a:p>
          <a:p xmlns:a="http://schemas.openxmlformats.org/drawingml/2006/main">
            <a:r>
              <a:t>        111.9140947408769,</a:t>
            </a:r>
          </a:p>
          <a:p xmlns:a="http://schemas.openxmlformats.org/drawingml/2006/main">
            <a:r>
              <a:t>        142.45720240181134,</a:t>
            </a:r>
          </a:p>
          <a:p xmlns:a="http://schemas.openxmlformats.org/drawingml/2006/main">
            <a:r>
              <a:t>        140.15195976237234,</a:t>
            </a:r>
          </a:p>
          <a:p xmlns:a="http://schemas.openxmlformats.org/drawingml/2006/main">
            <a:r>
              <a:t>        142.03793097379827</a:t>
            </a:r>
          </a:p>
          <a:p xmlns:a="http://schemas.openxmlformats.org/drawingml/2006/main">
            <a:r>
              <a:t>      ],</a:t>
            </a:r>
          </a:p>
          <a:p xmlns:a="http://schemas.openxmlformats.org/drawingml/2006/main">
            <a:r>
              <a:t>      "samples_elapsed_ns": [</a:t>
            </a:r>
          </a:p>
          <a:p xmlns:a="http://schemas.openxmlformats.org/drawingml/2006/main">
            <a:r>
              <a:t>        141496750,</a:t>
            </a:r>
          </a:p>
          <a:p xmlns:a="http://schemas.openxmlformats.org/drawingml/2006/main">
            <a:r>
              <a:t>        140540250,</a:t>
            </a:r>
          </a:p>
          <a:p xmlns:a="http://schemas.openxmlformats.org/drawingml/2006/main">
            <a:r>
              <a:t>        174333583,</a:t>
            </a:r>
          </a:p>
          <a:p xmlns:a="http://schemas.openxmlformats.org/drawingml/2006/main">
            <a:r>
              <a:t>        140313375,</a:t>
            </a:r>
          </a:p>
          <a:p xmlns:a="http://schemas.openxmlformats.org/drawingml/2006/main">
            <a:r>
              <a:t>        140900583,</a:t>
            </a:r>
          </a:p>
          <a:p xmlns:a="http://schemas.openxmlformats.org/drawingml/2006/main">
            <a:r>
              <a:t>        142052708,</a:t>
            </a:r>
          </a:p>
          <a:p xmlns:a="http://schemas.openxmlformats.org/drawingml/2006/main">
            <a:r>
              <a:t>        178708500,</a:t>
            </a:r>
          </a:p>
          <a:p xmlns:a="http://schemas.openxmlformats.org/drawingml/2006/main">
            <a:r>
              <a:t>        140393042,</a:t>
            </a:r>
          </a:p>
          <a:p xmlns:a="http://schemas.openxmlformats.org/drawingml/2006/main">
            <a:r>
              <a:t>        142702250,</a:t>
            </a:r>
          </a:p>
          <a:p xmlns:a="http://schemas.openxmlformats.org/drawingml/2006/main">
            <a:r>
              <a:t>        140807458</a:t>
            </a:r>
          </a:p>
          <a:p xmlns:a="http://schemas.openxmlformats.org/drawingml/2006/main">
            <a:r>
              <a:t>      ],</a:t>
            </a:r>
          </a:p>
          <a:p xmlns:a="http://schemas.openxmlformats.org/drawingml/2006/main">
            <a:r>
              <a:t>      "checksums": [</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"metal": {</a:t>
            </a:r>
          </a:p>
          <a:p xmlns:a="http://schemas.openxmlformats.org/drawingml/2006/main">
            <a:r>
              <a:t>    "checked": {</a:t>
            </a:r>
          </a:p>
          <a:p xmlns:a="http://schemas.openxmlformats.org/drawingml/2006/main">
            <a:r>
              <a:t>      "n": 10,</a:t>
            </a:r>
          </a:p>
          <a:p xmlns:a="http://schemas.openxmlformats.org/drawingml/2006/main">
            <a:r>
              <a:t>      "median_million_filter_turns_per_second": 420.89616624669395,</a:t>
            </a:r>
          </a:p>
          <a:p xmlns:a="http://schemas.openxmlformats.org/drawingml/2006/main">
            <a:r>
              <a:t>      "mad_million_filter_turns_per_second": 2.2913551544579036,</a:t>
            </a:r>
          </a:p>
          <a:p xmlns:a="http://schemas.openxmlformats.org/drawingml/2006/main">
            <a:r>
              <a:t>      "minimum": 415.87174515379456,</a:t>
            </a:r>
          </a:p>
          <a:p xmlns:a="http://schemas.openxmlformats.org/drawingml/2006/main">
            <a:r>
              <a:t>      "maximum": 424.3394037984699,</a:t>
            </a:r>
          </a:p>
          <a:p xmlns:a="http://schemas.openxmlformats.org/drawingml/2006/main">
            <a:r>
              <a:t>      "samples_million_filter_turns_per_second": [</a:t>
            </a:r>
          </a:p>
          <a:p xmlns:a="http://schemas.openxmlformats.org/drawingml/2006/main">
            <a:r>
              <a:t>        423.1927216268747,</a:t>
            </a:r>
          </a:p>
          <a:p xmlns:a="http://schemas.openxmlformats.org/drawingml/2006/main">
            <a:r>
              <a:t>        418.0445502134316,</a:t>
            </a:r>
          </a:p>
          <a:p xmlns:a="http://schemas.openxmlformats.org/drawingml/2006/main">
            <a:r>
              <a:t>        418.6100113179589,</a:t>
            </a:r>
          </a:p>
          <a:p xmlns:a="http://schemas.openxmlformats.org/drawingml/2006/main">
            <a:r>
              <a:t>        424.3394037984699,</a:t>
            </a:r>
          </a:p>
          <a:p xmlns:a="http://schemas.openxmlformats.org/drawingml/2006/main">
            <a:r>
              <a:t>        420.5634498819794,</a:t>
            </a:r>
          </a:p>
          <a:p xmlns:a="http://schemas.openxmlformats.org/drawingml/2006/main">
            <a:r>
              <a:t>        415.87174515379456,</a:t>
            </a:r>
          </a:p>
          <a:p xmlns:a="http://schemas.openxmlformats.org/drawingml/2006/main">
            <a:r>
              <a:t>        418.70092511132003,</a:t>
            </a:r>
          </a:p>
          <a:p xmlns:a="http://schemas.openxmlformats.org/drawingml/2006/main">
            <a:r>
              <a:t>        421.22888261140844,</a:t>
            </a:r>
          </a:p>
          <a:p xmlns:a="http://schemas.openxmlformats.org/drawingml/2006/main">
            <a:r>
              <a:t>        421.7177648376493,</a:t>
            </a:r>
          </a:p>
          <a:p xmlns:a="http://schemas.openxmlformats.org/drawingml/2006/main">
            <a:r>
              <a:t>        424.1530384881557</a:t>
            </a:r>
          </a:p>
          <a:p xmlns:a="http://schemas.openxmlformats.org/drawingml/2006/main">
            <a:r>
              <a:t>      ],</a:t>
            </a:r>
          </a:p>
          <a:p xmlns:a="http://schemas.openxmlformats.org/drawingml/2006/main">
            <a:r>
              <a:t>      "samples_elapsed_ns": [</a:t>
            </a:r>
          </a:p>
          <a:p xmlns:a="http://schemas.openxmlformats.org/drawingml/2006/main">
            <a:r>
              <a:t>        47259792,</a:t>
            </a:r>
          </a:p>
          <a:p xmlns:a="http://schemas.openxmlformats.org/drawingml/2006/main">
            <a:r>
              <a:t>        47841791,</a:t>
            </a:r>
          </a:p>
          <a:p xmlns:a="http://schemas.openxmlformats.org/drawingml/2006/main">
            <a:r>
              <a:t>        47777166,</a:t>
            </a:r>
          </a:p>
          <a:p xmlns:a="http://schemas.openxmlformats.org/drawingml/2006/main">
            <a:r>
              <a:t>        47132083,</a:t>
            </a:r>
          </a:p>
          <a:p xmlns:a="http://schemas.openxmlformats.org/drawingml/2006/main">
            <a:r>
              <a:t>        47555250,</a:t>
            </a:r>
          </a:p>
          <a:p xmlns:a="http://schemas.openxmlformats.org/drawingml/2006/main">
            <a:r>
              <a:t>        48091750,</a:t>
            </a:r>
          </a:p>
          <a:p xmlns:a="http://schemas.openxmlformats.org/drawingml/2006/main">
            <a:r>
              <a:t>        47766792,</a:t>
            </a:r>
          </a:p>
          <a:p xmlns:a="http://schemas.openxmlformats.org/drawingml/2006/main">
            <a:r>
              <a:t>        47480125,</a:t>
            </a:r>
          </a:p>
          <a:p xmlns:a="http://schemas.openxmlformats.org/drawingml/2006/main">
            <a:r>
              <a:t>        47425083,</a:t>
            </a:r>
          </a:p>
          <a:p xmlns:a="http://schemas.openxmlformats.org/drawingml/2006/main">
            <a:r>
              <a:t>        47152792</a:t>
            </a:r>
          </a:p>
          <a:p xmlns:a="http://schemas.openxmlformats.org/drawingml/2006/main">
            <a:r>
              <a:t>      ],</a:t>
            </a:r>
          </a:p>
          <a:p xmlns:a="http://schemas.openxmlformats.org/drawingml/2006/main">
            <a:r>
              <a:t>      "checksums": [</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a:t>
            </a:r>
          </a:p>
          <a:p xmlns:a="http://schemas.openxmlformats.org/drawingml/2006/main">
            <a:r>
              <a:t>    },</a:t>
            </a:r>
          </a:p>
          <a:p xmlns:a="http://schemas.openxmlformats.org/drawingml/2006/main">
            <a:r>
              <a:t>    "unchecked": {</a:t>
            </a:r>
          </a:p>
          <a:p xmlns:a="http://schemas.openxmlformats.org/drawingml/2006/main">
            <a:r>
              <a:t>      "n": 10,</a:t>
            </a:r>
          </a:p>
          <a:p xmlns:a="http://schemas.openxmlformats.org/drawingml/2006/main">
            <a:r>
              <a:t>      "median_million_filter_turns_per_second": 420.74678044303346,</a:t>
            </a:r>
          </a:p>
          <a:p xmlns:a="http://schemas.openxmlformats.org/drawingml/2006/main">
            <a:r>
              <a:t>      "mad_million_filter_turns_per_second": 2.282657675358166,</a:t>
            </a:r>
          </a:p>
          <a:p xmlns:a="http://schemas.openxmlformats.org/drawingml/2006/main">
            <a:r>
              <a:t>      "minimum": 416.0710955659553,</a:t>
            </a:r>
          </a:p>
          <a:p xmlns:a="http://schemas.openxmlformats.org/drawingml/2006/main">
            <a:r>
              <a:t>      "maximum": 426.6647734128454,</a:t>
            </a:r>
          </a:p>
          <a:p xmlns:a="http://schemas.openxmlformats.org/drawingml/2006/main">
            <a:r>
              <a:t>      "samples_million_filter_turns_per_second": [</a:t>
            </a:r>
          </a:p>
          <a:p xmlns:a="http://schemas.openxmlformats.org/drawingml/2006/main">
            <a:r>
              <a:t>        423.62447808140473,</a:t>
            </a:r>
          </a:p>
          <a:p xmlns:a="http://schemas.openxmlformats.org/drawingml/2006/main">
            <a:r>
              <a:t>        425.918558323605,</a:t>
            </a:r>
          </a:p>
          <a:p xmlns:a="http://schemas.openxmlformats.org/drawingml/2006/main">
            <a:r>
              <a:t>        419.0591627306884,</a:t>
            </a:r>
          </a:p>
          <a:p xmlns:a="http://schemas.openxmlformats.org/drawingml/2006/main">
            <a:r>
              <a:t>        426.6647734128454,</a:t>
            </a:r>
          </a:p>
          <a:p xmlns:a="http://schemas.openxmlformats.org/drawingml/2006/main">
            <a:r>
              <a:t>        421.34498290413796,</a:t>
            </a:r>
          </a:p>
          <a:p xmlns:a="http://schemas.openxmlformats.org/drawingml/2006/main">
            <a:r>
              <a:t>        416.5849379091606,</a:t>
            </a:r>
          </a:p>
          <a:p xmlns:a="http://schemas.openxmlformats.org/drawingml/2006/main">
            <a:r>
              <a:t>        416.0710955659553,</a:t>
            </a:r>
          </a:p>
          <a:p xmlns:a="http://schemas.openxmlformats.org/drawingml/2006/main">
            <a:r>
              <a:t>        421.60960005059314,</a:t>
            </a:r>
          </a:p>
          <a:p xmlns:a="http://schemas.openxmlformats.org/drawingml/2006/main">
            <a:r>
              <a:t>        420.1485779819289,</a:t>
            </a:r>
          </a:p>
          <a:p xmlns:a="http://schemas.openxmlformats.org/drawingml/2006/main">
            <a:r>
              <a:t>        420.13717478756814</a:t>
            </a:r>
          </a:p>
          <a:p xmlns:a="http://schemas.openxmlformats.org/drawingml/2006/main">
            <a:r>
              <a:t>      ],</a:t>
            </a:r>
          </a:p>
          <a:p xmlns:a="http://schemas.openxmlformats.org/drawingml/2006/main">
            <a:r>
              <a:t>      "samples_elapsed_ns": [</a:t>
            </a:r>
          </a:p>
          <a:p xmlns:a="http://schemas.openxmlformats.org/drawingml/2006/main">
            <a:r>
              <a:t>        47211625,</a:t>
            </a:r>
          </a:p>
          <a:p xmlns:a="http://schemas.openxmlformats.org/drawingml/2006/main">
            <a:r>
              <a:t>        46957334,</a:t>
            </a:r>
          </a:p>
          <a:p xmlns:a="http://schemas.openxmlformats.org/drawingml/2006/main">
            <a:r>
              <a:t>        47725958,</a:t>
            </a:r>
          </a:p>
          <a:p xmlns:a="http://schemas.openxmlformats.org/drawingml/2006/main">
            <a:r>
              <a:t>        46875208,</a:t>
            </a:r>
          </a:p>
          <a:p xmlns:a="http://schemas.openxmlformats.org/drawingml/2006/main">
            <a:r>
              <a:t>        47467042,</a:t>
            </a:r>
          </a:p>
          <a:p xmlns:a="http://schemas.openxmlformats.org/drawingml/2006/main">
            <a:r>
              <a:t>        48009417,</a:t>
            </a:r>
          </a:p>
          <a:p xmlns:a="http://schemas.openxmlformats.org/drawingml/2006/main">
            <a:r>
              <a:t>        48068708,</a:t>
            </a:r>
          </a:p>
          <a:p xmlns:a="http://schemas.openxmlformats.org/drawingml/2006/main">
            <a:r>
              <a:t>        47437250,</a:t>
            </a:r>
          </a:p>
          <a:p xmlns:a="http://schemas.openxmlformats.org/drawingml/2006/main">
            <a:r>
              <a:t>        47602208,</a:t>
            </a:r>
          </a:p>
          <a:p xmlns:a="http://schemas.openxmlformats.org/drawingml/2006/main">
            <a:r>
              <a:t>        47603500</a:t>
            </a:r>
          </a:p>
          <a:p xmlns:a="http://schemas.openxmlformats.org/drawingml/2006/main">
            <a:r>
              <a:t>      ],</a:t>
            </a:r>
          </a:p>
          <a:p xmlns:a="http://schemas.openxmlformats.org/drawingml/2006/main">
            <a:r>
              <a:t>      "checksums": [</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a:p xmlns:a="http://schemas.openxmlformats.org/drawingml/2006/main">
            <a:r>
              <a:t>Memory column: whole-process peak resident set size from apple-m1-aot-vs-rust-dylib-2026-09-24.json, measured by /usr/bin/time -l in seven fresh common-loader processes per artifact. All three medians are 2,818,048 bytes = 2.6875 MiB, with MAD zero; shown as 2.69 ± 0.00 MiB. This includes loader, buffers, library and runtime. It is not incremental dylib memory, and the data do not establish a memory advantage.</a:t>
            </a:r>
          </a:p>
          <a:p xmlns:a="http://schemas.openxmlformats.org/drawingml/2006/main">
            <a:r>
              <a:t/>
            </a:r>
          </a:p>
          <a:p xmlns:a="http://schemas.openxmlformats.org/drawingml/2006/main">
            <a:r>
              <a:t>Every pair has unchecked above checked. All five Mech rows use examples/embedded_ekf/ekf.mec, SHA-256 da531cddcb25d002d49f1a77800122e84b573e2685e191c1955908ef6fccd625. The preserved source figure uses the original notation, while the measured source version specifies f32 and the integrity predicates.</a:t>
            </a:r>
          </a:p>
          <a:p xmlns:a="http://schemas.openxmlformats.org/drawingml/2006/main">
            <a:r>
              <a:t/>
            </a:r>
          </a:p>
          <a:p xmlns:a="http://schemas.openxmlformats.org/drawingml/2006/main">
            <a:r>
              <a:t>Textbook source: the authors' official corrected pages204–206, https://robots.stanford.edu/probabilistic-robotics/corrections1/pg204-206.pdf, Table7.2 on page204. Comparable in scale is a qualitative observation about matrix-level expression, not a measured equality of character or line counts. The preserved source is a bearing-only, single-known-landmark adaptation with Euler motion and Joseph covariance. The book's example uses range-and-bearing, a nonlinear velocity motion model and feature iteration.</a:t>
            </a:r>
          </a:p>
          <a:p xmlns:a="http://schemas.openxmlformats.org/drawingml/2006/main">
            <a:r>
              <a:t/>
            </a:r>
          </a:p>
          <a:p xmlns:a="http://schemas.openxmlformats.org/drawingml/2006/main">
            <a:r>
              <a:t>Dylib size diagnostic, 2026-09-25: rebuilding rust-ekf-dylib.rs with its exact recorded source SHA, rustc ec818fda3 and build flags reproduces50,016 bytes, though its binary SHA differs because of build/install identity. This Rust file contains1,528 bytes of __text. A retained33,864-byte Mech SIMD artifact contains3,636 bytes of __text. Rust has an extra16,384-byte __DATA segment with24 bytes of lazy-linking data, whereas Mech has no __DATA segment. __LINKEDIT is864 bytes for Rust and1,096 for Mech, accounting for the16,152-byte file difference. Rust uses lazy binding and macOS11.0 deployment target; Mech uses chained fixups and target15.0. Both depend only on libSystem. Exact earlier Mech binaries were not retained, so this diagnosis compares a reproduced Rust build with a retained same-size Mech SIMD artifact. The disk-size result should not be interpreted as an inherent language/code-size advantage.</a:t>
            </a:r>
          </a:p>
          <a:p xmlns:a="http://schemas.openxmlformats.org/drawingml/2006/main">
            <a:r>
              <a:t/>
            </a:r>
          </a:p>
          <a:p xmlns:a="http://schemas.openxmlformats.org/drawingml/2006/main">
            <a:r>
              <a:t>SIMD JIT/AOT: hosts/gpu/src/batched/simd_jit.rs and simd_aot.rs consume the same fixed-shape compute graph and use Cranelift for vector code generation. They have separate lowering implementations, math helper implementations and native dispatch ABIs. The chart compares eight-worker JIT and one-worker AOT, and does not establish equal throughput. JIT compiles to executable memory when requested. AOT emits a relocatable object and links a native library. The minimal Rust common-ABI loader can deploy that library without Mech's compiler. The displayed Kernel::from_source(...).compile(...) example still invokes compilation in its host.</a:t>
            </a:r>
          </a:p>
          <a:p xmlns:a="http://schemas.openxmlformats.org/drawingml/2006/main">
            <a:r>
              <a:t/>
            </a:r>
          </a:p>
          <a:p xmlns:a="http://schemas.openxmlformats.org/drawingml/2006/main">
            <a:r>
              <a:t>Browser execution: src/wasm/Cargo.toml compiles the Rust runtime wrapper to WebAssembly. src/wasm/src/mixed_compute.rs, gpu.rs and include/browser-compute.js implement browser CPU evaluation and WGPU/WebGPU execution using generated WGSL. This is not a claim of standalone Mech-source-to-Wasm AOT code generation. The QR destination is the user-approved planned live poster and CPU/WGPU comparison at https://mech-lang.org/iros-r4r-2026/index.html. It returned HTTP 404 on 2026-09-25 at 15:06 UTC and still requires publication before distribution.</a:t>
            </a:r>
          </a:p>
          <a:p xmlns:a="http://schemas.openxmlformats.org/drawingml/2006/main">
            <a:r>
              <a:t/>
            </a:r>
          </a:p>
          <a:p xmlns:a="http://schemas.openxmlformats.org/drawingml/2006/main">
            <a:r>
              <a:t/>
            </a:r>
          </a:p>
          <a:p xmlns:a="http://schemas.openxmlformats.org/drawingml/2006/main">
            <a:r>
              <a:t>Chart display precision: data values and bar lengths retain the existing evidence. Labels use one decimal at or above one million filter-turns per second, and two decimals below one. MAD uses the same resolution, with a less-than threshold when rounding would display zero. MAD describes observed run-to-run variability, not measurement accuracy or a confidence interval. Both native horizontal value-axis titles state throughput units and the linear or logarithmic scale.</a:t>
            </a:r>
          </a:p>
          <a:p xmlns:a="http://schemas.openxmlformats.org/drawingml/2006/main">
            <a:r>
              <a:t/>
            </a:r>
          </a:p>
          <a:p>
            <a:r>
              <a:t>Reactive output example: the current diagram uses turn800 of the same repeated-input checked Rust f32 control fixture archived in benchmarks/iros-2026/poster/reactive-output/turn-800.json. It is an illustrative state, not a new throughput sample or a freshly executed Mech result. Mean [98.23776245117188,55.18589401245117,-0.034165628254413605]. Covariance rows [[107.88896942138672,-28.88761329650879,-0.9072326421737671],[-28.88755226135254,19.884502410888672,0.10412274301052094],[-0.9072338342666626,0.10412327200174332,0.012010792270302773]]. Matching 2-sigma positional semiaxes [21.58926311865064,6.7080254414225955], SVG rotation 16.642502461815663 degrees. Robot heading -0.034165628254413605 radians. Independent NumPy f32 matrix-equation cross-check is recorded in the same evidence file. The scene is a local view centered on the mean with equal x/y scale. The simplified build/activation lane intentionally omits the separate AOT emission path. The embedding section continues to describe AOT. Rust logo © Rust Foundation, CC BY4.0, recolored white. Source: https://github.com/rust-lang/rust-artwork/blob/main/logo/rust-logo-single-path.svg . License: https://creativecommons.org/licenses/by/4.0/ .</a:t>
            </a:r>
          </a:p>
          <a:p>
            <a:r>
              <a:t xml:space="preserve">2026-09-25 integrated interface and poster revision: JIT excerpt from examples/embedded_ekf/main.rs; saved native bundle loader from examples/embedded_ekf/load.rs; separate AOT producer in examples/embedded_ekf/build.rs. Backend::Jit compiles scalar Cranelift code once and supports independent persistent sessions. Kernel::save_bundle saves the AOT dylib and interface metadata. Unsafe Kernel::load_bundle loads trusted matching native code without parsing, lowering, compiling or linking. The current Cargo consumer feature still includes compiler dependencies. Public Session::turn reports integrity errors without changing published state and retains updated input bindings on rejection. The Rust crate links into host applications; a generated-kernel rlib export and C++/Python wrappers are not implemented here. New wrapper operations are separately tested, not remeasured in the archived minimal-ABI dylib table. Optional predicates are omitted from the unchecked benchmark source, not disabled via a public Session flag. Benchmark evidence: benchmarks/iros-2026/MECH-BACKEND-PAIRS.md and results/apple-m1-mech-backend-pairs-n10-2026-09-25.json. SIMD AOT throughput reduction is 100*(1-34.617/37.059)=6.59%; Metal checked/unchecked difference is smaller than either MAD. These measure predicate checking, not the complete cost of reactive publication. Interpreter means fixed-shape numerical instruction interpretation, with unchanged measurements 0.695 checked and 0.828 unchecked million filter-turns/s, now displayed to one decimal. Original source and title whitespace restored from the user-supplied PowerPoint. All equations and syntax colors retained. Timeline labels Reactive Runtime and v1.0 Release Candidate, 2028 planned, and the next-year robot-hardware/deployment validation plan are supplied by the user in this revision.</a:t>
            </a:r>
          </a:p>
          <a:p>
            <a:r>
              <a:t xml:space="preserve">2026-09-25 layout revision: Mech code indentation is one Fira Code space, while import and headings retain their margin. A six-line notation key uses Mech comment syntax in the code panel's upper-right whitespace. Normalized source-character heading and local definition use matching asterisk markers. Reactive legend moved under the paragraph. Activation checks existing configured capabilities and host availability before creating the resident instance, distinct from per-turn integrity validation. Code references: src/runtime/src/runtime/builder.rs:355, src/runtime/src/runtime/program/external/admission.rs:95, src/runtime/src/runtime/program/loading.rs:401. Same-source and checked/unchecked findings promoted to body text without changing data. JIT/AOT pipeline sentence moved below charts. Body prose remains Segoe UI.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2f36589ec674b0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06888b2938b4c2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0525188fa334b2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8bd5ba44da04f0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87cdfa90bbb4e7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273c86510a74b29"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54ac9231de964922"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700aeb8ddc314c85"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8c64e7a2496547b9"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816885203ac34f95"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c2cd9e43a73f4b6b"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869E76-8CB0-43FD-848E-0E9F21319AAC}"/>
              </a:ext>
            </a:extLst>
          </p:cNvPr>
          <p:cNvSpPr>
            <a:spLocks xmlns:a="http://schemas.openxmlformats.org/drawingml/2006/main" noGrp="1"/>
          </p:cNvSpPr>
          <p:nvPr>
            <p:ph type="ctrTitle" idx="0"/>
          </p:nvPr>
        </p:nvSpPr>
        <p:spPr>
          <a:xfrm xmlns:a="http://schemas.openxmlformats.org/drawingml/2006/main">
            <a:off x="2468880" y="7183123"/>
            <a:ext cx="27980640" cy="15280640"/>
          </a:xfrm>
        </p:spPr>
        <p:txBody>
          <a:bodyPr xmlns:a="http://schemas.openxmlformats.org/drawingml/2006/main" anchor="b"/>
          <a:lstStyle xmlns:a="http://schemas.openxmlformats.org/drawingml/2006/main">
            <a:lvl1pPr algn="ctr">
              <a:buNone/>
              <a:defRPr sz="21600"/>
            </a:lvl1pPr>
          </a:lstStyle>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3F8A0FF5-04B7-4635-8C0F-74E20E8DD640}"/>
              </a:ext>
            </a:extLst>
          </p:cNvPr>
          <p:cNvSpPr>
            <a:spLocks xmlns:a="http://schemas.openxmlformats.org/drawingml/2006/main" noGrp="1"/>
          </p:cNvSpPr>
          <p:nvPr>
            <p:ph type="subTitle" idx="1"/>
          </p:nvPr>
        </p:nvSpPr>
        <p:spPr>
          <a:xfrm xmlns:a="http://schemas.openxmlformats.org/drawingml/2006/main">
            <a:off x="4114800" y="23053043"/>
            <a:ext cx="24688800" cy="10596877"/>
          </a:xfrm>
        </p:spPr>
        <p:txBody>
          <a:bodyPr xmlns:a="http://schemas.openxmlformats.org/drawingml/2006/main"/>
          <a:lstStyle xmlns:a="http://schemas.openxmlformats.org/drawingml/2006/main">
            <a:lvl1pPr marL="0" indent="0" algn="ctr">
              <a:buNone/>
              <a:defRPr sz="8640"/>
            </a:lvl1pPr>
            <a:lvl2pPr marL="1645920" indent="0" algn="ctr">
              <a:buNone/>
              <a:defRPr sz="7200"/>
            </a:lvl2pPr>
            <a:lvl3pPr marL="3291840" indent="0" algn="ctr">
              <a:buNone/>
              <a:defRPr sz="6480"/>
            </a:lvl3pPr>
            <a:lvl4pPr marL="4937760" indent="0" algn="ctr">
              <a:buNone/>
              <a:defRPr sz="5760"/>
            </a:lvl4pPr>
            <a:lvl5pPr marL="6583680" indent="0" algn="ctr">
              <a:buNone/>
              <a:defRPr sz="5760"/>
            </a:lvl5pPr>
            <a:lvl6pPr marL="8229600" indent="0" algn="ctr">
              <a:buNone/>
              <a:defRPr sz="5760"/>
            </a:lvl6pPr>
            <a:lvl7pPr marL="9875520" indent="0" algn="ctr">
              <a:buNone/>
              <a:defRPr sz="5760"/>
            </a:lvl7pPr>
            <a:lvl8pPr marL="11521440" indent="0" algn="ctr">
              <a:buNone/>
              <a:defRPr sz="5760"/>
            </a:lvl8pPr>
            <a:lvl9pPr marL="13167360" indent="0" algn="ctr">
              <a:buNone/>
              <a:defRPr sz="5760"/>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D17DC7E1-9B2D-4AEA-BEC1-95D503AD2BB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1B252262-4FA3-417D-A6D6-677F82F680F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4D2C183-DCD4-48A5-9ECD-E710F896797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BFB8504-6FDF-43C6-8438-099459E0A23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3C50771F-13EA-4CAA-B7BD-F1B50C24BB9C}"/>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8B879ABD-EE65-413C-B080-BB726D98624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8450E30B-3285-490C-9DD0-7D2366AA3E1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0E3579D-DFED-428A-A387-00777621926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3FEC4ED-5CF6-4AF9-AC77-B5B74FC9EEBC}"/>
              </a:ext>
            </a:extLst>
          </p:cNvPr>
          <p:cNvSpPr>
            <a:spLocks xmlns:a="http://schemas.openxmlformats.org/drawingml/2006/main" noGrp="1"/>
          </p:cNvSpPr>
          <p:nvPr>
            <p:ph type="title" idx="0"/>
          </p:nvPr>
        </p:nvSpPr>
        <p:spPr>
          <a:xfrm xmlns:a="http://schemas.openxmlformats.org/drawingml/2006/main">
            <a:off x="2245997" y="10942333"/>
            <a:ext cx="28392120" cy="18257517"/>
          </a:xfrm>
        </p:spPr>
        <p:txBody>
          <a:bodyPr xmlns:a="http://schemas.openxmlformats.org/drawingml/2006/main" anchor="b"/>
          <a:lstStyle xmlns:a="http://schemas.openxmlformats.org/drawingml/2006/main">
            <a:lvl1pPr>
              <a:buNone/>
              <a:defRPr sz="21600"/>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2740661D-2DAD-4FF8-9375-F3C6A44BEF3C}"/>
              </a:ext>
            </a:extLst>
          </p:cNvPr>
          <p:cNvSpPr>
            <a:spLocks xmlns:a="http://schemas.openxmlformats.org/drawingml/2006/main" noGrp="1"/>
          </p:cNvSpPr>
          <p:nvPr>
            <p:ph type="body" idx="1"/>
          </p:nvPr>
        </p:nvSpPr>
        <p:spPr>
          <a:xfrm xmlns:a="http://schemas.openxmlformats.org/drawingml/2006/main">
            <a:off x="2245997" y="29372573"/>
            <a:ext cx="28392120" cy="9601197"/>
          </a:xfrm>
        </p:spPr>
        <p:txBody>
          <a:bodyPr xmlns:a="http://schemas.openxmlformats.org/drawingml/2006/main"/>
          <a:lstStyle xmlns:a="http://schemas.openxmlformats.org/drawingml/2006/main">
            <a:lvl1pPr marL="0" indent="0">
              <a:buNone/>
              <a:defRPr sz="8640">
                <a:solidFill>
                  <a:schemeClr val="tx1">
                    <a:tint val="82000"/>
                  </a:schemeClr>
                </a:solidFill>
              </a:defRPr>
            </a:lvl1pPr>
            <a:lvl2pPr marL="1645920" indent="0">
              <a:buNone/>
              <a:defRPr sz="7200">
                <a:solidFill>
                  <a:schemeClr val="tx1">
                    <a:tint val="82000"/>
                  </a:schemeClr>
                </a:solidFill>
              </a:defRPr>
            </a:lvl2pPr>
            <a:lvl3pPr marL="3291840" indent="0">
              <a:buNone/>
              <a:defRPr sz="6480">
                <a:solidFill>
                  <a:schemeClr val="tx1">
                    <a:tint val="82000"/>
                  </a:schemeClr>
                </a:solidFill>
              </a:defRPr>
            </a:lvl3pPr>
            <a:lvl4pPr marL="4937760" indent="0">
              <a:buNone/>
              <a:defRPr sz="5760">
                <a:solidFill>
                  <a:schemeClr val="tx1">
                    <a:tint val="82000"/>
                  </a:schemeClr>
                </a:solidFill>
              </a:defRPr>
            </a:lvl4pPr>
            <a:lvl5pPr marL="6583680" indent="0">
              <a:buNone/>
              <a:defRPr sz="5760">
                <a:solidFill>
                  <a:schemeClr val="tx1">
                    <a:tint val="82000"/>
                  </a:schemeClr>
                </a:solidFill>
              </a:defRPr>
            </a:lvl5pPr>
            <a:lvl6pPr marL="8229600" indent="0">
              <a:buNone/>
              <a:defRPr sz="5760">
                <a:solidFill>
                  <a:schemeClr val="tx1">
                    <a:tint val="82000"/>
                  </a:schemeClr>
                </a:solidFill>
              </a:defRPr>
            </a:lvl6pPr>
            <a:lvl7pPr marL="9875520" indent="0">
              <a:buNone/>
              <a:defRPr sz="5760">
                <a:solidFill>
                  <a:schemeClr val="tx1">
                    <a:tint val="82000"/>
                  </a:schemeClr>
                </a:solidFill>
              </a:defRPr>
            </a:lvl7pPr>
            <a:lvl8pPr marL="11521440" indent="0">
              <a:buNone/>
              <a:defRPr sz="5760">
                <a:solidFill>
                  <a:schemeClr val="tx1">
                    <a:tint val="82000"/>
                  </a:schemeClr>
                </a:solidFill>
              </a:defRPr>
            </a:lvl8pPr>
            <a:lvl9pPr marL="13167360" indent="0">
              <a:buNone/>
              <a:defRPr sz="5760">
                <a:solidFill>
                  <a:schemeClr val="tx1">
                    <a:tint val="82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D1FE8264-C24A-42B3-AD60-A56D8A4B5C1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182A827B-4A1A-4F14-8EF4-838FC1D7C5C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2D8DDBC-8220-4276-A212-7BE92916F3D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140B113-C8F0-453E-B241-B0D63E6BA0F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23049833-DE65-4579-B2EB-22DD4409DB7F}"/>
              </a:ext>
            </a:extLst>
          </p:cNvPr>
          <p:cNvSpPr>
            <a:spLocks xmlns:a="http://schemas.openxmlformats.org/drawingml/2006/main" noGrp="1"/>
          </p:cNvSpPr>
          <p:nvPr>
            <p:ph idx="1"/>
          </p:nvPr>
        </p:nvSpPr>
        <p:spPr>
          <a:xfrm xmlns:a="http://schemas.openxmlformats.org/drawingml/2006/main">
            <a:off x="2263140" y="11684000"/>
            <a:ext cx="13990320" cy="27848563"/>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EDC52527-B04A-4E33-8A6E-2327B6422A5D}"/>
              </a:ext>
            </a:extLst>
          </p:cNvPr>
          <p:cNvSpPr>
            <a:spLocks xmlns:a="http://schemas.openxmlformats.org/drawingml/2006/main" noGrp="1"/>
          </p:cNvSpPr>
          <p:nvPr>
            <p:ph idx="2"/>
          </p:nvPr>
        </p:nvSpPr>
        <p:spPr>
          <a:xfrm xmlns:a="http://schemas.openxmlformats.org/drawingml/2006/main">
            <a:off x="16664940" y="11684000"/>
            <a:ext cx="13990320" cy="27848563"/>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60DE60A6-D85B-46E6-A9D3-AA1CC81450F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6" name="Footer Placeholder 5">
            <a:extLst xmlns:a="http://schemas.openxmlformats.org/drawingml/2006/main">
              <a:ext uri="{FF2B5EF4-FFF2-40B4-BE49-F238E27FC236}">
                <a16:creationId xmlns:a16="http://schemas.microsoft.com/office/drawing/2014/main" id="{E92640C8-EB7A-4B9E-8E6E-4667C7C6F88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5549ED25-0BA4-4068-A367-6654D2C6323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94BF697-B594-4EDF-BAE2-C966D63EF4DF}"/>
              </a:ext>
            </a:extLst>
          </p:cNvPr>
          <p:cNvSpPr>
            <a:spLocks xmlns:a="http://schemas.openxmlformats.org/drawingml/2006/main" noGrp="1"/>
          </p:cNvSpPr>
          <p:nvPr>
            <p:ph type="title" idx="0"/>
          </p:nvPr>
        </p:nvSpPr>
        <p:spPr>
          <a:xfrm xmlns:a="http://schemas.openxmlformats.org/drawingml/2006/main">
            <a:off x="2267428" y="2336810"/>
            <a:ext cx="28392120" cy="8483603"/>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3879CB4B-AE88-45F4-85A1-A074DFF31C77}"/>
              </a:ext>
            </a:extLst>
          </p:cNvPr>
          <p:cNvSpPr>
            <a:spLocks xmlns:a="http://schemas.openxmlformats.org/drawingml/2006/main" noGrp="1"/>
          </p:cNvSpPr>
          <p:nvPr>
            <p:ph type="body" idx="1"/>
          </p:nvPr>
        </p:nvSpPr>
        <p:spPr>
          <a:xfrm xmlns:a="http://schemas.openxmlformats.org/drawingml/2006/main">
            <a:off x="2267431" y="10759443"/>
            <a:ext cx="13926024" cy="5273037"/>
          </a:xfrm>
        </p:spPr>
        <p:txBody>
          <a:bodyPr xmlns:a="http://schemas.openxmlformats.org/drawingml/2006/main" anchor="b"/>
          <a:lstStyle xmlns:a="http://schemas.openxmlformats.org/drawingml/2006/main">
            <a:lvl1pPr marL="0" indent="0">
              <a:buNone/>
              <a:defRPr sz="8640" b="1"/>
            </a:lvl1pPr>
            <a:lvl2pPr marL="1645920" indent="0">
              <a:buNone/>
              <a:defRPr sz="7200" b="1"/>
            </a:lvl2pPr>
            <a:lvl3pPr marL="3291840" indent="0">
              <a:buNone/>
              <a:defRPr sz="6480" b="1"/>
            </a:lvl3pPr>
            <a:lvl4pPr marL="4937760" indent="0">
              <a:buNone/>
              <a:defRPr sz="5760" b="1"/>
            </a:lvl4pPr>
            <a:lvl5pPr marL="6583680" indent="0">
              <a:buNone/>
              <a:defRPr sz="5760" b="1"/>
            </a:lvl5pPr>
            <a:lvl6pPr marL="8229600" indent="0">
              <a:buNone/>
              <a:defRPr sz="5760" b="1"/>
            </a:lvl6pPr>
            <a:lvl7pPr marL="9875520" indent="0">
              <a:buNone/>
              <a:defRPr sz="5760" b="1"/>
            </a:lvl7pPr>
            <a:lvl8pPr marL="11521440" indent="0">
              <a:buNone/>
              <a:defRPr sz="5760" b="1"/>
            </a:lvl8pPr>
            <a:lvl9pPr marL="13167360" indent="0">
              <a:buNone/>
              <a:defRPr sz="576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E582FD19-F539-402A-A23C-1A1783A726FA}"/>
              </a:ext>
            </a:extLst>
          </p:cNvPr>
          <p:cNvSpPr>
            <a:spLocks xmlns:a="http://schemas.openxmlformats.org/drawingml/2006/main" noGrp="1"/>
          </p:cNvSpPr>
          <p:nvPr>
            <p:ph idx="2"/>
          </p:nvPr>
        </p:nvSpPr>
        <p:spPr>
          <a:xfrm xmlns:a="http://schemas.openxmlformats.org/drawingml/2006/main">
            <a:off x="2267431" y="16032480"/>
            <a:ext cx="13926024" cy="23581363"/>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AA201461-79C7-47E0-B14C-39C90F7BF143}"/>
              </a:ext>
            </a:extLst>
          </p:cNvPr>
          <p:cNvSpPr>
            <a:spLocks xmlns:a="http://schemas.openxmlformats.org/drawingml/2006/main" noGrp="1"/>
          </p:cNvSpPr>
          <p:nvPr>
            <p:ph type="body" idx="3"/>
          </p:nvPr>
        </p:nvSpPr>
        <p:spPr>
          <a:xfrm xmlns:a="http://schemas.openxmlformats.org/drawingml/2006/main">
            <a:off x="16664942" y="10759443"/>
            <a:ext cx="13994608" cy="5273037"/>
          </a:xfrm>
        </p:spPr>
        <p:txBody>
          <a:bodyPr xmlns:a="http://schemas.openxmlformats.org/drawingml/2006/main" anchor="b"/>
          <a:lstStyle xmlns:a="http://schemas.openxmlformats.org/drawingml/2006/main">
            <a:lvl1pPr marL="0" indent="0">
              <a:buNone/>
              <a:defRPr sz="8640" b="1"/>
            </a:lvl1pPr>
            <a:lvl2pPr marL="1645920" indent="0">
              <a:buNone/>
              <a:defRPr sz="7200" b="1"/>
            </a:lvl2pPr>
            <a:lvl3pPr marL="3291840" indent="0">
              <a:buNone/>
              <a:defRPr sz="6480" b="1"/>
            </a:lvl3pPr>
            <a:lvl4pPr marL="4937760" indent="0">
              <a:buNone/>
              <a:defRPr sz="5760" b="1"/>
            </a:lvl4pPr>
            <a:lvl5pPr marL="6583680" indent="0">
              <a:buNone/>
              <a:defRPr sz="5760" b="1"/>
            </a:lvl5pPr>
            <a:lvl6pPr marL="8229600" indent="0">
              <a:buNone/>
              <a:defRPr sz="5760" b="1"/>
            </a:lvl6pPr>
            <a:lvl7pPr marL="9875520" indent="0">
              <a:buNone/>
              <a:defRPr sz="5760" b="1"/>
            </a:lvl7pPr>
            <a:lvl8pPr marL="11521440" indent="0">
              <a:buNone/>
              <a:defRPr sz="5760" b="1"/>
            </a:lvl8pPr>
            <a:lvl9pPr marL="13167360" indent="0">
              <a:buNone/>
              <a:defRPr sz="576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340EF49A-61F7-47F2-9A80-E1AB31223644}"/>
              </a:ext>
            </a:extLst>
          </p:cNvPr>
          <p:cNvSpPr>
            <a:spLocks xmlns:a="http://schemas.openxmlformats.org/drawingml/2006/main" noGrp="1"/>
          </p:cNvSpPr>
          <p:nvPr>
            <p:ph idx="4"/>
          </p:nvPr>
        </p:nvSpPr>
        <p:spPr>
          <a:xfrm xmlns:a="http://schemas.openxmlformats.org/drawingml/2006/main">
            <a:off x="16664942" y="16032480"/>
            <a:ext cx="13994608" cy="23581363"/>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0053564C-F9E1-4B42-BE99-BA65D8B3F0D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8" name="Footer Placeholder 7">
            <a:extLst xmlns:a="http://schemas.openxmlformats.org/drawingml/2006/main">
              <a:ext uri="{FF2B5EF4-FFF2-40B4-BE49-F238E27FC236}">
                <a16:creationId xmlns:a16="http://schemas.microsoft.com/office/drawing/2014/main" id="{5F99F1E9-CB5E-4DE3-B68B-47514C4CDA1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0CB8DD8C-F945-4F22-935F-23EC9E78168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369A10E-022F-430C-8039-78DCED0139C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3F0C6E0C-86ED-4A6B-B768-A4E0040A70F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4" name="Footer Placeholder 3">
            <a:extLst xmlns:a="http://schemas.openxmlformats.org/drawingml/2006/main">
              <a:ext uri="{FF2B5EF4-FFF2-40B4-BE49-F238E27FC236}">
                <a16:creationId xmlns:a16="http://schemas.microsoft.com/office/drawing/2014/main" id="{892150B3-EC64-44D4-A278-E813B014AF8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E51121E6-01F9-4A2F-8F8C-2A918E4BBB8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AC37D893-6C60-409D-8C8D-D4F34490151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3" name="Footer Placeholder 2">
            <a:extLst xmlns:a="http://schemas.openxmlformats.org/drawingml/2006/main">
              <a:ext uri="{FF2B5EF4-FFF2-40B4-BE49-F238E27FC236}">
                <a16:creationId xmlns:a16="http://schemas.microsoft.com/office/drawing/2014/main" id="{9FD18EA2-DFC1-4BD8-8E79-3EBDA080AF0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C7275153-3706-41A0-811D-33891A36458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E6C85A5-742F-4273-BED1-B37CEE92886A}"/>
              </a:ext>
            </a:extLst>
          </p:cNvPr>
          <p:cNvSpPr>
            <a:spLocks xmlns:a="http://schemas.openxmlformats.org/drawingml/2006/main" noGrp="1"/>
          </p:cNvSpPr>
          <p:nvPr>
            <p:ph type="title" idx="0"/>
          </p:nvPr>
        </p:nvSpPr>
        <p:spPr>
          <a:xfrm xmlns:a="http://schemas.openxmlformats.org/drawingml/2006/main">
            <a:off x="2267428" y="2926080"/>
            <a:ext cx="10617041" cy="10241280"/>
          </a:xfrm>
        </p:spPr>
        <p:txBody>
          <a:bodyPr xmlns:a="http://schemas.openxmlformats.org/drawingml/2006/main" anchor="b"/>
          <a:lstStyle xmlns:a="http://schemas.openxmlformats.org/drawingml/2006/main">
            <a:lvl1pPr>
              <a:buNone/>
              <a:defRPr sz="11520"/>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9BFF7318-F199-407B-9A7B-F0D03F7C8D72}"/>
              </a:ext>
            </a:extLst>
          </p:cNvPr>
          <p:cNvSpPr>
            <a:spLocks xmlns:a="http://schemas.openxmlformats.org/drawingml/2006/main" noGrp="1"/>
          </p:cNvSpPr>
          <p:nvPr>
            <p:ph idx="1"/>
          </p:nvPr>
        </p:nvSpPr>
        <p:spPr>
          <a:xfrm xmlns:a="http://schemas.openxmlformats.org/drawingml/2006/main">
            <a:off x="13994608" y="6319530"/>
            <a:ext cx="16664940" cy="31191200"/>
          </a:xfrm>
        </p:spPr>
        <p:txBody>
          <a:bodyPr xmlns:a="http://schemas.openxmlformats.org/drawingml/2006/main"/>
          <a:lstStyle xmlns:a="http://schemas.openxmlformats.org/drawingml/2006/main">
            <a:lvl1pPr>
              <a:buNone/>
              <a:defRPr sz="11520"/>
            </a:lvl1pPr>
            <a:lvl2pPr>
              <a:buNone/>
              <a:defRPr sz="10080"/>
            </a:lvl2pPr>
            <a:lvl3pPr>
              <a:buNone/>
              <a:defRPr sz="8640"/>
            </a:lvl3pPr>
            <a:lvl4pPr>
              <a:buNone/>
              <a:defRPr sz="7200"/>
            </a:lvl4pPr>
            <a:lvl5pPr>
              <a:buNone/>
              <a:defRPr sz="7200"/>
            </a:lvl5pPr>
            <a:lvl6pPr>
              <a:buNone/>
              <a:defRPr sz="7200"/>
            </a:lvl6pPr>
            <a:lvl7pPr>
              <a:buNone/>
              <a:defRPr sz="7200"/>
            </a:lvl7pPr>
            <a:lvl8pPr>
              <a:buNone/>
              <a:defRPr sz="7200"/>
            </a:lvl8pPr>
            <a:lvl9pPr>
              <a:buNone/>
              <a:defRPr sz="72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E0D99941-18D3-4C62-ABD4-2884EC17DCAD}"/>
              </a:ext>
            </a:extLst>
          </p:cNvPr>
          <p:cNvSpPr>
            <a:spLocks xmlns:a="http://schemas.openxmlformats.org/drawingml/2006/main" noGrp="1"/>
          </p:cNvSpPr>
          <p:nvPr>
            <p:ph type="body" idx="2"/>
          </p:nvPr>
        </p:nvSpPr>
        <p:spPr>
          <a:xfrm xmlns:a="http://schemas.openxmlformats.org/drawingml/2006/main">
            <a:off x="2267428" y="13167360"/>
            <a:ext cx="10617041" cy="24394163"/>
          </a:xfrm>
        </p:spPr>
        <p:txBody>
          <a:bodyPr xmlns:a="http://schemas.openxmlformats.org/drawingml/2006/main"/>
          <a:lstStyle xmlns:a="http://schemas.openxmlformats.org/drawingml/2006/main">
            <a:lvl1pPr marL="0" indent="0">
              <a:buNone/>
              <a:defRPr sz="5760"/>
            </a:lvl1pPr>
            <a:lvl2pPr marL="1645920" indent="0">
              <a:buNone/>
              <a:defRPr sz="5040"/>
            </a:lvl2pPr>
            <a:lvl3pPr marL="3291840" indent="0">
              <a:buNone/>
              <a:defRPr sz="4320"/>
            </a:lvl3pPr>
            <a:lvl4pPr marL="4937760" indent="0">
              <a:buNone/>
              <a:defRPr sz="3600"/>
            </a:lvl4pPr>
            <a:lvl5pPr marL="6583680" indent="0">
              <a:buNone/>
              <a:defRPr sz="3600"/>
            </a:lvl5pPr>
            <a:lvl6pPr marL="8229600" indent="0">
              <a:buNone/>
              <a:defRPr sz="3600"/>
            </a:lvl6pPr>
            <a:lvl7pPr marL="9875520" indent="0">
              <a:buNone/>
              <a:defRPr sz="3600"/>
            </a:lvl7pPr>
            <a:lvl8pPr marL="11521440" indent="0">
              <a:buNone/>
              <a:defRPr sz="3600"/>
            </a:lvl8pPr>
            <a:lvl9pPr marL="13167360" indent="0">
              <a:buNone/>
              <a:defRPr sz="36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4833CB9D-86F7-4C5B-A6F9-74E2CF12BFB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6" name="Footer Placeholder 5">
            <a:extLst xmlns:a="http://schemas.openxmlformats.org/drawingml/2006/main">
              <a:ext uri="{FF2B5EF4-FFF2-40B4-BE49-F238E27FC236}">
                <a16:creationId xmlns:a16="http://schemas.microsoft.com/office/drawing/2014/main" id="{3D3E7649-CBAE-481D-95D1-1A765830620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39B3FD3E-64F3-4549-8E74-F34759B0BF9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9EA567A-DA40-44AD-8603-803DC01E4DF3}"/>
              </a:ext>
            </a:extLst>
          </p:cNvPr>
          <p:cNvSpPr>
            <a:spLocks xmlns:a="http://schemas.openxmlformats.org/drawingml/2006/main" noGrp="1"/>
          </p:cNvSpPr>
          <p:nvPr>
            <p:ph type="title" idx="0"/>
          </p:nvPr>
        </p:nvSpPr>
        <p:spPr>
          <a:xfrm xmlns:a="http://schemas.openxmlformats.org/drawingml/2006/main">
            <a:off x="2267428" y="2926080"/>
            <a:ext cx="10617041" cy="10241280"/>
          </a:xfrm>
        </p:spPr>
        <p:txBody>
          <a:bodyPr xmlns:a="http://schemas.openxmlformats.org/drawingml/2006/main" anchor="b"/>
          <a:lstStyle xmlns:a="http://schemas.openxmlformats.org/drawingml/2006/main">
            <a:lvl1pPr>
              <a:buNone/>
              <a:defRPr sz="11520"/>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E5160C11-CCD7-4EFD-A09F-92AE840F3999}"/>
              </a:ext>
            </a:extLst>
          </p:cNvPr>
          <p:cNvSpPr>
            <a:spLocks xmlns:a="http://schemas.openxmlformats.org/drawingml/2006/main" noGrp="1"/>
          </p:cNvSpPr>
          <p:nvPr>
            <p:ph type="pic" idx="1"/>
          </p:nvPr>
        </p:nvSpPr>
        <p:spPr>
          <a:xfrm xmlns:a="http://schemas.openxmlformats.org/drawingml/2006/main">
            <a:off x="13994608" y="6319530"/>
            <a:ext cx="16664940" cy="31191200"/>
          </a:xfrm>
        </p:spPr>
        <p:txBody>
          <a:bodyPr xmlns:a="http://schemas.openxmlformats.org/drawingml/2006/main" anchor="t"/>
          <a:lstStyle xmlns:a="http://schemas.openxmlformats.org/drawingml/2006/main">
            <a:lvl1pPr marL="0" indent="0">
              <a:buNone/>
              <a:defRPr sz="11520"/>
            </a:lvl1pPr>
            <a:lvl2pPr marL="1645920" indent="0">
              <a:buNone/>
              <a:defRPr sz="10080"/>
            </a:lvl2pPr>
            <a:lvl3pPr marL="3291840" indent="0">
              <a:buNone/>
              <a:defRPr sz="8640"/>
            </a:lvl3pPr>
            <a:lvl4pPr marL="4937760" indent="0">
              <a:buNone/>
              <a:defRPr sz="7200"/>
            </a:lvl4pPr>
            <a:lvl5pPr marL="6583680" indent="0">
              <a:buNone/>
              <a:defRPr sz="7200"/>
            </a:lvl5pPr>
            <a:lvl6pPr marL="8229600" indent="0">
              <a:buNone/>
              <a:defRPr sz="7200"/>
            </a:lvl6pPr>
            <a:lvl7pPr marL="9875520" indent="0">
              <a:buNone/>
              <a:defRPr sz="7200"/>
            </a:lvl7pPr>
            <a:lvl8pPr marL="11521440" indent="0">
              <a:buNone/>
              <a:defRPr sz="7200"/>
            </a:lvl8pPr>
            <a:lvl9pPr marL="13167360" indent="0">
              <a:buNone/>
              <a:defRPr sz="7200"/>
            </a:lvl9pPr>
          </a:lstStyle>
          <a:p xmlns:a="http://schemas.openxmlformats.org/drawingml/2006/main">
            <a:r>
              <a:t>Click icon to add picture</a:t>
            </a:r>
            <a:endParaRPr/>
          </a:p>
        </p:txBody>
      </p:sp>
      <p:sp>
        <p:nvSpPr>
          <p:cNvPr id="4" name="Text Placeholder 3">
            <a:extLst xmlns:a="http://schemas.openxmlformats.org/drawingml/2006/main">
              <a:ext uri="{FF2B5EF4-FFF2-40B4-BE49-F238E27FC236}">
                <a16:creationId xmlns:a16="http://schemas.microsoft.com/office/drawing/2014/main" id="{52AEE534-629D-4955-85C7-60ACA33CDF97}"/>
              </a:ext>
            </a:extLst>
          </p:cNvPr>
          <p:cNvSpPr>
            <a:spLocks xmlns:a="http://schemas.openxmlformats.org/drawingml/2006/main" noGrp="1"/>
          </p:cNvSpPr>
          <p:nvPr>
            <p:ph type="body" idx="2"/>
          </p:nvPr>
        </p:nvSpPr>
        <p:spPr>
          <a:xfrm xmlns:a="http://schemas.openxmlformats.org/drawingml/2006/main">
            <a:off x="2267428" y="13167360"/>
            <a:ext cx="10617041" cy="24394163"/>
          </a:xfrm>
        </p:spPr>
        <p:txBody>
          <a:bodyPr xmlns:a="http://schemas.openxmlformats.org/drawingml/2006/main"/>
          <a:lstStyle xmlns:a="http://schemas.openxmlformats.org/drawingml/2006/main">
            <a:lvl1pPr marL="0" indent="0">
              <a:buNone/>
              <a:defRPr sz="5760"/>
            </a:lvl1pPr>
            <a:lvl2pPr marL="1645920" indent="0">
              <a:buNone/>
              <a:defRPr sz="5040"/>
            </a:lvl2pPr>
            <a:lvl3pPr marL="3291840" indent="0">
              <a:buNone/>
              <a:defRPr sz="4320"/>
            </a:lvl3pPr>
            <a:lvl4pPr marL="4937760" indent="0">
              <a:buNone/>
              <a:defRPr sz="3600"/>
            </a:lvl4pPr>
            <a:lvl5pPr marL="6583680" indent="0">
              <a:buNone/>
              <a:defRPr sz="3600"/>
            </a:lvl5pPr>
            <a:lvl6pPr marL="8229600" indent="0">
              <a:buNone/>
              <a:defRPr sz="3600"/>
            </a:lvl6pPr>
            <a:lvl7pPr marL="9875520" indent="0">
              <a:buNone/>
              <a:defRPr sz="3600"/>
            </a:lvl7pPr>
            <a:lvl8pPr marL="11521440" indent="0">
              <a:buNone/>
              <a:defRPr sz="3600"/>
            </a:lvl8pPr>
            <a:lvl9pPr marL="13167360" indent="0">
              <a:buNone/>
              <a:defRPr sz="36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9B8F4EEE-FC50-42A3-8DFD-856D7421B9B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6" name="Footer Placeholder 5">
            <a:extLst xmlns:a="http://schemas.openxmlformats.org/drawingml/2006/main">
              <a:ext uri="{FF2B5EF4-FFF2-40B4-BE49-F238E27FC236}">
                <a16:creationId xmlns:a16="http://schemas.microsoft.com/office/drawing/2014/main" id="{8E5C33A3-DBE4-4247-A006-09B563DC570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07A191DB-E906-453A-86C9-3ECA5C23422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C2B997D-57DD-421F-880F-0D4770465BF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92C600A4-BA38-4DD9-9C1F-072F30EBF97D}"/>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6308AA97-757D-4D4E-94C8-52A6286D3A3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A13C9EDB-5629-4AA7-988C-56E68F8AA7F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0B930DD5-61B5-4766-94C9-1F3DD6CE6F5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0000E8E3-732C-4351-9888-2D58D72F1A03}"/>
              </a:ext>
            </a:extLst>
          </p:cNvPr>
          <p:cNvSpPr>
            <a:spLocks xmlns:a="http://schemas.openxmlformats.org/drawingml/2006/main" noGrp="1"/>
          </p:cNvSpPr>
          <p:nvPr>
            <p:ph type="title" idx="0"/>
          </p:nvPr>
        </p:nvSpPr>
        <p:spPr>
          <a:xfrm xmlns:a="http://schemas.openxmlformats.org/drawingml/2006/main">
            <a:off x="23557232" y="2336800"/>
            <a:ext cx="7098030" cy="37195763"/>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FDE468DD-33B8-432D-8949-7AB9DCACF986}"/>
              </a:ext>
            </a:extLst>
          </p:cNvPr>
          <p:cNvSpPr>
            <a:spLocks xmlns:a="http://schemas.openxmlformats.org/drawingml/2006/main" noGrp="1"/>
          </p:cNvSpPr>
          <p:nvPr>
            <p:ph type="body" idx="1"/>
          </p:nvPr>
        </p:nvSpPr>
        <p:spPr>
          <a:xfrm xmlns:a="http://schemas.openxmlformats.org/drawingml/2006/main">
            <a:off x="2263142" y="2336800"/>
            <a:ext cx="20882610" cy="37195763"/>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3C4B3F60-211B-4878-8124-FDD7EBB9E3A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E3A3C7B8-9E45-481E-A1AB-1E78766CAB4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620E8CD9-A5B4-40CA-8C15-38A76A4EAD8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bdb63a77a7d4eb0" /><Relationship Type="http://schemas.openxmlformats.org/officeDocument/2006/relationships/slideLayout" Target="/ppt/slideLayouts/slideLayout1.xml" Id="Re8441b25be57431d" /><Relationship Type="http://schemas.openxmlformats.org/officeDocument/2006/relationships/slideLayout" Target="/ppt/slideLayouts/slideLayout2.xml" Id="R5f7ff82592df4417" /><Relationship Type="http://schemas.openxmlformats.org/officeDocument/2006/relationships/slideLayout" Target="/ppt/slideLayouts/slideLayout3.xml" Id="Rd28945967e884191" /><Relationship Type="http://schemas.openxmlformats.org/officeDocument/2006/relationships/slideLayout" Target="/ppt/slideLayouts/slideLayout4.xml" Id="R1893651ac5de4da1" /><Relationship Type="http://schemas.openxmlformats.org/officeDocument/2006/relationships/slideLayout" Target="/ppt/slideLayouts/slideLayout5.xml" Id="Rd5e4a120be014d77" /><Relationship Type="http://schemas.openxmlformats.org/officeDocument/2006/relationships/slideLayout" Target="/ppt/slideLayouts/slideLayout6.xml" Id="R4c52a1a4801b4b6c" /><Relationship Type="http://schemas.openxmlformats.org/officeDocument/2006/relationships/slideLayout" Target="/ppt/slideLayouts/slideLayout7.xml" Id="Ra1b67f3a0a4f4ced" /><Relationship Type="http://schemas.openxmlformats.org/officeDocument/2006/relationships/slideLayout" Target="/ppt/slideLayouts/slideLayout8.xml" Id="R6bcd435dbdb944d5" /><Relationship Type="http://schemas.openxmlformats.org/officeDocument/2006/relationships/slideLayout" Target="/ppt/slideLayouts/slideLayout9.xml" Id="Rbd9b9562e8c049db" /><Relationship Type="http://schemas.openxmlformats.org/officeDocument/2006/relationships/slideLayout" Target="/ppt/slideLayouts/slideLayout10.xml" Id="R2e7b0e28df004b64" /><Relationship Type="http://schemas.openxmlformats.org/officeDocument/2006/relationships/slideLayout" Target="/ppt/slideLayouts/slideLayout11.xml" Id="R92572661a29b4656"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62B1CC53-8A24-42D1-A471-CE5239ABE98B}"/>
              </a:ext>
            </a:extLst>
          </p:cNvPr>
          <p:cNvSpPr>
            <a:spLocks xmlns:a="http://schemas.openxmlformats.org/drawingml/2006/main" noGrp="1"/>
          </p:cNvSpPr>
          <p:nvPr>
            <p:ph type="title" idx="0"/>
          </p:nvPr>
        </p:nvSpPr>
        <p:spPr>
          <a:xfrm xmlns:a="http://schemas.openxmlformats.org/drawingml/2006/main">
            <a:off x="2263140" y="2336810"/>
            <a:ext cx="28392120" cy="848360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93FED960-FB91-4209-80F0-3E75CAE15372}"/>
              </a:ext>
            </a:extLst>
          </p:cNvPr>
          <p:cNvSpPr>
            <a:spLocks xmlns:a="http://schemas.openxmlformats.org/drawingml/2006/main" noGrp="1"/>
          </p:cNvSpPr>
          <p:nvPr>
            <p:ph type="body" idx="1"/>
          </p:nvPr>
        </p:nvSpPr>
        <p:spPr>
          <a:xfrm xmlns:a="http://schemas.openxmlformats.org/drawingml/2006/main">
            <a:off x="2263140" y="11684000"/>
            <a:ext cx="28392120" cy="278485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83DC96AD-D5DA-41FD-AA5D-8AA9203545EA}"/>
              </a:ext>
            </a:extLst>
          </p:cNvPr>
          <p:cNvSpPr>
            <a:spLocks xmlns:a="http://schemas.openxmlformats.org/drawingml/2006/main" noGrp="1"/>
          </p:cNvSpPr>
          <p:nvPr>
            <p:ph type="dt" idx="2"/>
          </p:nvPr>
        </p:nvSpPr>
        <p:spPr>
          <a:xfrm xmlns:a="http://schemas.openxmlformats.org/drawingml/2006/main">
            <a:off x="2263140" y="40680650"/>
            <a:ext cx="7406640" cy="2336800"/>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4320">
                <a:solidFill>
                  <a:schemeClr val="tx1">
                    <a:tint val="82000"/>
                  </a:schemeClr>
                </a:solidFill>
              </a:defRPr>
            </a:lvl1pPr>
          </a:lstStyle>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7A5CEE75-9089-4E5A-AD9A-77A72F2B2B0A}"/>
              </a:ext>
            </a:extLst>
          </p:cNvPr>
          <p:cNvSpPr>
            <a:spLocks xmlns:a="http://schemas.openxmlformats.org/drawingml/2006/main" noGrp="1"/>
          </p:cNvSpPr>
          <p:nvPr>
            <p:ph type="ftr" idx="3"/>
          </p:nvPr>
        </p:nvSpPr>
        <p:spPr>
          <a:xfrm xmlns:a="http://schemas.openxmlformats.org/drawingml/2006/main">
            <a:off x="10904220" y="40680650"/>
            <a:ext cx="11109960" cy="2336800"/>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4320">
                <a:solidFill>
                  <a:schemeClr val="tx1">
                    <a:tint val="82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7750FE8E-09ED-4F2A-BB3C-EAF6149662D9}"/>
              </a:ext>
            </a:extLst>
          </p:cNvPr>
          <p:cNvSpPr>
            <a:spLocks xmlns:a="http://schemas.openxmlformats.org/drawingml/2006/main" noGrp="1"/>
          </p:cNvSpPr>
          <p:nvPr>
            <p:ph type="sldNum" idx="4"/>
          </p:nvPr>
        </p:nvSpPr>
        <p:spPr>
          <a:xfrm xmlns:a="http://schemas.openxmlformats.org/drawingml/2006/main">
            <a:off x="23248620" y="40680650"/>
            <a:ext cx="7406640" cy="2336800"/>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4320">
                <a:solidFill>
                  <a:schemeClr val="tx1">
                    <a:tint val="82000"/>
                  </a:schemeClr>
                </a:solidFill>
              </a:defRPr>
            </a:lvl1pPr>
          </a:lstStyle>
          <a:p xmlns:a="http://schemas.openxmlformats.org/drawingml/2006/main">
            <a:fld id="{14316D7E-2F23-4966-A851-A919AEFC70AC}"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8441b25be57431d"/>
    <p:sldLayoutId xmlns:r="http://schemas.openxmlformats.org/officeDocument/2006/relationships" id="2147483650" r:id="R5f7ff82592df4417"/>
    <p:sldLayoutId xmlns:r="http://schemas.openxmlformats.org/officeDocument/2006/relationships" id="2147483651" r:id="Rd28945967e884191"/>
    <p:sldLayoutId xmlns:r="http://schemas.openxmlformats.org/officeDocument/2006/relationships" id="2147483652" r:id="R1893651ac5de4da1"/>
    <p:sldLayoutId xmlns:r="http://schemas.openxmlformats.org/officeDocument/2006/relationships" id="2147483653" r:id="Rd5e4a120be014d77"/>
    <p:sldLayoutId xmlns:r="http://schemas.openxmlformats.org/officeDocument/2006/relationships" id="2147483654" r:id="R4c52a1a4801b4b6c"/>
    <p:sldLayoutId xmlns:r="http://schemas.openxmlformats.org/officeDocument/2006/relationships" id="2147483655" r:id="Ra1b67f3a0a4f4ced"/>
    <p:sldLayoutId xmlns:r="http://schemas.openxmlformats.org/officeDocument/2006/relationships" id="2147483656" r:id="R6bcd435dbdb944d5"/>
    <p:sldLayoutId xmlns:r="http://schemas.openxmlformats.org/officeDocument/2006/relationships" id="2147483657" r:id="Rbd9b9562e8c049db"/>
    <p:sldLayoutId xmlns:r="http://schemas.openxmlformats.org/officeDocument/2006/relationships" id="2147483658" r:id="R2e7b0e28df004b64"/>
    <p:sldLayoutId xmlns:r="http://schemas.openxmlformats.org/officeDocument/2006/relationships" id="2147483659" r:id="R92572661a29b4656"/>
  </p:sldLayoutIdLst>
  <p:txStyles>
    <p:titleStyle>
      <a:lvl1pPr xmlns:a="http://schemas.openxmlformats.org/drawingml/2006/main" algn="l" defTabSz="3291840">
        <a:lnSpc>
          <a:spcPct val="90000"/>
        </a:lnSpc>
        <a:spcBef>
          <a:spcPct val="0"/>
        </a:spcBef>
        <a:buNone/>
        <a:defRPr sz="15840" kern="1200">
          <a:solidFill>
            <a:schemeClr val="tx1"/>
          </a:solidFill>
          <a:latin typeface="+mj-lt"/>
          <a:ea typeface="+mj-lt"/>
          <a:cs typeface="+mj-lt"/>
        </a:defRPr>
      </a:lvl1pPr>
    </p:titleStyle>
    <p:bodyStyle>
      <a:lvl1pPr xmlns:a="http://schemas.openxmlformats.org/drawingml/2006/main" marL="822960" indent="-822960" algn="l" defTabSz="3291840">
        <a:lnSpc>
          <a:spcPct val="90000"/>
        </a:lnSpc>
        <a:spcBef>
          <a:spcPts val="3600"/>
        </a:spcBef>
        <a:buFont typeface="Arial"/>
        <a:buChar char="•"/>
        <a:defRPr sz="10080" kern="1200">
          <a:solidFill>
            <a:schemeClr val="tx1"/>
          </a:solidFill>
          <a:latin typeface="+mn-lt"/>
          <a:ea typeface="+mn-lt"/>
          <a:cs typeface="+mn-lt"/>
        </a:defRPr>
      </a:lvl1pPr>
      <a:lvl2pPr xmlns:a="http://schemas.openxmlformats.org/drawingml/2006/main" marL="2468880" indent="-822960" algn="l" defTabSz="3291840">
        <a:lnSpc>
          <a:spcPct val="90000"/>
        </a:lnSpc>
        <a:spcBef>
          <a:spcPts val="1800"/>
        </a:spcBef>
        <a:buFont typeface="Arial"/>
        <a:buChar char="•"/>
        <a:defRPr sz="8640" kern="1200">
          <a:solidFill>
            <a:schemeClr val="tx1"/>
          </a:solidFill>
          <a:latin typeface="+mn-lt"/>
          <a:ea typeface="+mn-lt"/>
          <a:cs typeface="+mn-lt"/>
        </a:defRPr>
      </a:lvl2pPr>
      <a:lvl3pPr xmlns:a="http://schemas.openxmlformats.org/drawingml/2006/main" marL="4114800" indent="-822960" algn="l" defTabSz="3291840">
        <a:lnSpc>
          <a:spcPct val="90000"/>
        </a:lnSpc>
        <a:spcBef>
          <a:spcPts val="1800"/>
        </a:spcBef>
        <a:buFont typeface="Arial"/>
        <a:buChar char="•"/>
        <a:defRPr sz="7200" kern="1200">
          <a:solidFill>
            <a:schemeClr val="tx1"/>
          </a:solidFill>
          <a:latin typeface="+mn-lt"/>
          <a:ea typeface="+mn-lt"/>
          <a:cs typeface="+mn-lt"/>
        </a:defRPr>
      </a:lvl3pPr>
      <a:lvl4pPr xmlns:a="http://schemas.openxmlformats.org/drawingml/2006/main" marL="5760720" indent="-822960" algn="l" defTabSz="3291840">
        <a:lnSpc>
          <a:spcPct val="90000"/>
        </a:lnSpc>
        <a:spcBef>
          <a:spcPts val="1800"/>
        </a:spcBef>
        <a:buFont typeface="Arial"/>
        <a:buChar char="•"/>
        <a:defRPr sz="6480" kern="1200">
          <a:solidFill>
            <a:schemeClr val="tx1"/>
          </a:solidFill>
          <a:latin typeface="+mn-lt"/>
          <a:ea typeface="+mn-lt"/>
          <a:cs typeface="+mn-lt"/>
        </a:defRPr>
      </a:lvl4pPr>
      <a:lvl5pPr xmlns:a="http://schemas.openxmlformats.org/drawingml/2006/main" marL="7406640" indent="-822960" algn="l" defTabSz="3291840">
        <a:lnSpc>
          <a:spcPct val="90000"/>
        </a:lnSpc>
        <a:spcBef>
          <a:spcPts val="1800"/>
        </a:spcBef>
        <a:buFont typeface="Arial"/>
        <a:buChar char="•"/>
        <a:defRPr sz="6480" kern="1200">
          <a:solidFill>
            <a:schemeClr val="tx1"/>
          </a:solidFill>
          <a:latin typeface="+mn-lt"/>
          <a:ea typeface="+mn-lt"/>
          <a:cs typeface="+mn-lt"/>
        </a:defRPr>
      </a:lvl5pPr>
      <a:lvl6pPr xmlns:a="http://schemas.openxmlformats.org/drawingml/2006/main" marL="9052560" indent="-822960" algn="l" defTabSz="3291840">
        <a:lnSpc>
          <a:spcPct val="90000"/>
        </a:lnSpc>
        <a:spcBef>
          <a:spcPts val="1800"/>
        </a:spcBef>
        <a:buFont typeface="Arial"/>
        <a:buChar char="•"/>
        <a:defRPr sz="6480" kern="1200">
          <a:solidFill>
            <a:schemeClr val="tx1"/>
          </a:solidFill>
          <a:latin typeface="+mn-lt"/>
          <a:ea typeface="+mn-lt"/>
          <a:cs typeface="+mn-lt"/>
        </a:defRPr>
      </a:lvl6pPr>
      <a:lvl7pPr xmlns:a="http://schemas.openxmlformats.org/drawingml/2006/main" marL="10698480" indent="-822960" algn="l" defTabSz="3291840">
        <a:lnSpc>
          <a:spcPct val="90000"/>
        </a:lnSpc>
        <a:spcBef>
          <a:spcPts val="1800"/>
        </a:spcBef>
        <a:buFont typeface="Arial"/>
        <a:buChar char="•"/>
        <a:defRPr sz="6480" kern="1200">
          <a:solidFill>
            <a:schemeClr val="tx1"/>
          </a:solidFill>
          <a:latin typeface="+mn-lt"/>
          <a:ea typeface="+mn-lt"/>
          <a:cs typeface="+mn-lt"/>
        </a:defRPr>
      </a:lvl7pPr>
      <a:lvl8pPr xmlns:a="http://schemas.openxmlformats.org/drawingml/2006/main" marL="12344400" indent="-822960" algn="l" defTabSz="3291840">
        <a:lnSpc>
          <a:spcPct val="90000"/>
        </a:lnSpc>
        <a:spcBef>
          <a:spcPts val="1800"/>
        </a:spcBef>
        <a:buFont typeface="Arial"/>
        <a:buChar char="•"/>
        <a:defRPr sz="6480" kern="1200">
          <a:solidFill>
            <a:schemeClr val="tx1"/>
          </a:solidFill>
          <a:latin typeface="+mn-lt"/>
          <a:ea typeface="+mn-lt"/>
          <a:cs typeface="+mn-lt"/>
        </a:defRPr>
      </a:lvl8pPr>
      <a:lvl9pPr xmlns:a="http://schemas.openxmlformats.org/drawingml/2006/main" marL="13990320" indent="-822960" algn="l" defTabSz="3291840">
        <a:lnSpc>
          <a:spcPct val="90000"/>
        </a:lnSpc>
        <a:spcBef>
          <a:spcPts val="1800"/>
        </a:spcBef>
        <a:buFont typeface="Arial"/>
        <a:buChar char="•"/>
        <a:defRPr sz="6480" kern="1200">
          <a:solidFill>
            <a:schemeClr val="tx1"/>
          </a:solidFill>
          <a:latin typeface="+mn-lt"/>
          <a:ea typeface="+mn-lt"/>
          <a:cs typeface="+mn-lt"/>
        </a:defRPr>
      </a:lvl9pPr>
    </p:bodyStyle>
    <p:otherStyle>
      <a:lvl1pPr xmlns:a="http://schemas.openxmlformats.org/drawingml/2006/main" marL="0" algn="l" defTabSz="3291840">
        <a:buNone/>
        <a:defRPr sz="6480" kern="1200">
          <a:solidFill>
            <a:schemeClr val="tx1"/>
          </a:solidFill>
          <a:latin typeface="+mn-lt"/>
          <a:ea typeface="+mn-lt"/>
          <a:cs typeface="+mn-lt"/>
        </a:defRPr>
      </a:lvl1pPr>
      <a:lvl2pPr xmlns:a="http://schemas.openxmlformats.org/drawingml/2006/main" marL="1645920" algn="l" defTabSz="3291840">
        <a:buNone/>
        <a:defRPr sz="6480" kern="1200">
          <a:solidFill>
            <a:schemeClr val="tx1"/>
          </a:solidFill>
          <a:latin typeface="+mn-lt"/>
          <a:ea typeface="+mn-lt"/>
          <a:cs typeface="+mn-lt"/>
        </a:defRPr>
      </a:lvl2pPr>
      <a:lvl3pPr xmlns:a="http://schemas.openxmlformats.org/drawingml/2006/main" marL="3291840" algn="l" defTabSz="3291840">
        <a:buNone/>
        <a:defRPr sz="6480" kern="1200">
          <a:solidFill>
            <a:schemeClr val="tx1"/>
          </a:solidFill>
          <a:latin typeface="+mn-lt"/>
          <a:ea typeface="+mn-lt"/>
          <a:cs typeface="+mn-lt"/>
        </a:defRPr>
      </a:lvl3pPr>
      <a:lvl4pPr xmlns:a="http://schemas.openxmlformats.org/drawingml/2006/main" marL="4937760" algn="l" defTabSz="3291840">
        <a:buNone/>
        <a:defRPr sz="6480" kern="1200">
          <a:solidFill>
            <a:schemeClr val="tx1"/>
          </a:solidFill>
          <a:latin typeface="+mn-lt"/>
          <a:ea typeface="+mn-lt"/>
          <a:cs typeface="+mn-lt"/>
        </a:defRPr>
      </a:lvl4pPr>
      <a:lvl5pPr xmlns:a="http://schemas.openxmlformats.org/drawingml/2006/main" marL="6583680" algn="l" defTabSz="3291840">
        <a:buNone/>
        <a:defRPr sz="6480" kern="1200">
          <a:solidFill>
            <a:schemeClr val="tx1"/>
          </a:solidFill>
          <a:latin typeface="+mn-lt"/>
          <a:ea typeface="+mn-lt"/>
          <a:cs typeface="+mn-lt"/>
        </a:defRPr>
      </a:lvl5pPr>
      <a:lvl6pPr xmlns:a="http://schemas.openxmlformats.org/drawingml/2006/main" marL="8229600" algn="l" defTabSz="3291840">
        <a:buNone/>
        <a:defRPr sz="6480" kern="1200">
          <a:solidFill>
            <a:schemeClr val="tx1"/>
          </a:solidFill>
          <a:latin typeface="+mn-lt"/>
          <a:ea typeface="+mn-lt"/>
          <a:cs typeface="+mn-lt"/>
        </a:defRPr>
      </a:lvl6pPr>
      <a:lvl7pPr xmlns:a="http://schemas.openxmlformats.org/drawingml/2006/main" marL="9875520" algn="l" defTabSz="3291840">
        <a:buNone/>
        <a:defRPr sz="6480" kern="1200">
          <a:solidFill>
            <a:schemeClr val="tx1"/>
          </a:solidFill>
          <a:latin typeface="+mn-lt"/>
          <a:ea typeface="+mn-lt"/>
          <a:cs typeface="+mn-lt"/>
        </a:defRPr>
      </a:lvl7pPr>
      <a:lvl8pPr xmlns:a="http://schemas.openxmlformats.org/drawingml/2006/main" marL="11521440" algn="l" defTabSz="3291840">
        <a:buNone/>
        <a:defRPr sz="6480" kern="1200">
          <a:solidFill>
            <a:schemeClr val="tx1"/>
          </a:solidFill>
          <a:latin typeface="+mn-lt"/>
          <a:ea typeface="+mn-lt"/>
          <a:cs typeface="+mn-lt"/>
        </a:defRPr>
      </a:lvl8pPr>
      <a:lvl9pPr xmlns:a="http://schemas.openxmlformats.org/drawingml/2006/main" marL="13167360" algn="l" defTabSz="3291840">
        <a:buNone/>
        <a:defRPr sz="648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Relationships xmlns="http://schemas.openxmlformats.org/package/2006/relationships"><Relationship Type="http://schemas.openxmlformats.org/officeDocument/2006/relationships/slideLayout" Target="/ppt/slideLayouts/slideLayout1.xml" Id="R0f6c527d4bb845b7"/><Relationship Type="http://schemas.openxmlformats.org/officeDocument/2006/relationships/image" Target="/ppt/media/image.png" Id="R62d1fdb73ec24b6f"/><Relationship Type="http://schemas.openxmlformats.org/officeDocument/2006/relationships/image" Target="/ppt/media/image.svg" Id="Ra4e8406e62434cb3"/><Relationship Type="http://schemas.openxmlformats.org/officeDocument/2006/relationships/image" Target="/ppt/media/image2.png" Id="R4e3d5f9419fb421f"/><Relationship Type="http://schemas.openxmlformats.org/officeDocument/2006/relationships/chart" Target="/ppt/slides/charts/chart1.xml" Id="Rca1ac46396b840f1"/><Relationship Type="http://schemas.openxmlformats.org/officeDocument/2006/relationships/chart" Target="/ppt/slides/charts/chart2.xml" Id="R47fedaccb9b14b88"/><Relationship Type="http://schemas.openxmlformats.org/officeDocument/2006/relationships/notesSlide" Target="/ppt/notesSlides/notesSlide1.xml" Id="Rbe9344e5789740f8"/><Relationship Type="http://schemas.openxmlformats.org/officeDocument/2006/relationships/image" Target="../media/reactive-polish-1.png" Id="rIdReactive1"/><Relationship Type="http://schemas.openxmlformats.org/officeDocument/2006/relationships/image" Target="../media/reactive-polish-2.svg" Id="rIdReactive2"/><Relationship Type="http://schemas.openxmlformats.org/officeDocument/2006/relationships/image" Target="../media/reactive-polish-3.png" Id="rIdReactive3"/><Relationship Type="http://schemas.openxmlformats.org/officeDocument/2006/relationships/image" Target="../media/reactive-polish-4.svg" Id="rIdReactive4"/><Relationship Type="http://schemas.openxmlformats.org/officeDocument/2006/relationships/image" Target="../media/reactive-turn800-1.png" Id="rIdTurn8001"/><Relationship Type="http://schemas.openxmlformats.org/officeDocument/2006/relationships/image" Target="../media/reactive-turn800-2.svg" Id="rIdTurn8002"/></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c:lang val="en-US"/>
  <c:chart>
    <c:plotArea>
      <c:layout>
        <c:manualLayout>
          <c:layoutTarget val="inner"/>
          <c:xMode val="edge"/>
          <c:yMode val="edge"/>
          <c:wMode val="factor"/>
          <c:hMode val="factor"/>
          <c:x val="0.12"/>
          <c:y val="0.02773109243697479"/>
          <c:w val="0.86"/>
          <c:h val="0.8226890756302521"/>
        </c:manualLayout>
      </c:layout>
      <c:barChart>
        <c:barDir val="bar"/>
        <c:grouping val="clustered"/>
        <c:varyColors val="0"/>
        <c:ser>
          <c:idx val="0"/>
          <c:order val="0"/>
          <c:tx>
            <c:v>Checked</c:v>
          </c:tx>
          <c:spPr>
            <a:solidFill xmlns:a="http://schemas.openxmlformats.org/drawingml/2006/main">
              <a:srgbClr val="F6C04E"/>
            </a:solidFill>
          </c:spPr>
          <c:dPt>
            <c:idx val="0"/>
            <c:invertIfNegative val="0"/>
            <c:spPr>
              <a:solidFill xmlns:a="http://schemas.openxmlformats.org/drawingml/2006/main">
                <a:srgbClr val="4D77CF"/>
              </a:solidFill>
            </c:spPr>
          </c:dPt>
          <c:dPt>
            <c:idx val="1"/>
            <c:invertIfNegative val="0"/>
            <c:spPr>
              <a:solidFill xmlns:a="http://schemas.openxmlformats.org/drawingml/2006/main">
                <a:srgbClr val="B44768"/>
              </a:solidFill>
            </c:spPr>
          </c:dPt>
          <c:dPt>
            <c:idx val="2"/>
            <c:invertIfNegative val="0"/>
            <c:spPr>
              <a:solidFill xmlns:a="http://schemas.openxmlformats.org/drawingml/2006/main">
                <a:srgbClr val="9558B2"/>
              </a:solidFill>
            </c:spPr>
          </c:dPt>
          <c:dPt>
            <c:idx val="3"/>
            <c:invertIfNegative val="0"/>
            <c:spPr>
              <a:solidFill xmlns:a="http://schemas.openxmlformats.org/drawingml/2006/main">
                <a:srgbClr val="FF7A1A"/>
              </a:solidFill>
            </c:spPr>
          </c:dPt>
          <c:dPt>
            <c:idx val="4"/>
            <c:invertIfNegative val="0"/>
            <c:spPr>
              <a:solidFill xmlns:a="http://schemas.openxmlformats.org/drawingml/2006/main">
                <a:srgbClr val="DEA584"/>
              </a:solidFill>
            </c:spPr>
          </c:dPt>
          <c:dPt>
            <c:idx val="5"/>
            <c:invertIfNegative val="0"/>
            <c:spPr>
              <a:solidFill xmlns:a="http://schemas.openxmlformats.org/drawingml/2006/main">
                <a:srgbClr val="F6C04E"/>
              </a:solidFill>
            </c:spPr>
          </c:dPt>
          <c:cat>
            <c:strRef>
              <c:f>'Chart Data'!$A$2:$A$7</c:f>
              <c:strCache>
                <c:ptCount val="6"/>
                <c:pt idx="0">
                  <c:v>Numba</c:v>
                </c:pt>
                <c:pt idx="1">
                  <c:v>Futhark</c:v>
                </c:pt>
                <c:pt idx="2">
                  <c:v>Julia</c:v>
                </c:pt>
                <c:pt idx="3">
                  <c:v>Mojo</c:v>
                </c:pt>
                <c:pt idx="4">
                  <c:v>Rust</c:v>
                </c:pt>
                <c:pt idx="5">
                  <c:v>Mech</c:v>
                </c:pt>
              </c:strCache>
            </c:strRef>
          </c:cat>
          <c:val>
            <c:numRef>
              <c:f>'Chart Data'!$B$2:$B$7</c:f>
              <c:numCache>
                <c:formatCode>0</c:formatCode>
                <c:ptCount val="6"/>
                <c:pt idx="0">
                  <c:v>79.3803</c:v>
                </c:pt>
                <c:pt idx="1">
                  <c:v>97.897</c:v>
                </c:pt>
                <c:pt idx="2">
                  <c:v>129.0474</c:v>
                </c:pt>
                <c:pt idx="3">
                  <c:v>119.2909</c:v>
                </c:pt>
                <c:pt idx="4">
                  <c:v>149.941070295</c:v>
                </c:pt>
                <c:pt idx="5">
                  <c:v>151.323</c:v>
                </c:pt>
              </c:numCache>
            </c:numRef>
          </c:val>
        </c:ser>
        <c:ser>
          <c:idx val="1"/>
          <c:order val="1"/>
          <c:tx>
            <c:v>Unchecked</c:v>
          </c:tx>
          <c:spPr>
            <a:solidFill xmlns:a="http://schemas.openxmlformats.org/drawingml/2006/main">
              <a:srgbClr val="F6C04E"/>
            </a:solidFill>
          </c:spPr>
          <c:dPt>
            <c:idx val="0"/>
            <c:invertIfNegative val="0"/>
            <c:spPr>
              <a:solidFill xmlns:a="http://schemas.openxmlformats.org/drawingml/2006/main">
                <a:srgbClr val="4D77CF">
                  <a:alpha val="45000"/>
                </a:srgbClr>
              </a:solidFill>
            </c:spPr>
          </c:dPt>
          <c:dPt>
            <c:idx val="1"/>
            <c:invertIfNegative val="0"/>
            <c:spPr>
              <a:solidFill xmlns:a="http://schemas.openxmlformats.org/drawingml/2006/main">
                <a:srgbClr val="7A304A"/>
              </a:solidFill>
            </c:spPr>
          </c:dPt>
          <c:dPt>
            <c:idx val="2"/>
            <c:invertIfNegative val="0"/>
            <c:spPr>
              <a:solidFill xmlns:a="http://schemas.openxmlformats.org/drawingml/2006/main">
                <a:srgbClr val="9558B2">
                  <a:alpha val="45000"/>
                </a:srgbClr>
              </a:solidFill>
            </c:spPr>
          </c:dPt>
          <c:dPt>
            <c:idx val="3"/>
            <c:invertIfNegative val="0"/>
            <c:spPr>
              <a:solidFill xmlns:a="http://schemas.openxmlformats.org/drawingml/2006/main">
                <a:srgbClr val="FF7A1A">
                  <a:alpha val="45000"/>
                </a:srgbClr>
              </a:solidFill>
            </c:spPr>
          </c:dPt>
          <c:dPt>
            <c:idx val="4"/>
            <c:invertIfNegative val="0"/>
            <c:spPr>
              <a:solidFill xmlns:a="http://schemas.openxmlformats.org/drawingml/2006/main">
                <a:srgbClr val="A65335">
                  <a:alpha val="45000"/>
                </a:srgbClr>
              </a:solidFill>
            </c:spPr>
          </c:dPt>
          <c:dPt>
            <c:idx val="5"/>
            <c:invertIfNegative val="0"/>
            <c:spPr>
              <a:solidFill xmlns:a="http://schemas.openxmlformats.org/drawingml/2006/main">
                <a:srgbClr val="996900"/>
              </a:solidFill>
            </c:spPr>
          </c:dPt>
          <c:cat>
            <c:strRef>
              <c:f>'Chart Data'!$C$2:$C$7</c:f>
              <c:strCache>
                <c:ptCount val="6"/>
                <c:pt idx="0">
                  <c:v>Numba</c:v>
                </c:pt>
                <c:pt idx="1">
                  <c:v>Futhark</c:v>
                </c:pt>
                <c:pt idx="2">
                  <c:v>Julia</c:v>
                </c:pt>
                <c:pt idx="3">
                  <c:v>Mojo</c:v>
                </c:pt>
                <c:pt idx="4">
                  <c:v>Rust</c:v>
                </c:pt>
                <c:pt idx="5">
                  <c:v>Mech</c:v>
                </c:pt>
              </c:strCache>
            </c:strRef>
          </c:cat>
          <c:val>
            <c:numRef>
              <c:f>'Chart Data'!$D$2:$D$7</c:f>
              <c:numCache>
                <c:formatCode>0</c:formatCode>
                <c:ptCount val="6"/>
                <c:pt idx="0">
                  <c:v>81.557</c:v>
                </c:pt>
                <c:pt idx="1">
                  <c:v>149.9313</c:v>
                </c:pt>
                <c:pt idx="2">
                  <c:v>136.4017</c:v>
                </c:pt>
                <c:pt idx="3">
                  <c:v>128.1522</c:v>
                </c:pt>
                <c:pt idx="4">
                  <c:v>170.4901536685</c:v>
                </c:pt>
                <c:pt idx="5">
                  <c:v>184.1365</c:v>
                </c:pt>
              </c:numCache>
            </c:numRef>
          </c:val>
        </c:ser>
        <c:dLbls>
          <c:txPr>
            <a:bodyPr xmlns:a="http://schemas.openxmlformats.org/drawingml/2006/main" anchorCtr="1"/>
            <a:lstStyle xmlns:a="http://schemas.openxmlformats.org/drawingml/2006/main"/>
            <a:p xmlns:a="http://schemas.openxmlformats.org/drawingml/2006/main">
              <a:pPr>
                <a:defRPr sz="2025">
                  <a:solidFill>
                    <a:srgbClr val="E8EDF0"/>
                  </a:solidFill>
                  <a:latin typeface="Segoe UI"/>
                  <a:ea typeface="Segoe UI"/>
                  <a:cs typeface="Segoe UI"/>
                </a:defRPr>
              </a:pPr>
            </a:p>
          </c:txPr>
          <c:dLblPos val="outEnd"/>
          <c:showLegendKey val="0"/>
          <c:showVal val="0"/>
          <c:showCatName val="0"/>
          <c:showSerName val="0"/>
          <c:showPercent val="0"/>
          <c:showBubbleSize val="0"/>
          <c:showLeaderLines val="0"/>
        </c:dLbls>
        <c:gapWidth val="55"/>
        <c:overlap val="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2175">
                <a:solidFill>
                  <a:srgbClr val="E8EDF0"/>
                </a:solidFill>
                <a:latin typeface="Segoe UI"/>
                <a:ea typeface="Segoe UI"/>
                <a:cs typeface="Segoe UI"/>
              </a:defRPr>
            </a:pPr>
          </a:p>
        </c:txPr>
        <c:crossAx val="48672768"/>
      </c:catAx>
      <c:valAx>
        <c:axId val="48672768"/>
        <c:scaling>
          <c:orientation val="minMax"/>
          <c:max val="220"/>
          <c:min val="0"/>
        </c:scaling>
        <c:delete val="0"/>
        <c:axPos val="b"/>
        <c:title>
          <c:tx>
            <c:rich>
              <a:bodyPr xmlns:a="http://schemas.openxmlformats.org/drawingml/2006/main"/>
              <a:lstStyle xmlns:a="http://schemas.openxmlformats.org/drawingml/2006/main"/>
              <a:p xmlns:a="http://schemas.openxmlformats.org/drawingml/2006/main">
                <a:r>
                  <a:rPr sz="1950">
                    <a:solidFill>
                      <a:srgbClr val="A4BAC8"/>
                    </a:solidFill>
                    <a:latin typeface="Segoe UI"/>
                    <a:ea typeface="Segoe UI"/>
                    <a:cs typeface="Segoe UI"/>
                  </a:rPr>
                  <a:t>Throughput (million filter-turns/s, linear scale)</a:t>
                </a:r>
              </a:p>
            </c:rich>
          </c:tx>
          <c:overlay val="0"/>
          <c:txPr>
            <a:bodyPr xmlns:a="http://schemas.openxmlformats.org/drawingml/2006/main" anchorCtr="1"/>
            <a:lstStyle xmlns:a="http://schemas.openxmlformats.org/drawingml/2006/main"/>
            <a:p xmlns:a="http://schemas.openxmlformats.org/drawingml/2006/main">
              <a:pPr>
                <a:defRPr sz="1950">
                  <a:solidFill>
                    <a:srgbClr val="A4BAC8"/>
                  </a:solidFill>
                  <a:latin typeface="Segoe UI"/>
                  <a:ea typeface="Segoe UI"/>
                  <a:cs typeface="Segoe UI"/>
                </a:defRPr>
              </a:pPr>
            </a:p>
          </c:txPr>
        </c:title>
        <c:numFmt formatCode="0"/>
        <c:majorTickMark val="none"/>
        <c:minorTickMark val="none"/>
        <c:spPr>
          <a:ln xmlns:a="http://schemas.openxmlformats.org/drawingml/2006/main" w="9525">
            <a:solidFill>
              <a:srgbClr val="354650"/>
            </a:solidFill>
          </a:ln>
        </c:spPr>
        <c:txPr>
          <a:bodyPr xmlns:a="http://schemas.openxmlformats.org/drawingml/2006/main" anchorCtr="1"/>
          <a:lstStyle xmlns:a="http://schemas.openxmlformats.org/drawingml/2006/main"/>
          <a:p xmlns:a="http://schemas.openxmlformats.org/drawingml/2006/main">
            <a:pPr>
              <a:defRPr sz="1950">
                <a:solidFill>
                  <a:srgbClr val="E8EDF0"/>
                </a:solidFill>
                <a:latin typeface="Segoe UI"/>
                <a:ea typeface="Segoe UI"/>
                <a:cs typeface="Segoe UI"/>
              </a:defRPr>
            </a:pPr>
          </a:p>
        </c:txPr>
        <c:crossAx val="48650112"/>
        <c:crossBetween val="between"/>
        <c:majorUnit val="50"/>
      </c:valAx>
      <c:spPr>
        <a:solidFill xmlns:a="http://schemas.openxmlformats.org/drawingml/2006/main">
          <a:srgbClr val="0B1113"/>
        </a:solidFill>
        <a:ln xmlns:a="http://schemas.openxmlformats.org/drawingml/2006/main" w="0">
          <a:noFill/>
        </a:ln>
      </c:spPr>
    </c:plotArea>
    <c:plotVisOnly val="1"/>
  </c:chart>
  <c:spPr>
    <a:solidFill xmlns:a="http://schemas.openxmlformats.org/drawingml/2006/main">
      <a:srgbClr val="0B1113"/>
    </a:solidFill>
    <a:ln xmlns:a="http://schemas.openxmlformats.org/drawingml/2006/main" w="0">
      <a:noFill/>
    </a:ln>
  </c:spPr>
  <c:externalData xmlns:r="http://schemas.openxmlformats.org/officeDocument/2006/relationships" r:id="rIdChartSnapshot1">
    <c:autoUpdate val="0"/>
  </c:externalData>
</c:chartSpace>
</file>

<file path=ppt/slides/charts/chart2.xml><?xml version="1.0" encoding="utf-8"?>
<c:chartSpace xmlns:c="http://schemas.openxmlformats.org/drawingml/2006/chart" xmlns:a="http://schemas.openxmlformats.org/drawingml/2006/main" xmlns:r="http://schemas.openxmlformats.org/officeDocument/2006/relationships">
  <c:lang val="en-US"/>
  <c:chart>
    <c:plotArea>
      <c:layout>
        <c:manualLayout>
          <c:layoutTarget val="inner"/>
          <c:xMode val="edge"/>
          <c:yMode val="edge"/>
          <c:wMode val="factor"/>
          <c:hMode val="factor"/>
          <c:x val="0.2"/>
          <c:y val="0.02773109243697479"/>
          <c:w val="0.68"/>
          <c:h val="0.8226890756302521"/>
        </c:manualLayout>
      </c:layout>
      <c:barChart>
        <c:barDir val="bar"/>
        <c:grouping val="clustered"/>
        <c:varyColors val="0"/>
        <c:ser>
          <c:idx val="0"/>
          <c:order val="0"/>
          <c:tx>
            <c:v>Checked</c:v>
          </c:tx>
          <c:spPr>
            <a:solidFill xmlns:a="http://schemas.openxmlformats.org/drawingml/2006/main">
              <a:srgbClr val="F6C04E"/>
            </a:solidFill>
          </c:spPr>
          <c:invertIfNegative val="0"/>
          <c:dPt>
            <c:idx val="0"/>
            <c:invertIfNegative val="0"/>
            <c:spPr>
              <a:solidFill>
                <a:srgbClr val="F6C04E"/>
              </a:solidFill>
              <a:ln w="0">
                <a:noFill/>
              </a:ln>
            </c:spPr>
          </c:dPt>
          <c:dPt>
            <c:idx val="4"/>
            <c:invertIfNegative val="0"/>
            <c:spPr>
              <a:pattFill xmlns:a="http://schemas.openxmlformats.org/drawingml/2006/main" prst="upDiag">
                <a:fgClr>
                  <a:srgbClr val="D9A637"/>
                </a:fgClr>
                <a:bgClr>
                  <a:srgbClr val="F6C04E"/>
                </a:bgClr>
              </a:pattFill>
            </c:spPr>
          </c:dPt>
          <c:cat>
            <c:strRef>
              <c:f>'Chart Data'!$A$2:$A$6</c:f>
              <c:strCache>
                <c:ptCount val="5"/>
                <c:pt idx="0">
                  <c:v>Interpreter</c:v>
                </c:pt>
                <c:pt idx="1">
                  <c:v>Scalar JIT</c:v>
                </c:pt>
                <c:pt idx="2">
                  <c:v>SIMD AOT 1w</c:v>
                </c:pt>
                <c:pt idx="3">
                  <c:v>SIMD JIT 8w</c:v>
                </c:pt>
                <c:pt idx="4">
                  <c:v>Metal GPU</c:v>
                </c:pt>
              </c:strCache>
            </c:strRef>
          </c:cat>
          <c:val>
            <c:numRef>
              <c:f>'Chart Data'!$B$2:$B$6</c:f>
              <c:numCache>
                <c:formatCode>0.###</c:formatCode>
                <c:ptCount val="5"/>
                <c:pt idx="0">
                  <c:v>0.695042</c:v>
                </c:pt>
                <c:pt idx="1">
                  <c:v>13.224084</c:v>
                </c:pt>
                <c:pt idx="2">
                  <c:v>34.6166</c:v>
                </c:pt>
                <c:pt idx="3">
                  <c:v>121.071176</c:v>
                </c:pt>
                <c:pt idx="4">
                  <c:v>420.896166</c:v>
                </c:pt>
              </c:numCache>
            </c:numRef>
          </c:val>
        </c:ser>
        <c:ser>
          <c:idx val="1"/>
          <c:order val="1"/>
          <c:tx>
            <c:v>Unchecked</c:v>
          </c:tx>
          <c:spPr>
            <a:solidFill xmlns:a="http://schemas.openxmlformats.org/drawingml/2006/main">
              <a:srgbClr val="996900"/>
            </a:solidFill>
          </c:spPr>
          <c:invertIfNegative val="0"/>
          <c:dPt>
            <c:idx val="0"/>
            <c:invertIfNegative val="0"/>
            <c:spPr>
              <a:solidFill>
                <a:srgbClr val="996900"/>
              </a:solidFill>
              <a:ln w="0">
                <a:noFill/>
              </a:ln>
            </c:spPr>
          </c:dPt>
          <c:dPt>
            <c:idx val="4"/>
            <c:invertIfNegative val="0"/>
            <c:spPr>
              <a:pattFill xmlns:a="http://schemas.openxmlformats.org/drawingml/2006/main" prst="upDiag">
                <a:fgClr>
                  <a:srgbClr val="6B4A00"/>
                </a:fgClr>
                <a:bgClr>
                  <a:srgbClr val="996900"/>
                </a:bgClr>
              </a:pattFill>
            </c:spPr>
          </c:dPt>
          <c:cat>
            <c:strRef>
              <c:f>'Chart Data'!$C$2:$C$6</c:f>
              <c:strCache>
                <c:ptCount val="5"/>
                <c:pt idx="0">
                  <c:v>Interpreter</c:v>
                </c:pt>
                <c:pt idx="1">
                  <c:v>Scalar JIT</c:v>
                </c:pt>
                <c:pt idx="2">
                  <c:v>SIMD AOT 1w</c:v>
                </c:pt>
                <c:pt idx="3">
                  <c:v>SIMD JIT 8w</c:v>
                </c:pt>
                <c:pt idx="4">
                  <c:v>Metal GPU</c:v>
                </c:pt>
              </c:strCache>
            </c:strRef>
          </c:cat>
          <c:val>
            <c:numRef>
              <c:f>'Chart Data'!$D$2:$D$6</c:f>
              <c:numCache>
                <c:formatCode>0.###</c:formatCode>
                <c:ptCount val="5"/>
                <c:pt idx="0">
                  <c:v>0.827887</c:v>
                </c:pt>
                <c:pt idx="1">
                  <c:v>15.948694</c:v>
                </c:pt>
                <c:pt idx="2">
                  <c:v>37.059153</c:v>
                </c:pt>
                <c:pt idx="3">
                  <c:v>141.645028</c:v>
                </c:pt>
                <c:pt idx="4">
                  <c:v>420.74678</c:v>
                </c:pt>
              </c:numCache>
            </c:numRef>
          </c:val>
        </c:ser>
        <c:dLbls>
          <c:txPr>
            <a:bodyPr xmlns:a="http://schemas.openxmlformats.org/drawingml/2006/main" anchorCtr="1"/>
            <a:lstStyle xmlns:a="http://schemas.openxmlformats.org/drawingml/2006/main"/>
            <a:p xmlns:a="http://schemas.openxmlformats.org/drawingml/2006/main">
              <a:pPr>
                <a:defRPr sz="2025">
                  <a:solidFill>
                    <a:srgbClr val="E8EDF0"/>
                  </a:solidFill>
                  <a:latin typeface="Segoe UI"/>
                  <a:ea typeface="Segoe UI"/>
                  <a:cs typeface="Segoe UI"/>
                </a:defRPr>
              </a:pPr>
            </a:p>
          </c:txPr>
          <c:dLblPos val="outEnd"/>
          <c:showLegendKey val="0"/>
          <c:showVal val="0"/>
          <c:showCatName val="0"/>
          <c:showSerName val="0"/>
          <c:showPercent val="0"/>
          <c:showBubbleSize val="0"/>
          <c:showLeaderLines val="0"/>
        </c:dLbls>
        <c:gapWidth val="55"/>
        <c:overlap val="0"/>
        <c:axId val="48650112"/>
        <c:axId val="48672768"/>
      </c:barChart>
      <c:catAx>
        <c:axId val="48650112"/>
        <c:scaling>
          <c:orientation val="minMax"/>
        </c:scaling>
        <c:delete val="0"/>
        <c:axPos val="l"/>
        <c:numFmt formatCode="General"/>
        <c:majorTickMark val="none"/>
        <c:minorTickMark val="none"/>
        <c:tickLblPos val="low"/>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2175">
                <a:solidFill>
                  <a:srgbClr val="E8EDF0"/>
                </a:solidFill>
                <a:latin typeface="Segoe UI"/>
                <a:ea typeface="Segoe UI"/>
                <a:cs typeface="Segoe UI"/>
              </a:defRPr>
            </a:pPr>
          </a:p>
        </c:txPr>
        <c:crossAx val="48672768"/>
        <c:crosses val="min"/>
      </c:catAx>
      <c:valAx>
        <c:axId val="48672768"/>
        <c:scaling>
          <c:logBase val="10"/>
          <c:orientation val="minMax"/>
          <c:max val="1000"/>
          <c:min val="0.1"/>
        </c:scaling>
        <c:delete val="0"/>
        <c:axPos val="b"/>
        <c:title>
          <c:tx>
            <c:rich>
              <a:bodyPr xmlns:a="http://schemas.openxmlformats.org/drawingml/2006/main"/>
              <a:lstStyle xmlns:a="http://schemas.openxmlformats.org/drawingml/2006/main"/>
              <a:p xmlns:a="http://schemas.openxmlformats.org/drawingml/2006/main">
                <a:r>
                  <a:rPr sz="1950">
                    <a:solidFill>
                      <a:srgbClr val="A4BAC8"/>
                    </a:solidFill>
                    <a:latin typeface="Segoe UI"/>
                    <a:ea typeface="Segoe UI"/>
                    <a:cs typeface="Segoe UI"/>
                  </a:rPr>
                  <a:t>Throughput (million filter-turns/s, logarithmic scale)</a:t>
                </a:r>
              </a:p>
            </c:rich>
          </c:tx>
          <c:overlay val="0"/>
          <c:txPr>
            <a:bodyPr xmlns:a="http://schemas.openxmlformats.org/drawingml/2006/main" anchorCtr="1"/>
            <a:lstStyle xmlns:a="http://schemas.openxmlformats.org/drawingml/2006/main"/>
            <a:p xmlns:a="http://schemas.openxmlformats.org/drawingml/2006/main">
              <a:pPr>
                <a:defRPr sz="1950">
                  <a:solidFill>
                    <a:srgbClr val="A4BAC8"/>
                  </a:solidFill>
                  <a:latin typeface="Segoe UI"/>
                  <a:ea typeface="Segoe UI"/>
                  <a:cs typeface="Segoe UI"/>
                </a:defRPr>
              </a:pPr>
            </a:p>
          </c:txPr>
        </c:title>
        <c:numFmt formatCode="General" sourceLinked="0"/>
        <c:majorTickMark val="none"/>
        <c:minorTickMark val="none"/>
        <c:tickLblPos val="low"/>
        <c:spPr>
          <a:ln xmlns:a="http://schemas.openxmlformats.org/drawingml/2006/main" w="9525">
            <a:solidFill>
              <a:srgbClr val="354650"/>
            </a:solidFill>
          </a:ln>
        </c:spPr>
        <c:txPr>
          <a:bodyPr xmlns:a="http://schemas.openxmlformats.org/drawingml/2006/main" anchorCtr="1"/>
          <a:lstStyle xmlns:a="http://schemas.openxmlformats.org/drawingml/2006/main"/>
          <a:p xmlns:a="http://schemas.openxmlformats.org/drawingml/2006/main">
            <a:pPr>
              <a:defRPr sz="1950">
                <a:solidFill>
                  <a:srgbClr val="E8EDF0"/>
                </a:solidFill>
                <a:latin typeface="Segoe UI"/>
                <a:ea typeface="Segoe UI"/>
                <a:cs typeface="Segoe UI"/>
              </a:defRPr>
            </a:pPr>
          </a:p>
        </c:txPr>
        <c:crossAx val="48650112"/>
        <c:crossesAt val="0.1"/>
        <c:crossBetween val="between"/>
      </c:valAx>
      <c:spPr>
        <a:solidFill xmlns:a="http://schemas.openxmlformats.org/drawingml/2006/main">
          <a:srgbClr val="0B1113"/>
        </a:solidFill>
        <a:ln xmlns:a="http://schemas.openxmlformats.org/drawingml/2006/main" w="0">
          <a:noFill/>
        </a:ln>
      </c:spPr>
    </c:plotArea>
    <c:plotVisOnly val="1"/>
  </c:chart>
  <c:spPr>
    <a:solidFill xmlns:a="http://schemas.openxmlformats.org/drawingml/2006/main">
      <a:srgbClr val="0B1113"/>
    </a:solidFill>
    <a:ln xmlns:a="http://schemas.openxmlformats.org/drawingml/2006/main" w="0">
      <a:noFill/>
    </a:ln>
  </c:spPr>
  <c:externalData xmlns:r="http://schemas.openxmlformats.org/officeDocument/2006/relationships" r:id="rIdChartSnapshot1">
    <c:autoUpdate val="0"/>
  </c:externalData>
</c:chartSpace>
</file>

<file path=ppt/slides/slide1.xml><?xml version="1.0" encoding="utf-8"?>
<p:sld xmlns:p="http://schemas.openxmlformats.org/presentationml/2006/main" xmlns:a="http://schemas.openxmlformats.org/drawingml/2006/main">
  <p:cSld>
    <p:bg>
      <p:bgPr>
        <a:solidFill xmlns:a="http://schemas.openxmlformats.org/drawingml/2006/main">
          <a:srgbClr val="0C1013"/>
        </a:solidFill>
      </p:bgPr>
    </p:bg>
    <p:spTree>
      <p:nvGrpSpPr>
        <p:cNvPr id="1" name=""/>
        <p:cNvGrpSpPr/>
        <p:nvPr/>
      </p:nvGrpSpPr>
      <p:grpSpPr>
        <a:xfrm xmlns:a="http://schemas.openxmlformats.org/drawingml/2006/main"/>
      </p:grpSpPr>
      <p:sp>
        <p:nvSpPr>
          <p:cNvPr id="18" name="TextBox 17">
            <a:extLst xmlns:a="http://schemas.openxmlformats.org/drawingml/2006/main">
              <a:ext uri="{FF2B5EF4-FFF2-40B4-BE49-F238E27FC236}">
                <a16:creationId xmlns:a16="http://schemas.microsoft.com/office/drawing/2014/main" id="{2D715585-8F8F-5365-3DFF-70D76248F5EA}"/>
              </a:ext>
            </a:extLst>
          </p:cNvPr>
          <p:cNvSpPr>
            <a:spLocks xmlns:a="http://schemas.openxmlformats.org/drawingml/2006/main" noGrp="1"/>
          </p:cNvSpPr>
          <p:nvPr/>
        </p:nvSpPr>
        <p:spPr>
          <a:xfrm xmlns:a="http://schemas.openxmlformats.org/drawingml/2006/main" rot="0" flipH="0" flipV="0">
            <a:off x="10381577" y="808326"/>
            <a:ext cx="21681420" cy="3785652"/>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7600">
                <a:solidFill>
                  <a:srgbClr val="FFFFFF"/>
                </a:solidFill>
                <a:latin typeface="Fira Code"/>
                <a:ea typeface="Fira Code"/>
                <a:cs typeface="Fira Code"/>
              </a:rPr>
              <a:t xml:space="preserve">A Rust-Native </a:t>
            </a:r>
            <a:r>
              <a:rPr sz="7600">
                <a:solidFill>
                  <a:srgbClr val="3DA98C"/>
                </a:solidFill>
                <a:latin typeface="Fira Code"/>
                <a:ea typeface="Fira Code"/>
                <a:cs typeface="Fira Code"/>
              </a:rPr>
              <a:t xml:space="preserve">Embeddable</a:t>
            </a:r>
            <a:r>
              <a:rPr sz="7600">
                <a:solidFill>
                  <a:srgbClr val="FFFFFF"/>
                </a:solidFill>
                <a:latin typeface="Fira Code"/>
                <a:ea typeface="Fira Code"/>
                <a:cs typeface="Fira Code"/>
              </a:rPr>
              <a:t xml:space="preserve"> </a:t>
            </a:r>
            <a:r>
              <a:rPr sz="7600">
                <a:solidFill>
                  <a:srgbClr val="D18FC8"/>
                </a:solidFill>
                <a:latin typeface="Fira Code"/>
                <a:ea typeface="Fira Code"/>
                <a:cs typeface="Fira Code"/>
              </a:rPr>
              <a:t xml:space="preserve">Reactive </a:t>
            </a:r>
          </a:p>
          <a:p xmlns:a="http://schemas.openxmlformats.org/drawingml/2006/main">
            <a:r>
              <a:rPr sz="7600">
                <a:solidFill>
                  <a:srgbClr val="80C8FF"/>
                </a:solidFill>
                <a:latin typeface="Fira Code"/>
                <a:ea typeface="Fira Code"/>
                <a:cs typeface="Fira Code"/>
              </a:rPr>
              <a:t xml:space="preserve">Numerical</a:t>
            </a:r>
            <a:r>
              <a:rPr sz="7600">
                <a:solidFill>
                  <a:srgbClr val="FFFFFF"/>
                </a:solidFill>
                <a:latin typeface="Fira Code"/>
                <a:ea typeface="Fira Code"/>
                <a:cs typeface="Fira Code"/>
              </a:rPr>
              <a:t xml:space="preserve"> Language for </a:t>
            </a:r>
          </a:p>
          <a:p xmlns:a="http://schemas.openxmlformats.org/drawingml/2006/main">
            <a:r>
              <a:rPr sz="7600">
                <a:solidFill>
                  <a:srgbClr val="F8D07B"/>
                </a:solidFill>
                <a:latin typeface="Fira Code"/>
                <a:ea typeface="Fira Code"/>
                <a:cs typeface="Fira Code"/>
              </a:rPr>
              <a:t xml:space="preserve">Heterogeneous</a:t>
            </a:r>
            <a:r>
              <a:rPr sz="7600">
                <a:solidFill>
                  <a:schemeClr val="accent2">
                    <a:lumMod val="20000"/>
                    <a:lumOff val="80000"/>
                  </a:schemeClr>
                </a:solidFill>
                <a:latin typeface="Fira Code"/>
                <a:ea typeface="Fira Code"/>
                <a:cs typeface="Fira Code"/>
              </a:rPr>
              <a:t xml:space="preserve"> </a:t>
            </a:r>
            <a:r>
              <a:rPr sz="7600">
                <a:solidFill>
                  <a:srgbClr val="FFFFFF"/>
                </a:solidFill>
                <a:latin typeface="Fira Code"/>
                <a:ea typeface="Fira Code"/>
                <a:cs typeface="Fira Code"/>
              </a:rPr>
              <a:t xml:space="preserve">Computing in Robotics</a:t>
            </a:r>
          </a:p>
        </p:txBody>
      </p:sp>
      <p:sp>
        <p:nvSpPr>
          <p:cNvPr id="16" name="TextBox 15">
            <a:extLst xmlns:a="http://schemas.openxmlformats.org/drawingml/2006/main">
              <a:ext uri="{FF2B5EF4-FFF2-40B4-BE49-F238E27FC236}">
                <a16:creationId xmlns:a16="http://schemas.microsoft.com/office/drawing/2014/main" id="{72AB335E-ACDC-ED91-9F45-673BA2A86FAA}"/>
              </a:ext>
            </a:extLst>
          </p:cNvPr>
          <p:cNvSpPr>
            <a:spLocks xmlns:a="http://schemas.openxmlformats.org/drawingml/2006/main" noGrp="1"/>
          </p:cNvSpPr>
          <p:nvPr/>
        </p:nvSpPr>
        <p:spPr>
          <a:xfrm xmlns:a="http://schemas.openxmlformats.org/drawingml/2006/main" rot="0" flipH="0" flipV="0">
            <a:off x="10381577" y="4475949"/>
            <a:ext cx="22471715" cy="123578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200000"/>
              </a:lnSpc>
              <a:buNone/>
            </a:pPr>
            <a:r>
              <a:rPr sz="4400">
                <a:solidFill>
                  <a:srgbClr val="9EB3C2"/>
                </a:solidFill>
                <a:latin typeface="Segoe UI"/>
                <a:ea typeface="Segoe UI"/>
                <a:cs typeface="Segoe UI"/>
              </a:rPr>
              <a:t>Corey Montella,  Aung Kant Ko,  Steven McPhillimey</a:t>
            </a:r>
          </a:p>
        </p:txBody>
      </p:sp>
      <p:sp>
        <p:nvSpPr>
          <p:cNvPr id="54" name="Straight Connector 53">
            <a:extLst xmlns:a="http://schemas.openxmlformats.org/drawingml/2006/main">
              <a:ext uri="{FF2B5EF4-FFF2-40B4-BE49-F238E27FC236}">
                <a16:creationId xmlns:a16="http://schemas.microsoft.com/office/drawing/2014/main" id="{910A5946-7E25-4877-B687-3E996D149A87}"/>
              </a:ext>
            </a:extLst>
          </p:cNvPr>
          <p:cNvSpPr>
            <a:spLocks xmlns:a="http://schemas.openxmlformats.org/drawingml/2006/main" noGrp="1"/>
          </p:cNvSpPr>
          <p:nvPr/>
        </p:nvSpPr>
        <p:spPr>
          <a:xfrm xmlns:a="http://schemas.openxmlformats.org/drawingml/2006/main" flipV="1">
            <a:off x="9346823" y="899707"/>
            <a:ext cx="0" cy="4824586"/>
          </a:xfrm>
          <a:prstGeom xmlns:a="http://schemas.openxmlformats.org/drawingml/2006/main" prst="line">
            <a:avLst/>
          </a:prstGeom>
          <a:ln xmlns:a="http://schemas.openxmlformats.org/drawingml/2006/main">
            <a:solidFill>
              <a:srgbClr val="9EB3C2"/>
            </a:solidFill>
            <a:prstDash val="sysDot"/>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pic>
        <p:nvPicPr>
          <p:cNvPr id="546" name="Picture 12"/>
          <p:cNvPicPr>
            <a:picLocks xmlns:a="http://schemas.openxmlformats.org/drawingml/2006/main" noChangeAspect="1"/>
          </p:cNvPicPr>
          <p:nvPr/>
        </p:nvPicPr>
        <p:blipFill>
          <a:blip xmlns:r="http://schemas.openxmlformats.org/officeDocument/2006/relationships" xmlns:a="http://schemas.openxmlformats.org/drawingml/2006/main" r:embed="R62d1fdb73ec24b6f"/>
          <a:stretch xmlns:a="http://schemas.openxmlformats.org/drawingml/2006/main">
            <a:fillRect l="0" t="0" r="0" b="0"/>
          </a:stretch>
        </p:blipFill>
        <p:spPr>
          <a:xfrm xmlns:a="http://schemas.openxmlformats.org/drawingml/2006/main" rot="0" flipH="0" flipV="0">
            <a:off x="1268604" y="1734181"/>
            <a:ext cx="6983291" cy="1686326"/>
          </a:xfrm>
          <a:prstGeom xmlns:a="http://schemas.openxmlformats.org/drawingml/2006/main" prst="rect">
            <a:avLst/>
          </a:prstGeom>
        </p:spPr>
      </p:pic>
      <p:sp>
        <p:nvSpPr>
          <p:cNvPr id="58" name="TextBox 57">
            <a:extLst xmlns:a="http://schemas.openxmlformats.org/drawingml/2006/main">
              <a:ext uri="{FF2B5EF4-FFF2-40B4-BE49-F238E27FC236}">
                <a16:creationId xmlns:a16="http://schemas.microsoft.com/office/drawing/2014/main" id="{DB57E59C-D2E9-AB5F-F751-6F3689FA2564}"/>
              </a:ext>
            </a:extLst>
          </p:cNvPr>
          <p:cNvSpPr>
            <a:spLocks xmlns:a="http://schemas.openxmlformats.org/drawingml/2006/main" noGrp="1"/>
          </p:cNvSpPr>
          <p:nvPr/>
        </p:nvSpPr>
        <p:spPr>
          <a:xfrm xmlns:a="http://schemas.openxmlformats.org/drawingml/2006/main" rot="0" flipH="0" flipV="0">
            <a:off x="1147478" y="3367480"/>
            <a:ext cx="7403344" cy="136345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lnSpc>
                <a:spcPct val="200000"/>
              </a:lnSpc>
              <a:buNone/>
            </a:pPr>
            <a:r>
              <a:rPr sz="4800">
                <a:solidFill>
                  <a:srgbClr val="9EB3C2"/>
                </a:solidFill>
                <a:latin typeface="Fira Code"/>
                <a:ea typeface="Fira Code"/>
                <a:cs typeface="Fira Code"/>
              </a:rPr>
              <a:t>www.mech-lang.org</a:t>
            </a:r>
          </a:p>
        </p:txBody>
      </p:sp>
      <p:pic>
        <p:nvPicPr>
          <p:cNvPr id="548" name="Graphic 67"/>
          <p:cNvPicPr>
            <a:picLocks xmlns:a="http://schemas.openxmlformats.org/drawingml/2006/main" noChangeAspect="1"/>
          </p:cNvPicPr>
          <p:nvPr/>
        </p:nvPicPr>
        <p:blipFill>
          <a:blip xmlns:r="http://schemas.openxmlformats.org/officeDocument/2006/relationships" xmlns:a="http://schemas.openxmlformats.org/drawingml/2006/main" r:embed="R62d1fdb73ec24b6f">
            <a:extLst>
              <a:ext uri="{96DAC541-7B7A-43D3-8B79-37D633B846F1}">
                <asvg:svgBlip xmlns:asvg="http://schemas.microsoft.com/office/drawing/2016/SVG/main" r:embed="Ra4e8406e62434cb3"/>
              </a:ext>
            </a:extLst>
          </a:blip>
          <a:stretch xmlns:a="http://schemas.openxmlformats.org/drawingml/2006/main">
            <a:fillRect l="0" t="0" r="0" b="0"/>
          </a:stretch>
        </p:blipFill>
        <p:spPr>
          <a:xfrm xmlns:a="http://schemas.openxmlformats.org/drawingml/2006/main">
            <a:off x="27342275" y="42672000"/>
            <a:ext cx="4720781" cy="986600"/>
          </a:xfrm>
          <a:prstGeom xmlns:a="http://schemas.openxmlformats.org/drawingml/2006/main" prst="rect">
            <a:avLst/>
          </a:prstGeom>
        </p:spPr>
      </p:pic>
      <p:pic>
        <p:nvPicPr>
          <p:cNvPr id="549" name="Picture 104"/>
          <p:cNvPicPr>
            <a:picLocks xmlns:a="http://schemas.openxmlformats.org/drawingml/2006/main" noChangeAspect="1"/>
          </p:cNvPicPr>
          <p:nvPr/>
        </p:nvPicPr>
        <p:blipFill>
          <a:blip xmlns:r="http://schemas.openxmlformats.org/officeDocument/2006/relationships" xmlns:a="http://schemas.openxmlformats.org/drawingml/2006/main" r:embed="R4e3d5f9419fb421f">
            <a:clrChange>
              <a:clrFrom>
                <a:srgbClr val="FFFFFF"/>
              </a:clrFrom>
              <a:clrTo>
                <a:srgbClr val="FFFFFF">
                  <a:alpha val="0"/>
                </a:srgbClr>
              </a:clrTo>
            </a:clrChange>
            <a:lum bright="70000" contrast="-70000"/>
          </a:blip>
          <a:stretch xmlns:a="http://schemas.openxmlformats.org/drawingml/2006/main">
            <a:fillRect l="0" t="0" r="0" b="0"/>
          </a:stretch>
        </p:blipFill>
        <p:spPr>
          <a:xfrm xmlns:a="http://schemas.openxmlformats.org/drawingml/2006/main">
            <a:off x="762000" y="42100500"/>
            <a:ext cx="1666875" cy="1666875"/>
          </a:xfrm>
          <a:prstGeom xmlns:a="http://schemas.openxmlformats.org/drawingml/2006/main" prst="rect">
            <a:avLst/>
          </a:prstGeom>
        </p:spPr>
      </p:pic>
      <p:sp>
        <p:nvSpPr>
          <p:cNvPr id="113" name="Motivation">
            <a:extLst xmlns:a="http://schemas.openxmlformats.org/drawingml/2006/main">
              <a:ext uri="{FF2B5EF4-FFF2-40B4-BE49-F238E27FC236}">
                <a16:creationId xmlns:a16="http://schemas.microsoft.com/office/drawing/2014/main" id="{C40ED343-6FC6-4D28-8F37-6F366889AC46}"/>
              </a:ext>
            </a:extLst>
          </p:cNvPr>
          <p:cNvSpPr>
            <a:spLocks xmlns:a="http://schemas.openxmlformats.org/drawingml/2006/main" noGrp="1"/>
          </p:cNvSpPr>
          <p:nvPr/>
        </p:nvSpPr>
        <p:spPr>
          <a:xfrm xmlns:a="http://schemas.openxmlformats.org/drawingml/2006/main">
            <a:off x="762000" y="6477000"/>
            <a:ext cx="2071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F1EADA"/>
                </a:solidFill>
                <a:latin typeface="Fira Code"/>
                <a:ea typeface="Fira Code"/>
                <a:cs typeface="Fira Code"/>
              </a:defRPr>
            </a:pPr>
            <a:r>
              <a:rPr sz="5100" b="1">
                <a:solidFill>
                  <a:srgbClr val="F1EADA"/>
                </a:solidFill>
                <a:latin typeface="Fira Code"/>
                <a:ea typeface="Fira Code"/>
                <a:cs typeface="Fira Code"/>
              </a:rPr>
              <a:t>Motivation</a:t>
            </a:r>
          </a:p>
        </p:txBody>
      </p:sp>
      <p:sp>
        <p:nvSpPr>
          <p:cNvPr id="114" name="Motivation bullets">
            <a:extLst xmlns:a="http://schemas.openxmlformats.org/drawingml/2006/main">
              <a:ext uri="{FF2B5EF4-FFF2-40B4-BE49-F238E27FC236}">
                <a16:creationId xmlns:a16="http://schemas.microsoft.com/office/drawing/2014/main" id="{C00E2DC1-455A-4ECF-BE66-20176529DC0B}"/>
              </a:ext>
            </a:extLst>
          </p:cNvPr>
          <p:cNvSpPr>
            <a:spLocks xmlns:a="http://schemas.openxmlformats.org/drawingml/2006/main" noGrp="1"/>
          </p:cNvSpPr>
          <p:nvPr/>
        </p:nvSpPr>
        <p:spPr>
          <a:xfrm xmlns:a="http://schemas.openxmlformats.org/drawingml/2006/main">
            <a:off x="952500" y="7524750"/>
            <a:ext cx="20526375"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698500" indent="-508000">
              <a:spcAft>
                <a:spcPts val="1800"/>
              </a:spcAft>
              <a:buChar char="•"/>
              <a:defRPr sz="2850">
                <a:solidFill>
                  <a:srgbClr val="E8EDF0"/>
                </a:solidFill>
                <a:latin typeface="Segoe UI"/>
                <a:ea typeface="Segoe UI"/>
                <a:cs typeface="Segoe UI"/>
              </a:defRPr>
            </a:pPr>
            <a:r>
              <a:rPr sz="2850">
                <a:solidFill>
                  <a:srgbClr val="E8EDF0"/>
                </a:solidFill>
                <a:latin typeface="Segoe UI"/>
                <a:ea typeface="Segoe UI"/>
                <a:cs typeface="Segoe UI"/>
              </a:rPr>
              <a:t>Rust’s memory safety, performance and low-level control make it a strong foundation for robotics. Numerical kernels can still become lengthy and difficult to verify when each backend requires specialized code.</a:t>
            </a:r>
          </a:p>
          <a:p xmlns:a="http://schemas.openxmlformats.org/drawingml/2006/main">
            <a:pPr marL="698500" indent="-508000">
              <a:spcAft>
                <a:spcPts val="1800"/>
              </a:spcAft>
              <a:buChar char="•"/>
              <a:defRPr sz="2850">
                <a:solidFill>
                  <a:srgbClr val="E8EDF0"/>
                </a:solidFill>
                <a:latin typeface="Segoe UI"/>
                <a:ea typeface="Segoe UI"/>
                <a:cs typeface="Segoe UI"/>
              </a:defRPr>
            </a:pPr>
            <a:r>
              <a:rPr sz="2850">
                <a:solidFill>
                  <a:srgbClr val="E8EDF0"/>
                </a:solidFill>
                <a:latin typeface="Segoe UI"/>
                <a:ea typeface="Segoe UI"/>
                <a:cs typeface="Segoe UI"/>
              </a:rPr>
              <a:t>Mech is a numerical language implemented in Rust and embeddable in Rust applications. Its compiler specializes typed equations without backend-specific source annotations. A bearing-only EKF illustrates its numerical and reactive features, which also apply beyond state estimation.</a:t>
            </a:r>
          </a:p>
        </p:txBody>
      </p:sp>
      <p:sp>
        <p:nvSpPr>
          <p:cNvPr id="115" name="Numerical">
            <a:extLst xmlns:a="http://schemas.openxmlformats.org/drawingml/2006/main">
              <a:ext uri="{FF2B5EF4-FFF2-40B4-BE49-F238E27FC236}">
                <a16:creationId xmlns:a16="http://schemas.microsoft.com/office/drawing/2014/main" id="{F0DE9116-6D29-4497-9797-2FDFA03E7749}"/>
              </a:ext>
            </a:extLst>
          </p:cNvPr>
          <p:cNvSpPr>
            <a:spLocks xmlns:a="http://schemas.openxmlformats.org/drawingml/2006/main" noGrp="1"/>
          </p:cNvSpPr>
          <p:nvPr/>
        </p:nvSpPr>
        <p:spPr>
          <a:xfrm xmlns:a="http://schemas.openxmlformats.org/drawingml/2006/main">
            <a:off x="22574250" y="6477000"/>
            <a:ext cx="9525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7FC7FF"/>
                </a:solidFill>
                <a:latin typeface="Fira Code"/>
                <a:ea typeface="Fira Code"/>
                <a:cs typeface="Fira Code"/>
              </a:defRPr>
            </a:pPr>
            <a:r>
              <a:rPr sz="5100" b="1">
                <a:solidFill>
                  <a:srgbClr val="7FC7FF"/>
                </a:solidFill>
                <a:latin typeface="Fira Code"/>
                <a:ea typeface="Fira Code"/>
                <a:cs typeface="Fira Code"/>
              </a:rPr>
              <a:t>Numerical</a:t>
            </a:r>
          </a:p>
        </p:txBody>
      </p:sp>
      <p:sp>
        <p:nvSpPr>
          <p:cNvPr id="116" name="EKF complete source panel">
            <a:extLst xmlns:a="http://schemas.openxmlformats.org/drawingml/2006/main">
              <a:ext uri="{FF2B5EF4-FFF2-40B4-BE49-F238E27FC236}">
                <a16:creationId xmlns:a16="http://schemas.microsoft.com/office/drawing/2014/main" id="{DCD0FE0B-47A5-43D9-98A3-AD1A01D93438}"/>
              </a:ext>
            </a:extLst>
          </p:cNvPr>
          <p:cNvSpPr>
            <a:spLocks xmlns:a="http://schemas.openxmlformats.org/drawingml/2006/main" noGrp="1"/>
          </p:cNvSpPr>
          <p:nvPr/>
        </p:nvSpPr>
        <p:spPr>
          <a:xfrm xmlns:a="http://schemas.openxmlformats.org/drawingml/2006/main">
            <a:off x="22574250" y="13049250"/>
            <a:ext cx="9525000" cy="20669250"/>
          </a:xfrm>
          <a:prstGeom xmlns:a="http://schemas.openxmlformats.org/drawingml/2006/main" prst="rect">
            <a:avLst/>
          </a:prstGeom>
          <a:solidFill xmlns:a="http://schemas.openxmlformats.org/drawingml/2006/main">
            <a:srgbClr val="070C0E"/>
          </a:solidFill>
          <a:ln xmlns:a="http://schemas.openxmlformats.org/drawingml/2006/main" w="19050">
            <a:solidFill>
              <a:srgbClr val="354650"/>
            </a:solidFill>
          </a:ln>
        </p:spPr>
      </p:sp>
      <p:sp>
        <p:nvSpPr>
          <p:cNvPr id="117" name="EKF source line 00">
            <a:extLst xmlns:a="http://schemas.openxmlformats.org/drawingml/2006/main">
              <a:ext uri="{FF2B5EF4-FFF2-40B4-BE49-F238E27FC236}">
                <a16:creationId xmlns:a16="http://schemas.microsoft.com/office/drawing/2014/main" id="{3701BD8B-A8D1-4328-8C4E-FE68FC3B0F60}"/>
              </a:ext>
            </a:extLst>
          </p:cNvPr>
          <p:cNvSpPr>
            <a:spLocks xmlns:a="http://schemas.openxmlformats.org/drawingml/2006/main" noGrp="1"/>
          </p:cNvSpPr>
          <p:nvPr/>
        </p:nvSpPr>
        <p:spPr>
          <a:xfrm xmlns:a="http://schemas.openxmlformats.org/drawingml/2006/main">
            <a:off x="22812375" y="13239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 xml:space="preserve">Extended Kalman Filter</a:t>
            </a:r>
          </a:p>
        </p:txBody>
      </p:sp>
      <p:sp>
        <p:nvSpPr>
          <p:cNvPr id="118" name="EKF source line 01">
            <a:extLst xmlns:a="http://schemas.openxmlformats.org/drawingml/2006/main">
              <a:ext uri="{FF2B5EF4-FFF2-40B4-BE49-F238E27FC236}">
                <a16:creationId xmlns:a16="http://schemas.microsoft.com/office/drawing/2014/main" id="{830C04EA-DE9B-44CC-B4F7-DF158580E3F9}"/>
              </a:ext>
            </a:extLst>
          </p:cNvPr>
          <p:cNvSpPr>
            <a:spLocks xmlns:a="http://schemas.openxmlformats.org/drawingml/2006/main" noGrp="1"/>
          </p:cNvSpPr>
          <p:nvPr/>
        </p:nvSpPr>
        <p:spPr>
          <a:xfrm xmlns:a="http://schemas.openxmlformats.org/drawingml/2006/main">
            <a:off x="22812375" y="13620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 xml:space="preserve">======================================</a:t>
            </a:r>
          </a:p>
        </p:txBody>
      </p:sp>
      <p:sp>
        <p:nvSpPr>
          <p:cNvPr id="119" name="EKF source line 02">
            <a:extLst xmlns:a="http://schemas.openxmlformats.org/drawingml/2006/main">
              <a:ext uri="{FF2B5EF4-FFF2-40B4-BE49-F238E27FC236}">
                <a16:creationId xmlns:a16="http://schemas.microsoft.com/office/drawing/2014/main" id="{6A0C6DCD-8CF7-4483-9A27-679F739FA89A}"/>
              </a:ext>
            </a:extLst>
          </p:cNvPr>
          <p:cNvSpPr>
            <a:spLocks xmlns:a="http://schemas.openxmlformats.org/drawingml/2006/main" noGrp="1"/>
          </p:cNvSpPr>
          <p:nvPr/>
        </p:nvSpPr>
        <p:spPr>
          <a:xfrm xmlns:a="http://schemas.openxmlformats.org/drawingml/2006/main">
            <a:off x="22812375" y="14001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99CCA4"/>
                </a:solidFill>
                <a:latin typeface="Fira Code"/>
                <a:ea typeface="Fira Code"/>
                <a:cs typeface="Fira Code"/>
              </a:rPr>
              <a:t xml:space="preserve">+&gt;</a:t>
            </a:r>
            <a:r>
              <a:rPr sz="2800">
                <a:solidFill>
                  <a:srgbClr val="EDDAF1"/>
                </a:solidFill>
                <a:latin typeface="Fira Code"/>
                <a:ea typeface="Fira Code"/>
                <a:cs typeface="Fira Code"/>
              </a:rPr>
              <a:t xml:space="preserve"> </a:t>
            </a:r>
            <a:r>
              <a:rPr sz="2800">
                <a:solidFill>
                  <a:srgbClr val="BBDDC2"/>
                </a:solidFill>
                <a:latin typeface="Fira Code"/>
                <a:ea typeface="Fira Code"/>
                <a:cs typeface="Fira Code"/>
              </a:rPr>
              <a:t xml:space="preserve">math</a:t>
            </a:r>
            <a:r>
              <a:rPr sz="2800">
                <a:solidFill>
                  <a:srgbClr val="99CCA4"/>
                </a:solidFill>
                <a:latin typeface="Fira Code"/>
                <a:ea typeface="Fira Code"/>
                <a:cs typeface="Fira Code"/>
              </a:rPr>
              <a:t xml:space="preserve">/</a:t>
            </a:r>
            <a:r>
              <a:rPr sz="2800">
                <a:solidFill>
                  <a:srgbClr val="BBDDC2"/>
                </a:solidFill>
                <a:latin typeface="Fira Code"/>
                <a:ea typeface="Fira Code"/>
                <a:cs typeface="Fira Code"/>
              </a:rPr>
              <a:t xml:space="preserve">*            </a:t>
            </a:r>
          </a:p>
        </p:txBody>
      </p:sp>
      <p:sp>
        <p:nvSpPr>
          <p:cNvPr id="120" name="EKF source line 03">
            <a:extLst xmlns:a="http://schemas.openxmlformats.org/drawingml/2006/main">
              <a:ext uri="{FF2B5EF4-FFF2-40B4-BE49-F238E27FC236}">
                <a16:creationId xmlns:a16="http://schemas.microsoft.com/office/drawing/2014/main" id="{0EC829B6-40CE-4092-858F-E65647E37A7D}"/>
              </a:ext>
            </a:extLst>
          </p:cNvPr>
          <p:cNvSpPr>
            <a:spLocks xmlns:a="http://schemas.openxmlformats.org/drawingml/2006/main" noGrp="1"/>
          </p:cNvSpPr>
          <p:nvPr/>
        </p:nvSpPr>
        <p:spPr>
          <a:xfrm xmlns:a="http://schemas.openxmlformats.org/drawingml/2006/main">
            <a:off x="23025735" y="14382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t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9BC7F3"/>
                </a:solidFill>
                <a:latin typeface="Fira Code"/>
                <a:ea typeface="Fira Code"/>
                <a:cs typeface="Fira Code"/>
              </a:rPr>
              <a:t xml:space="preserve">0.1</a:t>
            </a:r>
          </a:p>
        </p:txBody>
      </p:sp>
      <p:sp>
        <p:nvSpPr>
          <p:cNvPr id="121" name="EKF source line 04">
            <a:extLst xmlns:a="http://schemas.openxmlformats.org/drawingml/2006/main">
              <a:ext uri="{FF2B5EF4-FFF2-40B4-BE49-F238E27FC236}">
                <a16:creationId xmlns:a16="http://schemas.microsoft.com/office/drawing/2014/main" id="{5124C5F6-CBC9-4DAE-8F12-73F7482EC4C9}"/>
              </a:ext>
            </a:extLst>
          </p:cNvPr>
          <p:cNvSpPr>
            <a:spLocks xmlns:a="http://schemas.openxmlformats.org/drawingml/2006/main" noGrp="1"/>
          </p:cNvSpPr>
          <p:nvPr/>
        </p:nvSpPr>
        <p:spPr>
          <a:xfrm xmlns:a="http://schemas.openxmlformats.org/drawingml/2006/main">
            <a:off x="23025735" y="14763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m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140 12</a:t>
            </a:r>
            <a:r>
              <a:rPr sz="2800">
                <a:solidFill>
                  <a:srgbClr val="AB7AB8"/>
                </a:solidFill>
                <a:latin typeface="Fira Code"/>
                <a:ea typeface="Fira Code"/>
                <a:cs typeface="Fira Code"/>
              </a:rPr>
              <a:t xml:space="preserve">]'</a:t>
            </a:r>
          </a:p>
        </p:txBody>
      </p:sp>
      <p:sp>
        <p:nvSpPr>
          <p:cNvPr id="122" name="EKF source line 05">
            <a:extLst xmlns:a="http://schemas.openxmlformats.org/drawingml/2006/main">
              <a:ext uri="{FF2B5EF4-FFF2-40B4-BE49-F238E27FC236}">
                <a16:creationId xmlns:a16="http://schemas.microsoft.com/office/drawing/2014/main" id="{AFBC6F66-EF2B-4CEF-B19B-CAF1414EE42C}"/>
              </a:ext>
            </a:extLst>
          </p:cNvPr>
          <p:cNvSpPr>
            <a:spLocks xmlns:a="http://schemas.openxmlformats.org/drawingml/2006/main" noGrp="1"/>
          </p:cNvSpPr>
          <p:nvPr/>
        </p:nvSpPr>
        <p:spPr>
          <a:xfrm xmlns:a="http://schemas.openxmlformats.org/drawingml/2006/main">
            <a:off x="23025735" y="15144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Q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0.01 0</a:t>
            </a:r>
          </a:p>
        </p:txBody>
      </p:sp>
      <p:sp>
        <p:nvSpPr>
          <p:cNvPr id="123" name="EKF source line 06">
            <a:extLst xmlns:a="http://schemas.openxmlformats.org/drawingml/2006/main">
              <a:ext uri="{FF2B5EF4-FFF2-40B4-BE49-F238E27FC236}">
                <a16:creationId xmlns:a16="http://schemas.microsoft.com/office/drawing/2014/main" id="{4C007C38-AFA8-4451-A617-CDA9C7B6B1A8}"/>
              </a:ext>
            </a:extLst>
          </p:cNvPr>
          <p:cNvSpPr>
            <a:spLocks xmlns:a="http://schemas.openxmlformats.org/drawingml/2006/main" noGrp="1"/>
          </p:cNvSpPr>
          <p:nvPr/>
        </p:nvSpPr>
        <p:spPr>
          <a:xfrm xmlns:a="http://schemas.openxmlformats.org/drawingml/2006/main">
            <a:off x="23025735" y="15525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9BC7F3"/>
                </a:solidFill>
                <a:latin typeface="Fira Code"/>
                <a:ea typeface="Fira Code"/>
                <a:cs typeface="Fira Code"/>
              </a:rPr>
              <a:t xml:space="preserve">      0    0.0025</a:t>
            </a:r>
            <a:r>
              <a:rPr sz="2800">
                <a:solidFill>
                  <a:srgbClr val="AB7AB8"/>
                </a:solidFill>
                <a:latin typeface="Fira Code"/>
                <a:ea typeface="Fira Code"/>
                <a:cs typeface="Fira Code"/>
              </a:rPr>
              <a:t xml:space="preserve">]</a:t>
            </a:r>
          </a:p>
        </p:txBody>
      </p:sp>
      <p:sp>
        <p:nvSpPr>
          <p:cNvPr id="124" name="EKF source line 07">
            <a:extLst xmlns:a="http://schemas.openxmlformats.org/drawingml/2006/main">
              <a:ext uri="{FF2B5EF4-FFF2-40B4-BE49-F238E27FC236}">
                <a16:creationId xmlns:a16="http://schemas.microsoft.com/office/drawing/2014/main" id="{DAE35FFF-4C2D-481A-B3C3-7538984D9D3E}"/>
              </a:ext>
            </a:extLst>
          </p:cNvPr>
          <p:cNvSpPr>
            <a:spLocks xmlns:a="http://schemas.openxmlformats.org/drawingml/2006/main" noGrp="1"/>
          </p:cNvSpPr>
          <p:nvPr/>
        </p:nvSpPr>
        <p:spPr>
          <a:xfrm xmlns:a="http://schemas.openxmlformats.org/drawingml/2006/main">
            <a:off x="23025735" y="15906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R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9BC7F3"/>
                </a:solidFill>
                <a:latin typeface="Fira Code"/>
                <a:ea typeface="Fira Code"/>
                <a:cs typeface="Fira Code"/>
              </a:rPr>
              <a:t xml:space="preserve">0.25</a:t>
            </a:r>
          </a:p>
        </p:txBody>
      </p:sp>
      <p:sp>
        <p:nvSpPr>
          <p:cNvPr id="125" name="EKF source line 08">
            <a:extLst xmlns:a="http://schemas.openxmlformats.org/drawingml/2006/main">
              <a:ext uri="{FF2B5EF4-FFF2-40B4-BE49-F238E27FC236}">
                <a16:creationId xmlns:a16="http://schemas.microsoft.com/office/drawing/2014/main" id="{A2DA91BA-CDD7-4A04-ACCF-D5D773BD6A76}"/>
              </a:ext>
            </a:extLst>
          </p:cNvPr>
          <p:cNvSpPr>
            <a:spLocks xmlns:a="http://schemas.openxmlformats.org/drawingml/2006/main" noGrp="1"/>
          </p:cNvSpPr>
          <p:nvPr/>
        </p:nvSpPr>
        <p:spPr>
          <a:xfrm xmlns:a="http://schemas.openxmlformats.org/drawingml/2006/main">
            <a:off x="23025735" y="16287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I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1 0 0</a:t>
            </a:r>
          </a:p>
        </p:txBody>
      </p:sp>
      <p:sp>
        <p:nvSpPr>
          <p:cNvPr id="126" name="EKF source line 09">
            <a:extLst xmlns:a="http://schemas.openxmlformats.org/drawingml/2006/main">
              <a:ext uri="{FF2B5EF4-FFF2-40B4-BE49-F238E27FC236}">
                <a16:creationId xmlns:a16="http://schemas.microsoft.com/office/drawing/2014/main" id="{16E890F6-C0C7-427D-836B-EABEF8694376}"/>
              </a:ext>
            </a:extLst>
          </p:cNvPr>
          <p:cNvSpPr>
            <a:spLocks xmlns:a="http://schemas.openxmlformats.org/drawingml/2006/main" noGrp="1"/>
          </p:cNvSpPr>
          <p:nvPr/>
        </p:nvSpPr>
        <p:spPr>
          <a:xfrm xmlns:a="http://schemas.openxmlformats.org/drawingml/2006/main">
            <a:off x="23025735" y="16668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9BC7F3"/>
                </a:solidFill>
                <a:latin typeface="Fira Code"/>
                <a:ea typeface="Fira Code"/>
                <a:cs typeface="Fira Code"/>
              </a:rPr>
              <a:t xml:space="preserve">      0 1 0</a:t>
            </a:r>
          </a:p>
        </p:txBody>
      </p:sp>
      <p:sp>
        <p:nvSpPr>
          <p:cNvPr id="127" name="EKF source line 10">
            <a:extLst xmlns:a="http://schemas.openxmlformats.org/drawingml/2006/main">
              <a:ext uri="{FF2B5EF4-FFF2-40B4-BE49-F238E27FC236}">
                <a16:creationId xmlns:a16="http://schemas.microsoft.com/office/drawing/2014/main" id="{354B8B44-BE4A-466F-944D-237675850B06}"/>
              </a:ext>
            </a:extLst>
          </p:cNvPr>
          <p:cNvSpPr>
            <a:spLocks xmlns:a="http://schemas.openxmlformats.org/drawingml/2006/main" noGrp="1"/>
          </p:cNvSpPr>
          <p:nvPr/>
        </p:nvSpPr>
        <p:spPr>
          <a:xfrm xmlns:a="http://schemas.openxmlformats.org/drawingml/2006/main">
            <a:off x="23025735" y="17049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9BC7F3"/>
                </a:solidFill>
                <a:latin typeface="Fira Code"/>
                <a:ea typeface="Fira Code"/>
                <a:cs typeface="Fira Code"/>
              </a:rPr>
              <a:t xml:space="preserve">      0 0 1</a:t>
            </a:r>
            <a:r>
              <a:rPr sz="2800">
                <a:solidFill>
                  <a:srgbClr val="AB7AB8"/>
                </a:solidFill>
                <a:latin typeface="Fira Code"/>
                <a:ea typeface="Fira Code"/>
                <a:cs typeface="Fira Code"/>
              </a:rPr>
              <a:t xml:space="preserve">]</a:t>
            </a:r>
          </a:p>
        </p:txBody>
      </p:sp>
      <p:sp>
        <p:nvSpPr>
          <p:cNvPr id="128" name="EKF source line 11">
            <a:extLst xmlns:a="http://schemas.openxmlformats.org/drawingml/2006/main">
              <a:ext uri="{FF2B5EF4-FFF2-40B4-BE49-F238E27FC236}">
                <a16:creationId xmlns:a16="http://schemas.microsoft.com/office/drawing/2014/main" id="{EEF8AB47-A5AA-436B-9D63-A997B9040EAB}"/>
              </a:ext>
            </a:extLst>
          </p:cNvPr>
          <p:cNvSpPr>
            <a:spLocks xmlns:a="http://schemas.openxmlformats.org/drawingml/2006/main" noGrp="1"/>
          </p:cNvSpPr>
          <p:nvPr/>
        </p:nvSpPr>
        <p:spPr>
          <a:xfrm xmlns:a="http://schemas.openxmlformats.org/drawingml/2006/main">
            <a:off x="23025735" y="17430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μ </a:t>
            </a:r>
            <a:r>
              <a:rPr sz="2800">
                <a:solidFill>
                  <a:srgbClr val="AB7AB8"/>
                </a:solidFill>
                <a:latin typeface="Fira Code"/>
                <a:ea typeface="Fira Code"/>
                <a:cs typeface="Fira Code"/>
              </a:rPr>
              <a:t xml:space="preserve">:= [</a:t>
            </a:r>
            <a:r>
              <a:rPr sz="2800">
                <a:solidFill>
                  <a:srgbClr val="9BC7F3"/>
                </a:solidFill>
                <a:latin typeface="Fira Code"/>
                <a:ea typeface="Fira Code"/>
                <a:cs typeface="Fira Code"/>
              </a:rPr>
              <a:t xml:space="preserve">55 25 0.4</a:t>
            </a:r>
            <a:r>
              <a:rPr sz="2800">
                <a:solidFill>
                  <a:srgbClr val="AB7AB8"/>
                </a:solidFill>
                <a:latin typeface="Fira Code"/>
                <a:ea typeface="Fira Code"/>
                <a:cs typeface="Fira Code"/>
              </a:rPr>
              <a:t xml:space="preserve">]’</a:t>
            </a:r>
          </a:p>
        </p:txBody>
      </p:sp>
      <p:sp>
        <p:nvSpPr>
          <p:cNvPr id="129" name="EKF source line 12">
            <a:extLst xmlns:a="http://schemas.openxmlformats.org/drawingml/2006/main">
              <a:ext uri="{FF2B5EF4-FFF2-40B4-BE49-F238E27FC236}">
                <a16:creationId xmlns:a16="http://schemas.microsoft.com/office/drawing/2014/main" id="{D4863194-506B-4CA3-80BC-50BA992444B5}"/>
              </a:ext>
            </a:extLst>
          </p:cNvPr>
          <p:cNvSpPr>
            <a:spLocks xmlns:a="http://schemas.openxmlformats.org/drawingml/2006/main" noGrp="1"/>
          </p:cNvSpPr>
          <p:nvPr/>
        </p:nvSpPr>
        <p:spPr>
          <a:xfrm xmlns:a="http://schemas.openxmlformats.org/drawingml/2006/main">
            <a:off x="23025735" y="17811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Σ </a:t>
            </a:r>
            <a:r>
              <a:rPr sz="2800">
                <a:solidFill>
                  <a:srgbClr val="AB7AB8"/>
                </a:solidFill>
                <a:latin typeface="Fira Code"/>
                <a:ea typeface="Fira Code"/>
                <a:cs typeface="Fira Code"/>
              </a:rPr>
              <a:t xml:space="preserve">:= [</a:t>
            </a:r>
            <a:r>
              <a:rPr sz="2800">
                <a:solidFill>
                  <a:srgbClr val="9BC7F3"/>
                </a:solidFill>
                <a:latin typeface="Fira Code"/>
                <a:ea typeface="Fira Code"/>
                <a:cs typeface="Fira Code"/>
              </a:rPr>
              <a:t xml:space="preserve">100 0   0</a:t>
            </a:r>
            <a:r>
              <a:rPr sz="2800">
                <a:solidFill>
                  <a:srgbClr val="9BC7F3"/>
                </a:solidFill>
                <a:latin typeface="Fira Code"/>
                <a:ea typeface="Fira Code"/>
                <a:cs typeface="Fira Code"/>
              </a:rPr>
              <a:t xml:space="preserve">     </a:t>
            </a:r>
          </a:p>
        </p:txBody>
      </p:sp>
      <p:sp>
        <p:nvSpPr>
          <p:cNvPr id="130" name="EKF source line 13">
            <a:extLst xmlns:a="http://schemas.openxmlformats.org/drawingml/2006/main">
              <a:ext uri="{FF2B5EF4-FFF2-40B4-BE49-F238E27FC236}">
                <a16:creationId xmlns:a16="http://schemas.microsoft.com/office/drawing/2014/main" id="{3F2FF928-4F55-492A-854A-C5557902244A}"/>
              </a:ext>
            </a:extLst>
          </p:cNvPr>
          <p:cNvSpPr>
            <a:spLocks xmlns:a="http://schemas.openxmlformats.org/drawingml/2006/main" noGrp="1"/>
          </p:cNvSpPr>
          <p:nvPr/>
        </p:nvSpPr>
        <p:spPr>
          <a:xfrm xmlns:a="http://schemas.openxmlformats.org/drawingml/2006/main">
            <a:off x="23025735" y="18192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9BC7F3"/>
                </a:solidFill>
                <a:latin typeface="Fira Code"/>
                <a:ea typeface="Fira Code"/>
                <a:cs typeface="Fira Code"/>
              </a:rPr>
              <a:t xml:space="preserve">       0   100 0</a:t>
            </a:r>
          </a:p>
        </p:txBody>
      </p:sp>
      <p:sp>
        <p:nvSpPr>
          <p:cNvPr id="131" name="EKF source line 14">
            <a:extLst xmlns:a="http://schemas.openxmlformats.org/drawingml/2006/main">
              <a:ext uri="{FF2B5EF4-FFF2-40B4-BE49-F238E27FC236}">
                <a16:creationId xmlns:a16="http://schemas.microsoft.com/office/drawing/2014/main" id="{C671F9FA-80F5-492C-9EF5-ADDF8D19EFAE}"/>
              </a:ext>
            </a:extLst>
          </p:cNvPr>
          <p:cNvSpPr>
            <a:spLocks xmlns:a="http://schemas.openxmlformats.org/drawingml/2006/main" noGrp="1"/>
          </p:cNvSpPr>
          <p:nvPr/>
        </p:nvSpPr>
        <p:spPr>
          <a:xfrm xmlns:a="http://schemas.openxmlformats.org/drawingml/2006/main">
            <a:off x="23025735" y="18573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9BC7F3"/>
                </a:solidFill>
                <a:latin typeface="Fira Code"/>
                <a:ea typeface="Fira Code"/>
                <a:cs typeface="Fira Code"/>
              </a:rPr>
              <a:t xml:space="preserve">       0   0   0.15</a:t>
            </a:r>
            <a:r>
              <a:rPr sz="2800">
                <a:solidFill>
                  <a:srgbClr val="AB7AB8"/>
                </a:solidFill>
                <a:latin typeface="Fira Code"/>
                <a:ea typeface="Fira Code"/>
                <a:cs typeface="Fira Code"/>
              </a:rPr>
              <a:t xml:space="preserve">]</a:t>
            </a:r>
          </a:p>
        </p:txBody>
      </p:sp>
      <p:sp>
        <p:nvSpPr>
          <p:cNvPr id="132" name="EKF source line 15">
            <a:extLst xmlns:a="http://schemas.openxmlformats.org/drawingml/2006/main">
              <a:ext uri="{FF2B5EF4-FFF2-40B4-BE49-F238E27FC236}">
                <a16:creationId xmlns:a16="http://schemas.microsoft.com/office/drawing/2014/main" id="{96DD4E68-F593-49BF-A276-588D8C28C6B2}"/>
              </a:ext>
            </a:extLst>
          </p:cNvPr>
          <p:cNvSpPr>
            <a:spLocks xmlns:a="http://schemas.openxmlformats.org/drawingml/2006/main" noGrp="1"/>
          </p:cNvSpPr>
          <p:nvPr/>
        </p:nvSpPr>
        <p:spPr>
          <a:xfrm xmlns:a="http://schemas.openxmlformats.org/drawingml/2006/main">
            <a:off x="22812375" y="18954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33" name="EKF source line 16">
            <a:extLst xmlns:a="http://schemas.openxmlformats.org/drawingml/2006/main">
              <a:ext uri="{FF2B5EF4-FFF2-40B4-BE49-F238E27FC236}">
                <a16:creationId xmlns:a16="http://schemas.microsoft.com/office/drawing/2014/main" id="{DCD06C0C-41A1-42B2-886B-98621C0D4F55}"/>
              </a:ext>
            </a:extLst>
          </p:cNvPr>
          <p:cNvSpPr>
            <a:spLocks xmlns:a="http://schemas.openxmlformats.org/drawingml/2006/main" noGrp="1"/>
          </p:cNvSpPr>
          <p:nvPr/>
        </p:nvSpPr>
        <p:spPr>
          <a:xfrm xmlns:a="http://schemas.openxmlformats.org/drawingml/2006/main">
            <a:off x="22812375" y="19335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 xml:space="preserve">Time Update</a:t>
            </a:r>
          </a:p>
        </p:txBody>
      </p:sp>
      <p:sp>
        <p:nvSpPr>
          <p:cNvPr id="134" name="EKF source line 17">
            <a:extLst xmlns:a="http://schemas.openxmlformats.org/drawingml/2006/main">
              <a:ext uri="{FF2B5EF4-FFF2-40B4-BE49-F238E27FC236}">
                <a16:creationId xmlns:a16="http://schemas.microsoft.com/office/drawing/2014/main" id="{21C694B5-7E81-46DD-8DBB-DB99252C7D9A}"/>
              </a:ext>
            </a:extLst>
          </p:cNvPr>
          <p:cNvSpPr>
            <a:spLocks xmlns:a="http://schemas.openxmlformats.org/drawingml/2006/main" noGrp="1"/>
          </p:cNvSpPr>
          <p:nvPr/>
        </p:nvSpPr>
        <p:spPr>
          <a:xfrm xmlns:a="http://schemas.openxmlformats.org/drawingml/2006/main">
            <a:off x="22812375" y="19716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 xml:space="preserve">--------------------------------------</a:t>
            </a:r>
          </a:p>
        </p:txBody>
      </p:sp>
      <p:sp>
        <p:nvSpPr>
          <p:cNvPr id="135" name="EKF source line 18">
            <a:extLst xmlns:a="http://schemas.openxmlformats.org/drawingml/2006/main">
              <a:ext uri="{FF2B5EF4-FFF2-40B4-BE49-F238E27FC236}">
                <a16:creationId xmlns:a16="http://schemas.microsoft.com/office/drawing/2014/main" id="{C9227122-6EC0-48A0-BC42-EF3A99C47B41}"/>
              </a:ext>
            </a:extLst>
          </p:cNvPr>
          <p:cNvSpPr>
            <a:spLocks xmlns:a="http://schemas.openxmlformats.org/drawingml/2006/main" noGrp="1"/>
          </p:cNvSpPr>
          <p:nvPr/>
        </p:nvSpPr>
        <p:spPr>
          <a:xfrm xmlns:a="http://schemas.openxmlformats.org/drawingml/2006/main">
            <a:off x="23025735" y="20097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θ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μ</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3</a:t>
            </a:r>
            <a:r>
              <a:rPr sz="2800">
                <a:solidFill>
                  <a:srgbClr val="AB7AB8"/>
                </a:solidFill>
                <a:latin typeface="Fira Code"/>
                <a:ea typeface="Fira Code"/>
                <a:cs typeface="Fira Code"/>
              </a:rPr>
              <a:t xml:space="preserve">]</a:t>
            </a:r>
          </a:p>
        </p:txBody>
      </p:sp>
      <p:sp>
        <p:nvSpPr>
          <p:cNvPr id="136" name="EKF source line 19">
            <a:extLst xmlns:a="http://schemas.openxmlformats.org/drawingml/2006/main">
              <a:ext uri="{FF2B5EF4-FFF2-40B4-BE49-F238E27FC236}">
                <a16:creationId xmlns:a16="http://schemas.microsoft.com/office/drawing/2014/main" id="{B2CF385F-D21E-4B7E-92E2-CA79BC93147A}"/>
              </a:ext>
            </a:extLst>
          </p:cNvPr>
          <p:cNvSpPr>
            <a:spLocks xmlns:a="http://schemas.openxmlformats.org/drawingml/2006/main" noGrp="1"/>
          </p:cNvSpPr>
          <p:nvPr/>
        </p:nvSpPr>
        <p:spPr>
          <a:xfrm xmlns:a="http://schemas.openxmlformats.org/drawingml/2006/main">
            <a:off x="23025735" y="20478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d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v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t</a:t>
            </a:r>
          </a:p>
        </p:txBody>
      </p:sp>
      <p:sp>
        <p:nvSpPr>
          <p:cNvPr id="137" name="EKF source line 20">
            <a:extLst xmlns:a="http://schemas.openxmlformats.org/drawingml/2006/main">
              <a:ext uri="{FF2B5EF4-FFF2-40B4-BE49-F238E27FC236}">
                <a16:creationId xmlns:a16="http://schemas.microsoft.com/office/drawing/2014/main" id="{47A7B0DB-703D-4383-B02E-F66D8FF358CB}"/>
              </a:ext>
            </a:extLst>
          </p:cNvPr>
          <p:cNvSpPr>
            <a:spLocks xmlns:a="http://schemas.openxmlformats.org/drawingml/2006/main" noGrp="1"/>
          </p:cNvSpPr>
          <p:nvPr/>
        </p:nvSpPr>
        <p:spPr>
          <a:xfrm xmlns:a="http://schemas.openxmlformats.org/drawingml/2006/main">
            <a:off x="23025735" y="20859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G </a:t>
            </a:r>
            <a:r>
              <a:rPr sz="2800">
                <a:solidFill>
                  <a:srgbClr val="AB7AB8"/>
                </a:solidFill>
                <a:latin typeface="Fira Code"/>
                <a:ea typeface="Fira Code"/>
                <a:cs typeface="Fira Code"/>
              </a:rPr>
              <a:t xml:space="preserve">:= [</a:t>
            </a:r>
            <a:r>
              <a:rPr sz="2800">
                <a:solidFill>
                  <a:srgbClr val="9BC7F3"/>
                </a:solidFill>
                <a:latin typeface="Fira Code"/>
                <a:ea typeface="Fira Code"/>
                <a:cs typeface="Fira Code"/>
              </a:rPr>
              <a:t xml:space="preserve">1 0</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0</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d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BBDDC2"/>
                </a:solidFill>
                <a:latin typeface="Fira Code"/>
                <a:ea typeface="Fira Code"/>
                <a:cs typeface="Fira Code"/>
              </a:rPr>
              <a:t xml:space="preserve">sin</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θ</a:t>
            </a:r>
            <a:r>
              <a:rPr sz="2800">
                <a:solidFill>
                  <a:srgbClr val="99CCA4"/>
                </a:solidFill>
                <a:latin typeface="Fira Code"/>
                <a:ea typeface="Fira Code"/>
                <a:cs typeface="Fira Code"/>
              </a:rPr>
              <a:t xml:space="preserve">)</a:t>
            </a:r>
            <a:r>
              <a:rPr sz="2800">
                <a:solidFill>
                  <a:srgbClr val="AB7AB8"/>
                </a:solidFill>
                <a:latin typeface="Fira Code"/>
                <a:ea typeface="Fira Code"/>
                <a:cs typeface="Fira Code"/>
              </a:rPr>
              <a:t xml:space="preserve">)</a:t>
            </a:r>
          </a:p>
        </p:txBody>
      </p:sp>
      <p:sp>
        <p:nvSpPr>
          <p:cNvPr id="138" name="EKF source line 21">
            <a:extLst xmlns:a="http://schemas.openxmlformats.org/drawingml/2006/main">
              <a:ext uri="{FF2B5EF4-FFF2-40B4-BE49-F238E27FC236}">
                <a16:creationId xmlns:a16="http://schemas.microsoft.com/office/drawing/2014/main" id="{F16E1787-1F36-4727-84C7-8B558E98B909}"/>
              </a:ext>
            </a:extLst>
          </p:cNvPr>
          <p:cNvSpPr>
            <a:spLocks xmlns:a="http://schemas.openxmlformats.org/drawingml/2006/main" noGrp="1"/>
          </p:cNvSpPr>
          <p:nvPr/>
        </p:nvSpPr>
        <p:spPr>
          <a:xfrm xmlns:a="http://schemas.openxmlformats.org/drawingml/2006/main">
            <a:off x="23025735" y="21240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      </a:t>
            </a:r>
            <a:r>
              <a:rPr sz="2800">
                <a:solidFill>
                  <a:srgbClr val="9BC7F3"/>
                </a:solidFill>
                <a:latin typeface="Fira Code"/>
                <a:ea typeface="Fira Code"/>
                <a:cs typeface="Fira Code"/>
              </a:rPr>
              <a:t xml:space="preserve">0 1</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d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BBDDC2"/>
                </a:solidFill>
                <a:latin typeface="Fira Code"/>
                <a:ea typeface="Fira Code"/>
                <a:cs typeface="Fira Code"/>
              </a:rPr>
              <a:t xml:space="preserve">cos</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θ</a:t>
            </a:r>
            <a:r>
              <a:rPr sz="2800">
                <a:solidFill>
                  <a:srgbClr val="99CCA4"/>
                </a:solidFill>
                <a:latin typeface="Fira Code"/>
                <a:ea typeface="Fira Code"/>
                <a:cs typeface="Fira Code"/>
              </a:rPr>
              <a:t xml:space="preserve">)</a:t>
            </a:r>
          </a:p>
        </p:txBody>
      </p:sp>
      <p:sp>
        <p:nvSpPr>
          <p:cNvPr id="139" name="EKF source line 22">
            <a:extLst xmlns:a="http://schemas.openxmlformats.org/drawingml/2006/main">
              <a:ext uri="{FF2B5EF4-FFF2-40B4-BE49-F238E27FC236}">
                <a16:creationId xmlns:a16="http://schemas.microsoft.com/office/drawing/2014/main" id="{BC0DB53D-B8F5-41FF-8475-E19A4D1E9935}"/>
              </a:ext>
            </a:extLst>
          </p:cNvPr>
          <p:cNvSpPr>
            <a:spLocks xmlns:a="http://schemas.openxmlformats.org/drawingml/2006/main" noGrp="1"/>
          </p:cNvSpPr>
          <p:nvPr/>
        </p:nvSpPr>
        <p:spPr>
          <a:xfrm xmlns:a="http://schemas.openxmlformats.org/drawingml/2006/main">
            <a:off x="23025735" y="21621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      </a:t>
            </a:r>
            <a:r>
              <a:rPr sz="2800">
                <a:solidFill>
                  <a:srgbClr val="9BC7F3"/>
                </a:solidFill>
                <a:latin typeface="Fira Code"/>
                <a:ea typeface="Fira Code"/>
                <a:cs typeface="Fira Code"/>
              </a:rPr>
              <a:t xml:space="preserve">0 0 1</a:t>
            </a:r>
            <a:r>
              <a:rPr sz="2800">
                <a:solidFill>
                  <a:srgbClr val="AB7AB8"/>
                </a:solidFill>
                <a:latin typeface="Fira Code"/>
                <a:ea typeface="Fira Code"/>
                <a:cs typeface="Fira Code"/>
              </a:rPr>
              <a:t xml:space="preserve">]</a:t>
            </a:r>
          </a:p>
        </p:txBody>
      </p:sp>
      <p:sp>
        <p:nvSpPr>
          <p:cNvPr id="140" name="EKF source line 23">
            <a:extLst xmlns:a="http://schemas.openxmlformats.org/drawingml/2006/main">
              <a:ext uri="{FF2B5EF4-FFF2-40B4-BE49-F238E27FC236}">
                <a16:creationId xmlns:a16="http://schemas.microsoft.com/office/drawing/2014/main" id="{A680D009-09B0-4B1F-98B3-0AC62011490B}"/>
              </a:ext>
            </a:extLst>
          </p:cNvPr>
          <p:cNvSpPr>
            <a:spLocks xmlns:a="http://schemas.openxmlformats.org/drawingml/2006/main" noGrp="1"/>
          </p:cNvSpPr>
          <p:nvPr/>
        </p:nvSpPr>
        <p:spPr>
          <a:xfrm xmlns:a="http://schemas.openxmlformats.org/drawingml/2006/main">
            <a:off x="23025735" y="22002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V </a:t>
            </a:r>
            <a:r>
              <a:rPr sz="2800">
                <a:solidFill>
                  <a:srgbClr val="AB7AB8"/>
                </a:solidFill>
                <a:latin typeface="Fira Code"/>
                <a:ea typeface="Fira Code"/>
                <a:cs typeface="Fira Code"/>
              </a:rPr>
              <a:t xml:space="preserve">:= [</a:t>
            </a:r>
            <a:r>
              <a:rPr sz="2800">
                <a:solidFill>
                  <a:srgbClr val="BBDDC2"/>
                </a:solidFill>
                <a:latin typeface="Fira Code"/>
                <a:ea typeface="Fira Code"/>
                <a:cs typeface="Fira Code"/>
              </a:rPr>
              <a:t xml:space="preserve">cos</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θ</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Δ</a:t>
            </a:r>
            <a:r>
              <a:rPr sz="2800">
                <a:solidFill>
                  <a:srgbClr val="EDDAF1"/>
                </a:solidFill>
                <a:latin typeface="Fira Code"/>
                <a:ea typeface="Fira Code"/>
                <a:cs typeface="Fira Code"/>
              </a:rPr>
              <a:t xml:space="preserve">t </a:t>
            </a:r>
            <a:r>
              <a:rPr sz="2800">
                <a:solidFill>
                  <a:srgbClr val="9BC7F3"/>
                </a:solidFill>
                <a:latin typeface="Fira Code"/>
                <a:ea typeface="Fira Code"/>
                <a:cs typeface="Fira Code"/>
              </a:rPr>
              <a:t xml:space="preserve">0</a:t>
            </a:r>
          </a:p>
        </p:txBody>
      </p:sp>
      <p:sp>
        <p:nvSpPr>
          <p:cNvPr id="141" name="EKF source line 24">
            <a:extLst xmlns:a="http://schemas.openxmlformats.org/drawingml/2006/main">
              <a:ext uri="{FF2B5EF4-FFF2-40B4-BE49-F238E27FC236}">
                <a16:creationId xmlns:a16="http://schemas.microsoft.com/office/drawing/2014/main" id="{F0BFE3A3-BF8A-44FE-BD3F-4A2BA9446B55}"/>
              </a:ext>
            </a:extLst>
          </p:cNvPr>
          <p:cNvSpPr>
            <a:spLocks xmlns:a="http://schemas.openxmlformats.org/drawingml/2006/main" noGrp="1"/>
          </p:cNvSpPr>
          <p:nvPr/>
        </p:nvSpPr>
        <p:spPr>
          <a:xfrm xmlns:a="http://schemas.openxmlformats.org/drawingml/2006/main">
            <a:off x="23025735" y="22383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      </a:t>
            </a:r>
            <a:r>
              <a:rPr sz="2800">
                <a:solidFill>
                  <a:srgbClr val="BBDDC2"/>
                </a:solidFill>
                <a:latin typeface="Fira Code"/>
                <a:ea typeface="Fira Code"/>
                <a:cs typeface="Fira Code"/>
              </a:rPr>
              <a:t xml:space="preserve">sin</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θ</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Δ</a:t>
            </a:r>
            <a:r>
              <a:rPr sz="2800">
                <a:solidFill>
                  <a:srgbClr val="EDDAF1"/>
                </a:solidFill>
                <a:latin typeface="Fira Code"/>
                <a:ea typeface="Fira Code"/>
                <a:cs typeface="Fira Code"/>
              </a:rPr>
              <a:t xml:space="preserve">t </a:t>
            </a:r>
            <a:r>
              <a:rPr sz="2800">
                <a:solidFill>
                  <a:srgbClr val="9BC7F3"/>
                </a:solidFill>
                <a:latin typeface="Fira Code"/>
                <a:ea typeface="Fira Code"/>
                <a:cs typeface="Fira Code"/>
              </a:rPr>
              <a:t xml:space="preserve">0</a:t>
            </a:r>
          </a:p>
        </p:txBody>
      </p:sp>
      <p:sp>
        <p:nvSpPr>
          <p:cNvPr id="142" name="EKF source line 25">
            <a:extLst xmlns:a="http://schemas.openxmlformats.org/drawingml/2006/main">
              <a:ext uri="{FF2B5EF4-FFF2-40B4-BE49-F238E27FC236}">
                <a16:creationId xmlns:a16="http://schemas.microsoft.com/office/drawing/2014/main" id="{3A5BDBBD-451E-4F58-91D2-9D4B46B98451}"/>
              </a:ext>
            </a:extLst>
          </p:cNvPr>
          <p:cNvSpPr>
            <a:spLocks xmlns:a="http://schemas.openxmlformats.org/drawingml/2006/main" noGrp="1"/>
          </p:cNvSpPr>
          <p:nvPr/>
        </p:nvSpPr>
        <p:spPr>
          <a:xfrm xmlns:a="http://schemas.openxmlformats.org/drawingml/2006/main">
            <a:off x="23025735" y="22764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      </a:t>
            </a:r>
            <a:r>
              <a:rPr sz="2800">
                <a:solidFill>
                  <a:srgbClr val="9BC7F3"/>
                </a:solidFill>
                <a:latin typeface="Fira Code"/>
                <a:ea typeface="Fira Code"/>
                <a:cs typeface="Fira Code"/>
              </a:rPr>
              <a:t xml:space="preserve">0</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t</a:t>
            </a:r>
            <a:r>
              <a:rPr sz="2800">
                <a:solidFill>
                  <a:srgbClr val="AB7AB8"/>
                </a:solidFill>
                <a:latin typeface="Fira Code"/>
                <a:ea typeface="Fira Code"/>
                <a:cs typeface="Fira Code"/>
              </a:rPr>
              <a:t xml:space="preserve">]</a:t>
            </a:r>
          </a:p>
        </p:txBody>
      </p:sp>
      <p:sp>
        <p:nvSpPr>
          <p:cNvPr id="143" name="EKF source line 26">
            <a:extLst xmlns:a="http://schemas.openxmlformats.org/drawingml/2006/main">
              <a:ext uri="{FF2B5EF4-FFF2-40B4-BE49-F238E27FC236}">
                <a16:creationId xmlns:a16="http://schemas.microsoft.com/office/drawing/2014/main" id="{71E0E359-6822-4770-8AA1-9BE1DB5A9059}"/>
              </a:ext>
            </a:extLst>
          </p:cNvPr>
          <p:cNvSpPr>
            <a:spLocks xmlns:a="http://schemas.openxmlformats.org/drawingml/2006/main" noGrp="1"/>
          </p:cNvSpPr>
          <p:nvPr/>
        </p:nvSpPr>
        <p:spPr>
          <a:xfrm xmlns:a="http://schemas.openxmlformats.org/drawingml/2006/main">
            <a:off x="22812375" y="23145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44" name="EKF source line 27">
            <a:extLst xmlns:a="http://schemas.openxmlformats.org/drawingml/2006/main">
              <a:ext uri="{FF2B5EF4-FFF2-40B4-BE49-F238E27FC236}">
                <a16:creationId xmlns:a16="http://schemas.microsoft.com/office/drawing/2014/main" id="{E2930AF0-864B-4BE1-8215-8025174F1A64}"/>
              </a:ext>
            </a:extLst>
          </p:cNvPr>
          <p:cNvSpPr>
            <a:spLocks xmlns:a="http://schemas.openxmlformats.org/drawingml/2006/main" noGrp="1"/>
          </p:cNvSpPr>
          <p:nvPr/>
        </p:nvSpPr>
        <p:spPr>
          <a:xfrm xmlns:a="http://schemas.openxmlformats.org/drawingml/2006/main">
            <a:off x="23025735" y="23526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μ̄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μ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d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BBDDC2"/>
                </a:solidFill>
                <a:latin typeface="Fira Code"/>
                <a:ea typeface="Fira Code"/>
                <a:cs typeface="Fira Code"/>
              </a:rPr>
              <a:t xml:space="preserve">cos</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θ</a:t>
            </a:r>
            <a:r>
              <a:rPr sz="2800">
                <a:solidFill>
                  <a:srgbClr val="99CCA4"/>
                </a:solidFill>
                <a:latin typeface="Fira Code"/>
                <a:ea typeface="Fira Code"/>
                <a:cs typeface="Fira Code"/>
              </a:rPr>
              <a:t xml:space="preserve">)</a:t>
            </a:r>
          </a:p>
        </p:txBody>
      </p:sp>
      <p:sp>
        <p:nvSpPr>
          <p:cNvPr id="145" name="EKF source line 28">
            <a:extLst xmlns:a="http://schemas.openxmlformats.org/drawingml/2006/main">
              <a:ext uri="{FF2B5EF4-FFF2-40B4-BE49-F238E27FC236}">
                <a16:creationId xmlns:a16="http://schemas.microsoft.com/office/drawing/2014/main" id="{7EDC4FAB-C827-4BFB-9C27-26FA9BC2E9B6}"/>
              </a:ext>
            </a:extLst>
          </p:cNvPr>
          <p:cNvSpPr>
            <a:spLocks xmlns:a="http://schemas.openxmlformats.org/drawingml/2006/main" noGrp="1"/>
          </p:cNvSpPr>
          <p:nvPr/>
        </p:nvSpPr>
        <p:spPr>
          <a:xfrm xmlns:a="http://schemas.openxmlformats.org/drawingml/2006/main">
            <a:off x="23025735" y="23907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d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BBDDC2"/>
                </a:solidFill>
                <a:latin typeface="Fira Code"/>
                <a:ea typeface="Fira Code"/>
                <a:cs typeface="Fira Code"/>
              </a:rPr>
              <a:t xml:space="preserve">sin</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θ</a:t>
            </a:r>
            <a:r>
              <a:rPr sz="2800">
                <a:solidFill>
                  <a:srgbClr val="99CCA4"/>
                </a:solidFill>
                <a:latin typeface="Fira Code"/>
                <a:ea typeface="Fira Code"/>
                <a:cs typeface="Fira Code"/>
              </a:rPr>
              <a:t xml:space="preserve">)</a:t>
            </a:r>
          </a:p>
        </p:txBody>
      </p:sp>
      <p:sp>
        <p:nvSpPr>
          <p:cNvPr id="146" name="EKF source line 29">
            <a:extLst xmlns:a="http://schemas.openxmlformats.org/drawingml/2006/main">
              <a:ext uri="{FF2B5EF4-FFF2-40B4-BE49-F238E27FC236}">
                <a16:creationId xmlns:a16="http://schemas.microsoft.com/office/drawing/2014/main" id="{2F59D6CD-85D7-42BC-89AB-B03985662B64}"/>
              </a:ext>
            </a:extLst>
          </p:cNvPr>
          <p:cNvSpPr>
            <a:spLocks xmlns:a="http://schemas.openxmlformats.org/drawingml/2006/main" noGrp="1"/>
          </p:cNvSpPr>
          <p:nvPr/>
        </p:nvSpPr>
        <p:spPr>
          <a:xfrm xmlns:a="http://schemas.openxmlformats.org/drawingml/2006/main">
            <a:off x="23025735" y="24288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          ω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Δ</a:t>
            </a:r>
            <a:r>
              <a:rPr sz="2800">
                <a:solidFill>
                  <a:srgbClr val="EDDAF1"/>
                </a:solidFill>
                <a:latin typeface="Fira Code"/>
                <a:ea typeface="Fira Code"/>
                <a:cs typeface="Fira Code"/>
              </a:rPr>
              <a:t xml:space="preserve">t</a:t>
            </a:r>
            <a:r>
              <a:rPr sz="2800">
                <a:solidFill>
                  <a:srgbClr val="AB7AB8"/>
                </a:solidFill>
                <a:latin typeface="Fira Code"/>
                <a:ea typeface="Fira Code"/>
                <a:cs typeface="Fira Code"/>
              </a:rPr>
              <a:t xml:space="preserve">]</a:t>
            </a:r>
          </a:p>
        </p:txBody>
      </p:sp>
      <p:sp>
        <p:nvSpPr>
          <p:cNvPr id="147" name="EKF source line 30">
            <a:extLst xmlns:a="http://schemas.openxmlformats.org/drawingml/2006/main">
              <a:ext uri="{FF2B5EF4-FFF2-40B4-BE49-F238E27FC236}">
                <a16:creationId xmlns:a16="http://schemas.microsoft.com/office/drawing/2014/main" id="{46DEC10A-0A37-4704-914D-087B5F5E7274}"/>
              </a:ext>
            </a:extLst>
          </p:cNvPr>
          <p:cNvSpPr>
            <a:spLocks xmlns:a="http://schemas.openxmlformats.org/drawingml/2006/main" noGrp="1"/>
          </p:cNvSpPr>
          <p:nvPr/>
        </p:nvSpPr>
        <p:spPr>
          <a:xfrm xmlns:a="http://schemas.openxmlformats.org/drawingml/2006/main">
            <a:off x="23025735" y="24669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Σ̄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G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Σ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G'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V </a:t>
            </a:r>
            <a:r>
              <a:rPr sz="2800">
                <a:solidFill>
                  <a:srgbClr val="AB7AB8"/>
                </a:solidFill>
                <a:latin typeface="Fira Code"/>
                <a:ea typeface="Fira Code"/>
                <a:cs typeface="Fira Code"/>
              </a:rPr>
              <a:t xml:space="preserve">** </a:t>
            </a:r>
            <a:r>
              <a:rPr sz="2800">
                <a:solidFill>
                  <a:srgbClr val="EDDAF1"/>
                </a:solidFill>
                <a:latin typeface="Fira Code"/>
                <a:ea typeface="Fira Code"/>
                <a:cs typeface="Fira Code"/>
              </a:rPr>
              <a:t xml:space="preserve">Q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V</a:t>
            </a:r>
            <a:r>
              <a:rPr sz="2800">
                <a:solidFill>
                  <a:srgbClr val="AB7AB8"/>
                </a:solidFill>
                <a:latin typeface="Fira Code"/>
                <a:ea typeface="Fira Code"/>
                <a:cs typeface="Fira Code"/>
              </a:rPr>
              <a:t xml:space="preserve">'</a:t>
            </a:r>
          </a:p>
        </p:txBody>
      </p:sp>
      <p:sp>
        <p:nvSpPr>
          <p:cNvPr id="148" name="EKF source line 31">
            <a:extLst xmlns:a="http://schemas.openxmlformats.org/drawingml/2006/main">
              <a:ext uri="{FF2B5EF4-FFF2-40B4-BE49-F238E27FC236}">
                <a16:creationId xmlns:a16="http://schemas.microsoft.com/office/drawing/2014/main" id="{12D4C66E-BE6D-4602-B528-6AE20B82BFD9}"/>
              </a:ext>
            </a:extLst>
          </p:cNvPr>
          <p:cNvSpPr>
            <a:spLocks xmlns:a="http://schemas.openxmlformats.org/drawingml/2006/main" noGrp="1"/>
          </p:cNvSpPr>
          <p:nvPr/>
        </p:nvSpPr>
        <p:spPr>
          <a:xfrm xmlns:a="http://schemas.openxmlformats.org/drawingml/2006/main">
            <a:off x="22812375" y="25050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49" name="EKF source line 32">
            <a:extLst xmlns:a="http://schemas.openxmlformats.org/drawingml/2006/main">
              <a:ext uri="{FF2B5EF4-FFF2-40B4-BE49-F238E27FC236}">
                <a16:creationId xmlns:a16="http://schemas.microsoft.com/office/drawing/2014/main" id="{3277DF30-EF71-4C32-9ED2-060F99F4BD49}"/>
              </a:ext>
            </a:extLst>
          </p:cNvPr>
          <p:cNvSpPr>
            <a:spLocks xmlns:a="http://schemas.openxmlformats.org/drawingml/2006/main" noGrp="1"/>
          </p:cNvSpPr>
          <p:nvPr/>
        </p:nvSpPr>
        <p:spPr>
          <a:xfrm xmlns:a="http://schemas.openxmlformats.org/drawingml/2006/main">
            <a:off x="22812375" y="25431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 xml:space="preserve">Measurement Update</a:t>
            </a:r>
          </a:p>
        </p:txBody>
      </p:sp>
      <p:sp>
        <p:nvSpPr>
          <p:cNvPr id="150" name="EKF source line 33">
            <a:extLst xmlns:a="http://schemas.openxmlformats.org/drawingml/2006/main">
              <a:ext uri="{FF2B5EF4-FFF2-40B4-BE49-F238E27FC236}">
                <a16:creationId xmlns:a16="http://schemas.microsoft.com/office/drawing/2014/main" id="{4E14CEAE-D750-4B7A-A77C-6C852AD903CC}"/>
              </a:ext>
            </a:extLst>
          </p:cNvPr>
          <p:cNvSpPr>
            <a:spLocks xmlns:a="http://schemas.openxmlformats.org/drawingml/2006/main" noGrp="1"/>
          </p:cNvSpPr>
          <p:nvPr/>
        </p:nvSpPr>
        <p:spPr>
          <a:xfrm xmlns:a="http://schemas.openxmlformats.org/drawingml/2006/main">
            <a:off x="22812375" y="25812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 xml:space="preserve">--------------------------------------</a:t>
            </a:r>
          </a:p>
        </p:txBody>
      </p:sp>
      <p:sp>
        <p:nvSpPr>
          <p:cNvPr id="151" name="EKF source line 34">
            <a:extLst xmlns:a="http://schemas.openxmlformats.org/drawingml/2006/main">
              <a:ext uri="{FF2B5EF4-FFF2-40B4-BE49-F238E27FC236}">
                <a16:creationId xmlns:a16="http://schemas.microsoft.com/office/drawing/2014/main" id="{C9B3DD33-0F6B-4D20-BBA0-8B8F5DEE0422}"/>
              </a:ext>
            </a:extLst>
          </p:cNvPr>
          <p:cNvSpPr>
            <a:spLocks xmlns:a="http://schemas.openxmlformats.org/drawingml/2006/main" noGrp="1"/>
          </p:cNvSpPr>
          <p:nvPr/>
        </p:nvSpPr>
        <p:spPr>
          <a:xfrm xmlns:a="http://schemas.openxmlformats.org/drawingml/2006/main">
            <a:off x="23025735" y="26193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δ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m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μ̄</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1</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2</a:t>
            </a:r>
            <a:r>
              <a:rPr sz="2800">
                <a:solidFill>
                  <a:srgbClr val="AB7AB8"/>
                </a:solidFill>
                <a:latin typeface="Fira Code"/>
                <a:ea typeface="Fira Code"/>
                <a:cs typeface="Fira Code"/>
              </a:rPr>
              <a:t xml:space="preserve">]</a:t>
            </a:r>
          </a:p>
        </p:txBody>
      </p:sp>
      <p:sp>
        <p:nvSpPr>
          <p:cNvPr id="152" name="EKF source line 35">
            <a:extLst xmlns:a="http://schemas.openxmlformats.org/drawingml/2006/main">
              <a:ext uri="{FF2B5EF4-FFF2-40B4-BE49-F238E27FC236}">
                <a16:creationId xmlns:a16="http://schemas.microsoft.com/office/drawing/2014/main" id="{A3C6AB26-FD2D-4CBE-98F7-9028C28C82EC}"/>
              </a:ext>
            </a:extLst>
          </p:cNvPr>
          <p:cNvSpPr>
            <a:spLocks xmlns:a="http://schemas.openxmlformats.org/drawingml/2006/main" noGrp="1"/>
          </p:cNvSpPr>
          <p:nvPr/>
        </p:nvSpPr>
        <p:spPr>
          <a:xfrm xmlns:a="http://schemas.openxmlformats.org/drawingml/2006/main">
            <a:off x="23025735" y="26574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x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1</a:t>
            </a:r>
            <a:r>
              <a:rPr sz="2800">
                <a:solidFill>
                  <a:srgbClr val="AB7AB8"/>
                </a:solidFill>
                <a:latin typeface="Fira Code"/>
                <a:ea typeface="Fira Code"/>
                <a:cs typeface="Fira Code"/>
              </a:rPr>
              <a:t xml:space="preserve">]</a:t>
            </a:r>
          </a:p>
        </p:txBody>
      </p:sp>
      <p:sp>
        <p:nvSpPr>
          <p:cNvPr id="153" name="EKF source line 36">
            <a:extLst xmlns:a="http://schemas.openxmlformats.org/drawingml/2006/main">
              <a:ext uri="{FF2B5EF4-FFF2-40B4-BE49-F238E27FC236}">
                <a16:creationId xmlns:a16="http://schemas.microsoft.com/office/drawing/2014/main" id="{5D3351FC-7922-4340-AAE6-E03A1A7CF714}"/>
              </a:ext>
            </a:extLst>
          </p:cNvPr>
          <p:cNvSpPr>
            <a:spLocks xmlns:a="http://schemas.openxmlformats.org/drawingml/2006/main" noGrp="1"/>
          </p:cNvSpPr>
          <p:nvPr/>
        </p:nvSpPr>
        <p:spPr>
          <a:xfrm xmlns:a="http://schemas.openxmlformats.org/drawingml/2006/main">
            <a:off x="23025735" y="26955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y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2</a:t>
            </a:r>
            <a:r>
              <a:rPr sz="2800">
                <a:solidFill>
                  <a:srgbClr val="AB7AB8"/>
                </a:solidFill>
                <a:latin typeface="Fira Code"/>
                <a:ea typeface="Fira Code"/>
                <a:cs typeface="Fira Code"/>
              </a:rPr>
              <a:t xml:space="preserve">]</a:t>
            </a:r>
          </a:p>
        </p:txBody>
      </p:sp>
      <p:sp>
        <p:nvSpPr>
          <p:cNvPr id="154" name="EKF source line 37">
            <a:extLst xmlns:a="http://schemas.openxmlformats.org/drawingml/2006/main">
              <a:ext uri="{FF2B5EF4-FFF2-40B4-BE49-F238E27FC236}">
                <a16:creationId xmlns:a16="http://schemas.microsoft.com/office/drawing/2014/main" id="{E6D63696-2E8C-47FE-B170-E937A386E8F4}"/>
              </a:ext>
            </a:extLst>
          </p:cNvPr>
          <p:cNvSpPr>
            <a:spLocks xmlns:a="http://schemas.openxmlformats.org/drawingml/2006/main" noGrp="1"/>
          </p:cNvSpPr>
          <p:nvPr/>
        </p:nvSpPr>
        <p:spPr>
          <a:xfrm xmlns:a="http://schemas.openxmlformats.org/drawingml/2006/main">
            <a:off x="23025735" y="27336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q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x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9BC7F3"/>
                </a:solidFill>
                <a:latin typeface="Fira Code"/>
                <a:ea typeface="Fira Code"/>
                <a:cs typeface="Fira Code"/>
              </a:rPr>
              <a:t xml:space="preserve">2</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y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9BC7F3"/>
                </a:solidFill>
                <a:latin typeface="Fira Code"/>
                <a:ea typeface="Fira Code"/>
                <a:cs typeface="Fira Code"/>
              </a:rPr>
              <a:t xml:space="preserve">2</a:t>
            </a:r>
          </a:p>
        </p:txBody>
      </p:sp>
      <p:sp>
        <p:nvSpPr>
          <p:cNvPr id="155" name="EKF source line 38">
            <a:extLst xmlns:a="http://schemas.openxmlformats.org/drawingml/2006/main">
              <a:ext uri="{FF2B5EF4-FFF2-40B4-BE49-F238E27FC236}">
                <a16:creationId xmlns:a16="http://schemas.microsoft.com/office/drawing/2014/main" id="{295A7E20-78AB-45E4-89FD-ECCBEE04C3B9}"/>
              </a:ext>
            </a:extLst>
          </p:cNvPr>
          <p:cNvSpPr>
            <a:spLocks xmlns:a="http://schemas.openxmlformats.org/drawingml/2006/main" noGrp="1"/>
          </p:cNvSpPr>
          <p:nvPr/>
        </p:nvSpPr>
        <p:spPr>
          <a:xfrm xmlns:a="http://schemas.openxmlformats.org/drawingml/2006/main">
            <a:off x="22812375" y="27717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56" name="EKF source line 39">
            <a:extLst xmlns:a="http://schemas.openxmlformats.org/drawingml/2006/main">
              <a:ext uri="{FF2B5EF4-FFF2-40B4-BE49-F238E27FC236}">
                <a16:creationId xmlns:a16="http://schemas.microsoft.com/office/drawing/2014/main" id="{1AA5FF90-941E-4BB7-871C-BF76E95253FC}"/>
              </a:ext>
            </a:extLst>
          </p:cNvPr>
          <p:cNvSpPr>
            <a:spLocks xmlns:a="http://schemas.openxmlformats.org/drawingml/2006/main" noGrp="1"/>
          </p:cNvSpPr>
          <p:nvPr/>
        </p:nvSpPr>
        <p:spPr>
          <a:xfrm xmlns:a="http://schemas.openxmlformats.org/drawingml/2006/main">
            <a:off x="23025735" y="28098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ẑ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BBDDC2"/>
                </a:solidFill>
                <a:latin typeface="Fira Code"/>
                <a:ea typeface="Fira Code"/>
                <a:cs typeface="Fira Code"/>
              </a:rPr>
              <a:t xml:space="preserve">atan2</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y</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x</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μ̄</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3</a:t>
            </a:r>
            <a:r>
              <a:rPr sz="2800">
                <a:solidFill>
                  <a:srgbClr val="AB7AB8"/>
                </a:solidFill>
                <a:latin typeface="Fira Code"/>
                <a:ea typeface="Fira Code"/>
                <a:cs typeface="Fira Code"/>
              </a:rPr>
              <a:t xml:space="preserve">]</a:t>
            </a:r>
          </a:p>
        </p:txBody>
      </p:sp>
      <p:sp>
        <p:nvSpPr>
          <p:cNvPr id="157" name="EKF source line 40">
            <a:extLst xmlns:a="http://schemas.openxmlformats.org/drawingml/2006/main">
              <a:ext uri="{FF2B5EF4-FFF2-40B4-BE49-F238E27FC236}">
                <a16:creationId xmlns:a16="http://schemas.microsoft.com/office/drawing/2014/main" id="{41BFEEF2-3F02-4A8A-BC39-4DEDA95AD95D}"/>
              </a:ext>
            </a:extLst>
          </p:cNvPr>
          <p:cNvSpPr>
            <a:spLocks xmlns:a="http://schemas.openxmlformats.org/drawingml/2006/main" noGrp="1"/>
          </p:cNvSpPr>
          <p:nvPr/>
        </p:nvSpPr>
        <p:spPr>
          <a:xfrm xmlns:a="http://schemas.openxmlformats.org/drawingml/2006/main">
            <a:off x="23025735" y="28479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r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z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ẑ</a:t>
            </a:r>
          </a:p>
        </p:txBody>
      </p:sp>
      <p:sp>
        <p:nvSpPr>
          <p:cNvPr id="158" name="EKF source line 41">
            <a:extLst xmlns:a="http://schemas.openxmlformats.org/drawingml/2006/main">
              <a:ext uri="{FF2B5EF4-FFF2-40B4-BE49-F238E27FC236}">
                <a16:creationId xmlns:a16="http://schemas.microsoft.com/office/drawing/2014/main" id="{08F2D7A2-D295-40D0-A5BA-22D37991067D}"/>
              </a:ext>
            </a:extLst>
          </p:cNvPr>
          <p:cNvSpPr>
            <a:spLocks xmlns:a="http://schemas.openxmlformats.org/drawingml/2006/main" noGrp="1"/>
          </p:cNvSpPr>
          <p:nvPr/>
        </p:nvSpPr>
        <p:spPr>
          <a:xfrm xmlns:a="http://schemas.openxmlformats.org/drawingml/2006/main">
            <a:off x="23025735" y="28860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ν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BBDDC2"/>
                </a:solidFill>
                <a:latin typeface="Fira Code"/>
                <a:ea typeface="Fira Code"/>
                <a:cs typeface="Fira Code"/>
              </a:rPr>
              <a:t xml:space="preserve">atan2</a:t>
            </a:r>
            <a:r>
              <a:rPr sz="2800">
                <a:solidFill>
                  <a:srgbClr val="99CCA4"/>
                </a:solidFill>
                <a:latin typeface="Fira Code"/>
                <a:ea typeface="Fira Code"/>
                <a:cs typeface="Fira Code"/>
              </a:rPr>
              <a:t xml:space="preserve">(</a:t>
            </a:r>
            <a:r>
              <a:rPr sz="2800">
                <a:solidFill>
                  <a:srgbClr val="BBDDC2"/>
                </a:solidFill>
                <a:latin typeface="Fira Code"/>
                <a:ea typeface="Fira Code"/>
                <a:cs typeface="Fira Code"/>
              </a:rPr>
              <a:t xml:space="preserve">sin</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r</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BBDDC2"/>
                </a:solidFill>
                <a:latin typeface="Fira Code"/>
                <a:ea typeface="Fira Code"/>
                <a:cs typeface="Fira Code"/>
              </a:rPr>
              <a:t xml:space="preserve">cos</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r</a:t>
            </a:r>
            <a:r>
              <a:rPr sz="2800">
                <a:solidFill>
                  <a:srgbClr val="99CCA4"/>
                </a:solidFill>
                <a:latin typeface="Fira Code"/>
                <a:ea typeface="Fira Code"/>
                <a:cs typeface="Fira Code"/>
              </a:rPr>
              <a:t xml:space="preserve">))</a:t>
            </a:r>
          </a:p>
        </p:txBody>
      </p:sp>
      <p:sp>
        <p:nvSpPr>
          <p:cNvPr id="159" name="EKF source line 42">
            <a:extLst xmlns:a="http://schemas.openxmlformats.org/drawingml/2006/main">
              <a:ext uri="{FF2B5EF4-FFF2-40B4-BE49-F238E27FC236}">
                <a16:creationId xmlns:a16="http://schemas.microsoft.com/office/drawing/2014/main" id="{FDEDCC0F-4649-4CA6-AE22-1F38BE9BF0D7}"/>
              </a:ext>
            </a:extLst>
          </p:cNvPr>
          <p:cNvSpPr>
            <a:spLocks xmlns:a="http://schemas.openxmlformats.org/drawingml/2006/main" noGrp="1"/>
          </p:cNvSpPr>
          <p:nvPr/>
        </p:nvSpPr>
        <p:spPr>
          <a:xfrm xmlns:a="http://schemas.openxmlformats.org/drawingml/2006/main">
            <a:off x="22812375" y="29241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60" name="EKF source line 43">
            <a:extLst xmlns:a="http://schemas.openxmlformats.org/drawingml/2006/main">
              <a:ext uri="{FF2B5EF4-FFF2-40B4-BE49-F238E27FC236}">
                <a16:creationId xmlns:a16="http://schemas.microsoft.com/office/drawing/2014/main" id="{711F5776-54EA-44E9-96A0-816F05D70D4E}"/>
              </a:ext>
            </a:extLst>
          </p:cNvPr>
          <p:cNvSpPr>
            <a:spLocks xmlns:a="http://schemas.openxmlformats.org/drawingml/2006/main" noGrp="1"/>
          </p:cNvSpPr>
          <p:nvPr/>
        </p:nvSpPr>
        <p:spPr>
          <a:xfrm xmlns:a="http://schemas.openxmlformats.org/drawingml/2006/main">
            <a:off x="23025735" y="29622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H </a:t>
            </a:r>
            <a:r>
              <a:rPr sz="2800">
                <a:solidFill>
                  <a:srgbClr val="AB7AB8"/>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y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q</a:t>
            </a:r>
            <a:r>
              <a:rPr sz="2800">
                <a:solidFill>
                  <a:srgbClr val="AB7AB8"/>
                </a:solidFill>
                <a:latin typeface="Fira Code"/>
                <a:ea typeface="Fira Code"/>
                <a:cs typeface="Fira Code"/>
              </a:rPr>
              <a:t xml:space="preserve">, (</a:t>
            </a:r>
            <a:r>
              <a:rPr sz="2800">
                <a:solidFill>
                  <a:srgbClr val="9BC7F3"/>
                </a:solidFill>
                <a:latin typeface="Fira Code"/>
                <a:ea typeface="Fira Code"/>
                <a:cs typeface="Fira Code"/>
              </a:rPr>
              <a:t xml:space="preserve">0</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x</a:t>
            </a:r>
            <a:r>
              <a:rPr sz="2800">
                <a:solidFill>
                  <a:srgbClr val="AB7AB8"/>
                </a:solidFill>
                <a:latin typeface="Fira Code"/>
                <a:ea typeface="Fira Code"/>
                <a:cs typeface="Fira Code"/>
              </a:rPr>
              <a:t xml:space="preserve">) /</a:t>
            </a:r>
            <a:r>
              <a:rPr sz="2800">
                <a:solidFill>
                  <a:srgbClr val="EDDAF1"/>
                </a:solidFill>
                <a:latin typeface="Fira Code"/>
                <a:ea typeface="Fira Code"/>
                <a:cs typeface="Fira Code"/>
              </a:rPr>
              <a:t xml:space="preserve"> q</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1</a:t>
            </a:r>
            <a:r>
              <a:rPr sz="2800">
                <a:solidFill>
                  <a:srgbClr val="AB7AB8"/>
                </a:solidFill>
                <a:latin typeface="Fira Code"/>
                <a:ea typeface="Fira Code"/>
                <a:cs typeface="Fira Code"/>
              </a:rPr>
              <a:t xml:space="preserve">]</a:t>
            </a:r>
          </a:p>
        </p:txBody>
      </p:sp>
      <p:sp>
        <p:nvSpPr>
          <p:cNvPr id="161" name="EKF source line 44">
            <a:extLst xmlns:a="http://schemas.openxmlformats.org/drawingml/2006/main">
              <a:ext uri="{FF2B5EF4-FFF2-40B4-BE49-F238E27FC236}">
                <a16:creationId xmlns:a16="http://schemas.microsoft.com/office/drawing/2014/main" id="{7780713A-3786-4498-9674-E23934CBAE71}"/>
              </a:ext>
            </a:extLst>
          </p:cNvPr>
          <p:cNvSpPr>
            <a:spLocks xmlns:a="http://schemas.openxmlformats.org/drawingml/2006/main" noGrp="1"/>
          </p:cNvSpPr>
          <p:nvPr/>
        </p:nvSpPr>
        <p:spPr>
          <a:xfrm xmlns:a="http://schemas.openxmlformats.org/drawingml/2006/main">
            <a:off x="23025735" y="30003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S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H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Σ̄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H</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R</a:t>
            </a:r>
          </a:p>
        </p:txBody>
      </p:sp>
      <p:sp>
        <p:nvSpPr>
          <p:cNvPr id="162" name="EKF source line 45">
            <a:extLst xmlns:a="http://schemas.openxmlformats.org/drawingml/2006/main">
              <a:ext uri="{FF2B5EF4-FFF2-40B4-BE49-F238E27FC236}">
                <a16:creationId xmlns:a16="http://schemas.microsoft.com/office/drawing/2014/main" id="{BFC6B488-26F8-4602-BBBE-050608F47083}"/>
              </a:ext>
            </a:extLst>
          </p:cNvPr>
          <p:cNvSpPr>
            <a:spLocks xmlns:a="http://schemas.openxmlformats.org/drawingml/2006/main" noGrp="1"/>
          </p:cNvSpPr>
          <p:nvPr/>
        </p:nvSpPr>
        <p:spPr>
          <a:xfrm xmlns:a="http://schemas.openxmlformats.org/drawingml/2006/main">
            <a:off x="23025735" y="30384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K </a:t>
            </a:r>
            <a:r>
              <a:rPr sz="2800">
                <a:solidFill>
                  <a:srgbClr val="AB7AB8"/>
                </a:solidFill>
                <a:latin typeface="Fira Code"/>
                <a:ea typeface="Fira Code"/>
                <a:cs typeface="Fira Code"/>
              </a:rPr>
              <a:t xml:space="preserve">:= (</a:t>
            </a:r>
            <a:r>
              <a:rPr sz="2800">
                <a:solidFill>
                  <a:srgbClr val="EDDAF1"/>
                </a:solidFill>
                <a:latin typeface="Fira Code"/>
                <a:ea typeface="Fira Code"/>
                <a:cs typeface="Fira Code"/>
              </a:rPr>
              <a:t xml:space="preserve">Σ̄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H</a:t>
            </a:r>
            <a:r>
              <a:rPr sz="2800">
                <a:solidFill>
                  <a:srgbClr val="AB7AB8"/>
                </a:solidFill>
                <a:latin typeface="Fira Code"/>
                <a:ea typeface="Fira Code"/>
                <a:cs typeface="Fira Code"/>
              </a:rPr>
              <a:t xml:space="preserve">') /</a:t>
            </a:r>
            <a:r>
              <a:rPr sz="2800">
                <a:solidFill>
                  <a:srgbClr val="EDDAF1"/>
                </a:solidFill>
                <a:latin typeface="Fira Code"/>
                <a:ea typeface="Fira Code"/>
                <a:cs typeface="Fira Code"/>
              </a:rPr>
              <a:t xml:space="preserve"> S</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1</a:t>
            </a:r>
            <a:r>
              <a:rPr sz="2800">
                <a:solidFill>
                  <a:srgbClr val="AB7AB8"/>
                </a:solidFill>
                <a:latin typeface="Fira Code"/>
                <a:ea typeface="Fira Code"/>
                <a:cs typeface="Fira Code"/>
              </a:rPr>
              <a:t xml:space="preserve">]</a:t>
            </a:r>
          </a:p>
        </p:txBody>
      </p:sp>
      <p:sp>
        <p:nvSpPr>
          <p:cNvPr id="163" name="EKF source line 46">
            <a:extLst xmlns:a="http://schemas.openxmlformats.org/drawingml/2006/main">
              <a:ext uri="{FF2B5EF4-FFF2-40B4-BE49-F238E27FC236}">
                <a16:creationId xmlns:a16="http://schemas.microsoft.com/office/drawing/2014/main" id="{C77FDA86-7F0E-4749-88D6-795579136443}"/>
              </a:ext>
            </a:extLst>
          </p:cNvPr>
          <p:cNvSpPr>
            <a:spLocks xmlns:a="http://schemas.openxmlformats.org/drawingml/2006/main" noGrp="1"/>
          </p:cNvSpPr>
          <p:nvPr/>
        </p:nvSpPr>
        <p:spPr>
          <a:xfrm xmlns:a="http://schemas.openxmlformats.org/drawingml/2006/main">
            <a:off x="23025735" y="30765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A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I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K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H</a:t>
            </a:r>
          </a:p>
        </p:txBody>
      </p:sp>
      <p:sp>
        <p:nvSpPr>
          <p:cNvPr id="164" name="EKF source line 47">
            <a:extLst xmlns:a="http://schemas.openxmlformats.org/drawingml/2006/main">
              <a:ext uri="{FF2B5EF4-FFF2-40B4-BE49-F238E27FC236}">
                <a16:creationId xmlns:a16="http://schemas.microsoft.com/office/drawing/2014/main" id="{DBCD0DC1-431B-4772-B5BB-D2CDFAE1AD8B}"/>
              </a:ext>
            </a:extLst>
          </p:cNvPr>
          <p:cNvSpPr>
            <a:spLocks xmlns:a="http://schemas.openxmlformats.org/drawingml/2006/main" noGrp="1"/>
          </p:cNvSpPr>
          <p:nvPr/>
        </p:nvSpPr>
        <p:spPr>
          <a:xfrm xmlns:a="http://schemas.openxmlformats.org/drawingml/2006/main">
            <a:off x="22812375" y="31146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65" name="EKF source line 48">
            <a:extLst xmlns:a="http://schemas.openxmlformats.org/drawingml/2006/main">
              <a:ext uri="{FF2B5EF4-FFF2-40B4-BE49-F238E27FC236}">
                <a16:creationId xmlns:a16="http://schemas.microsoft.com/office/drawing/2014/main" id="{CDF37565-8E98-4F45-9993-529CE5738C33}"/>
              </a:ext>
            </a:extLst>
          </p:cNvPr>
          <p:cNvSpPr>
            <a:spLocks xmlns:a="http://schemas.openxmlformats.org/drawingml/2006/main" noGrp="1"/>
          </p:cNvSpPr>
          <p:nvPr/>
        </p:nvSpPr>
        <p:spPr>
          <a:xfrm xmlns:a="http://schemas.openxmlformats.org/drawingml/2006/main">
            <a:off x="23025735" y="31527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μ₊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μ̄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K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ν</a:t>
            </a:r>
          </a:p>
        </p:txBody>
      </p:sp>
      <p:sp>
        <p:nvSpPr>
          <p:cNvPr id="166" name="EKF source line 49">
            <a:extLst xmlns:a="http://schemas.openxmlformats.org/drawingml/2006/main">
              <a:ext uri="{FF2B5EF4-FFF2-40B4-BE49-F238E27FC236}">
                <a16:creationId xmlns:a16="http://schemas.microsoft.com/office/drawing/2014/main" id="{2B44EEB7-5FD7-4E30-BCE3-DE2292B7BFAD}"/>
              </a:ext>
            </a:extLst>
          </p:cNvPr>
          <p:cNvSpPr>
            <a:spLocks xmlns:a="http://schemas.openxmlformats.org/drawingml/2006/main" noGrp="1"/>
          </p:cNvSpPr>
          <p:nvPr/>
        </p:nvSpPr>
        <p:spPr>
          <a:xfrm xmlns:a="http://schemas.openxmlformats.org/drawingml/2006/main">
            <a:off x="23025735" y="31908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Σ₊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A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Σ̄</a:t>
            </a:r>
            <a:r>
              <a:rPr sz="2800">
                <a:solidFill>
                  <a:srgbClr val="AB7AB8"/>
                </a:solidFill>
                <a:latin typeface="Fira Code"/>
                <a:ea typeface="Fira Code"/>
                <a:cs typeface="Fira Code"/>
              </a:rPr>
              <a:t xml:space="preserve"> ** </a:t>
            </a:r>
            <a:r>
              <a:rPr sz="2800">
                <a:solidFill>
                  <a:srgbClr val="EDDAF1"/>
                </a:solidFill>
                <a:latin typeface="Fira Code"/>
                <a:ea typeface="Fira Code"/>
                <a:cs typeface="Fira Code"/>
              </a:rPr>
              <a:t xml:space="preserve">A</a:t>
            </a:r>
            <a:r>
              <a:rPr sz="2800">
                <a:solidFill>
                  <a:srgbClr val="AB7AB8"/>
                </a:solidFill>
                <a:latin typeface="Fira Code"/>
                <a:ea typeface="Fira Code"/>
                <a:cs typeface="Fira Code"/>
              </a:rPr>
              <a:t xml:space="preserve">' + (</a:t>
            </a:r>
            <a:r>
              <a:rPr sz="2800">
                <a:solidFill>
                  <a:srgbClr val="EDDAF1"/>
                </a:solidFill>
                <a:latin typeface="Fira Code"/>
                <a:ea typeface="Fira Code"/>
                <a:cs typeface="Fira Code"/>
              </a:rPr>
              <a:t xml:space="preserve">K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K</a:t>
            </a:r>
            <a:r>
              <a:rPr sz="2800">
                <a:solidFill>
                  <a:srgbClr val="AB7AB8"/>
                </a:solidFill>
                <a:latin typeface="Fira Code"/>
                <a:ea typeface="Fira Code"/>
                <a:cs typeface="Fira Code"/>
              </a:rPr>
              <a:t xml:space="preserve">') *</a:t>
            </a:r>
            <a:r>
              <a:rPr sz="2800">
                <a:solidFill>
                  <a:srgbClr val="EDDAF1"/>
                </a:solidFill>
                <a:latin typeface="Fira Code"/>
                <a:ea typeface="Fira Code"/>
                <a:cs typeface="Fira Code"/>
              </a:rPr>
              <a:t xml:space="preserve"> R</a:t>
            </a:r>
          </a:p>
        </p:txBody>
      </p:sp>
      <p:sp>
        <p:nvSpPr>
          <p:cNvPr id="167" name="EKF source line 50">
            <a:extLst xmlns:a="http://schemas.openxmlformats.org/drawingml/2006/main">
              <a:ext uri="{FF2B5EF4-FFF2-40B4-BE49-F238E27FC236}">
                <a16:creationId xmlns:a16="http://schemas.microsoft.com/office/drawing/2014/main" id="{06D0471E-50BB-49D9-9011-903571E56129}"/>
              </a:ext>
            </a:extLst>
          </p:cNvPr>
          <p:cNvSpPr>
            <a:spLocks xmlns:a="http://schemas.openxmlformats.org/drawingml/2006/main" noGrp="1"/>
          </p:cNvSpPr>
          <p:nvPr/>
        </p:nvSpPr>
        <p:spPr>
          <a:xfrm xmlns:a="http://schemas.openxmlformats.org/drawingml/2006/main">
            <a:off x="22812375" y="32289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68" name="EKF source line 51">
            <a:extLst xmlns:a="http://schemas.openxmlformats.org/drawingml/2006/main">
              <a:ext uri="{FF2B5EF4-FFF2-40B4-BE49-F238E27FC236}">
                <a16:creationId xmlns:a16="http://schemas.microsoft.com/office/drawing/2014/main" id="{1014345A-BDAC-4F53-A062-B61FEDF243C1}"/>
              </a:ext>
            </a:extLst>
          </p:cNvPr>
          <p:cNvSpPr>
            <a:spLocks xmlns:a="http://schemas.openxmlformats.org/drawingml/2006/main" noGrp="1"/>
          </p:cNvSpPr>
          <p:nvPr/>
        </p:nvSpPr>
        <p:spPr>
          <a:xfrm xmlns:a="http://schemas.openxmlformats.org/drawingml/2006/main">
            <a:off x="23025735" y="32670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μ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μ₊</a:t>
            </a:r>
          </a:p>
        </p:txBody>
      </p:sp>
      <p:sp>
        <p:nvSpPr>
          <p:cNvPr id="169" name="EKF source line 52">
            <a:extLst xmlns:a="http://schemas.openxmlformats.org/drawingml/2006/main">
              <a:ext uri="{FF2B5EF4-FFF2-40B4-BE49-F238E27FC236}">
                <a16:creationId xmlns:a16="http://schemas.microsoft.com/office/drawing/2014/main" id="{2991F0FF-4875-4E6B-B7F5-16F051C1843F}"/>
              </a:ext>
            </a:extLst>
          </p:cNvPr>
          <p:cNvSpPr>
            <a:spLocks xmlns:a="http://schemas.openxmlformats.org/drawingml/2006/main" noGrp="1"/>
          </p:cNvSpPr>
          <p:nvPr/>
        </p:nvSpPr>
        <p:spPr>
          <a:xfrm xmlns:a="http://schemas.openxmlformats.org/drawingml/2006/main">
            <a:off x="23025735" y="33051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Σ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Σ₊</a:t>
            </a:r>
          </a:p>
        </p:txBody>
      </p:sp>
      <p:sp>
        <p:nvSpPr>
          <p:cNvPr id="170" name="Numerical narrative equations">
            <a:extLst xmlns:a="http://schemas.openxmlformats.org/drawingml/2006/main">
              <a:ext uri="{FF2B5EF4-FFF2-40B4-BE49-F238E27FC236}">
                <a16:creationId xmlns:a16="http://schemas.microsoft.com/office/drawing/2014/main" id="{2333558C-64FD-45CA-B9AD-FB2B44858414}"/>
              </a:ext>
            </a:extLst>
          </p:cNvPr>
          <p:cNvSpPr>
            <a:spLocks xmlns:a="http://schemas.openxmlformats.org/drawingml/2006/main" noGrp="1"/>
          </p:cNvSpPr>
          <p:nvPr/>
        </p:nvSpPr>
        <p:spPr>
          <a:xfrm xmlns:a="http://schemas.openxmlformats.org/drawingml/2006/main">
            <a:off x="22764750" y="7524750"/>
            <a:ext cx="9525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0">
                <a:solidFill>
                  <a:srgbClr val="E8EDF0"/>
                </a:solidFill>
                <a:latin typeface="Segoe UI"/>
                <a:ea typeface="Segoe UI"/>
                <a:cs typeface="Segoe UI"/>
              </a:defRPr>
            </a:pPr>
            <a:r>
              <a:rPr sz="2700" b="0">
                <a:solidFill>
                  <a:srgbClr val="E8EDF0"/>
                </a:solidFill>
                <a:latin typeface="Segoe UI"/>
                <a:ea typeface="Segoe UI"/>
                <a:cs typeface="Segoe UI"/>
              </a:rPr>
              <a:t>Mech offers a concrete syntax that expresses numerical algorithms as typed matrix equations. The bearing-only EKF below adapts the textbook formulation [1], preserving its matrix-level notation.</a:t>
            </a:r>
          </a:p>
        </p:txBody>
      </p:sp>
      <p:sp>
        <p:nvSpPr>
          <p:cNvPr id="171" name="Numerical narrative graph">
            <a:extLst xmlns:a="http://schemas.openxmlformats.org/drawingml/2006/main">
              <a:ext uri="{FF2B5EF4-FFF2-40B4-BE49-F238E27FC236}">
                <a16:creationId xmlns:a16="http://schemas.microsoft.com/office/drawing/2014/main" id="{0280F243-5855-4FCE-A9E6-214AF2D171A0}"/>
              </a:ext>
            </a:extLst>
          </p:cNvPr>
          <p:cNvSpPr>
            <a:spLocks xmlns:a="http://schemas.openxmlformats.org/drawingml/2006/main" noGrp="1"/>
          </p:cNvSpPr>
          <p:nvPr/>
        </p:nvSpPr>
        <p:spPr>
          <a:xfrm xmlns:a="http://schemas.openxmlformats.org/drawingml/2006/main">
            <a:off x="22764750" y="9620250"/>
            <a:ext cx="95250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0">
                <a:solidFill>
                  <a:srgbClr val="E8EDF0"/>
                </a:solidFill>
                <a:latin typeface="Segoe UI"/>
                <a:ea typeface="Segoe UI"/>
                <a:cs typeface="Segoe UI"/>
              </a:defRPr>
            </a:pPr>
            <a:r>
              <a:rPr sz="2700" b="0">
                <a:solidFill>
                  <a:srgbClr val="E8EDF0"/>
                </a:solidFill>
                <a:latin typeface="Segoe UI"/>
                <a:ea typeface="Segoe UI"/>
                <a:cs typeface="Segoe UI"/>
              </a:rPr>
              <a:t>SIMD Rust uses almost five times as many normalized source characters here, mainly for SIMD and batch support. Reusing the Mech source across backends reduces the specialized implementations to maintain.</a:t>
            </a:r>
          </a:p>
        </p:txBody>
      </p:sp>
      <p:sp>
        <p:nvSpPr>
          <p:cNvPr id="172" name="Numerical narrative algebra">
            <a:extLst xmlns:a="http://schemas.openxmlformats.org/drawingml/2006/main">
              <a:ext uri="{FF2B5EF4-FFF2-40B4-BE49-F238E27FC236}">
                <a16:creationId xmlns:a16="http://schemas.microsoft.com/office/drawing/2014/main" id="{624A4A7A-FF31-49EA-B41E-50C0C323125A}"/>
              </a:ext>
            </a:extLst>
          </p:cNvPr>
          <p:cNvSpPr>
            <a:spLocks xmlns:a="http://schemas.openxmlformats.org/drawingml/2006/main" noGrp="1"/>
          </p:cNvSpPr>
          <p:nvPr/>
        </p:nvSpPr>
        <p:spPr>
          <a:xfrm xmlns:a="http://schemas.openxmlformats.org/drawingml/2006/main">
            <a:off x="22764750" y="11525250"/>
            <a:ext cx="9525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625" b="0">
                <a:solidFill>
                  <a:srgbClr val="E8EDF0"/>
                </a:solidFill>
                <a:latin typeface="Segoe UI"/>
                <a:ea typeface="Segoe UI"/>
                <a:cs typeface="Segoe UI"/>
              </a:defRPr>
            </a:pPr>
            <a:r>
              <a:rPr sz="2625" b="0">
                <a:solidFill>
                  <a:srgbClr val="E8EDF0"/>
                </a:solidFill>
                <a:latin typeface="Segoe UI"/>
                <a:ea typeface="Segoe UI"/>
                <a:cs typeface="Segoe UI"/>
              </a:rPr>
              <a:t>Compilation produces a typed dataflow artifact. Matrix operations use nalgebra in the ordinary backend; specialized backends compile the graph directly.</a:t>
            </a:r>
          </a:p>
        </p:txBody>
      </p:sp>
      <p:sp>
        <p:nvSpPr>
          <p:cNvPr id="173" name="Source comparison title">
            <a:extLst xmlns:a="http://schemas.openxmlformats.org/drawingml/2006/main">
              <a:ext uri="{FF2B5EF4-FFF2-40B4-BE49-F238E27FC236}">
                <a16:creationId xmlns:a16="http://schemas.microsoft.com/office/drawing/2014/main" id="{C5195136-649E-48C7-BD32-7C53B8FD3F30}"/>
              </a:ext>
            </a:extLst>
          </p:cNvPr>
          <p:cNvSpPr>
            <a:spLocks xmlns:a="http://schemas.openxmlformats.org/drawingml/2006/main" noGrp="1"/>
          </p:cNvSpPr>
          <p:nvPr/>
        </p:nvSpPr>
        <p:spPr>
          <a:xfrm xmlns:a="http://schemas.openxmlformats.org/drawingml/2006/main">
            <a:off x="22764750" y="34099500"/>
            <a:ext cx="952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850" b="1">
                <a:solidFill>
                  <a:srgbClr val="7FC7FF"/>
                </a:solidFill>
                <a:latin typeface="Fira Code"/>
                <a:ea typeface="Fira Code"/>
                <a:cs typeface="Fira Code"/>
              </a:defRPr>
            </a:pPr>
            <a:r>
              <a:rPr sz="2850" b="1">
                <a:solidFill>
                  <a:srgbClr val="7FC7FF"/>
                </a:solidFill>
                <a:latin typeface="Fira Code"/>
                <a:ea typeface="Fira Code"/>
                <a:cs typeface="Fira Code"/>
              </a:rPr>
              <a:t>Normalized* source characters</a:t>
            </a:r>
          </a:p>
        </p:txBody>
      </p:sp>
      <p:graphicFrame>
        <p:nvGraphicFramePr>
          <p:cNvPr id="611" name=""/>
          <p:cNvGraphicFramePr/>
          <p:nvPr/>
        </p:nvGraphicFramePr>
        <p:xfrm>
          <a:off xmlns:a="http://schemas.openxmlformats.org/drawingml/2006/main" x="22764750" y="34766250"/>
          <a:ext xmlns:a="http://schemas.openxmlformats.org/drawingml/2006/main" cx="9525000" cy="2667000"/>
        </p:xfrm>
        <a:graphic xmlns:a="http://schemas.openxmlformats.org/drawingml/2006/main">
          <a:graphicData uri="http://schemas.openxmlformats.org/drawingml/2006/table">
            <a:tbl>
              <a:tblPr firstRow="0" bandRow="0"/>
              <a:tblGrid>
                <a:gridCol w="3524250"/>
                <a:gridCol w="1428750"/>
                <a:gridCol w="2381250"/>
                <a:gridCol w="2190750"/>
              </a:tblGrid>
              <a:tr h="381000">
                <a:tc>
                  <a:txBody>
                    <a:bodyPr wrap="none" lIns="95250" tIns="38100" rIns="95250" bIns="38100">
                      <a:noAutofit/>
                    </a:bodyPr>
                    <a:lstStyle/>
                    <a:p>
                      <a:pPr algn="l">
                        <a:buNone/>
                      </a:pPr>
                      <a:r>
                        <a:rPr sz="1950" b="1">
                          <a:solidFill>
                            <a:srgbClr val="E8EDF0"/>
                          </a:solidFill>
                          <a:latin typeface="Segoe UI"/>
                          <a:ea typeface="Segoe UI"/>
                          <a:cs typeface="Segoe UI"/>
                        </a:rPr>
                        <a:t>Application source</a:t>
                      </a:r>
                    </a:p>
                  </a:txBody>
                  <a:tcPr marL="91440" marR="91440" marT="45720" marB="45720" anchor="ctr">
                    <a:solidFill>
                      <a:srgbClr val="1C2C33"/>
                    </a:solidFill>
                  </a:tcPr>
                </a:tc>
                <a:tc>
                  <a:txBody>
                    <a:bodyPr wrap="none" lIns="95250" tIns="38100" rIns="95250" bIns="38100">
                      <a:noAutofit/>
                    </a:bodyPr>
                    <a:lstStyle/>
                    <a:p>
                      <a:pPr algn="r">
                        <a:buNone/>
                      </a:pPr>
                      <a:r>
                        <a:rPr sz="1950" b="1">
                          <a:solidFill>
                            <a:srgbClr val="E8EDF0"/>
                          </a:solidFill>
                          <a:latin typeface="Segoe UI"/>
                          <a:ea typeface="Segoe UI"/>
                          <a:cs typeface="Segoe UI"/>
                        </a:rPr>
                        <a:t>Mech</a:t>
                      </a:r>
                    </a:p>
                  </a:txBody>
                  <a:tcPr marL="91440" marR="91440" marT="45720" marB="45720" anchor="ctr">
                    <a:solidFill>
                      <a:srgbClr val="1C2C33"/>
                    </a:solidFill>
                  </a:tcPr>
                </a:tc>
                <a:tc>
                  <a:txBody>
                    <a:bodyPr wrap="none" lIns="95250" tIns="38100" rIns="95250" bIns="38100">
                      <a:noAutofit/>
                    </a:bodyPr>
                    <a:lstStyle/>
                    <a:p>
                      <a:pPr algn="r">
                        <a:buNone/>
                      </a:pPr>
                      <a:r>
                        <a:rPr sz="1950" b="1">
                          <a:solidFill>
                            <a:srgbClr val="E8EDF0"/>
                          </a:solidFill>
                          <a:latin typeface="Segoe UI"/>
                          <a:ea typeface="Segoe UI"/>
                          <a:cs typeface="Segoe UI"/>
                        </a:rPr>
                        <a:t>Rust textbook</a:t>
                      </a:r>
                    </a:p>
                  </a:txBody>
                  <a:tcPr marL="91440" marR="91440" marT="45720" marB="45720" anchor="ctr">
                    <a:solidFill>
                      <a:srgbClr val="1C2C33"/>
                    </a:solidFill>
                  </a:tcPr>
                </a:tc>
                <a:tc>
                  <a:txBody>
                    <a:bodyPr wrap="none" lIns="95250" tIns="38100" rIns="95250" bIns="38100">
                      <a:noAutofit/>
                    </a:bodyPr>
                    <a:lstStyle/>
                    <a:p>
                      <a:pPr algn="r">
                        <a:buNone/>
                      </a:pPr>
                      <a:r>
                        <a:rPr sz="1950" b="1">
                          <a:solidFill>
                            <a:srgbClr val="E8EDF0"/>
                          </a:solidFill>
                          <a:latin typeface="Segoe UI"/>
                          <a:ea typeface="Segoe UI"/>
                          <a:cs typeface="Segoe UI"/>
                        </a:rPr>
                        <a:t>Rust SIMD</a:t>
                      </a:r>
                    </a:p>
                  </a:txBody>
                  <a:tcPr marL="91440" marR="91440" marT="45720" marB="45720" anchor="ctr">
                    <a:solidFill>
                      <a:srgbClr val="1C2C33"/>
                    </a:solidFill>
                  </a:tcPr>
                </a:tc>
              </a:tr>
              <a:tr h="381000">
                <a:tc>
                  <a:txBody>
                    <a:bodyPr wrap="none" lIns="95250" tIns="38100" rIns="95250" bIns="38100">
                      <a:noAutofit/>
                    </a:bodyPr>
                    <a:lstStyle/>
                    <a:p>
                      <a:pPr algn="l">
                        <a:buNone/>
                      </a:pPr>
                      <a:r>
                        <a:rPr sz="1950" b="0">
                          <a:solidFill>
                            <a:srgbClr val="A4BAC8"/>
                          </a:solidFill>
                          <a:latin typeface="Segoe UI"/>
                          <a:ea typeface="Segoe UI"/>
                          <a:cs typeface="Segoe UI"/>
                        </a:rPr>
                        <a:t>Setup</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340</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486</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561</a:t>
                      </a:r>
                    </a:p>
                  </a:txBody>
                  <a:tcPr marL="91440" marR="91440" marT="45720" marB="45720" anchor="ctr">
                    <a:solidFill>
                      <a:srgbClr val="0B1113"/>
                    </a:solidFill>
                  </a:tcPr>
                </a:tc>
              </a:tr>
              <a:tr h="381000">
                <a:tc>
                  <a:txBody>
                    <a:bodyPr wrap="none" lIns="95250" tIns="38100" rIns="95250" bIns="38100">
                      <a:noAutofit/>
                    </a:bodyPr>
                    <a:lstStyle/>
                    <a:p>
                      <a:pPr algn="l">
                        <a:buNone/>
                      </a:pPr>
                      <a:r>
                        <a:rPr sz="1950" b="0">
                          <a:solidFill>
                            <a:srgbClr val="A4BAC8"/>
                          </a:solidFill>
                          <a:latin typeface="Segoe UI"/>
                          <a:ea typeface="Segoe UI"/>
                          <a:cs typeface="Segoe UI"/>
                        </a:rPr>
                        <a:t>EKF + candidate update</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356</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1,024</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1,119</a:t>
                      </a:r>
                    </a:p>
                  </a:txBody>
                  <a:tcPr marL="91440" marR="91440" marT="45720" marB="45720" anchor="ctr">
                    <a:solidFill>
                      <a:srgbClr val="111C21"/>
                    </a:solidFill>
                  </a:tcPr>
                </a:tc>
              </a:tr>
              <a:tr h="381000">
                <a:tc>
                  <a:txBody>
                    <a:bodyPr wrap="none" lIns="95250" tIns="38100" rIns="95250" bIns="38100">
                      <a:noAutofit/>
                    </a:bodyPr>
                    <a:lstStyle/>
                    <a:p>
                      <a:pPr algn="l">
                        <a:buNone/>
                      </a:pPr>
                      <a:r>
                        <a:rPr sz="1950" b="0">
                          <a:solidFill>
                            <a:srgbClr val="A4BAC8"/>
                          </a:solidFill>
                          <a:latin typeface="Segoe UI"/>
                          <a:ea typeface="Segoe UI"/>
                          <a:cs typeface="Segoe UI"/>
                        </a:rPr>
                        <a:t>Validation</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383</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263</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396</a:t>
                      </a:r>
                    </a:p>
                  </a:txBody>
                  <a:tcPr marL="91440" marR="91440" marT="45720" marB="45720" anchor="ctr">
                    <a:solidFill>
                      <a:srgbClr val="0B1113"/>
                    </a:solidFill>
                  </a:tcPr>
                </a:tc>
              </a:tr>
              <a:tr h="381000">
                <a:tc>
                  <a:txBody>
                    <a:bodyPr wrap="none" lIns="95250" tIns="38100" rIns="95250" bIns="38100">
                      <a:noAutofit/>
                    </a:bodyPr>
                    <a:lstStyle/>
                    <a:p>
                      <a:pPr algn="l">
                        <a:buNone/>
                      </a:pPr>
                      <a:r>
                        <a:rPr sz="1950" b="0">
                          <a:solidFill>
                            <a:srgbClr val="A4BAC8"/>
                          </a:solidFill>
                          <a:latin typeface="Segoe UI"/>
                          <a:ea typeface="Segoe UI"/>
                          <a:cs typeface="Segoe UI"/>
                        </a:rPr>
                        <a:t>Matrix helpers</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0</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251</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310</a:t>
                      </a:r>
                    </a:p>
                  </a:txBody>
                  <a:tcPr marL="91440" marR="91440" marT="45720" marB="45720" anchor="ctr">
                    <a:solidFill>
                      <a:srgbClr val="111C21"/>
                    </a:solidFill>
                  </a:tcPr>
                </a:tc>
              </a:tr>
              <a:tr h="381000">
                <a:tc>
                  <a:txBody>
                    <a:bodyPr wrap="none" lIns="95250" tIns="38100" rIns="95250" bIns="38100">
                      <a:noAutofit/>
                    </a:bodyPr>
                    <a:lstStyle/>
                    <a:p>
                      <a:pPr algn="l">
                        <a:buNone/>
                      </a:pPr>
                      <a:r>
                        <a:rPr sz="1950" b="0">
                          <a:solidFill>
                            <a:srgbClr val="A4BAC8"/>
                          </a:solidFill>
                          <a:latin typeface="Segoe UI"/>
                          <a:ea typeface="Segoe UI"/>
                          <a:cs typeface="Segoe UI"/>
                        </a:rPr>
                        <a:t>SIMD + batch support</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0</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331</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2,857</a:t>
                      </a:r>
                    </a:p>
                  </a:txBody>
                  <a:tcPr marL="91440" marR="91440" marT="45720" marB="45720" anchor="ctr">
                    <a:solidFill>
                      <a:srgbClr val="0B1113"/>
                    </a:solidFill>
                  </a:tcPr>
                </a:tc>
              </a:tr>
              <a:tr h="381000">
                <a:tc>
                  <a:txBody>
                    <a:bodyPr wrap="none" lIns="95250" tIns="38100" rIns="95250" bIns="38100">
                      <a:noAutofit/>
                    </a:bodyPr>
                    <a:lstStyle/>
                    <a:p>
                      <a:pPr algn="l">
                        <a:buNone/>
                      </a:pPr>
                      <a:r>
                        <a:rPr sz="1950" b="0">
                          <a:solidFill>
                            <a:srgbClr val="A4BAC8"/>
                          </a:solidFill>
                          <a:latin typeface="Segoe UI"/>
                          <a:ea typeface="Segoe UI"/>
                          <a:cs typeface="Segoe UI"/>
                        </a:rPr>
                        <a:t>Total</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1,079</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2,355</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5,243</a:t>
                      </a:r>
                    </a:p>
                  </a:txBody>
                  <a:tcPr marL="91440" marR="91440" marT="45720" marB="45720" anchor="ctr">
                    <a:solidFill>
                      <a:srgbClr val="111C21"/>
                    </a:solidFill>
                  </a:tcPr>
                </a:tc>
              </a:tr>
            </a:tbl>
          </a:graphicData>
        </a:graphic>
      </p:graphicFrame>
      <p:sp>
        <p:nvSpPr>
          <p:cNvPr id="175" name="Source size finding">
            <a:extLst xmlns:a="http://schemas.openxmlformats.org/drawingml/2006/main">
              <a:ext uri="{FF2B5EF4-FFF2-40B4-BE49-F238E27FC236}">
                <a16:creationId xmlns:a16="http://schemas.microsoft.com/office/drawing/2014/main" id="{38DBE240-85A2-45AD-AD3B-4EE4CD88C937}"/>
              </a:ext>
            </a:extLst>
          </p:cNvPr>
          <p:cNvSpPr>
            <a:spLocks xmlns:a="http://schemas.openxmlformats.org/drawingml/2006/main" noGrp="1"/>
          </p:cNvSpPr>
          <p:nvPr/>
        </p:nvSpPr>
        <p:spPr>
          <a:xfrm xmlns:a="http://schemas.openxmlformats.org/drawingml/2006/main">
            <a:off x="22764750" y="37623750"/>
            <a:ext cx="9525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7FC7FF"/>
                </a:solidFill>
                <a:latin typeface="Segoe UI"/>
                <a:ea typeface="Segoe UI"/>
                <a:cs typeface="Segoe UI"/>
              </a:defRPr>
            </a:pPr>
            <a:r>
              <a:rPr sz="2100" b="0">
                <a:solidFill>
                  <a:srgbClr val="7FC7FF"/>
                </a:solidFill>
                <a:latin typeface="Segoe UI"/>
                <a:ea typeface="Segoe UI"/>
                <a:cs typeface="Segoe UI"/>
              </a:rPr>
              <a:t/>
            </a:r>
          </a:p>
        </p:txBody>
      </p:sp>
      <p:sp>
        <p:nvSpPr>
          <p:cNvPr id="176" name="Numerical interpretation equations">
            <a:extLst xmlns:a="http://schemas.openxmlformats.org/drawingml/2006/main">
              <a:ext uri="{FF2B5EF4-FFF2-40B4-BE49-F238E27FC236}">
                <a16:creationId xmlns:a16="http://schemas.microsoft.com/office/drawing/2014/main" id="{735F5ED8-6FE7-430A-8899-9E4DAECC1356}"/>
              </a:ext>
            </a:extLst>
          </p:cNvPr>
          <p:cNvSpPr>
            <a:spLocks xmlns:a="http://schemas.openxmlformats.org/drawingml/2006/main" noGrp="1"/>
          </p:cNvSpPr>
          <p:nvPr/>
        </p:nvSpPr>
        <p:spPr>
          <a:xfrm xmlns:a="http://schemas.openxmlformats.org/drawingml/2006/main">
            <a:off x="22764750" y="37623750"/>
            <a:ext cx="9525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The time and measurement updates remain explicit matrix equations. Backend code handles vector layout and batching, so the same numerical source can serve scalar and SIMD execution.</a:t>
            </a:r>
          </a:p>
        </p:txBody>
      </p:sp>
      <p:sp>
        <p:nvSpPr>
          <p:cNvPr id="177" name="Numerical interpretation support">
            <a:extLst xmlns:a="http://schemas.openxmlformats.org/drawingml/2006/main">
              <a:ext uri="{FF2B5EF4-FFF2-40B4-BE49-F238E27FC236}">
                <a16:creationId xmlns:a16="http://schemas.microsoft.com/office/drawing/2014/main" id="{C9318AB2-12C6-4A60-89C1-21030F31E51C}"/>
              </a:ext>
            </a:extLst>
          </p:cNvPr>
          <p:cNvSpPr>
            <a:spLocks xmlns:a="http://schemas.openxmlformats.org/drawingml/2006/main" noGrp="1"/>
          </p:cNvSpPr>
          <p:nvPr/>
        </p:nvSpPr>
        <p:spPr>
          <a:xfrm xmlns:a="http://schemas.openxmlformats.org/drawingml/2006/main">
            <a:off x="22764750" y="39052500"/>
            <a:ext cx="9525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Rust’s selected SIMD implementation includes vector adapters and a batch dispatcher with rollback. Mech delegates these operations to reusable compiler and runtime components, which explains its zero entries for helpers and SIMD support.</a:t>
            </a:r>
          </a:p>
        </p:txBody>
      </p:sp>
      <p:sp>
        <p:nvSpPr>
          <p:cNvPr id="178" name="Source size scope">
            <a:extLst xmlns:a="http://schemas.openxmlformats.org/drawingml/2006/main">
              <a:ext uri="{FF2B5EF4-FFF2-40B4-BE49-F238E27FC236}">
                <a16:creationId xmlns:a16="http://schemas.microsoft.com/office/drawing/2014/main" id="{83D7EEF8-3241-498D-990B-1CD645DF6C0B}"/>
              </a:ext>
            </a:extLst>
          </p:cNvPr>
          <p:cNvSpPr>
            <a:spLocks xmlns:a="http://schemas.openxmlformats.org/drawingml/2006/main" noGrp="1"/>
          </p:cNvSpPr>
          <p:nvPr/>
        </p:nvSpPr>
        <p:spPr>
          <a:xfrm xmlns:a="http://schemas.openxmlformats.org/drawingml/2006/main">
            <a:off x="22764750" y="40862250"/>
            <a:ext cx="9525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0">
                <a:solidFill>
                  <a:srgbClr val="A4BAC8"/>
                </a:solidFill>
                <a:latin typeface="Segoe UI"/>
                <a:ea typeface="Segoe UI"/>
                <a:cs typeface="Segoe UI"/>
              </a:defRPr>
            </a:pPr>
            <a:r>
              <a:rPr sz="1725" b="0">
                <a:solidFill>
                  <a:srgbClr val="A4BAC8"/>
                </a:solidFill>
                <a:latin typeface="Segoe UI"/>
                <a:ea typeface="Segoe UI"/>
                <a:cs typeface="Segoe UI"/>
              </a:rPr>
              <a:t>* Programmer-chosen names count as one character per occurrence. Comments and nonliteral whitespace are removed. General library, compiler and runtime internals are excluded.</a:t>
            </a:r>
          </a:p>
        </p:txBody>
      </p:sp>
      <p:sp>
        <p:nvSpPr>
          <p:cNvPr id="179" name="Embeddable">
            <a:extLst xmlns:a="http://schemas.openxmlformats.org/drawingml/2006/main">
              <a:ext uri="{FF2B5EF4-FFF2-40B4-BE49-F238E27FC236}">
                <a16:creationId xmlns:a16="http://schemas.microsoft.com/office/drawing/2014/main" id="{C3E7FE6E-D47B-4C6B-9F94-F91232705C60}"/>
              </a:ext>
            </a:extLst>
          </p:cNvPr>
          <p:cNvSpPr>
            <a:spLocks xmlns:a="http://schemas.openxmlformats.org/drawingml/2006/main" noGrp="1"/>
          </p:cNvSpPr>
          <p:nvPr/>
        </p:nvSpPr>
        <p:spPr>
          <a:xfrm xmlns:a="http://schemas.openxmlformats.org/drawingml/2006/main">
            <a:off x="762000" y="10572750"/>
            <a:ext cx="2071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33AB94"/>
                </a:solidFill>
                <a:latin typeface="Fira Code"/>
                <a:ea typeface="Fira Code"/>
                <a:cs typeface="Fira Code"/>
              </a:defRPr>
            </a:pPr>
            <a:r>
              <a:rPr sz="5100" b="1">
                <a:solidFill>
                  <a:srgbClr val="33AB94"/>
                </a:solidFill>
                <a:latin typeface="Fira Code"/>
                <a:ea typeface="Fira Code"/>
                <a:cs typeface="Fira Code"/>
              </a:rPr>
              <a:t>Embeddable</a:t>
            </a:r>
          </a:p>
        </p:txBody>
      </p:sp>
      <p:sp>
        <p:nvSpPr>
          <p:cNvPr id="180" name="AOT deployment">
            <a:extLst xmlns:a="http://schemas.openxmlformats.org/drawingml/2006/main">
              <a:ext uri="{FF2B5EF4-FFF2-40B4-BE49-F238E27FC236}">
                <a16:creationId xmlns:a16="http://schemas.microsoft.com/office/drawing/2014/main" id="{2B1BEAE0-824F-44B6-909C-243EB2F574B8}"/>
              </a:ext>
            </a:extLst>
          </p:cNvPr>
          <p:cNvSpPr>
            <a:spLocks xmlns:a="http://schemas.openxmlformats.org/drawingml/2006/main" noGrp="1"/>
          </p:cNvSpPr>
          <p:nvPr/>
        </p:nvSpPr>
        <p:spPr>
          <a:xfrm xmlns:a="http://schemas.openxmlformats.org/drawingml/2006/main">
            <a:off x="952500" y="11620500"/>
            <a:ext cx="207168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0">
                <a:solidFill>
                  <a:srgbClr val="E8EDF0"/>
                </a:solidFill>
                <a:latin typeface="Segoe UI"/>
                <a:ea typeface="Segoe UI"/>
                <a:cs typeface="Segoe UI"/>
              </a:defRPr>
            </a:pPr>
            <a:r>
              <a:rPr sz="2700" b="0">
                <a:solidFill>
                  <a:srgbClr val="E8EDF0"/>
                </a:solidFill>
                <a:latin typeface="Segoe UI"/>
                <a:ea typeface="Segoe UI"/>
                <a:cs typeface="Segoe UI"/>
              </a:rPr>
              <a:t>Rust applications can embed Mech source through its Rust library, or load a compiled dylib. Both interfaces bind named inputs and retain state between updates. C++ and Python bindings are planned.</a:t>
            </a:r>
          </a:p>
        </p:txBody>
      </p:sp>
      <p:sp>
        <p:nvSpPr>
          <p:cNvPr id="181" name="Rust caller title">
            <a:extLst xmlns:a="http://schemas.openxmlformats.org/drawingml/2006/main">
              <a:ext uri="{FF2B5EF4-FFF2-40B4-BE49-F238E27FC236}">
                <a16:creationId xmlns:a16="http://schemas.microsoft.com/office/drawing/2014/main" id="{E057F711-C00E-4930-A2EA-7D9AAEF93697}"/>
              </a:ext>
            </a:extLst>
          </p:cNvPr>
          <p:cNvSpPr>
            <a:spLocks xmlns:a="http://schemas.openxmlformats.org/drawingml/2006/main" noGrp="1"/>
          </p:cNvSpPr>
          <p:nvPr/>
        </p:nvSpPr>
        <p:spPr>
          <a:xfrm xmlns:a="http://schemas.openxmlformats.org/drawingml/2006/main">
            <a:off x="952500" y="13049250"/>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1">
                <a:solidFill>
                  <a:srgbClr val="33AB94"/>
                </a:solidFill>
                <a:latin typeface="Fira Code"/>
                <a:ea typeface="Fira Code"/>
                <a:cs typeface="Fira Code"/>
              </a:defRPr>
            </a:pPr>
            <a:r>
              <a:rPr sz="2700" b="1">
                <a:solidFill>
                  <a:srgbClr val="33AB94"/>
                </a:solidFill>
                <a:latin typeface="Fira Code"/>
                <a:ea typeface="Fira Code"/>
                <a:cs typeface="Fira Code"/>
              </a:rPr>
              <a:t>JIT compilation from Rust</a:t>
            </a:r>
          </a:p>
        </p:txBody>
      </p:sp>
      <p:sp>
        <p:nvSpPr>
          <p:cNvPr id="182" name="Rust caller panel">
            <a:extLst xmlns:a="http://schemas.openxmlformats.org/drawingml/2006/main">
              <a:ext uri="{FF2B5EF4-FFF2-40B4-BE49-F238E27FC236}">
                <a16:creationId xmlns:a16="http://schemas.microsoft.com/office/drawing/2014/main" id="{09FA6E6A-F01B-4BD6-92EE-8E7EDDDD5BE7}"/>
              </a:ext>
            </a:extLst>
          </p:cNvPr>
          <p:cNvSpPr>
            <a:spLocks xmlns:a="http://schemas.openxmlformats.org/drawingml/2006/main" noGrp="1"/>
          </p:cNvSpPr>
          <p:nvPr/>
        </p:nvSpPr>
        <p:spPr>
          <a:xfrm xmlns:a="http://schemas.openxmlformats.org/drawingml/2006/main">
            <a:off x="762000" y="13716000"/>
            <a:ext cx="9810750" cy="3905250"/>
          </a:xfrm>
          <a:prstGeom xmlns:a="http://schemas.openxmlformats.org/drawingml/2006/main" prst="rect">
            <a:avLst/>
          </a:prstGeom>
          <a:solidFill xmlns:a="http://schemas.openxmlformats.org/drawingml/2006/main">
            <a:srgbClr val="070C0E"/>
          </a:solidFill>
          <a:ln xmlns:a="http://schemas.openxmlformats.org/drawingml/2006/main" w="19050">
            <a:solidFill>
              <a:srgbClr val="354650"/>
            </a:solidFill>
          </a:ln>
        </p:spPr>
      </p:sp>
      <p:sp>
        <p:nvSpPr>
          <p:cNvPr id="183" name="Rust caller">
            <a:extLst xmlns:a="http://schemas.openxmlformats.org/drawingml/2006/main">
              <a:ext uri="{FF2B5EF4-FFF2-40B4-BE49-F238E27FC236}">
                <a16:creationId xmlns:a16="http://schemas.microsoft.com/office/drawing/2014/main" id="{D57702A5-40A7-48E6-B233-60334798F991}"/>
              </a:ext>
            </a:extLst>
          </p:cNvPr>
          <p:cNvSpPr>
            <a:spLocks xmlns:a="http://schemas.openxmlformats.org/drawingml/2006/main" noGrp="1"/>
          </p:cNvSpPr>
          <p:nvPr/>
        </p:nvSpPr>
        <p:spPr>
          <a:xfrm xmlns:a="http://schemas.openxmlformats.org/drawingml/2006/main">
            <a:off x="1000125" y="13906500"/>
            <a:ext cx="9334500" cy="3571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r>
              <a:rPr sz="2500">
                <a:solidFill>
                  <a:srgbClr val="AB7AB8"/>
                </a:solidFill>
                <a:latin typeface="Fira Code"/>
                <a:ea typeface="Fira Code"/>
                <a:cs typeface="Fira Code"/>
              </a:rPr>
              <a:t xml:space="preserve">use</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mech</a:t>
            </a:r>
            <a:r>
              <a:rPr sz="2500">
                <a:solidFill>
                  <a:srgbClr val="AB7AB8"/>
                </a:solidFill>
                <a:latin typeface="Fira Code"/>
                <a:ea typeface="Fira Code"/>
                <a:cs typeface="Fira Code"/>
              </a:rPr>
              <a:t xml:space="preserve">::</a:t>
            </a:r>
            <a:r>
              <a:rPr sz="2500">
                <a:solidFill>
                  <a:srgbClr val="EDDAF1"/>
                </a:solidFill>
                <a:latin typeface="Fira Code"/>
                <a:ea typeface="Fira Code"/>
                <a:cs typeface="Fira Code"/>
              </a:rPr>
              <a:t xml:space="preserve">kernel</a:t>
            </a:r>
            <a:r>
              <a:rPr sz="2500">
                <a:solidFill>
                  <a:srgbClr val="AB7AB8"/>
                </a:solidFill>
                <a:latin typeface="Fira Code"/>
                <a:ea typeface="Fira Code"/>
                <a:cs typeface="Fira Code"/>
              </a:rPr>
              <a:t xml:space="preserve">::</a:t>
            </a:r>
            <a:r>
              <a:rPr sz="2500">
                <a:solidFill>
                  <a:srgbClr val="EDDAF1"/>
                </a:solidFill>
                <a:latin typeface="Fira Code"/>
                <a:ea typeface="Fira Code"/>
                <a:cs typeface="Fira Code"/>
              </a:rPr>
              <a:t xml:space="preserve">{</a:t>
            </a:r>
            <a:r>
              <a:rPr sz="2500">
                <a:solidFill>
                  <a:srgbClr val="BBDDC2"/>
                </a:solidFill>
                <a:latin typeface="Fira Code"/>
                <a:ea typeface="Fira Code"/>
                <a:cs typeface="Fira Code"/>
              </a:rPr>
              <a:t xml:space="preserve">Backend</a:t>
            </a:r>
            <a:r>
              <a:rPr sz="2500">
                <a:solidFill>
                  <a:srgbClr val="99CCA4"/>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BBDDC2"/>
                </a:solidFill>
                <a:latin typeface="Fira Code"/>
                <a:ea typeface="Fira Code"/>
                <a:cs typeface="Fira Code"/>
              </a:rPr>
              <a:t xml:space="preserve">Kernel</a:t>
            </a:r>
            <a:r>
              <a:rPr sz="2500">
                <a:solidFill>
                  <a:srgbClr val="EDDAF1"/>
                </a:solidFill>
                <a:latin typeface="Fira Code"/>
                <a:ea typeface="Fira Code"/>
                <a:cs typeface="Fira Code"/>
              </a:rPr>
              <a:t xml:space="preserve">}</a:t>
            </a:r>
            <a:r>
              <a:rPr sz="2500">
                <a:solidFill>
                  <a:srgbClr val="99CCA4"/>
                </a:solidFill>
                <a:latin typeface="Fira Code"/>
                <a:ea typeface="Fira Code"/>
                <a:cs typeface="Fira Code"/>
              </a:rPr>
              <a:t xml:space="preserve">;</a:t>
            </a:r>
          </a:p>
          <a:p xmlns:a="http://schemas.openxmlformats.org/drawingml/2006/main">
            <a:r>
              <a:rPr sz="2500">
                <a:solidFill>
                  <a:srgbClr val="AB7AB8"/>
                </a:solidFill>
                <a:latin typeface="Fira Code"/>
                <a:ea typeface="Fira Code"/>
                <a:cs typeface="Fira Code"/>
              </a:rPr>
              <a:t xml:space="preserve">let</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source</a:t>
            </a:r>
            <a:r>
              <a:rPr sz="2500">
                <a:solidFill>
                  <a:srgbClr val="EDDAF1"/>
                </a:solidFill>
                <a:latin typeface="Fira Code"/>
                <a:ea typeface="Fira Code"/>
                <a:cs typeface="Fira Code"/>
              </a:rPr>
              <a:t xml:space="preserve"> </a:t>
            </a:r>
            <a:r>
              <a:rPr sz="2500">
                <a:solidFill>
                  <a:srgbClr val="AB7AB8"/>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BBDDC2"/>
                </a:solidFill>
                <a:latin typeface="Fira Code"/>
                <a:ea typeface="Fira Code"/>
                <a:cs typeface="Fira Code"/>
              </a:rPr>
              <a:t xml:space="preserve">include_str!</a:t>
            </a:r>
            <a:r>
              <a:rPr sz="2500">
                <a:solidFill>
                  <a:srgbClr val="99CCA4"/>
                </a:solidFill>
                <a:latin typeface="Fira Code"/>
                <a:ea typeface="Fira Code"/>
                <a:cs typeface="Fira Code"/>
              </a:rPr>
              <a:t xml:space="preserve">(</a:t>
            </a:r>
            <a:r>
              <a:rPr sz="2500">
                <a:solidFill>
                  <a:srgbClr val="9BC7F3"/>
                </a:solidFill>
                <a:latin typeface="Fira Code"/>
                <a:ea typeface="Fira Code"/>
                <a:cs typeface="Fira Code"/>
              </a:rPr>
              <a:t xml:space="preserve">"ekf.mec"</a:t>
            </a:r>
            <a:r>
              <a:rPr sz="2500">
                <a:solidFill>
                  <a:srgbClr val="99CCA4"/>
                </a:solidFill>
                <a:latin typeface="Fira Code"/>
                <a:ea typeface="Fira Code"/>
                <a:cs typeface="Fira Code"/>
              </a:rPr>
              <a:t xml:space="preserve">)</a:t>
            </a:r>
            <a:r>
              <a:rPr sz="2500">
                <a:solidFill>
                  <a:srgbClr val="99CCA4"/>
                </a:solidFill>
                <a:latin typeface="Fira Code"/>
                <a:ea typeface="Fira Code"/>
                <a:cs typeface="Fira Code"/>
              </a:rPr>
              <a:t xml:space="preserve">;</a:t>
            </a:r>
          </a:p>
          <a:p xmlns:a="http://schemas.openxmlformats.org/drawingml/2006/main">
            <a:r>
              <a:rPr sz="2500">
                <a:solidFill>
                  <a:srgbClr val="AB7AB8"/>
                </a:solidFill>
                <a:latin typeface="Fira Code"/>
                <a:ea typeface="Fira Code"/>
                <a:cs typeface="Fira Code"/>
              </a:rPr>
              <a:t xml:space="preserve">let</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kernel</a:t>
            </a:r>
            <a:r>
              <a:rPr sz="2500">
                <a:solidFill>
                  <a:srgbClr val="EDDAF1"/>
                </a:solidFill>
                <a:latin typeface="Fira Code"/>
                <a:ea typeface="Fira Code"/>
                <a:cs typeface="Fira Code"/>
              </a:rPr>
              <a:t xml:space="preserve"> </a:t>
            </a:r>
            <a:r>
              <a:rPr sz="2500">
                <a:solidFill>
                  <a:srgbClr val="AB7AB8"/>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BBDDC2"/>
                </a:solidFill>
                <a:latin typeface="Fira Code"/>
                <a:ea typeface="Fira Code"/>
                <a:cs typeface="Fira Code"/>
              </a:rPr>
              <a:t xml:space="preserve">Kernel</a:t>
            </a:r>
            <a:r>
              <a:rPr sz="2500">
                <a:solidFill>
                  <a:srgbClr val="AB7AB8"/>
                </a:solidFill>
                <a:latin typeface="Fira Code"/>
                <a:ea typeface="Fira Code"/>
                <a:cs typeface="Fira Code"/>
              </a:rPr>
              <a:t xml:space="preserve">::</a:t>
            </a:r>
            <a:r>
              <a:rPr sz="2500">
                <a:solidFill>
                  <a:srgbClr val="BBDDC2"/>
                </a:solidFill>
                <a:latin typeface="Fira Code"/>
                <a:ea typeface="Fira Code"/>
                <a:cs typeface="Fira Code"/>
              </a:rPr>
              <a:t xml:space="preserve">from_source</a:t>
            </a:r>
            <a:r>
              <a:rPr sz="2500">
                <a:solidFill>
                  <a:srgbClr val="99CCA4"/>
                </a:solidFill>
                <a:latin typeface="Fira Code"/>
                <a:ea typeface="Fira Code"/>
                <a:cs typeface="Fira Code"/>
              </a:rPr>
              <a:t xml:space="preserve">(</a:t>
            </a:r>
            <a:r>
              <a:rPr sz="2500">
                <a:solidFill>
                  <a:srgbClr val="EDDAF1"/>
                </a:solidFill>
                <a:latin typeface="Fira Code"/>
                <a:ea typeface="Fira Code"/>
                <a:cs typeface="Fira Code"/>
              </a:rPr>
              <a:t xml:space="preserve">source</a:t>
            </a:r>
            <a:r>
              <a:rPr sz="2500">
                <a:solidFill>
                  <a:srgbClr val="99CCA4"/>
                </a:solidFill>
                <a:latin typeface="Fira Code"/>
                <a:ea typeface="Fira Code"/>
                <a:cs typeface="Fira Code"/>
              </a:rPr>
              <a:t xml:space="preserve">)</a:t>
            </a:r>
          </a:p>
          <a:p xmlns:a="http://schemas.openxmlformats.org/drawingml/2006/main">
            <a:r>
              <a:rPr sz="2500">
                <a:solidFill>
                  <a:srgbClr val="EDDAF1"/>
                </a:solidFill>
                <a:latin typeface="Fira Code"/>
                <a:ea typeface="Fira Code"/>
                <a:cs typeface="Fira Code"/>
              </a:rPr>
              <a:t xml:space="preserve">    </a:t>
            </a:r>
            <a:r>
              <a:rPr sz="2500">
                <a:solidFill>
                  <a:srgbClr val="AB7AB8"/>
                </a:solidFill>
                <a:latin typeface="Fira Code"/>
                <a:ea typeface="Fira Code"/>
                <a:cs typeface="Fira Code"/>
              </a:rPr>
              <a:t xml:space="preserve">.</a:t>
            </a:r>
            <a:r>
              <a:rPr sz="2500">
                <a:solidFill>
                  <a:srgbClr val="BBDDC2"/>
                </a:solidFill>
                <a:latin typeface="Fira Code"/>
                <a:ea typeface="Fira Code"/>
                <a:cs typeface="Fira Code"/>
              </a:rPr>
              <a:t xml:space="preserve">input</a:t>
            </a:r>
            <a:r>
              <a:rPr sz="2500">
                <a:solidFill>
                  <a:srgbClr val="99CCA4"/>
                </a:solidFill>
                <a:latin typeface="Fira Code"/>
                <a:ea typeface="Fira Code"/>
                <a:cs typeface="Fira Code"/>
              </a:rPr>
              <a:t xml:space="preserve">(</a:t>
            </a:r>
            <a:r>
              <a:rPr sz="2500">
                <a:solidFill>
                  <a:srgbClr val="9BC7F3"/>
                </a:solidFill>
                <a:latin typeface="Fira Code"/>
                <a:ea typeface="Fira Code"/>
                <a:cs typeface="Fira Code"/>
              </a:rPr>
              <a:t xml:space="preserve">"bearing"</a:t>
            </a:r>
            <a:r>
              <a:rPr sz="2500">
                <a:solidFill>
                  <a:srgbClr val="99CCA4"/>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a:t>
            </a:r>
            <a:r>
              <a:rPr sz="2500">
                <a:solidFill>
                  <a:srgbClr val="EDDAF1"/>
                </a:solidFill>
                <a:latin typeface="Fira Code"/>
                <a:ea typeface="Fira Code"/>
                <a:cs typeface="Fira Code"/>
              </a:rPr>
              <a:t xml:space="preserve">-</a:t>
            </a:r>
            <a:r>
              <a:rPr sz="2500">
                <a:solidFill>
                  <a:srgbClr val="9BC7F3"/>
                </a:solidFill>
                <a:latin typeface="Fira Code"/>
                <a:ea typeface="Fira Code"/>
                <a:cs typeface="Fira Code"/>
              </a:rPr>
              <a:t xml:space="preserve">0.55</a:t>
            </a:r>
            <a:r>
              <a:rPr sz="2500">
                <a:solidFill>
                  <a:srgbClr val="99CCA4"/>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9BC7F3"/>
                </a:solidFill>
                <a:latin typeface="Fira Code"/>
                <a:ea typeface="Fira Code"/>
                <a:cs typeface="Fira Code"/>
              </a:rPr>
              <a:t xml:space="preserve">4</a:t>
            </a:r>
            <a:r>
              <a:rPr sz="2500">
                <a:solidFill>
                  <a:srgbClr val="EDDAF1"/>
                </a:solidFill>
                <a:latin typeface="Fira Code"/>
                <a:ea typeface="Fira Code"/>
                <a:cs typeface="Fira Code"/>
              </a:rPr>
              <a:t xml:space="preserve">]</a:t>
            </a:r>
            <a:r>
              <a:rPr sz="2500">
                <a:solidFill>
                  <a:srgbClr val="99CCA4"/>
                </a:solidFill>
                <a:latin typeface="Fira Code"/>
                <a:ea typeface="Fira Code"/>
                <a:cs typeface="Fira Code"/>
              </a:rPr>
              <a:t xml:space="preserve">)</a:t>
            </a:r>
          </a:p>
          <a:p xmlns:a="http://schemas.openxmlformats.org/drawingml/2006/main">
            <a:r>
              <a:rPr sz="2500">
                <a:solidFill>
                  <a:srgbClr val="EDDAF1"/>
                </a:solidFill>
                <a:latin typeface="Fira Code"/>
                <a:ea typeface="Fira Code"/>
                <a:cs typeface="Fira Code"/>
              </a:rPr>
              <a:t xml:space="preserve">    </a:t>
            </a:r>
            <a:r>
              <a:rPr sz="2500">
                <a:solidFill>
                  <a:srgbClr val="AB7AB8"/>
                </a:solidFill>
                <a:latin typeface="Fira Code"/>
                <a:ea typeface="Fira Code"/>
                <a:cs typeface="Fira Code"/>
              </a:rPr>
              <a:t xml:space="preserve">.</a:t>
            </a:r>
            <a:r>
              <a:rPr sz="2500">
                <a:solidFill>
                  <a:srgbClr val="BBDDC2"/>
                </a:solidFill>
                <a:latin typeface="Fira Code"/>
                <a:ea typeface="Fira Code"/>
                <a:cs typeface="Fira Code"/>
              </a:rPr>
              <a:t xml:space="preserve">export</a:t>
            </a:r>
            <a:r>
              <a:rPr sz="2500">
                <a:solidFill>
                  <a:srgbClr val="99CCA4"/>
                </a:solidFill>
                <a:latin typeface="Fira Code"/>
                <a:ea typeface="Fira Code"/>
                <a:cs typeface="Fira Code"/>
              </a:rPr>
              <a:t xml:space="preserve">(</a:t>
            </a:r>
            <a:r>
              <a:rPr sz="2500">
                <a:solidFill>
                  <a:srgbClr val="9BC7F3"/>
                </a:solidFill>
                <a:latin typeface="Fira Code"/>
                <a:ea typeface="Fira Code"/>
                <a:cs typeface="Fira Code"/>
              </a:rPr>
              <a:t xml:space="preserve">"state"</a:t>
            </a:r>
            <a:r>
              <a:rPr sz="2500">
                <a:solidFill>
                  <a:srgbClr val="99CCA4"/>
                </a:solidFill>
                <a:latin typeface="Fira Code"/>
                <a:ea typeface="Fira Code"/>
                <a:cs typeface="Fira Code"/>
              </a:rPr>
              <a:t xml:space="preserve">)</a:t>
            </a:r>
          </a:p>
          <a:p xmlns:a="http://schemas.openxmlformats.org/drawingml/2006/main">
            <a:r>
              <a:rPr sz="2500">
                <a:solidFill>
                  <a:srgbClr val="EDDAF1"/>
                </a:solidFill>
                <a:latin typeface="Fira Code"/>
                <a:ea typeface="Fira Code"/>
                <a:cs typeface="Fira Code"/>
              </a:rPr>
              <a:t xml:space="preserve">    </a:t>
            </a:r>
            <a:r>
              <a:rPr sz="2500">
                <a:solidFill>
                  <a:srgbClr val="AB7AB8"/>
                </a:solidFill>
                <a:latin typeface="Fira Code"/>
                <a:ea typeface="Fira Code"/>
                <a:cs typeface="Fira Code"/>
              </a:rPr>
              <a:t xml:space="preserve">.</a:t>
            </a:r>
            <a:r>
              <a:rPr sz="2500">
                <a:solidFill>
                  <a:srgbClr val="BBDDC2"/>
                </a:solidFill>
                <a:latin typeface="Fira Code"/>
                <a:ea typeface="Fira Code"/>
                <a:cs typeface="Fira Code"/>
              </a:rPr>
              <a:t xml:space="preserve">compile</a:t>
            </a:r>
            <a:r>
              <a:rPr sz="2500">
                <a:solidFill>
                  <a:srgbClr val="99CCA4"/>
                </a:solidFill>
                <a:latin typeface="Fira Code"/>
                <a:ea typeface="Fira Code"/>
                <a:cs typeface="Fira Code"/>
              </a:rPr>
              <a:t xml:space="preserve">(</a:t>
            </a:r>
            <a:r>
              <a:rPr sz="2500">
                <a:solidFill>
                  <a:srgbClr val="BBDDC2"/>
                </a:solidFill>
                <a:latin typeface="Fira Code"/>
                <a:ea typeface="Fira Code"/>
                <a:cs typeface="Fira Code"/>
              </a:rPr>
              <a:t xml:space="preserve">Backend</a:t>
            </a:r>
            <a:r>
              <a:rPr sz="2500">
                <a:solidFill>
                  <a:srgbClr val="AB7AB8"/>
                </a:solidFill>
                <a:latin typeface="Fira Code"/>
                <a:ea typeface="Fira Code"/>
                <a:cs typeface="Fira Code"/>
              </a:rPr>
              <a:t xml:space="preserve">::</a:t>
            </a:r>
            <a:r>
              <a:rPr sz="2500">
                <a:solidFill>
                  <a:srgbClr val="BBDDC2"/>
                </a:solidFill>
                <a:latin typeface="Fira Code"/>
                <a:ea typeface="Fira Code"/>
                <a:cs typeface="Fira Code"/>
              </a:rPr>
              <a:t xml:space="preserve">Jit</a:t>
            </a:r>
            <a:r>
              <a:rPr sz="2500">
                <a:solidFill>
                  <a:srgbClr val="99CCA4"/>
                </a:solidFill>
                <a:latin typeface="Fira Code"/>
                <a:ea typeface="Fira Code"/>
                <a:cs typeface="Fira Code"/>
              </a:rPr>
              <a:t xml:space="preserve">)</a:t>
            </a:r>
            <a:r>
              <a:rPr sz="2500">
                <a:solidFill>
                  <a:srgbClr val="AB7AB8"/>
                </a:solidFill>
                <a:latin typeface="Fira Code"/>
                <a:ea typeface="Fira Code"/>
                <a:cs typeface="Fira Code"/>
              </a:rPr>
              <a:t xml:space="preserve">?</a:t>
            </a:r>
            <a:r>
              <a:rPr sz="2500">
                <a:solidFill>
                  <a:srgbClr val="99CCA4"/>
                </a:solidFill>
                <a:latin typeface="Fira Code"/>
                <a:ea typeface="Fira Code"/>
                <a:cs typeface="Fira Code"/>
              </a:rPr>
              <a:t xml:space="preserve">;</a:t>
            </a:r>
          </a:p>
          <a:p xmlns:a="http://schemas.openxmlformats.org/drawingml/2006/main">
            <a:r>
              <a:rPr sz="2500">
                <a:solidFill>
                  <a:srgbClr val="AB7AB8"/>
                </a:solidFill>
                <a:latin typeface="Fira Code"/>
                <a:ea typeface="Fira Code"/>
                <a:cs typeface="Fira Code"/>
              </a:rPr>
              <a:t xml:space="preserve">let</a:t>
            </a:r>
            <a:r>
              <a:rPr sz="2500">
                <a:solidFill>
                  <a:srgbClr val="EDDAF1"/>
                </a:solidFill>
                <a:latin typeface="Fira Code"/>
                <a:ea typeface="Fira Code"/>
                <a:cs typeface="Fira Code"/>
              </a:rPr>
              <a:t xml:space="preserve"> </a:t>
            </a:r>
            <a:r>
              <a:rPr sz="2500">
                <a:solidFill>
                  <a:srgbClr val="AB7AB8"/>
                </a:solidFill>
                <a:latin typeface="Fira Code"/>
                <a:ea typeface="Fira Code"/>
                <a:cs typeface="Fira Code"/>
              </a:rPr>
              <a:t xml:space="preserve">mut</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ekf</a:t>
            </a:r>
            <a:r>
              <a:rPr sz="2500">
                <a:solidFill>
                  <a:srgbClr val="EDDAF1"/>
                </a:solidFill>
                <a:latin typeface="Fira Code"/>
                <a:ea typeface="Fira Code"/>
                <a:cs typeface="Fira Code"/>
              </a:rPr>
              <a:t xml:space="preserve"> </a:t>
            </a:r>
            <a:r>
              <a:rPr sz="2500">
                <a:solidFill>
                  <a:srgbClr val="AB7AB8"/>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kernel</a:t>
            </a:r>
            <a:r>
              <a:rPr sz="2500">
                <a:solidFill>
                  <a:srgbClr val="AB7AB8"/>
                </a:solidFill>
                <a:latin typeface="Fira Code"/>
                <a:ea typeface="Fira Code"/>
                <a:cs typeface="Fira Code"/>
              </a:rPr>
              <a:t xml:space="preserve">.</a:t>
            </a:r>
            <a:r>
              <a:rPr sz="2500">
                <a:solidFill>
                  <a:srgbClr val="BBDDC2"/>
                </a:solidFill>
                <a:latin typeface="Fira Code"/>
                <a:ea typeface="Fira Code"/>
                <a:cs typeface="Fira Code"/>
              </a:rPr>
              <a:t xml:space="preserve">start</a:t>
            </a:r>
            <a:r>
              <a:rPr sz="2500">
                <a:solidFill>
                  <a:srgbClr val="99CCA4"/>
                </a:solidFill>
                <a:latin typeface="Fira Code"/>
                <a:ea typeface="Fira Code"/>
                <a:cs typeface="Fira Code"/>
              </a:rPr>
              <a:t xml:space="preserve">(</a:t>
            </a:r>
            <a:r>
              <a:rPr sz="2500">
                <a:solidFill>
                  <a:srgbClr val="99CCA4"/>
                </a:solidFill>
                <a:latin typeface="Fira Code"/>
                <a:ea typeface="Fira Code"/>
                <a:cs typeface="Fira Code"/>
              </a:rPr>
              <a:t xml:space="preserve">)</a:t>
            </a:r>
            <a:r>
              <a:rPr sz="2500">
                <a:solidFill>
                  <a:srgbClr val="AB7AB8"/>
                </a:solidFill>
                <a:latin typeface="Fira Code"/>
                <a:ea typeface="Fira Code"/>
                <a:cs typeface="Fira Code"/>
              </a:rPr>
              <a:t xml:space="preserve">?</a:t>
            </a:r>
            <a:r>
              <a:rPr sz="2500">
                <a:solidFill>
                  <a:srgbClr val="99CCA4"/>
                </a:solidFill>
                <a:latin typeface="Fira Code"/>
                <a:ea typeface="Fira Code"/>
                <a:cs typeface="Fira Code"/>
              </a:rPr>
              <a:t xml:space="preserve">;</a:t>
            </a:r>
          </a:p>
          <a:p xmlns:a="http://schemas.openxmlformats.org/drawingml/2006/main">
            <a:r>
              <a:rPr sz="2500">
                <a:solidFill>
                  <a:srgbClr val="EDDAF1"/>
                </a:solidFill>
                <a:latin typeface="Fira Code"/>
                <a:ea typeface="Fira Code"/>
                <a:cs typeface="Fira Code"/>
              </a:rPr>
              <a:t xml:space="preserve">ekf</a:t>
            </a:r>
            <a:r>
              <a:rPr sz="2500">
                <a:solidFill>
                  <a:srgbClr val="AB7AB8"/>
                </a:solidFill>
                <a:latin typeface="Fira Code"/>
                <a:ea typeface="Fira Code"/>
                <a:cs typeface="Fira Code"/>
              </a:rPr>
              <a:t xml:space="preserve">.</a:t>
            </a:r>
            <a:r>
              <a:rPr sz="2500">
                <a:solidFill>
                  <a:srgbClr val="BBDDC2"/>
                </a:solidFill>
                <a:latin typeface="Fira Code"/>
                <a:ea typeface="Fira Code"/>
                <a:cs typeface="Fira Code"/>
              </a:rPr>
              <a:t xml:space="preserve">turn</a:t>
            </a:r>
            <a:r>
              <a:rPr sz="2500">
                <a:solidFill>
                  <a:srgbClr val="99CCA4"/>
                </a:solidFill>
                <a:latin typeface="Fira Code"/>
                <a:ea typeface="Fira Code"/>
                <a:cs typeface="Fira Code"/>
              </a:rPr>
              <a:t xml:space="preserve">(</a:t>
            </a:r>
            <a:r>
              <a:rPr sz="2500">
                <a:solidFill>
                  <a:srgbClr val="EDDAF1"/>
                </a:solidFill>
                <a:latin typeface="Fira Code"/>
                <a:ea typeface="Fira Code"/>
                <a:cs typeface="Fira Code"/>
              </a:rPr>
              <a:t xml:space="preserve">[</a:t>
            </a:r>
            <a:r>
              <a:rPr sz="2500">
                <a:solidFill>
                  <a:srgbClr val="99CCA4"/>
                </a:solidFill>
                <a:latin typeface="Fira Code"/>
                <a:ea typeface="Fira Code"/>
                <a:cs typeface="Fira Code"/>
              </a:rPr>
              <a:t xml:space="preserve">(</a:t>
            </a:r>
            <a:r>
              <a:rPr sz="2500">
                <a:solidFill>
                  <a:srgbClr val="9BC7F3"/>
                </a:solidFill>
                <a:latin typeface="Fira Code"/>
                <a:ea typeface="Fira Code"/>
                <a:cs typeface="Fira Code"/>
              </a:rPr>
              <a:t xml:space="preserve">"bearing"</a:t>
            </a:r>
            <a:r>
              <a:rPr sz="2500">
                <a:solidFill>
                  <a:srgbClr val="99CCA4"/>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a:t>
            </a:r>
            <a:r>
              <a:rPr sz="2500">
                <a:solidFill>
                  <a:srgbClr val="EDDAF1"/>
                </a:solidFill>
                <a:latin typeface="Fira Code"/>
                <a:ea typeface="Fira Code"/>
                <a:cs typeface="Fira Code"/>
              </a:rPr>
              <a:t xml:space="preserve">-</a:t>
            </a:r>
            <a:r>
              <a:rPr sz="2500">
                <a:solidFill>
                  <a:srgbClr val="9BC7F3"/>
                </a:solidFill>
                <a:latin typeface="Fira Code"/>
                <a:ea typeface="Fira Code"/>
                <a:cs typeface="Fira Code"/>
              </a:rPr>
              <a:t xml:space="preserve">0.54</a:t>
            </a:r>
            <a:r>
              <a:rPr sz="2500">
                <a:solidFill>
                  <a:srgbClr val="99CCA4"/>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9BC7F3"/>
                </a:solidFill>
                <a:latin typeface="Fira Code"/>
                <a:ea typeface="Fira Code"/>
                <a:cs typeface="Fira Code"/>
              </a:rPr>
              <a:t xml:space="preserve">4</a:t>
            </a:r>
            <a:r>
              <a:rPr sz="2500">
                <a:solidFill>
                  <a:srgbClr val="EDDAF1"/>
                </a:solidFill>
                <a:latin typeface="Fira Code"/>
                <a:ea typeface="Fira Code"/>
                <a:cs typeface="Fira Code"/>
              </a:rPr>
              <a:t xml:space="preserve">]</a:t>
            </a:r>
            <a:r>
              <a:rPr sz="2500">
                <a:solidFill>
                  <a:srgbClr val="99CCA4"/>
                </a:solidFill>
                <a:latin typeface="Fira Code"/>
                <a:ea typeface="Fira Code"/>
                <a:cs typeface="Fira Code"/>
              </a:rPr>
              <a:t xml:space="preserve">)</a:t>
            </a:r>
            <a:r>
              <a:rPr sz="2500">
                <a:solidFill>
                  <a:srgbClr val="EDDAF1"/>
                </a:solidFill>
                <a:latin typeface="Fira Code"/>
                <a:ea typeface="Fira Code"/>
                <a:cs typeface="Fira Code"/>
              </a:rPr>
              <a:t xml:space="preserve">]</a:t>
            </a:r>
            <a:r>
              <a:rPr sz="2500">
                <a:solidFill>
                  <a:srgbClr val="99CCA4"/>
                </a:solidFill>
                <a:latin typeface="Fira Code"/>
                <a:ea typeface="Fira Code"/>
                <a:cs typeface="Fira Code"/>
              </a:rPr>
              <a:t xml:space="preserve">)</a:t>
            </a:r>
            <a:r>
              <a:rPr sz="2500">
                <a:solidFill>
                  <a:srgbClr val="AB7AB8"/>
                </a:solidFill>
                <a:latin typeface="Fira Code"/>
                <a:ea typeface="Fira Code"/>
                <a:cs typeface="Fira Code"/>
              </a:rPr>
              <a:t xml:space="preserve">?</a:t>
            </a:r>
            <a:r>
              <a:rPr sz="2500">
                <a:solidFill>
                  <a:srgbClr val="99CCA4"/>
                </a:solidFill>
                <a:latin typeface="Fira Code"/>
                <a:ea typeface="Fira Code"/>
                <a:cs typeface="Fira Code"/>
              </a:rPr>
              <a:t xml:space="preserve">;</a:t>
            </a:r>
          </a:p>
          <a:p xmlns:a="http://schemas.openxmlformats.org/drawingml/2006/main">
            <a:r>
              <a:rPr sz="2500">
                <a:solidFill>
                  <a:srgbClr val="AB7AB8"/>
                </a:solidFill>
                <a:latin typeface="Fira Code"/>
                <a:ea typeface="Fira Code"/>
                <a:cs typeface="Fira Code"/>
              </a:rPr>
              <a:t xml:space="preserve">let</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state</a:t>
            </a:r>
            <a:r>
              <a:rPr sz="2500">
                <a:solidFill>
                  <a:srgbClr val="EDDAF1"/>
                </a:solidFill>
                <a:latin typeface="Fira Code"/>
                <a:ea typeface="Fira Code"/>
                <a:cs typeface="Fira Code"/>
              </a:rPr>
              <a:t xml:space="preserve"> </a:t>
            </a:r>
            <a:r>
              <a:rPr sz="2500">
                <a:solidFill>
                  <a:srgbClr val="AB7AB8"/>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ekf</a:t>
            </a:r>
            <a:r>
              <a:rPr sz="2500">
                <a:solidFill>
                  <a:srgbClr val="AB7AB8"/>
                </a:solidFill>
                <a:latin typeface="Fira Code"/>
                <a:ea typeface="Fira Code"/>
                <a:cs typeface="Fira Code"/>
              </a:rPr>
              <a:t xml:space="preserve">.</a:t>
            </a:r>
            <a:r>
              <a:rPr sz="2500">
                <a:solidFill>
                  <a:srgbClr val="BBDDC2"/>
                </a:solidFill>
                <a:latin typeface="Fira Code"/>
                <a:ea typeface="Fira Code"/>
                <a:cs typeface="Fira Code"/>
              </a:rPr>
              <a:t xml:space="preserve">state</a:t>
            </a:r>
            <a:r>
              <a:rPr sz="2500">
                <a:solidFill>
                  <a:srgbClr val="99CCA4"/>
                </a:solidFill>
                <a:latin typeface="Fira Code"/>
                <a:ea typeface="Fira Code"/>
                <a:cs typeface="Fira Code"/>
              </a:rPr>
              <a:t xml:space="preserve">(</a:t>
            </a:r>
            <a:r>
              <a:rPr sz="2500">
                <a:solidFill>
                  <a:srgbClr val="9BC7F3"/>
                </a:solidFill>
                <a:latin typeface="Fira Code"/>
                <a:ea typeface="Fira Code"/>
                <a:cs typeface="Fira Code"/>
              </a:rPr>
              <a:t xml:space="preserve">"state"</a:t>
            </a:r>
            <a:r>
              <a:rPr sz="2500">
                <a:solidFill>
                  <a:srgbClr val="99CCA4"/>
                </a:solidFill>
                <a:latin typeface="Fira Code"/>
                <a:ea typeface="Fira Code"/>
                <a:cs typeface="Fira Code"/>
              </a:rPr>
              <a:t xml:space="preserve">)</a:t>
            </a:r>
            <a:r>
              <a:rPr sz="2500">
                <a:solidFill>
                  <a:srgbClr val="AB7AB8"/>
                </a:solidFill>
                <a:latin typeface="Fira Code"/>
                <a:ea typeface="Fira Code"/>
                <a:cs typeface="Fira Code"/>
              </a:rPr>
              <a:t xml:space="preserve">?</a:t>
            </a:r>
            <a:r>
              <a:rPr sz="2500">
                <a:solidFill>
                  <a:srgbClr val="99CCA4"/>
                </a:solidFill>
                <a:latin typeface="Fira Code"/>
                <a:ea typeface="Fira Code"/>
                <a:cs typeface="Fira Code"/>
              </a:rPr>
              <a:t xml:space="preserve">;</a:t>
            </a:r>
          </a:p>
        </p:txBody>
      </p:sp>
      <p:sp>
        <p:nvSpPr>
          <p:cNvPr id="184" name="Rust caller explanation">
            <a:extLst xmlns:a="http://schemas.openxmlformats.org/drawingml/2006/main">
              <a:ext uri="{FF2B5EF4-FFF2-40B4-BE49-F238E27FC236}">
                <a16:creationId xmlns:a16="http://schemas.microsoft.com/office/drawing/2014/main" id="{A907D9C8-A2A9-4F91-B620-084C2789937F}"/>
              </a:ext>
            </a:extLst>
          </p:cNvPr>
          <p:cNvSpPr>
            <a:spLocks xmlns:a="http://schemas.openxmlformats.org/drawingml/2006/main" noGrp="1"/>
          </p:cNvSpPr>
          <p:nvPr/>
        </p:nvSpPr>
        <p:spPr>
          <a:xfrm xmlns:a="http://schemas.openxmlformats.org/drawingml/2006/main">
            <a:off x="952500" y="17907000"/>
            <a:ext cx="9810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025" b="0">
                <a:solidFill>
                  <a:srgbClr val="A4BAC8"/>
                </a:solidFill>
                <a:latin typeface="Segoe UI"/>
                <a:ea typeface="Segoe UI"/>
                <a:cs typeface="Segoe UI"/>
              </a:defRPr>
            </a:pPr>
            <a:r>
              <a:rPr sz="2025" b="0">
                <a:solidFill>
                  <a:srgbClr val="A4BAC8"/>
                </a:solidFill>
                <a:latin typeface="Segoe UI"/>
                <a:ea typeface="Segoe UI"/>
                <a:cs typeface="Segoe UI"/>
              </a:rPr>
              <a:t>Compile once, then submit successive measurement updates. Each checked turn retains the last accepted state.</a:t>
            </a:r>
          </a:p>
        </p:txBody>
      </p:sp>
      <p:sp>
        <p:nvSpPr>
          <p:cNvPr id="185" name="AOT benchmark title">
            <a:extLst xmlns:a="http://schemas.openxmlformats.org/drawingml/2006/main">
              <a:ext uri="{FF2B5EF4-FFF2-40B4-BE49-F238E27FC236}">
                <a16:creationId xmlns:a16="http://schemas.microsoft.com/office/drawing/2014/main" id="{FC18D46D-D7BA-4F29-9F39-000579AC3127}"/>
              </a:ext>
            </a:extLst>
          </p:cNvPr>
          <p:cNvSpPr>
            <a:spLocks xmlns:a="http://schemas.openxmlformats.org/drawingml/2006/main" noGrp="1"/>
          </p:cNvSpPr>
          <p:nvPr/>
        </p:nvSpPr>
        <p:spPr>
          <a:xfrm xmlns:a="http://schemas.openxmlformats.org/drawingml/2006/main">
            <a:off x="11525250" y="13049250"/>
            <a:ext cx="10144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550" b="1">
                <a:solidFill>
                  <a:srgbClr val="33AB94"/>
                </a:solidFill>
                <a:latin typeface="Fira Code"/>
                <a:ea typeface="Fira Code"/>
                <a:cs typeface="Fira Code"/>
              </a:defRPr>
            </a:pPr>
            <a:r>
              <a:rPr sz="2550" b="1">
                <a:solidFill>
                  <a:srgbClr val="33AB94"/>
                </a:solidFill>
                <a:latin typeface="Fira Code"/>
                <a:ea typeface="Fira Code"/>
                <a:cs typeface="Fira Code"/>
              </a:rPr>
              <a:t>Checked dylibs†</a:t>
            </a:r>
          </a:p>
        </p:txBody>
      </p:sp>
      <p:graphicFrame>
        <p:nvGraphicFramePr>
          <p:cNvPr id="623" name=""/>
          <p:cNvGraphicFramePr/>
          <p:nvPr/>
        </p:nvGraphicFramePr>
        <p:xfrm>
          <a:off xmlns:a="http://schemas.openxmlformats.org/drawingml/2006/main" x="11525250" y="13716000"/>
          <a:ext xmlns:a="http://schemas.openxmlformats.org/drawingml/2006/main" cx="10144125" cy="2095500"/>
        </p:xfrm>
        <a:graphic xmlns:a="http://schemas.openxmlformats.org/drawingml/2006/main">
          <a:graphicData uri="http://schemas.openxmlformats.org/drawingml/2006/table">
            <a:tbl>
              <a:tblPr firstRow="0" bandRow="0"/>
              <a:tblGrid>
                <a:gridCol w="2714625"/>
                <a:gridCol w="1714500"/>
                <a:gridCol w="3048000"/>
                <a:gridCol w="2667000"/>
              </a:tblGrid>
              <a:tr h="523875">
                <a:tc>
                  <a:txBody>
                    <a:bodyPr wrap="none" lIns="95250" tIns="38100" rIns="95250" bIns="38100">
                      <a:noAutofit/>
                    </a:bodyPr>
                    <a:lstStyle/>
                    <a:p>
                      <a:pPr algn="l">
                        <a:buNone/>
                      </a:pPr>
                      <a:r>
                        <a:rPr sz="1950" b="1">
                          <a:solidFill>
                            <a:srgbClr val="E8EDF0"/>
                          </a:solidFill>
                          <a:latin typeface="Segoe UI"/>
                          <a:ea typeface="Segoe UI"/>
                          <a:cs typeface="Segoe UI"/>
                        </a:rPr>
                        <a:t>Artifact</a:t>
                      </a:r>
                    </a:p>
                  </a:txBody>
                  <a:tcPr marL="91440" marR="91440" marT="45720" marB="45720" anchor="ctr">
                    <a:solidFill>
                      <a:srgbClr val="1C2C33"/>
                    </a:solidFill>
                  </a:tcPr>
                </a:tc>
                <a:tc>
                  <a:txBody>
                    <a:bodyPr wrap="none" lIns="95250" tIns="38100" rIns="95250" bIns="38100">
                      <a:noAutofit/>
                    </a:bodyPr>
                    <a:lstStyle/>
                    <a:p>
                      <a:pPr algn="r">
                        <a:buNone/>
                      </a:pPr>
                      <a:r>
                        <a:rPr sz="1950" b="1">
                          <a:solidFill>
                            <a:srgbClr val="E8EDF0"/>
                          </a:solidFill>
                          <a:latin typeface="Segoe UI"/>
                          <a:ea typeface="Segoe UI"/>
                          <a:cs typeface="Segoe UI"/>
                        </a:rPr>
                        <a:t>Bytes</a:t>
                      </a:r>
                    </a:p>
                  </a:txBody>
                  <a:tcPr marL="91440" marR="91440" marT="45720" marB="45720" anchor="ctr">
                    <a:solidFill>
                      <a:srgbClr val="1C2C33"/>
                    </a:solidFill>
                  </a:tcPr>
                </a:tc>
                <a:tc>
                  <a:txBody>
                    <a:bodyPr wrap="none" lIns="95250" tIns="38100" rIns="95250" bIns="38100">
                      <a:noAutofit/>
                    </a:bodyPr>
                    <a:lstStyle/>
                    <a:p>
                      <a:pPr algn="r">
                        <a:buNone/>
                      </a:pPr>
                      <a:r>
                        <a:rPr sz="1950" b="1">
                          <a:solidFill>
                            <a:srgbClr val="E8EDF0"/>
                          </a:solidFill>
                          <a:latin typeface="Segoe UI"/>
                          <a:ea typeface="Segoe UI"/>
                          <a:cs typeface="Segoe UI"/>
                        </a:rPr>
                        <a:t>M/s ± MAD</a:t>
                      </a:r>
                    </a:p>
                  </a:txBody>
                  <a:tcPr marL="91440" marR="91440" marT="45720" marB="45720" anchor="ctr">
                    <a:solidFill>
                      <a:srgbClr val="1C2C33"/>
                    </a:solidFill>
                  </a:tcPr>
                </a:tc>
                <a:tc>
                  <a:txBody>
                    <a:bodyPr wrap="none" lIns="95250" tIns="38100" rIns="95250" bIns="38100">
                      <a:noAutofit/>
                    </a:bodyPr>
                    <a:lstStyle/>
                    <a:p>
                      <a:pPr algn="r">
                        <a:buNone/>
                      </a:pPr>
                      <a:r>
                        <a:rPr sz="1950" b="1">
                          <a:solidFill>
                            <a:srgbClr val="E8EDF0"/>
                          </a:solidFill>
                          <a:latin typeface="Segoe UI"/>
                          <a:ea typeface="Segoe UI"/>
                          <a:cs typeface="Segoe UI"/>
                        </a:rPr>
                        <a:t>Peak RSS (MiB)</a:t>
                      </a:r>
                    </a:p>
                  </a:txBody>
                  <a:tcPr marL="91440" marR="91440" marT="45720" marB="45720" anchor="ctr">
                    <a:solidFill>
                      <a:srgbClr val="1C2C33"/>
                    </a:solidFill>
                  </a:tcPr>
                </a:tc>
              </a:tr>
              <a:tr h="523875">
                <a:tc>
                  <a:txBody>
                    <a:bodyPr wrap="none" lIns="95250" tIns="38100" rIns="95250" bIns="38100">
                      <a:noAutofit/>
                    </a:bodyPr>
                    <a:lstStyle/>
                    <a:p>
                      <a:pPr algn="l">
                        <a:buNone/>
                      </a:pPr>
                      <a:r>
                        <a:rPr sz="1950" b="0">
                          <a:solidFill>
                            <a:srgbClr val="A4BAC8"/>
                          </a:solidFill>
                          <a:latin typeface="Segoe UI"/>
                          <a:ea typeface="Segoe UI"/>
                          <a:cs typeface="Segoe UI"/>
                        </a:rPr>
                        <a:t>Mech scalar</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33,544</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14.671 ± 0.008</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2.69 ± 0.00</a:t>
                      </a:r>
                    </a:p>
                  </a:txBody>
                  <a:tcPr marL="91440" marR="91440" marT="45720" marB="45720" anchor="ctr">
                    <a:solidFill>
                      <a:srgbClr val="0B1113"/>
                    </a:solidFill>
                  </a:tcPr>
                </a:tc>
              </a:tr>
              <a:tr h="523875">
                <a:tc>
                  <a:txBody>
                    <a:bodyPr wrap="none" lIns="95250" tIns="38100" rIns="95250" bIns="38100">
                      <a:noAutofit/>
                    </a:bodyPr>
                    <a:lstStyle/>
                    <a:p>
                      <a:pPr algn="l">
                        <a:buNone/>
                      </a:pPr>
                      <a:r>
                        <a:rPr sz="1950" b="0">
                          <a:solidFill>
                            <a:srgbClr val="A4BAC8"/>
                          </a:solidFill>
                          <a:latin typeface="Segoe UI"/>
                          <a:ea typeface="Segoe UI"/>
                          <a:cs typeface="Segoe UI"/>
                        </a:rPr>
                        <a:t>Rust scalar</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50,016</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21.121 ± 0.005</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2.69 ± 0.00</a:t>
                      </a:r>
                    </a:p>
                  </a:txBody>
                  <a:tcPr marL="91440" marR="91440" marT="45720" marB="45720" anchor="ctr">
                    <a:solidFill>
                      <a:srgbClr val="111C21"/>
                    </a:solidFill>
                  </a:tcPr>
                </a:tc>
              </a:tr>
              <a:tr h="523875">
                <a:tc>
                  <a:txBody>
                    <a:bodyPr wrap="none" lIns="95250" tIns="38100" rIns="95250" bIns="38100">
                      <a:noAutofit/>
                    </a:bodyPr>
                    <a:lstStyle/>
                    <a:p>
                      <a:pPr algn="l">
                        <a:buNone/>
                      </a:pPr>
                      <a:r>
                        <a:rPr sz="1950" b="0">
                          <a:solidFill>
                            <a:srgbClr val="A4BAC8"/>
                          </a:solidFill>
                          <a:latin typeface="Segoe UI"/>
                          <a:ea typeface="Segoe UI"/>
                          <a:cs typeface="Segoe UI"/>
                        </a:rPr>
                        <a:t>Mech SIMD-4</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33,864</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34.863 ± 0.010</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2.69 ± 0.00</a:t>
                      </a:r>
                    </a:p>
                  </a:txBody>
                  <a:tcPr marL="91440" marR="91440" marT="45720" marB="45720" anchor="ctr">
                    <a:solidFill>
                      <a:srgbClr val="0B1113"/>
                    </a:solidFill>
                  </a:tcPr>
                </a:tc>
              </a:tr>
            </a:tbl>
          </a:graphicData>
        </a:graphic>
      </p:graphicFrame>
      <p:sp>
        <p:nvSpPr>
          <p:cNvPr id="187" name="AOT interpretation">
            <a:extLst xmlns:a="http://schemas.openxmlformats.org/drawingml/2006/main">
              <a:ext uri="{FF2B5EF4-FFF2-40B4-BE49-F238E27FC236}">
                <a16:creationId xmlns:a16="http://schemas.microsoft.com/office/drawing/2014/main" id="{9C5BF8B1-B15E-4610-89A7-2F24755D11B9}"/>
              </a:ext>
            </a:extLst>
          </p:cNvPr>
          <p:cNvSpPr>
            <a:spLocks xmlns:a="http://schemas.openxmlformats.org/drawingml/2006/main" noGrp="1"/>
          </p:cNvSpPr>
          <p:nvPr/>
        </p:nvSpPr>
        <p:spPr>
          <a:xfrm xmlns:a="http://schemas.openxmlformats.org/drawingml/2006/main">
            <a:off x="11525250" y="16240125"/>
            <a:ext cx="10144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550" b="1">
                <a:solidFill>
                  <a:srgbClr val="33AB94"/>
                </a:solidFill>
                <a:latin typeface="Fira Code"/>
                <a:ea typeface="Fira Code"/>
                <a:cs typeface="Fira Code"/>
              </a:defRPr>
            </a:pPr>
            <a:r>
              <a:rPr sz="2550" b="1">
                <a:solidFill>
                  <a:srgbClr val="33AB94"/>
                </a:solidFill>
                <a:latin typeface="Fira Code"/>
                <a:ea typeface="Fira Code"/>
                <a:cs typeface="Fira Code"/>
              </a:rPr>
              <a:t>Load an AOT library†</a:t>
            </a:r>
          </a:p>
        </p:txBody>
      </p:sp>
      <p:sp>
        <p:nvSpPr>
          <p:cNvPr id="188" name="AOT scope">
            <a:extLst xmlns:a="http://schemas.openxmlformats.org/drawingml/2006/main">
              <a:ext uri="{FF2B5EF4-FFF2-40B4-BE49-F238E27FC236}">
                <a16:creationId xmlns:a16="http://schemas.microsoft.com/office/drawing/2014/main" id="{14D68524-F49B-480E-BBC6-607D510BF3A6}"/>
              </a:ext>
            </a:extLst>
          </p:cNvPr>
          <p:cNvSpPr>
            <a:spLocks xmlns:a="http://schemas.openxmlformats.org/drawingml/2006/main" noGrp="1"/>
          </p:cNvSpPr>
          <p:nvPr/>
        </p:nvSpPr>
        <p:spPr>
          <a:xfrm xmlns:a="http://schemas.openxmlformats.org/drawingml/2006/main">
            <a:off x="11525250" y="18383250"/>
            <a:ext cx="10144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025" b="0">
                <a:solidFill>
                  <a:srgbClr val="A4BAC8"/>
                </a:solidFill>
                <a:latin typeface="Segoe UI"/>
                <a:ea typeface="Segoe UI"/>
                <a:cs typeface="Segoe UI"/>
              </a:defRPr>
            </a:pPr>
            <a:r>
              <a:rPr sz="1875" b="0">
                <a:solidFill>
                  <a:srgbClr val="A4BAC8"/>
                </a:solidFill>
                <a:latin typeface="Segoe UI"/>
                <a:ea typeface="Segoe UI"/>
                <a:cs typeface="Segoe UI"/>
              </a:rPr>
              <a:t>The bundle contains the dylib and its saved interface. Loading native code requires a trusted library.</a:t>
            </a:r>
          </a:p>
        </p:txBody>
      </p:sp>
      <p:sp>
        <p:nvSpPr>
          <p:cNvPr id="189" name="Reactive">
            <a:extLst xmlns:a="http://schemas.openxmlformats.org/drawingml/2006/main">
              <a:ext uri="{FF2B5EF4-FFF2-40B4-BE49-F238E27FC236}">
                <a16:creationId xmlns:a16="http://schemas.microsoft.com/office/drawing/2014/main" id="{9E6ACAF7-2FCF-4E44-9325-1841CE2BE59B}"/>
              </a:ext>
            </a:extLst>
          </p:cNvPr>
          <p:cNvSpPr>
            <a:spLocks xmlns:a="http://schemas.openxmlformats.org/drawingml/2006/main" noGrp="1"/>
          </p:cNvSpPr>
          <p:nvPr/>
        </p:nvSpPr>
        <p:spPr>
          <a:xfrm xmlns:a="http://schemas.openxmlformats.org/drawingml/2006/main">
            <a:off x="762000" y="19145250"/>
            <a:ext cx="4953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CD8DCA"/>
                </a:solidFill>
                <a:latin typeface="Fira Code"/>
                <a:ea typeface="Fira Code"/>
                <a:cs typeface="Fira Code"/>
              </a:defRPr>
            </a:pPr>
            <a:r>
              <a:rPr sz="5100" b="1">
                <a:solidFill>
                  <a:srgbClr val="CD8DCA"/>
                </a:solidFill>
                <a:latin typeface="Fira Code"/>
                <a:ea typeface="Fira Code"/>
                <a:cs typeface="Fira Code"/>
              </a:rPr>
              <a:t>Reactive</a:t>
            </a:r>
          </a:p>
        </p:txBody>
      </p:sp>
      <p:sp>
        <p:nvSpPr>
          <p:cNvPr id="190" name="Reactive thesis">
            <a:extLst xmlns:a="http://schemas.openxmlformats.org/drawingml/2006/main">
              <a:ext uri="{FF2B5EF4-FFF2-40B4-BE49-F238E27FC236}">
                <a16:creationId xmlns:a16="http://schemas.microsoft.com/office/drawing/2014/main" id="{045E56C3-95F1-432C-AF61-E71140A78CBB}"/>
              </a:ext>
            </a:extLst>
          </p:cNvPr>
          <p:cNvSpPr>
            <a:spLocks xmlns:a="http://schemas.openxmlformats.org/drawingml/2006/main" noGrp="1"/>
          </p:cNvSpPr>
          <p:nvPr/>
        </p:nvSpPr>
        <p:spPr>
          <a:xfrm xmlns:a="http://schemas.openxmlformats.org/drawingml/2006/main">
            <a:off x="952500" y="20193000"/>
            <a:ext cx="207168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0">
                <a:solidFill>
                  <a:srgbClr val="E8EDF0"/>
                </a:solidFill>
                <a:latin typeface="Segoe UI"/>
                <a:ea typeface="Segoe UI"/>
                <a:cs typeface="Segoe UI"/>
              </a:defRPr>
            </a:pPr>
            <a:r>
              <a:rPr sz="2700" b="0">
                <a:solidFill>
                  <a:srgbClr val="E8EDF0"/>
                </a:solidFill>
                <a:latin typeface="Segoe UI"/>
                <a:ea typeface="Segoe UI"/>
                <a:cs typeface="Segoe UI"/>
              </a:rPr>
              <a:t>Robots commonly use feedback control loops over continuous data streams. Mech handles successive updates through its native Rust interface or ROS channels. Each turn validates candidate state against integrity constraints. Rejection notifies the caller and retains the previous state.</a:t>
            </a:r>
          </a:p>
        </p:txBody>
      </p:sp>
      <p:sp>
        <p:nvSpPr>
          <p:cNvPr id="191" name="Build phase">
            <a:extLst xmlns:a="http://schemas.openxmlformats.org/drawingml/2006/main">
              <a:ext uri="{FF2B5EF4-FFF2-40B4-BE49-F238E27FC236}">
                <a16:creationId xmlns:a16="http://schemas.microsoft.com/office/drawing/2014/main" id="{88696A30-21E3-4122-857A-A471879E5F42}"/>
              </a:ext>
            </a:extLst>
          </p:cNvPr>
          <p:cNvSpPr>
            <a:spLocks xmlns:a="http://schemas.openxmlformats.org/drawingml/2006/main" noGrp="1"/>
          </p:cNvSpPr>
          <p:nvPr/>
        </p:nvSpPr>
        <p:spPr>
          <a:xfrm xmlns:a="http://schemas.openxmlformats.org/drawingml/2006/main">
            <a:off x="952500" y="22031325"/>
            <a:ext cx="6905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1">
                <a:solidFill>
                  <a:srgbClr val="CD8DCA"/>
                </a:solidFill>
                <a:latin typeface="Fira Code"/>
                <a:ea typeface="Fira Code"/>
                <a:cs typeface="Fira Code"/>
              </a:defRPr>
            </a:pPr>
            <a:r>
              <a:rPr sz="2700" b="1">
                <a:solidFill>
                  <a:srgbClr val="CD8DCA"/>
                </a:solidFill>
                <a:latin typeface="Fira Code"/>
                <a:ea typeface="Fira Code"/>
                <a:cs typeface="Fira Code"/>
              </a:rPr>
              <a:t>Build and activation (once)</a:t>
            </a:r>
          </a:p>
        </p:txBody>
      </p:sp>
      <p:sp>
        <p:nvSpPr>
          <p:cNvPr id="192" name="Artifact serialization group">
            <a:extLst xmlns:a="http://schemas.openxmlformats.org/drawingml/2006/main">
              <a:ext uri="{FF2B5EF4-FFF2-40B4-BE49-F238E27FC236}">
                <a16:creationId xmlns:a16="http://schemas.microsoft.com/office/drawing/2014/main" id="{1221F940-3C85-4A2A-8C3C-52F8B386BD5B}"/>
              </a:ext>
            </a:extLst>
          </p:cNvPr>
          <p:cNvSpPr>
            <a:spLocks xmlns:a="http://schemas.openxmlformats.org/drawingml/2006/main" noGrp="1"/>
          </p:cNvSpPr>
          <p:nvPr/>
        </p:nvSpPr>
        <p:spPr>
          <a:xfrm xmlns:a="http://schemas.openxmlformats.org/drawingml/2006/main">
            <a:off x="7667625" y="21478875"/>
            <a:ext cx="5143500" cy="2571750"/>
          </a:xfrm>
          <a:prstGeom xmlns:a="http://schemas.openxmlformats.org/drawingml/2006/main" prst="rect">
            <a:avLst/>
          </a:prstGeom>
          <a:noFill xmlns:a="http://schemas.openxmlformats.org/drawingml/2006/main"/>
          <a:ln xmlns:a="http://schemas.openxmlformats.org/drawingml/2006/main" w="28575">
            <a:solidFill>
              <a:srgbClr val="CD8DCA"/>
            </a:solidFill>
            <a:prstDash val="dot"/>
          </a:ln>
        </p:spPr>
      </p:sp>
      <p:sp>
        <p:nvSpPr>
          <p:cNvPr id="194" name="Runtime configuration">
            <a:extLst xmlns:a="http://schemas.openxmlformats.org/drawingml/2006/main">
              <a:ext uri="{FF2B5EF4-FFF2-40B4-BE49-F238E27FC236}">
                <a16:creationId xmlns:a16="http://schemas.microsoft.com/office/drawing/2014/main" id="{8F619773-FE7E-45D5-BF26-EBCF91136C86}"/>
              </a:ext>
            </a:extLst>
          </p:cNvPr>
          <p:cNvSpPr>
            <a:spLocks xmlns:a="http://schemas.openxmlformats.org/drawingml/2006/main" noGrp="1"/>
          </p:cNvSpPr>
          <p:nvPr/>
        </p:nvSpPr>
        <p:spPr>
          <a:xfrm xmlns:a="http://schemas.openxmlformats.org/drawingml/2006/main">
            <a:off x="13335000" y="21669375"/>
            <a:ext cx="4000500" cy="571500"/>
          </a:xfrm>
          <a:prstGeom xmlns:a="http://schemas.openxmlformats.org/drawingml/2006/main" prst="rect">
            <a:avLst/>
          </a:prstGeom>
          <a:solidFill xmlns:a="http://schemas.openxmlformats.org/drawingml/2006/main">
            <a:srgbClr val="101B20"/>
          </a:solidFill>
          <a:ln xmlns:a="http://schemas.openxmlformats.org/drawingml/2006/main" w="19050">
            <a:solidFill>
              <a:srgbClr val="7FC7FF"/>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.mcfg configuration</a:t>
            </a:r>
          </a:p>
        </p:txBody>
      </p:sp>
      <p:sp>
        <p:nvSpPr>
          <p:cNvPr id="195" name="Configuration explanation">
            <a:extLst xmlns:a="http://schemas.openxmlformats.org/drawingml/2006/main">
              <a:ext uri="{FF2B5EF4-FFF2-40B4-BE49-F238E27FC236}">
                <a16:creationId xmlns:a16="http://schemas.microsoft.com/office/drawing/2014/main" id="{5F8055B3-E4A4-4E54-A819-CF5E91B629F0}"/>
              </a:ext>
            </a:extLst>
          </p:cNvPr>
          <p:cNvSpPr>
            <a:spLocks xmlns:a="http://schemas.openxmlformats.org/drawingml/2006/main" noGrp="1"/>
          </p:cNvSpPr>
          <p:nvPr/>
        </p:nvSpPr>
        <p:spPr>
          <a:xfrm xmlns:a="http://schemas.openxmlformats.org/drawingml/2006/main">
            <a:off x="17716500" y="21526500"/>
            <a:ext cx="39528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950" b="0">
                <a:solidFill>
                  <a:srgbClr val="A4BAC8"/>
                </a:solidFill>
                <a:latin typeface="Segoe UI"/>
                <a:ea typeface="Segoe UI"/>
                <a:cs typeface="Segoe UI"/>
              </a:defRPr>
            </a:pPr>
            <a:r>
              <a:rPr sz="1950" b="0">
                <a:solidFill>
                  <a:srgbClr val="A4BAC8"/>
                </a:solidFill>
                <a:latin typeface="Segoe UI"/>
                <a:ea typeface="Segoe UI"/>
                <a:cs typeface="Segoe UI"/>
              </a:rPr>
              <a:t>Activation checks host availability and capabilities (permissions for resource operations).</a:t>
            </a:r>
          </a:p>
        </p:txBody>
      </p:sp>
      <p:sp>
        <p:nvSpPr>
          <p:cNvPr id="237" name="Heterogeneous">
            <a:extLst xmlns:a="http://schemas.openxmlformats.org/drawingml/2006/main">
              <a:ext uri="{FF2B5EF4-FFF2-40B4-BE49-F238E27FC236}">
                <a16:creationId xmlns:a16="http://schemas.microsoft.com/office/drawing/2014/main" id="{1451E012-FCF2-4EF2-A003-BCAA5D1E5ECC}"/>
              </a:ext>
            </a:extLst>
          </p:cNvPr>
          <p:cNvSpPr>
            <a:spLocks xmlns:a="http://schemas.openxmlformats.org/drawingml/2006/main" noGrp="1"/>
          </p:cNvSpPr>
          <p:nvPr/>
        </p:nvSpPr>
        <p:spPr>
          <a:xfrm xmlns:a="http://schemas.openxmlformats.org/drawingml/2006/main">
            <a:off x="762000" y="27717750"/>
            <a:ext cx="2071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F8D07B"/>
                </a:solidFill>
                <a:latin typeface="Fira Code"/>
                <a:ea typeface="Fira Code"/>
                <a:cs typeface="Fira Code"/>
              </a:defRPr>
            </a:pPr>
            <a:r>
              <a:rPr sz="5100" b="1">
                <a:solidFill>
                  <a:srgbClr val="F8D07B"/>
                </a:solidFill>
                <a:latin typeface="Fira Code"/>
                <a:ea typeface="Fira Code"/>
                <a:cs typeface="Fira Code"/>
              </a:rPr>
              <a:t>Heterogeneous</a:t>
            </a:r>
          </a:p>
        </p:txBody>
      </p:sp>
      <p:sp>
        <p:nvSpPr>
          <p:cNvPr id="238" name="Heterogeneous narrative">
            <a:extLst xmlns:a="http://schemas.openxmlformats.org/drawingml/2006/main">
              <a:ext uri="{FF2B5EF4-FFF2-40B4-BE49-F238E27FC236}">
                <a16:creationId xmlns:a16="http://schemas.microsoft.com/office/drawing/2014/main" id="{48D61149-D642-4AD4-BF60-0DF108C14F6D}"/>
              </a:ext>
            </a:extLst>
          </p:cNvPr>
          <p:cNvSpPr>
            <a:spLocks xmlns:a="http://schemas.openxmlformats.org/drawingml/2006/main" noGrp="1"/>
          </p:cNvSpPr>
          <p:nvPr/>
        </p:nvSpPr>
        <p:spPr>
          <a:xfrm xmlns:a="http://schemas.openxmlformats.org/drawingml/2006/main">
            <a:off x="952500" y="28765500"/>
            <a:ext cx="20716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400" b="0">
                <a:solidFill>
                  <a:srgbClr val="E8EDF0"/>
                </a:solidFill>
                <a:latin typeface="Segoe UI"/>
                <a:ea typeface="Segoe UI"/>
                <a:cs typeface="Segoe UI"/>
              </a:defRPr>
            </a:pPr>
            <a:r>
              <a:rPr sz="2400" b="0">
                <a:solidFill>
                  <a:srgbClr val="E8EDF0"/>
                </a:solidFill>
                <a:latin typeface="Segoe UI"/>
                <a:ea typeface="Segoe UI"/>
                <a:cs typeface="Segoe UI"/>
              </a:rPr>
              <a:t>Mech’s typed, declarative IR supports interpretation, scalar/SIMD CPU, multicore, GPU and WebAssembly/WGPU from the same source.</a:t>
            </a:r>
          </a:p>
        </p:txBody>
      </p:sp>
      <p:sp>
        <p:nvSpPr>
          <p:cNvPr id="239" name="JIT AOT explanation">
            <a:extLst xmlns:a="http://schemas.openxmlformats.org/drawingml/2006/main">
              <a:ext uri="{FF2B5EF4-FFF2-40B4-BE49-F238E27FC236}">
                <a16:creationId xmlns:a16="http://schemas.microsoft.com/office/drawing/2014/main" id="{81D7AE81-DB5D-49AA-BCBA-B6456383EEFD}"/>
              </a:ext>
            </a:extLst>
          </p:cNvPr>
          <p:cNvSpPr>
            <a:spLocks xmlns:a="http://schemas.openxmlformats.org/drawingml/2006/main" noGrp="1"/>
          </p:cNvSpPr>
          <p:nvPr/>
        </p:nvSpPr>
        <p:spPr>
          <a:xfrm xmlns:a="http://schemas.openxmlformats.org/drawingml/2006/main">
            <a:off x="952500" y="29194125"/>
            <a:ext cx="20716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400" b="0">
                <a:solidFill>
                  <a:srgbClr val="E8EDF0"/>
                </a:solidFill>
                <a:latin typeface="Segoe UI"/>
                <a:ea typeface="Segoe UI"/>
                <a:cs typeface="Segoe UI"/>
              </a:defRPr>
            </a:pPr>
            <a:r>
              <a:rPr sz="2400" b="0">
                <a:solidFill>
                  <a:srgbClr val="E8EDF0"/>
                </a:solidFill>
                <a:latin typeface="Segoe UI"/>
                <a:ea typeface="Segoe UI"/>
                <a:cs typeface="Segoe UI"/>
              </a:rPr>
              <a:t>The Mech rows use the same f32 EKF source shown at right.</a:t>
            </a:r>
          </a:p>
        </p:txBody>
      </p:sp>
      <p:sp>
        <p:nvSpPr>
          <p:cNvPr id="240" name="Cross CPU title">
            <a:extLst xmlns:a="http://schemas.openxmlformats.org/drawingml/2006/main">
              <a:ext uri="{FF2B5EF4-FFF2-40B4-BE49-F238E27FC236}">
                <a16:creationId xmlns:a16="http://schemas.microsoft.com/office/drawing/2014/main" id="{0892A7C5-CE90-49EA-A966-D424D1E207F2}"/>
              </a:ext>
            </a:extLst>
          </p:cNvPr>
          <p:cNvSpPr>
            <a:spLocks xmlns:a="http://schemas.openxmlformats.org/drawingml/2006/main" noGrp="1"/>
          </p:cNvSpPr>
          <p:nvPr/>
        </p:nvSpPr>
        <p:spPr>
          <a:xfrm xmlns:a="http://schemas.openxmlformats.org/drawingml/2006/main">
            <a:off x="952500" y="30432375"/>
            <a:ext cx="9906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850" b="1">
                <a:solidFill>
                  <a:srgbClr val="F8D07B"/>
                </a:solidFill>
                <a:latin typeface="Fira Code"/>
                <a:ea typeface="Fira Code"/>
                <a:cs typeface="Fira Code"/>
              </a:defRPr>
            </a:pPr>
            <a:r>
              <a:rPr sz="2850" b="1">
                <a:solidFill>
                  <a:srgbClr val="F8D07B"/>
                </a:solidFill>
                <a:latin typeface="Fira Code"/>
                <a:ea typeface="Fira Code"/>
                <a:cs typeface="Fira Code"/>
              </a:rPr>
              <a:t>Mech and Rust show similar throughput</a:t>
            </a:r>
          </a:p>
        </p:txBody>
      </p:sp>
      <p:sp>
        <p:nvSpPr>
          <p:cNvPr id="241" name="Backend chart title">
            <a:extLst xmlns:a="http://schemas.openxmlformats.org/drawingml/2006/main">
              <a:ext uri="{FF2B5EF4-FFF2-40B4-BE49-F238E27FC236}">
                <a16:creationId xmlns:a16="http://schemas.microsoft.com/office/drawing/2014/main" id="{49D684CB-2196-4905-9D97-89863007CB20}"/>
              </a:ext>
            </a:extLst>
          </p:cNvPr>
          <p:cNvSpPr>
            <a:spLocks xmlns:a="http://schemas.openxmlformats.org/drawingml/2006/main" noGrp="1"/>
          </p:cNvSpPr>
          <p:nvPr/>
        </p:nvSpPr>
        <p:spPr>
          <a:xfrm xmlns:a="http://schemas.openxmlformats.org/drawingml/2006/main">
            <a:off x="11715750" y="30432375"/>
            <a:ext cx="9953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850" b="1">
                <a:solidFill>
                  <a:srgbClr val="F8D07B"/>
                </a:solidFill>
                <a:latin typeface="Fira Code"/>
                <a:ea typeface="Fira Code"/>
                <a:cs typeface="Fira Code"/>
              </a:defRPr>
            </a:pPr>
            <a:r>
              <a:rPr sz="2850" b="1">
                <a:solidFill>
                  <a:srgbClr val="F8D07B"/>
                </a:solidFill>
                <a:latin typeface="Fira Code"/>
                <a:ea typeface="Fira Code"/>
                <a:cs typeface="Fira Code"/>
              </a:rPr>
              <a:t>Backend choice changes EKF throughput</a:t>
            </a:r>
          </a:p>
        </p:txBody>
      </p:sp>
      <p:sp>
        <p:nvSpPr>
          <p:cNvPr id="242" name="CPU chart unit">
            <a:extLst xmlns:a="http://schemas.openxmlformats.org/drawingml/2006/main">
              <a:ext uri="{FF2B5EF4-FFF2-40B4-BE49-F238E27FC236}">
                <a16:creationId xmlns:a16="http://schemas.microsoft.com/office/drawing/2014/main" id="{F55295EB-C467-4C1F-9B01-0A789FA2849D}"/>
              </a:ext>
            </a:extLst>
          </p:cNvPr>
          <p:cNvSpPr>
            <a:spLocks xmlns:a="http://schemas.openxmlformats.org/drawingml/2006/main" noGrp="1"/>
          </p:cNvSpPr>
          <p:nvPr/>
        </p:nvSpPr>
        <p:spPr>
          <a:xfrm xmlns:a="http://schemas.openxmlformats.org/drawingml/2006/main">
            <a:off x="952500" y="31003875"/>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A4BAC8"/>
                </a:solidFill>
                <a:latin typeface="Segoe UI"/>
                <a:ea typeface="Segoe UI"/>
                <a:cs typeface="Segoe UI"/>
              </a:defRPr>
            </a:pPr>
            <a:r>
              <a:rPr sz="2100" b="0">
                <a:solidFill>
                  <a:srgbClr val="A4BAC8"/>
                </a:solidFill>
                <a:latin typeface="Segoe UI"/>
                <a:ea typeface="Segoe UI"/>
                <a:cs typeface="Segoe UI"/>
              </a:rPr>
              <a:t>8 workers, fused execution, median ± MAD</a:t>
            </a:r>
          </a:p>
        </p:txBody>
      </p:sp>
      <p:sp>
        <p:nvSpPr>
          <p:cNvPr id="243" name="Backend chart unit">
            <a:extLst xmlns:a="http://schemas.openxmlformats.org/drawingml/2006/main">
              <a:ext uri="{FF2B5EF4-FFF2-40B4-BE49-F238E27FC236}">
                <a16:creationId xmlns:a16="http://schemas.microsoft.com/office/drawing/2014/main" id="{7DACAC4A-B946-435A-BE29-6ADAFBC46A50}"/>
              </a:ext>
            </a:extLst>
          </p:cNvPr>
          <p:cNvSpPr>
            <a:spLocks xmlns:a="http://schemas.openxmlformats.org/drawingml/2006/main" noGrp="1"/>
          </p:cNvSpPr>
          <p:nvPr/>
        </p:nvSpPr>
        <p:spPr>
          <a:xfrm xmlns:a="http://schemas.openxmlformats.org/drawingml/2006/main">
            <a:off x="11715750" y="31003875"/>
            <a:ext cx="9953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A4BAC8"/>
                </a:solidFill>
                <a:latin typeface="Segoe UI"/>
                <a:ea typeface="Segoe UI"/>
                <a:cs typeface="Segoe UI"/>
              </a:defRPr>
            </a:pPr>
            <a:r>
              <a:rPr sz="2100" b="0">
                <a:solidFill>
                  <a:srgbClr val="A4BAC8"/>
                </a:solidFill>
                <a:latin typeface="Segoe UI"/>
                <a:ea typeface="Segoe UI"/>
                <a:cs typeface="Segoe UI"/>
              </a:rPr>
              <a:t>Per-turn publication, median ± MAD</a:t>
            </a:r>
          </a:p>
        </p:txBody>
      </p:sp>
      <p:graphicFrame>
        <p:nvGraphicFramePr>
          <p:cNvPr id="681" name="Chart"/>
          <p:cNvGraphicFramePr/>
          <p:nvPr/>
        </p:nvGraphicFramePr>
        <p:xfrm>
          <a:off xmlns:a="http://schemas.openxmlformats.org/drawingml/2006/main" x="809625" y="31527750"/>
          <a:ext xmlns:a="http://schemas.openxmlformats.org/drawingml/2006/main" cx="10096500" cy="5667375"/>
        </p:xfrm>
        <a:graphic xmlns:a="http://schemas.openxmlformats.org/drawingml/2006/main">
          <a:graphicData uri="http://schemas.openxmlformats.org/drawingml/2006/chart">
            <c:chart xmlns:r="http://schemas.openxmlformats.org/officeDocument/2006/relationships" xmlns:c="http://schemas.openxmlformats.org/drawingml/2006/chart" r:id="Rca1ac46396b840f1"/>
          </a:graphicData>
        </a:graphic>
      </p:graphicFrame>
      <p:sp>
        <p:nvSpPr>
          <p:cNvPr id="245" name="Unchecked legend">
            <a:extLst xmlns:a="http://schemas.openxmlformats.org/drawingml/2006/main">
              <a:ext uri="{FF2B5EF4-FFF2-40B4-BE49-F238E27FC236}">
                <a16:creationId xmlns:a16="http://schemas.microsoft.com/office/drawing/2014/main" id="{77ED0666-7151-43EE-8F0B-640FB337B676}"/>
              </a:ext>
            </a:extLst>
          </p:cNvPr>
          <p:cNvSpPr>
            <a:spLocks xmlns:a="http://schemas.openxmlformats.org/drawingml/2006/main" noGrp="1"/>
          </p:cNvSpPr>
          <p:nvPr/>
        </p:nvSpPr>
        <p:spPr>
          <a:xfrm xmlns:a="http://schemas.openxmlformats.org/drawingml/2006/main">
            <a:off x="1009650" y="37385625"/>
            <a:ext cx="428625" cy="228600"/>
          </a:xfrm>
          <a:prstGeom xmlns:a="http://schemas.openxmlformats.org/drawingml/2006/main" prst="rect">
            <a:avLst/>
          </a:prstGeom>
          <a:solidFill xmlns:a="http://schemas.openxmlformats.org/drawingml/2006/main">
            <a:srgbClr val="E8EDF0">
              <a:alpha val="45000"/>
            </a:srgbClr>
          </a:solidFill>
          <a:ln xmlns:a="http://schemas.openxmlformats.org/drawingml/2006/main" w="19050">
            <a:solidFill>
              <a:srgbClr val="E8EDF0">
                <a:alpha val="45000"/>
              </a:srgbClr>
            </a:solidFill>
          </a:ln>
        </p:spPr>
      </p:sp>
      <p:sp>
        <p:nvSpPr>
          <p:cNvPr id="246" name="Unchecked legend label">
            <a:extLst xmlns:a="http://schemas.openxmlformats.org/drawingml/2006/main">
              <a:ext uri="{FF2B5EF4-FFF2-40B4-BE49-F238E27FC236}">
                <a16:creationId xmlns:a16="http://schemas.microsoft.com/office/drawing/2014/main" id="{42FC1001-87AF-4B52-9B0F-313F1297BF48}"/>
              </a:ext>
            </a:extLst>
          </p:cNvPr>
          <p:cNvSpPr>
            <a:spLocks xmlns:a="http://schemas.openxmlformats.org/drawingml/2006/main" noGrp="1"/>
          </p:cNvSpPr>
          <p:nvPr/>
        </p:nvSpPr>
        <p:spPr>
          <a:xfrm xmlns:a="http://schemas.openxmlformats.org/drawingml/2006/main">
            <a:off x="1600200" y="37280850"/>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75" b="0">
                <a:solidFill>
                  <a:srgbClr val="A4BAC8"/>
                </a:solidFill>
                <a:latin typeface="Segoe UI"/>
                <a:ea typeface="Segoe UI"/>
                <a:cs typeface="Segoe UI"/>
              </a:defRPr>
            </a:pPr>
            <a:r>
              <a:rPr sz="2175" b="0">
                <a:solidFill>
                  <a:srgbClr val="A4BAC8"/>
                </a:solidFill>
                <a:latin typeface="Segoe UI"/>
                <a:ea typeface="Segoe UI"/>
                <a:cs typeface="Segoe UI"/>
              </a:rPr>
              <a:t>unchecked (top)</a:t>
            </a:r>
          </a:p>
        </p:txBody>
      </p:sp>
      <p:sp>
        <p:nvSpPr>
          <p:cNvPr id="247" name="Checked legend">
            <a:extLst xmlns:a="http://schemas.openxmlformats.org/drawingml/2006/main">
              <a:ext uri="{FF2B5EF4-FFF2-40B4-BE49-F238E27FC236}">
                <a16:creationId xmlns:a16="http://schemas.microsoft.com/office/drawing/2014/main" id="{5DD3D87B-9A3C-428E-AFFD-E07D55A49644}"/>
              </a:ext>
            </a:extLst>
          </p:cNvPr>
          <p:cNvSpPr>
            <a:spLocks xmlns:a="http://schemas.openxmlformats.org/drawingml/2006/main" noGrp="1"/>
          </p:cNvSpPr>
          <p:nvPr/>
        </p:nvSpPr>
        <p:spPr>
          <a:xfrm xmlns:a="http://schemas.openxmlformats.org/drawingml/2006/main">
            <a:off x="5334000" y="37385625"/>
            <a:ext cx="428625" cy="228600"/>
          </a:xfrm>
          <a:prstGeom xmlns:a="http://schemas.openxmlformats.org/drawingml/2006/main" prst="rect">
            <a:avLst/>
          </a:prstGeom>
          <a:solidFill xmlns:a="http://schemas.openxmlformats.org/drawingml/2006/main">
            <a:srgbClr val="E8EDF0"/>
          </a:solidFill>
          <a:ln xmlns:a="http://schemas.openxmlformats.org/drawingml/2006/main" w="19050">
            <a:solidFill>
              <a:srgbClr val="E8EDF0"/>
            </a:solidFill>
          </a:ln>
        </p:spPr>
      </p:sp>
      <p:sp>
        <p:nvSpPr>
          <p:cNvPr id="248" name="Checked legend label">
            <a:extLst xmlns:a="http://schemas.openxmlformats.org/drawingml/2006/main">
              <a:ext uri="{FF2B5EF4-FFF2-40B4-BE49-F238E27FC236}">
                <a16:creationId xmlns:a16="http://schemas.microsoft.com/office/drawing/2014/main" id="{56B99EA4-2267-48F2-9009-E2682F498439}"/>
              </a:ext>
            </a:extLst>
          </p:cNvPr>
          <p:cNvSpPr>
            <a:spLocks xmlns:a="http://schemas.openxmlformats.org/drawingml/2006/main" noGrp="1"/>
          </p:cNvSpPr>
          <p:nvPr/>
        </p:nvSpPr>
        <p:spPr>
          <a:xfrm xmlns:a="http://schemas.openxmlformats.org/drawingml/2006/main">
            <a:off x="5924550" y="37280850"/>
            <a:ext cx="428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75" b="0">
                <a:solidFill>
                  <a:srgbClr val="A4BAC8"/>
                </a:solidFill>
                <a:latin typeface="Segoe UI"/>
                <a:ea typeface="Segoe UI"/>
                <a:cs typeface="Segoe UI"/>
              </a:defRPr>
            </a:pPr>
            <a:r>
              <a:rPr sz="2175" b="0">
                <a:solidFill>
                  <a:srgbClr val="A4BAC8"/>
                </a:solidFill>
                <a:latin typeface="Segoe UI"/>
                <a:ea typeface="Segoe UI"/>
                <a:cs typeface="Segoe UI"/>
              </a:rPr>
              <a:t>checked (bottom)</a:t>
            </a:r>
          </a:p>
        </p:txBody>
      </p:sp>
      <p:graphicFrame>
        <p:nvGraphicFramePr>
          <p:cNvPr id="686" name="Chart"/>
          <p:cNvGraphicFramePr/>
          <p:nvPr/>
        </p:nvGraphicFramePr>
        <p:xfrm>
          <a:off xmlns:a="http://schemas.openxmlformats.org/drawingml/2006/main" x="11572875" y="31527750"/>
          <a:ext xmlns:a="http://schemas.openxmlformats.org/drawingml/2006/main" cx="10096500" cy="5667375"/>
        </p:xfrm>
        <a:graphic xmlns:a="http://schemas.openxmlformats.org/drawingml/2006/main">
          <a:graphicData uri="http://schemas.openxmlformats.org/drawingml/2006/chart">
            <c:chart xmlns:r="http://schemas.openxmlformats.org/officeDocument/2006/relationships" xmlns:c="http://schemas.openxmlformats.org/drawingml/2006/chart" r:id="R47fedaccb9b14b88"/>
          </a:graphicData>
        </a:graphic>
      </p:graphicFrame>
      <p:sp>
        <p:nvSpPr>
          <p:cNvPr id="250" name="CPU checked measurement 0">
            <a:extLst xmlns:a="http://schemas.openxmlformats.org/drawingml/2006/main">
              <a:ext uri="{FF2B5EF4-FFF2-40B4-BE49-F238E27FC236}">
                <a16:creationId xmlns:a16="http://schemas.microsoft.com/office/drawing/2014/main" id="{7C5A0B66-C205-4613-90F5-803814D12150}"/>
              </a:ext>
            </a:extLst>
          </p:cNvPr>
          <p:cNvSpPr>
            <a:spLocks xmlns:a="http://schemas.openxmlformats.org/drawingml/2006/main" noGrp="1"/>
          </p:cNvSpPr>
          <p:nvPr/>
        </p:nvSpPr>
        <p:spPr>
          <a:xfrm xmlns:a="http://schemas.openxmlformats.org/drawingml/2006/main">
            <a:off x="8533448" y="35977878"/>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79.4 ± 0.6</a:t>
            </a:r>
          </a:p>
        </p:txBody>
      </p:sp>
      <p:sp>
        <p:nvSpPr>
          <p:cNvPr id="251" name="CPU unchecked measurement 0">
            <a:extLst xmlns:a="http://schemas.openxmlformats.org/drawingml/2006/main">
              <a:ext uri="{FF2B5EF4-FFF2-40B4-BE49-F238E27FC236}">
                <a16:creationId xmlns:a16="http://schemas.microsoft.com/office/drawing/2014/main" id="{8FEC0E81-69F3-46BE-99B1-3BCD53492293}"/>
              </a:ext>
            </a:extLst>
          </p:cNvPr>
          <p:cNvSpPr>
            <a:spLocks xmlns:a="http://schemas.openxmlformats.org/drawingml/2006/main" noGrp="1"/>
          </p:cNvSpPr>
          <p:nvPr/>
        </p:nvSpPr>
        <p:spPr>
          <a:xfrm xmlns:a="http://schemas.openxmlformats.org/drawingml/2006/main">
            <a:off x="8533448" y="35673141"/>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81.6 ± 0.3</a:t>
            </a:r>
          </a:p>
        </p:txBody>
      </p:sp>
      <p:sp>
        <p:nvSpPr>
          <p:cNvPr id="252" name="CPU checked measurement 1">
            <a:extLst xmlns:a="http://schemas.openxmlformats.org/drawingml/2006/main">
              <a:ext uri="{FF2B5EF4-FFF2-40B4-BE49-F238E27FC236}">
                <a16:creationId xmlns:a16="http://schemas.microsoft.com/office/drawing/2014/main" id="{72BAC42E-BD1B-4000-BFF9-45180649A0E3}"/>
              </a:ext>
            </a:extLst>
          </p:cNvPr>
          <p:cNvSpPr>
            <a:spLocks xmlns:a="http://schemas.openxmlformats.org/drawingml/2006/main" noGrp="1"/>
          </p:cNvSpPr>
          <p:nvPr/>
        </p:nvSpPr>
        <p:spPr>
          <a:xfrm xmlns:a="http://schemas.openxmlformats.org/drawingml/2006/main">
            <a:off x="8533448" y="35200797"/>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97.9 ± 1.2</a:t>
            </a:r>
          </a:p>
        </p:txBody>
      </p:sp>
      <p:sp>
        <p:nvSpPr>
          <p:cNvPr id="253" name="CPU unchecked measurement 1">
            <a:extLst xmlns:a="http://schemas.openxmlformats.org/drawingml/2006/main">
              <a:ext uri="{FF2B5EF4-FFF2-40B4-BE49-F238E27FC236}">
                <a16:creationId xmlns:a16="http://schemas.microsoft.com/office/drawing/2014/main" id="{01DE15D7-8C98-48F3-88E4-7B1F474D8B6F}"/>
              </a:ext>
            </a:extLst>
          </p:cNvPr>
          <p:cNvSpPr>
            <a:spLocks xmlns:a="http://schemas.openxmlformats.org/drawingml/2006/main" noGrp="1"/>
          </p:cNvSpPr>
          <p:nvPr/>
        </p:nvSpPr>
        <p:spPr>
          <a:xfrm xmlns:a="http://schemas.openxmlformats.org/drawingml/2006/main">
            <a:off x="8533448" y="34896059"/>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149.9 ± 1.4</a:t>
            </a:r>
          </a:p>
        </p:txBody>
      </p:sp>
      <p:sp>
        <p:nvSpPr>
          <p:cNvPr id="254" name="CPU checked measurement 2">
            <a:extLst xmlns:a="http://schemas.openxmlformats.org/drawingml/2006/main">
              <a:ext uri="{FF2B5EF4-FFF2-40B4-BE49-F238E27FC236}">
                <a16:creationId xmlns:a16="http://schemas.microsoft.com/office/drawing/2014/main" id="{C3414F57-35EA-4F4D-BBDB-5EE12B0E1F47}"/>
              </a:ext>
            </a:extLst>
          </p:cNvPr>
          <p:cNvSpPr>
            <a:spLocks xmlns:a="http://schemas.openxmlformats.org/drawingml/2006/main" noGrp="1"/>
          </p:cNvSpPr>
          <p:nvPr/>
        </p:nvSpPr>
        <p:spPr>
          <a:xfrm xmlns:a="http://schemas.openxmlformats.org/drawingml/2006/main">
            <a:off x="8533448" y="34423716"/>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129.0 ± 2.8</a:t>
            </a:r>
          </a:p>
        </p:txBody>
      </p:sp>
      <p:sp>
        <p:nvSpPr>
          <p:cNvPr id="255" name="CPU unchecked measurement 2">
            <a:extLst xmlns:a="http://schemas.openxmlformats.org/drawingml/2006/main">
              <a:ext uri="{FF2B5EF4-FFF2-40B4-BE49-F238E27FC236}">
                <a16:creationId xmlns:a16="http://schemas.microsoft.com/office/drawing/2014/main" id="{7D4C7FDA-F714-4EC4-B786-01514FF1D335}"/>
              </a:ext>
            </a:extLst>
          </p:cNvPr>
          <p:cNvSpPr>
            <a:spLocks xmlns:a="http://schemas.openxmlformats.org/drawingml/2006/main" noGrp="1"/>
          </p:cNvSpPr>
          <p:nvPr/>
        </p:nvSpPr>
        <p:spPr>
          <a:xfrm xmlns:a="http://schemas.openxmlformats.org/drawingml/2006/main">
            <a:off x="8533448" y="34118978"/>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136.4 ± 1.1</a:t>
            </a:r>
          </a:p>
        </p:txBody>
      </p:sp>
      <p:sp>
        <p:nvSpPr>
          <p:cNvPr id="256" name="CPU checked measurement 3">
            <a:extLst xmlns:a="http://schemas.openxmlformats.org/drawingml/2006/main">
              <a:ext uri="{FF2B5EF4-FFF2-40B4-BE49-F238E27FC236}">
                <a16:creationId xmlns:a16="http://schemas.microsoft.com/office/drawing/2014/main" id="{BB8B389E-ECE9-4DE8-BFDF-C6A9F1621A6E}"/>
              </a:ext>
            </a:extLst>
          </p:cNvPr>
          <p:cNvSpPr>
            <a:spLocks xmlns:a="http://schemas.openxmlformats.org/drawingml/2006/main" noGrp="1"/>
          </p:cNvSpPr>
          <p:nvPr/>
        </p:nvSpPr>
        <p:spPr>
          <a:xfrm xmlns:a="http://schemas.openxmlformats.org/drawingml/2006/main">
            <a:off x="8533448" y="33646634"/>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119.3 ± 0.4</a:t>
            </a:r>
          </a:p>
        </p:txBody>
      </p:sp>
      <p:sp>
        <p:nvSpPr>
          <p:cNvPr id="257" name="CPU unchecked measurement 3">
            <a:extLst xmlns:a="http://schemas.openxmlformats.org/drawingml/2006/main">
              <a:ext uri="{FF2B5EF4-FFF2-40B4-BE49-F238E27FC236}">
                <a16:creationId xmlns:a16="http://schemas.microsoft.com/office/drawing/2014/main" id="{D5300D0D-46F3-41AE-A533-E9EBC248C474}"/>
              </a:ext>
            </a:extLst>
          </p:cNvPr>
          <p:cNvSpPr>
            <a:spLocks xmlns:a="http://schemas.openxmlformats.org/drawingml/2006/main" noGrp="1"/>
          </p:cNvSpPr>
          <p:nvPr/>
        </p:nvSpPr>
        <p:spPr>
          <a:xfrm xmlns:a="http://schemas.openxmlformats.org/drawingml/2006/main">
            <a:off x="8533448" y="33341897"/>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128.2 ± 0.2</a:t>
            </a:r>
          </a:p>
        </p:txBody>
      </p:sp>
      <p:sp>
        <p:nvSpPr>
          <p:cNvPr id="258" name="CPU checked measurement 4">
            <a:extLst xmlns:a="http://schemas.openxmlformats.org/drawingml/2006/main">
              <a:ext uri="{FF2B5EF4-FFF2-40B4-BE49-F238E27FC236}">
                <a16:creationId xmlns:a16="http://schemas.microsoft.com/office/drawing/2014/main" id="{BF81C6D7-F18B-43F9-8487-E6758DE14733}"/>
              </a:ext>
            </a:extLst>
          </p:cNvPr>
          <p:cNvSpPr>
            <a:spLocks xmlns:a="http://schemas.openxmlformats.org/drawingml/2006/main" noGrp="1"/>
          </p:cNvSpPr>
          <p:nvPr/>
        </p:nvSpPr>
        <p:spPr>
          <a:xfrm xmlns:a="http://schemas.openxmlformats.org/drawingml/2006/main">
            <a:off x="8533448" y="32869553"/>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149.9 ± 2.5</a:t>
            </a:r>
          </a:p>
        </p:txBody>
      </p:sp>
      <p:sp>
        <p:nvSpPr>
          <p:cNvPr id="259" name="CPU unchecked measurement 4">
            <a:extLst xmlns:a="http://schemas.openxmlformats.org/drawingml/2006/main">
              <a:ext uri="{FF2B5EF4-FFF2-40B4-BE49-F238E27FC236}">
                <a16:creationId xmlns:a16="http://schemas.microsoft.com/office/drawing/2014/main" id="{4DC45127-0C60-459C-ACC5-FAF774962705}"/>
              </a:ext>
            </a:extLst>
          </p:cNvPr>
          <p:cNvSpPr>
            <a:spLocks xmlns:a="http://schemas.openxmlformats.org/drawingml/2006/main" noGrp="1"/>
          </p:cNvSpPr>
          <p:nvPr/>
        </p:nvSpPr>
        <p:spPr>
          <a:xfrm xmlns:a="http://schemas.openxmlformats.org/drawingml/2006/main">
            <a:off x="8533448" y="32564816"/>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170.5 ± 1.7</a:t>
            </a:r>
          </a:p>
        </p:txBody>
      </p:sp>
      <p:sp>
        <p:nvSpPr>
          <p:cNvPr id="260" name="CPU checked measurement 5">
            <a:extLst xmlns:a="http://schemas.openxmlformats.org/drawingml/2006/main">
              <a:ext uri="{FF2B5EF4-FFF2-40B4-BE49-F238E27FC236}">
                <a16:creationId xmlns:a16="http://schemas.microsoft.com/office/drawing/2014/main" id="{0E6B4432-9AE3-41C4-A86E-E2144605A163}"/>
              </a:ext>
            </a:extLst>
          </p:cNvPr>
          <p:cNvSpPr>
            <a:spLocks xmlns:a="http://schemas.openxmlformats.org/drawingml/2006/main" noGrp="1"/>
          </p:cNvSpPr>
          <p:nvPr/>
        </p:nvSpPr>
        <p:spPr>
          <a:xfrm xmlns:a="http://schemas.openxmlformats.org/drawingml/2006/main">
            <a:off x="8533448" y="32092472"/>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151.3 ± 2.6</a:t>
            </a:r>
          </a:p>
        </p:txBody>
      </p:sp>
      <p:sp>
        <p:nvSpPr>
          <p:cNvPr id="261" name="CPU unchecked measurement 5">
            <a:extLst xmlns:a="http://schemas.openxmlformats.org/drawingml/2006/main">
              <a:ext uri="{FF2B5EF4-FFF2-40B4-BE49-F238E27FC236}">
                <a16:creationId xmlns:a16="http://schemas.microsoft.com/office/drawing/2014/main" id="{8B4427E5-986F-4D84-8521-1861F381EB2E}"/>
              </a:ext>
            </a:extLst>
          </p:cNvPr>
          <p:cNvSpPr>
            <a:spLocks xmlns:a="http://schemas.openxmlformats.org/drawingml/2006/main" noGrp="1"/>
          </p:cNvSpPr>
          <p:nvPr/>
        </p:nvSpPr>
        <p:spPr>
          <a:xfrm xmlns:a="http://schemas.openxmlformats.org/drawingml/2006/main">
            <a:off x="8533448" y="31787734"/>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184.1 ± 8.1</a:t>
            </a:r>
          </a:p>
        </p:txBody>
      </p:sp>
      <p:sp>
        <p:nvSpPr>
          <p:cNvPr id="262" name="Backend checked measurement 0">
            <a:extLst xmlns:a="http://schemas.openxmlformats.org/drawingml/2006/main">
              <a:ext uri="{FF2B5EF4-FFF2-40B4-BE49-F238E27FC236}">
                <a16:creationId xmlns:a16="http://schemas.microsoft.com/office/drawing/2014/main" id="{35CB1C9F-901F-46EF-A79E-D3BF9474C538}"/>
              </a:ext>
            </a:extLst>
          </p:cNvPr>
          <p:cNvSpPr>
            <a:spLocks xmlns:a="http://schemas.openxmlformats.org/drawingml/2006/main" noGrp="1"/>
          </p:cNvSpPr>
          <p:nvPr/>
        </p:nvSpPr>
        <p:spPr>
          <a:xfrm xmlns:a="http://schemas.openxmlformats.org/drawingml/2006/main">
            <a:off x="19907250" y="35930644"/>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950" b="0">
                <a:solidFill>
                  <a:srgbClr val="E8EDF0"/>
                </a:solidFill>
                <a:latin typeface="Segoe UI"/>
                <a:ea typeface="Segoe UI"/>
                <a:cs typeface="Segoe UI"/>
              </a:defRPr>
            </a:pPr>
            <a:r>
              <a:rPr sz="1950" b="0">
                <a:solidFill>
                  <a:srgbClr val="E8EDF0"/>
                </a:solidFill>
                <a:latin typeface="Segoe UI"/>
                <a:ea typeface="Segoe UI"/>
                <a:cs typeface="Segoe UI"/>
              </a:rPr>
              <a:t>0.7</a:t>
            </a:r>
          </a:p>
        </p:txBody>
      </p:sp>
      <p:sp>
        <p:nvSpPr>
          <p:cNvPr id="263" name="Backend unchecked measurement 0">
            <a:extLst xmlns:a="http://schemas.openxmlformats.org/drawingml/2006/main">
              <a:ext uri="{FF2B5EF4-FFF2-40B4-BE49-F238E27FC236}">
                <a16:creationId xmlns:a16="http://schemas.microsoft.com/office/drawing/2014/main" id="{245E7C0A-13EA-43AE-A547-4D8CBDB9CCCE}"/>
              </a:ext>
            </a:extLst>
          </p:cNvPr>
          <p:cNvSpPr>
            <a:spLocks xmlns:a="http://schemas.openxmlformats.org/drawingml/2006/main" noGrp="1"/>
          </p:cNvSpPr>
          <p:nvPr/>
        </p:nvSpPr>
        <p:spPr>
          <a:xfrm xmlns:a="http://schemas.openxmlformats.org/drawingml/2006/main">
            <a:off x="19907250" y="35564959"/>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950" b="0">
                <a:solidFill>
                  <a:srgbClr val="E8EDF0"/>
                </a:solidFill>
                <a:latin typeface="Segoe UI"/>
                <a:ea typeface="Segoe UI"/>
                <a:cs typeface="Segoe UI"/>
              </a:defRPr>
            </a:pPr>
            <a:r>
              <a:rPr sz="1950" b="0">
                <a:solidFill>
                  <a:srgbClr val="E8EDF0"/>
                </a:solidFill>
                <a:latin typeface="Segoe UI"/>
                <a:ea typeface="Segoe UI"/>
                <a:cs typeface="Segoe UI"/>
              </a:rPr>
              <a:t>0.8</a:t>
            </a:r>
          </a:p>
        </p:txBody>
      </p:sp>
      <p:sp>
        <p:nvSpPr>
          <p:cNvPr id="264" name="Backend checked measurement 1">
            <a:extLst xmlns:a="http://schemas.openxmlformats.org/drawingml/2006/main">
              <a:ext uri="{FF2B5EF4-FFF2-40B4-BE49-F238E27FC236}">
                <a16:creationId xmlns:a16="http://schemas.microsoft.com/office/drawing/2014/main" id="{D013987A-76B1-42A5-93EE-FD1FEA117F74}"/>
              </a:ext>
            </a:extLst>
          </p:cNvPr>
          <p:cNvSpPr>
            <a:spLocks xmlns:a="http://schemas.openxmlformats.org/drawingml/2006/main" noGrp="1"/>
          </p:cNvSpPr>
          <p:nvPr/>
        </p:nvSpPr>
        <p:spPr>
          <a:xfrm xmlns:a="http://schemas.openxmlformats.org/drawingml/2006/main">
            <a:off x="19907250" y="34998146"/>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950" b="0">
                <a:solidFill>
                  <a:srgbClr val="E8EDF0"/>
                </a:solidFill>
                <a:latin typeface="Segoe UI"/>
                <a:ea typeface="Segoe UI"/>
                <a:cs typeface="Segoe UI"/>
              </a:defRPr>
            </a:pPr>
            <a:r>
              <a:rPr sz="1950" b="0">
                <a:solidFill>
                  <a:srgbClr val="E8EDF0"/>
                </a:solidFill>
                <a:latin typeface="Segoe UI"/>
                <a:ea typeface="Segoe UI"/>
                <a:cs typeface="Segoe UI"/>
              </a:rPr>
              <a:t>13.2</a:t>
            </a:r>
          </a:p>
        </p:txBody>
      </p:sp>
      <p:sp>
        <p:nvSpPr>
          <p:cNvPr id="265" name="Backend unchecked measurement 1">
            <a:extLst xmlns:a="http://schemas.openxmlformats.org/drawingml/2006/main">
              <a:ext uri="{FF2B5EF4-FFF2-40B4-BE49-F238E27FC236}">
                <a16:creationId xmlns:a16="http://schemas.microsoft.com/office/drawing/2014/main" id="{F91FE1D5-6A0A-4E06-8EE7-7331094592E8}"/>
              </a:ext>
            </a:extLst>
          </p:cNvPr>
          <p:cNvSpPr>
            <a:spLocks xmlns:a="http://schemas.openxmlformats.org/drawingml/2006/main" noGrp="1"/>
          </p:cNvSpPr>
          <p:nvPr/>
        </p:nvSpPr>
        <p:spPr>
          <a:xfrm xmlns:a="http://schemas.openxmlformats.org/drawingml/2006/main">
            <a:off x="19907250" y="34632461"/>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950" b="0">
                <a:solidFill>
                  <a:srgbClr val="E8EDF0"/>
                </a:solidFill>
                <a:latin typeface="Segoe UI"/>
                <a:ea typeface="Segoe UI"/>
                <a:cs typeface="Segoe UI"/>
              </a:defRPr>
            </a:pPr>
            <a:r>
              <a:rPr sz="1950" b="0">
                <a:solidFill>
                  <a:srgbClr val="E8EDF0"/>
                </a:solidFill>
                <a:latin typeface="Segoe UI"/>
                <a:ea typeface="Segoe UI"/>
                <a:cs typeface="Segoe UI"/>
              </a:rPr>
              <a:t>15.9</a:t>
            </a:r>
          </a:p>
        </p:txBody>
      </p:sp>
      <p:sp>
        <p:nvSpPr>
          <p:cNvPr id="266" name="Backend checked measurement 2">
            <a:extLst xmlns:a="http://schemas.openxmlformats.org/drawingml/2006/main">
              <a:ext uri="{FF2B5EF4-FFF2-40B4-BE49-F238E27FC236}">
                <a16:creationId xmlns:a16="http://schemas.microsoft.com/office/drawing/2014/main" id="{43E8033F-1116-473F-90FC-4AEA5E0D1AE4}"/>
              </a:ext>
            </a:extLst>
          </p:cNvPr>
          <p:cNvSpPr>
            <a:spLocks xmlns:a="http://schemas.openxmlformats.org/drawingml/2006/main" noGrp="1"/>
          </p:cNvSpPr>
          <p:nvPr/>
        </p:nvSpPr>
        <p:spPr>
          <a:xfrm xmlns:a="http://schemas.openxmlformats.org/drawingml/2006/main">
            <a:off x="19907250" y="34065649"/>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950" b="0">
                <a:solidFill>
                  <a:srgbClr val="E8EDF0"/>
                </a:solidFill>
                <a:latin typeface="Segoe UI"/>
                <a:ea typeface="Segoe UI"/>
                <a:cs typeface="Segoe UI"/>
              </a:defRPr>
            </a:pPr>
            <a:r>
              <a:rPr sz="1950" b="0">
                <a:solidFill>
                  <a:srgbClr val="E8EDF0"/>
                </a:solidFill>
                <a:latin typeface="Segoe UI"/>
                <a:ea typeface="Segoe UI"/>
                <a:cs typeface="Segoe UI"/>
              </a:rPr>
              <a:t>34.6</a:t>
            </a:r>
          </a:p>
        </p:txBody>
      </p:sp>
      <p:sp>
        <p:nvSpPr>
          <p:cNvPr id="267" name="Backend unchecked measurement 2">
            <a:extLst xmlns:a="http://schemas.openxmlformats.org/drawingml/2006/main">
              <a:ext uri="{FF2B5EF4-FFF2-40B4-BE49-F238E27FC236}">
                <a16:creationId xmlns:a16="http://schemas.microsoft.com/office/drawing/2014/main" id="{5EC9895D-807A-42AA-A0F6-ED91D6E93E26}"/>
              </a:ext>
            </a:extLst>
          </p:cNvPr>
          <p:cNvSpPr>
            <a:spLocks xmlns:a="http://schemas.openxmlformats.org/drawingml/2006/main" noGrp="1"/>
          </p:cNvSpPr>
          <p:nvPr/>
        </p:nvSpPr>
        <p:spPr>
          <a:xfrm xmlns:a="http://schemas.openxmlformats.org/drawingml/2006/main">
            <a:off x="19907250" y="33699964"/>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950" b="0">
                <a:solidFill>
                  <a:srgbClr val="E8EDF0"/>
                </a:solidFill>
                <a:latin typeface="Segoe UI"/>
                <a:ea typeface="Segoe UI"/>
                <a:cs typeface="Segoe UI"/>
              </a:defRPr>
            </a:pPr>
            <a:r>
              <a:rPr sz="1950" b="0">
                <a:solidFill>
                  <a:srgbClr val="E8EDF0"/>
                </a:solidFill>
                <a:latin typeface="Segoe UI"/>
                <a:ea typeface="Segoe UI"/>
                <a:cs typeface="Segoe UI"/>
              </a:rPr>
              <a:t>37.1</a:t>
            </a:r>
          </a:p>
        </p:txBody>
      </p:sp>
      <p:sp>
        <p:nvSpPr>
          <p:cNvPr id="268" name="Backend checked measurement 3">
            <a:extLst xmlns:a="http://schemas.openxmlformats.org/drawingml/2006/main">
              <a:ext uri="{FF2B5EF4-FFF2-40B4-BE49-F238E27FC236}">
                <a16:creationId xmlns:a16="http://schemas.microsoft.com/office/drawing/2014/main" id="{E5C871AB-9640-4788-8C61-4EEE84550C6C}"/>
              </a:ext>
            </a:extLst>
          </p:cNvPr>
          <p:cNvSpPr>
            <a:spLocks xmlns:a="http://schemas.openxmlformats.org/drawingml/2006/main" noGrp="1"/>
          </p:cNvSpPr>
          <p:nvPr/>
        </p:nvSpPr>
        <p:spPr>
          <a:xfrm xmlns:a="http://schemas.openxmlformats.org/drawingml/2006/main">
            <a:off x="19907250" y="33133151"/>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950" b="0">
                <a:solidFill>
                  <a:srgbClr val="E8EDF0"/>
                </a:solidFill>
                <a:latin typeface="Segoe UI"/>
                <a:ea typeface="Segoe UI"/>
                <a:cs typeface="Segoe UI"/>
              </a:defRPr>
            </a:pPr>
            <a:r>
              <a:rPr sz="1950" b="0">
                <a:solidFill>
                  <a:srgbClr val="E8EDF0"/>
                </a:solidFill>
                <a:latin typeface="Segoe UI"/>
                <a:ea typeface="Segoe UI"/>
                <a:cs typeface="Segoe UI"/>
              </a:rPr>
              <a:t>121.1</a:t>
            </a:r>
          </a:p>
        </p:txBody>
      </p:sp>
      <p:sp>
        <p:nvSpPr>
          <p:cNvPr id="269" name="Backend unchecked measurement 3">
            <a:extLst xmlns:a="http://schemas.openxmlformats.org/drawingml/2006/main">
              <a:ext uri="{FF2B5EF4-FFF2-40B4-BE49-F238E27FC236}">
                <a16:creationId xmlns:a16="http://schemas.microsoft.com/office/drawing/2014/main" id="{2924A930-9A69-40AE-BA8D-B4237726F717}"/>
              </a:ext>
            </a:extLst>
          </p:cNvPr>
          <p:cNvSpPr>
            <a:spLocks xmlns:a="http://schemas.openxmlformats.org/drawingml/2006/main" noGrp="1"/>
          </p:cNvSpPr>
          <p:nvPr/>
        </p:nvSpPr>
        <p:spPr>
          <a:xfrm xmlns:a="http://schemas.openxmlformats.org/drawingml/2006/main">
            <a:off x="19907250" y="32767466"/>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950" b="0">
                <a:solidFill>
                  <a:srgbClr val="E8EDF0"/>
                </a:solidFill>
                <a:latin typeface="Segoe UI"/>
                <a:ea typeface="Segoe UI"/>
                <a:cs typeface="Segoe UI"/>
              </a:defRPr>
            </a:pPr>
            <a:r>
              <a:rPr sz="1950" b="0">
                <a:solidFill>
                  <a:srgbClr val="E8EDF0"/>
                </a:solidFill>
                <a:latin typeface="Segoe UI"/>
                <a:ea typeface="Segoe UI"/>
                <a:cs typeface="Segoe UI"/>
              </a:rPr>
              <a:t>141.6</a:t>
            </a:r>
          </a:p>
        </p:txBody>
      </p:sp>
      <p:sp>
        <p:nvSpPr>
          <p:cNvPr id="270" name="Backend checked measurement 4">
            <a:extLst xmlns:a="http://schemas.openxmlformats.org/drawingml/2006/main">
              <a:ext uri="{FF2B5EF4-FFF2-40B4-BE49-F238E27FC236}">
                <a16:creationId xmlns:a16="http://schemas.microsoft.com/office/drawing/2014/main" id="{A71DC5E9-110B-4EC6-A43B-5B404A12D4E7}"/>
              </a:ext>
            </a:extLst>
          </p:cNvPr>
          <p:cNvSpPr>
            <a:spLocks xmlns:a="http://schemas.openxmlformats.org/drawingml/2006/main" noGrp="1"/>
          </p:cNvSpPr>
          <p:nvPr/>
        </p:nvSpPr>
        <p:spPr>
          <a:xfrm xmlns:a="http://schemas.openxmlformats.org/drawingml/2006/main">
            <a:off x="19907250" y="32200654"/>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950" b="0">
                <a:solidFill>
                  <a:srgbClr val="E8EDF0"/>
                </a:solidFill>
                <a:latin typeface="Segoe UI"/>
                <a:ea typeface="Segoe UI"/>
                <a:cs typeface="Segoe UI"/>
              </a:defRPr>
            </a:pPr>
            <a:r>
              <a:rPr sz="1950" b="0">
                <a:solidFill>
                  <a:srgbClr val="E8EDF0"/>
                </a:solidFill>
                <a:latin typeface="Segoe UI"/>
                <a:ea typeface="Segoe UI"/>
                <a:cs typeface="Segoe UI"/>
              </a:rPr>
              <a:t>420.9</a:t>
            </a:r>
          </a:p>
        </p:txBody>
      </p:sp>
      <p:sp>
        <p:nvSpPr>
          <p:cNvPr id="271" name="Backend unchecked measurement 4">
            <a:extLst xmlns:a="http://schemas.openxmlformats.org/drawingml/2006/main">
              <a:ext uri="{FF2B5EF4-FFF2-40B4-BE49-F238E27FC236}">
                <a16:creationId xmlns:a16="http://schemas.microsoft.com/office/drawing/2014/main" id="{8AC99082-F5F9-4F4E-BEC8-31D77BE7D651}"/>
              </a:ext>
            </a:extLst>
          </p:cNvPr>
          <p:cNvSpPr>
            <a:spLocks xmlns:a="http://schemas.openxmlformats.org/drawingml/2006/main" noGrp="1"/>
          </p:cNvSpPr>
          <p:nvPr/>
        </p:nvSpPr>
        <p:spPr>
          <a:xfrm xmlns:a="http://schemas.openxmlformats.org/drawingml/2006/main">
            <a:off x="19907250" y="31834969"/>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950" b="0">
                <a:solidFill>
                  <a:srgbClr val="E8EDF0"/>
                </a:solidFill>
                <a:latin typeface="Segoe UI"/>
                <a:ea typeface="Segoe UI"/>
                <a:cs typeface="Segoe UI"/>
              </a:defRPr>
            </a:pPr>
            <a:r>
              <a:rPr sz="1950" b="0">
                <a:solidFill>
                  <a:srgbClr val="E8EDF0"/>
                </a:solidFill>
                <a:latin typeface="Segoe UI"/>
                <a:ea typeface="Segoe UI"/>
                <a:cs typeface="Segoe UI"/>
              </a:rPr>
              <a:t>420.7</a:t>
            </a:r>
          </a:p>
        </p:txBody>
      </p:sp>
      <p:sp>
        <p:nvSpPr>
          <p:cNvPr id="272" name="Worker abbreviation">
            <a:extLst xmlns:a="http://schemas.openxmlformats.org/drawingml/2006/main">
              <a:ext uri="{FF2B5EF4-FFF2-40B4-BE49-F238E27FC236}">
                <a16:creationId xmlns:a16="http://schemas.microsoft.com/office/drawing/2014/main" id="{427CE7DF-1F82-45CF-B2DB-5B12C748C9AA}"/>
              </a:ext>
            </a:extLst>
          </p:cNvPr>
          <p:cNvSpPr>
            <a:spLocks xmlns:a="http://schemas.openxmlformats.org/drawingml/2006/main" noGrp="1"/>
          </p:cNvSpPr>
          <p:nvPr/>
        </p:nvSpPr>
        <p:spPr>
          <a:xfrm xmlns:a="http://schemas.openxmlformats.org/drawingml/2006/main">
            <a:off x="11715750" y="37214175"/>
            <a:ext cx="9953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0">
                <a:solidFill>
                  <a:srgbClr val="A4BAC8"/>
                </a:solidFill>
                <a:latin typeface="Segoe UI"/>
                <a:ea typeface="Segoe UI"/>
                <a:cs typeface="Segoe UI"/>
              </a:defRPr>
            </a:pPr>
            <a:r>
              <a:rPr sz="1800" b="0">
                <a:solidFill>
                  <a:srgbClr val="A4BAC8"/>
                </a:solidFill>
                <a:latin typeface="Segoe UI"/>
                <a:ea typeface="Segoe UI"/>
                <a:cs typeface="Segoe UI"/>
              </a:rPr>
              <a:t>1w / 8w: one / eight CPU workers</a:t>
            </a:r>
          </a:p>
          <a:p xmlns:a="http://schemas.openxmlformats.org/drawingml/2006/main">
            <a:pPr algn="l">
              <a:lnSpc>
                <a:spcPct val="108000"/>
              </a:lnSpc>
              <a:buNone/>
              <a:defRPr sz="1800" b="0">
                <a:solidFill>
                  <a:srgbClr val="A4BAC8"/>
                </a:solidFill>
                <a:latin typeface="Segoe UI"/>
                <a:ea typeface="Segoe UI"/>
                <a:cs typeface="Segoe UI"/>
              </a:defRPr>
            </a:pPr>
            <a:r>
              <a:rPr sz="1800" b="0">
                <a:solidFill>
                  <a:srgbClr val="A4BAC8"/>
                </a:solidFill>
                <a:latin typeface="Segoe UI"/>
                <a:ea typeface="Segoe UI"/>
                <a:cs typeface="Segoe UI"/>
              </a:rPr>
              <a:t>JIT and AOT share the numerical compilation pipeline.‡</a:t>
            </a:r>
          </a:p>
        </p:txBody>
      </p:sp>
      <p:sp>
        <p:nvSpPr>
          <p:cNvPr id="273" name="Future work">
            <a:extLst xmlns:a="http://schemas.openxmlformats.org/drawingml/2006/main">
              <a:ext uri="{FF2B5EF4-FFF2-40B4-BE49-F238E27FC236}">
                <a16:creationId xmlns:a16="http://schemas.microsoft.com/office/drawing/2014/main" id="{D2FE87C9-460A-491D-B676-22B1F90DDF1F}"/>
              </a:ext>
            </a:extLst>
          </p:cNvPr>
          <p:cNvSpPr>
            <a:spLocks xmlns:a="http://schemas.openxmlformats.org/drawingml/2006/main" noGrp="1"/>
          </p:cNvSpPr>
          <p:nvPr/>
        </p:nvSpPr>
        <p:spPr>
          <a:xfrm xmlns:a="http://schemas.openxmlformats.org/drawingml/2006/main">
            <a:off x="762000" y="37814250"/>
            <a:ext cx="2071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F1EADA"/>
                </a:solidFill>
                <a:latin typeface="Fira Code"/>
                <a:ea typeface="Fira Code"/>
                <a:cs typeface="Fira Code"/>
              </a:defRPr>
            </a:pPr>
            <a:r>
              <a:rPr sz="5100" b="1">
                <a:solidFill>
                  <a:srgbClr val="F1EADA"/>
                </a:solidFill>
                <a:latin typeface="Fira Code"/>
                <a:ea typeface="Fira Code"/>
                <a:cs typeface="Fira Code"/>
              </a:rPr>
              <a:t>Status and Future Work</a:t>
            </a:r>
          </a:p>
        </p:txBody>
      </p:sp>
      <p:sp>
        <p:nvSpPr>
          <p:cNvPr id="274" name="Release status">
            <a:extLst xmlns:a="http://schemas.openxmlformats.org/drawingml/2006/main">
              <a:ext uri="{FF2B5EF4-FFF2-40B4-BE49-F238E27FC236}">
                <a16:creationId xmlns:a16="http://schemas.microsoft.com/office/drawing/2014/main" id="{F46B0EF4-8999-434B-8EE2-6F28947BA58D}"/>
              </a:ext>
            </a:extLst>
          </p:cNvPr>
          <p:cNvSpPr>
            <a:spLocks xmlns:a="http://schemas.openxmlformats.org/drawingml/2006/main" noGrp="1"/>
          </p:cNvSpPr>
          <p:nvPr/>
        </p:nvSpPr>
        <p:spPr>
          <a:xfrm xmlns:a="http://schemas.openxmlformats.org/drawingml/2006/main">
            <a:off x="952500" y="38719125"/>
            <a:ext cx="20716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550" b="0">
                <a:solidFill>
                  <a:srgbClr val="E8EDF0"/>
                </a:solidFill>
                <a:latin typeface="Segoe UI"/>
                <a:ea typeface="Segoe UI"/>
                <a:cs typeface="Segoe UI"/>
              </a:defRPr>
            </a:pPr>
            <a:r>
              <a:rPr sz="2550" b="0">
                <a:solidFill>
                  <a:srgbClr val="E8EDF0"/>
                </a:solidFill>
                <a:latin typeface="Segoe UI"/>
                <a:ea typeface="Segoe UI"/>
                <a:cs typeface="Segoe UI"/>
              </a:rPr>
              <a:t>Mech is in beta. Further validation is needed beyond the EKF case study.</a:t>
            </a:r>
          </a:p>
          <a:p xmlns:a="http://schemas.openxmlformats.org/drawingml/2006/main">
            <a:pPr algn="l">
              <a:lnSpc>
                <a:spcPct val="108000"/>
              </a:lnSpc>
              <a:buNone/>
              <a:defRPr sz="2550" b="0">
                <a:solidFill>
                  <a:srgbClr val="E8EDF0"/>
                </a:solidFill>
                <a:latin typeface="Segoe UI"/>
                <a:ea typeface="Segoe UI"/>
                <a:cs typeface="Segoe UI"/>
              </a:defRPr>
            </a:pPr>
            <a:r>
              <a:rPr sz="2550" b="0">
                <a:solidFill>
                  <a:srgbClr val="E8EDF0"/>
                </a:solidFill>
                <a:latin typeface="Segoe UI"/>
                <a:ea typeface="Segoe UI"/>
                <a:cs typeface="Segoe UI"/>
              </a:rPr>
              <a:t>Over the next year, we plan evaluation across real robot hardware platforms and in robot deployments.</a:t>
            </a:r>
          </a:p>
        </p:txBody>
      </p:sp>
      <p:sp>
        <p:nvSpPr>
          <p:cNvPr id="275" name="Timeline segment 0">
            <a:extLst xmlns:a="http://schemas.openxmlformats.org/drawingml/2006/main">
              <a:ext uri="{FF2B5EF4-FFF2-40B4-BE49-F238E27FC236}">
                <a16:creationId xmlns:a16="http://schemas.microsoft.com/office/drawing/2014/main" id="{B8F0CE7D-49FF-4D19-8130-73024346EE18}"/>
              </a:ext>
            </a:extLst>
          </p:cNvPr>
          <p:cNvSpPr>
            <a:spLocks xmlns:a="http://schemas.openxmlformats.org/drawingml/2006/main" noGrp="1"/>
          </p:cNvSpPr>
          <p:nvPr/>
        </p:nvSpPr>
        <p:spPr>
          <a:xfrm xmlns:a="http://schemas.openxmlformats.org/drawingml/2006/main">
            <a:off x="2247305" y="40043100"/>
            <a:ext cx="2589609" cy="0"/>
          </a:xfrm>
          <a:prstGeom xmlns:a="http://schemas.openxmlformats.org/drawingml/2006/main" prst="line">
            <a:avLst/>
          </a:prstGeom>
          <a:noFill xmlns:a="http://schemas.openxmlformats.org/drawingml/2006/main"/>
          <a:ln xmlns:a="http://schemas.openxmlformats.org/drawingml/2006/main" w="38100">
            <a:solidFill>
              <a:srgbClr val="33AB94"/>
            </a:solidFill>
          </a:ln>
        </p:spPr>
      </p:sp>
      <p:sp>
        <p:nvSpPr>
          <p:cNvPr id="276" name="Timeline segment 1">
            <a:extLst xmlns:a="http://schemas.openxmlformats.org/drawingml/2006/main">
              <a:ext uri="{FF2B5EF4-FFF2-40B4-BE49-F238E27FC236}">
                <a16:creationId xmlns:a16="http://schemas.microsoft.com/office/drawing/2014/main" id="{BE00BDB6-3C25-452D-A4A9-A81F8F252D3E}"/>
              </a:ext>
            </a:extLst>
          </p:cNvPr>
          <p:cNvSpPr>
            <a:spLocks xmlns:a="http://schemas.openxmlformats.org/drawingml/2006/main" noGrp="1"/>
          </p:cNvSpPr>
          <p:nvPr/>
        </p:nvSpPr>
        <p:spPr>
          <a:xfrm xmlns:a="http://schemas.openxmlformats.org/drawingml/2006/main">
            <a:off x="4836914" y="40043100"/>
            <a:ext cx="2589609" cy="0"/>
          </a:xfrm>
          <a:prstGeom xmlns:a="http://schemas.openxmlformats.org/drawingml/2006/main" prst="line">
            <a:avLst/>
          </a:prstGeom>
          <a:noFill xmlns:a="http://schemas.openxmlformats.org/drawingml/2006/main"/>
          <a:ln xmlns:a="http://schemas.openxmlformats.org/drawingml/2006/main" w="38100">
            <a:solidFill>
              <a:srgbClr val="33AB94"/>
            </a:solidFill>
          </a:ln>
        </p:spPr>
      </p:sp>
      <p:sp>
        <p:nvSpPr>
          <p:cNvPr id="277" name="Timeline segment 2">
            <a:extLst xmlns:a="http://schemas.openxmlformats.org/drawingml/2006/main">
              <a:ext uri="{FF2B5EF4-FFF2-40B4-BE49-F238E27FC236}">
                <a16:creationId xmlns:a16="http://schemas.microsoft.com/office/drawing/2014/main" id="{ABD9AFE5-9F80-4540-AE3D-A749130E534D}"/>
              </a:ext>
            </a:extLst>
          </p:cNvPr>
          <p:cNvSpPr>
            <a:spLocks xmlns:a="http://schemas.openxmlformats.org/drawingml/2006/main" noGrp="1"/>
          </p:cNvSpPr>
          <p:nvPr/>
        </p:nvSpPr>
        <p:spPr>
          <a:xfrm xmlns:a="http://schemas.openxmlformats.org/drawingml/2006/main">
            <a:off x="7426523" y="40043100"/>
            <a:ext cx="2589609" cy="0"/>
          </a:xfrm>
          <a:prstGeom xmlns:a="http://schemas.openxmlformats.org/drawingml/2006/main" prst="line">
            <a:avLst/>
          </a:prstGeom>
          <a:noFill xmlns:a="http://schemas.openxmlformats.org/drawingml/2006/main"/>
          <a:ln xmlns:a="http://schemas.openxmlformats.org/drawingml/2006/main" w="38100">
            <a:solidFill>
              <a:srgbClr val="33AB94"/>
            </a:solidFill>
          </a:ln>
        </p:spPr>
      </p:sp>
      <p:sp>
        <p:nvSpPr>
          <p:cNvPr id="278" name="Timeline segment 3">
            <a:extLst xmlns:a="http://schemas.openxmlformats.org/drawingml/2006/main">
              <a:ext uri="{FF2B5EF4-FFF2-40B4-BE49-F238E27FC236}">
                <a16:creationId xmlns:a16="http://schemas.microsoft.com/office/drawing/2014/main" id="{97121695-53D2-4557-B866-2E17710CC867}"/>
              </a:ext>
            </a:extLst>
          </p:cNvPr>
          <p:cNvSpPr>
            <a:spLocks xmlns:a="http://schemas.openxmlformats.org/drawingml/2006/main" noGrp="1"/>
          </p:cNvSpPr>
          <p:nvPr/>
        </p:nvSpPr>
        <p:spPr>
          <a:xfrm xmlns:a="http://schemas.openxmlformats.org/drawingml/2006/main">
            <a:off x="10016133" y="40043100"/>
            <a:ext cx="2589609" cy="0"/>
          </a:xfrm>
          <a:prstGeom xmlns:a="http://schemas.openxmlformats.org/drawingml/2006/main" prst="line">
            <a:avLst/>
          </a:prstGeom>
          <a:noFill xmlns:a="http://schemas.openxmlformats.org/drawingml/2006/main"/>
          <a:ln xmlns:a="http://schemas.openxmlformats.org/drawingml/2006/main" w="38100">
            <a:solidFill>
              <a:srgbClr val="33AB94"/>
            </a:solidFill>
          </a:ln>
        </p:spPr>
      </p:sp>
      <p:sp>
        <p:nvSpPr>
          <p:cNvPr id="279" name="Timeline segment 4">
            <a:extLst xmlns:a="http://schemas.openxmlformats.org/drawingml/2006/main">
              <a:ext uri="{FF2B5EF4-FFF2-40B4-BE49-F238E27FC236}">
                <a16:creationId xmlns:a16="http://schemas.microsoft.com/office/drawing/2014/main" id="{8C10085A-F7DA-49DC-9384-705E6AE87400}"/>
              </a:ext>
            </a:extLst>
          </p:cNvPr>
          <p:cNvSpPr>
            <a:spLocks xmlns:a="http://schemas.openxmlformats.org/drawingml/2006/main" noGrp="1"/>
          </p:cNvSpPr>
          <p:nvPr/>
        </p:nvSpPr>
        <p:spPr>
          <a:xfrm xmlns:a="http://schemas.openxmlformats.org/drawingml/2006/main">
            <a:off x="12605742" y="40043100"/>
            <a:ext cx="2589609" cy="0"/>
          </a:xfrm>
          <a:prstGeom xmlns:a="http://schemas.openxmlformats.org/drawingml/2006/main" prst="line">
            <a:avLst/>
          </a:prstGeom>
          <a:noFill xmlns:a="http://schemas.openxmlformats.org/drawingml/2006/main"/>
          <a:ln xmlns:a="http://schemas.openxmlformats.org/drawingml/2006/main" w="38100">
            <a:solidFill>
              <a:srgbClr val="F6C04E"/>
            </a:solidFill>
          </a:ln>
        </p:spPr>
      </p:sp>
      <p:sp>
        <p:nvSpPr>
          <p:cNvPr id="280" name="Timeline segment 5">
            <a:extLst xmlns:a="http://schemas.openxmlformats.org/drawingml/2006/main">
              <a:ext uri="{FF2B5EF4-FFF2-40B4-BE49-F238E27FC236}">
                <a16:creationId xmlns:a16="http://schemas.microsoft.com/office/drawing/2014/main" id="{1AA0BF27-3367-414B-BB0A-95F1F06BAC51}"/>
              </a:ext>
            </a:extLst>
          </p:cNvPr>
          <p:cNvSpPr>
            <a:spLocks xmlns:a="http://schemas.openxmlformats.org/drawingml/2006/main" noGrp="1"/>
          </p:cNvSpPr>
          <p:nvPr/>
        </p:nvSpPr>
        <p:spPr>
          <a:xfrm xmlns:a="http://schemas.openxmlformats.org/drawingml/2006/main">
            <a:off x="15195352" y="40043100"/>
            <a:ext cx="2589609" cy="0"/>
          </a:xfrm>
          <a:prstGeom xmlns:a="http://schemas.openxmlformats.org/drawingml/2006/main" prst="line">
            <a:avLst/>
          </a:prstGeom>
          <a:noFill xmlns:a="http://schemas.openxmlformats.org/drawingml/2006/main"/>
          <a:ln xmlns:a="http://schemas.openxmlformats.org/drawingml/2006/main" w="38100">
            <a:solidFill>
              <a:srgbClr val="CD8DCA"/>
            </a:solidFill>
          </a:ln>
        </p:spPr>
      </p:sp>
      <p:sp>
        <p:nvSpPr>
          <p:cNvPr id="281" name="Timeline segment 6">
            <a:extLst xmlns:a="http://schemas.openxmlformats.org/drawingml/2006/main">
              <a:ext uri="{FF2B5EF4-FFF2-40B4-BE49-F238E27FC236}">
                <a16:creationId xmlns:a16="http://schemas.microsoft.com/office/drawing/2014/main" id="{9D56D5F1-E0B9-43C8-81E5-DFB404FA28A8}"/>
              </a:ext>
            </a:extLst>
          </p:cNvPr>
          <p:cNvSpPr>
            <a:spLocks xmlns:a="http://schemas.openxmlformats.org/drawingml/2006/main" noGrp="1"/>
          </p:cNvSpPr>
          <p:nvPr/>
        </p:nvSpPr>
        <p:spPr>
          <a:xfrm xmlns:a="http://schemas.openxmlformats.org/drawingml/2006/main">
            <a:off x="17784961" y="40043100"/>
            <a:ext cx="2589609" cy="0"/>
          </a:xfrm>
          <a:prstGeom xmlns:a="http://schemas.openxmlformats.org/drawingml/2006/main" prst="line">
            <a:avLst/>
          </a:prstGeom>
          <a:noFill xmlns:a="http://schemas.openxmlformats.org/drawingml/2006/main"/>
          <a:ln xmlns:a="http://schemas.openxmlformats.org/drawingml/2006/main" w="38100">
            <a:solidFill>
              <a:srgbClr val="CD8DCA"/>
            </a:solidFill>
          </a:ln>
        </p:spPr>
      </p:sp>
      <p:sp>
        <p:nvSpPr>
          <p:cNvPr id="282" name="Timeline milestone 0">
            <a:extLst xmlns:a="http://schemas.openxmlformats.org/drawingml/2006/main">
              <a:ext uri="{FF2B5EF4-FFF2-40B4-BE49-F238E27FC236}">
                <a16:creationId xmlns:a16="http://schemas.microsoft.com/office/drawing/2014/main" id="{1920BF25-1577-443E-87B5-4F72DB9D0CE7}"/>
              </a:ext>
            </a:extLst>
          </p:cNvPr>
          <p:cNvSpPr>
            <a:spLocks xmlns:a="http://schemas.openxmlformats.org/drawingml/2006/main" noGrp="1"/>
          </p:cNvSpPr>
          <p:nvPr/>
        </p:nvSpPr>
        <p:spPr>
          <a:xfrm xmlns:a="http://schemas.openxmlformats.org/drawingml/2006/main">
            <a:off x="2075855" y="39871650"/>
            <a:ext cx="342900" cy="342900"/>
          </a:xfrm>
          <a:prstGeom xmlns:a="http://schemas.openxmlformats.org/drawingml/2006/main" prst="ellipse">
            <a:avLst/>
          </a:prstGeom>
          <a:solidFill xmlns:a="http://schemas.openxmlformats.org/drawingml/2006/main">
            <a:srgbClr val="33AB94"/>
          </a:solidFill>
          <a:ln xmlns:a="http://schemas.openxmlformats.org/drawingml/2006/main" w="28575">
            <a:solidFill>
              <a:srgbClr val="33AB94"/>
            </a:solid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950" b="1">
                <a:solidFill>
                  <a:srgbClr val="0B1113"/>
                </a:solidFill>
                <a:latin typeface="Segoe UI"/>
                <a:ea typeface="Segoe UI"/>
                <a:cs typeface="Segoe UI"/>
              </a:defRPr>
            </a:pPr>
            <a:r>
              <a:rPr sz="1950" b="1">
                <a:solidFill>
                  <a:srgbClr val="0B1113"/>
                </a:solidFill>
                <a:latin typeface="Segoe UI"/>
                <a:ea typeface="Segoe UI"/>
                <a:cs typeface="Segoe UI"/>
              </a:rPr>
              <a:t>✓</a:t>
            </a:r>
          </a:p>
        </p:txBody>
      </p:sp>
      <p:sp>
        <p:nvSpPr>
          <p:cNvPr id="283" name="Timeline version 0">
            <a:extLst xmlns:a="http://schemas.openxmlformats.org/drawingml/2006/main">
              <a:ext uri="{FF2B5EF4-FFF2-40B4-BE49-F238E27FC236}">
                <a16:creationId xmlns:a16="http://schemas.microsoft.com/office/drawing/2014/main" id="{D8B80862-19F6-4BED-A1F2-02F990A42AB1}"/>
              </a:ext>
            </a:extLst>
          </p:cNvPr>
          <p:cNvSpPr>
            <a:spLocks xmlns:a="http://schemas.openxmlformats.org/drawingml/2006/main" noGrp="1"/>
          </p:cNvSpPr>
          <p:nvPr/>
        </p:nvSpPr>
        <p:spPr>
          <a:xfrm xmlns:a="http://schemas.openxmlformats.org/drawingml/2006/main">
            <a:off x="1028700" y="40309800"/>
            <a:ext cx="243720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33AB94"/>
                </a:solidFill>
                <a:latin typeface="Fira Code"/>
                <a:ea typeface="Fira Code"/>
                <a:cs typeface="Fira Code"/>
              </a:defRPr>
            </a:pPr>
            <a:r>
              <a:rPr sz="2250" b="1">
                <a:solidFill>
                  <a:srgbClr val="33AB94"/>
                </a:solidFill>
                <a:latin typeface="Fira Code"/>
                <a:ea typeface="Fira Code"/>
                <a:cs typeface="Fira Code"/>
              </a:rPr>
              <a:t>Start</a:t>
            </a:r>
          </a:p>
        </p:txBody>
      </p:sp>
      <p:sp>
        <p:nvSpPr>
          <p:cNvPr id="284" name="Timeline description 0">
            <a:extLst xmlns:a="http://schemas.openxmlformats.org/drawingml/2006/main">
              <a:ext uri="{FF2B5EF4-FFF2-40B4-BE49-F238E27FC236}">
                <a16:creationId xmlns:a16="http://schemas.microsoft.com/office/drawing/2014/main" id="{F33F46E6-18EA-4B4B-AB3F-8EBDF1050108}"/>
              </a:ext>
            </a:extLst>
          </p:cNvPr>
          <p:cNvSpPr>
            <a:spLocks xmlns:a="http://schemas.openxmlformats.org/drawingml/2006/main" noGrp="1"/>
          </p:cNvSpPr>
          <p:nvPr/>
        </p:nvSpPr>
        <p:spPr>
          <a:xfrm xmlns:a="http://schemas.openxmlformats.org/drawingml/2006/main">
            <a:off x="1028700" y="40709850"/>
            <a:ext cx="2437209"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Implementation</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begins</a:t>
            </a:r>
          </a:p>
        </p:txBody>
      </p:sp>
      <p:sp>
        <p:nvSpPr>
          <p:cNvPr id="285" name="Timeline date 0">
            <a:extLst xmlns:a="http://schemas.openxmlformats.org/drawingml/2006/main">
              <a:ext uri="{FF2B5EF4-FFF2-40B4-BE49-F238E27FC236}">
                <a16:creationId xmlns:a16="http://schemas.microsoft.com/office/drawing/2014/main" id="{7ABCC779-D627-4A85-AE5E-41DA5FA542E0}"/>
              </a:ext>
            </a:extLst>
          </p:cNvPr>
          <p:cNvSpPr>
            <a:spLocks xmlns:a="http://schemas.openxmlformats.org/drawingml/2006/main" noGrp="1"/>
          </p:cNvSpPr>
          <p:nvPr/>
        </p:nvSpPr>
        <p:spPr>
          <a:xfrm xmlns:a="http://schemas.openxmlformats.org/drawingml/2006/main">
            <a:off x="1028700" y="41395650"/>
            <a:ext cx="243720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75" b="0">
                <a:solidFill>
                  <a:srgbClr val="A4BAC8"/>
                </a:solidFill>
                <a:latin typeface="Segoe UI"/>
                <a:ea typeface="Segoe UI"/>
                <a:cs typeface="Segoe UI"/>
              </a:rPr>
              <a:t>2018</a:t>
            </a:r>
          </a:p>
        </p:txBody>
      </p:sp>
      <p:sp>
        <p:nvSpPr>
          <p:cNvPr id="286" name="Timeline milestone 1">
            <a:extLst xmlns:a="http://schemas.openxmlformats.org/drawingml/2006/main">
              <a:ext uri="{FF2B5EF4-FFF2-40B4-BE49-F238E27FC236}">
                <a16:creationId xmlns:a16="http://schemas.microsoft.com/office/drawing/2014/main" id="{8EE590BB-9B4A-49B1-9578-C68A2F01FE0E}"/>
              </a:ext>
            </a:extLst>
          </p:cNvPr>
          <p:cNvSpPr>
            <a:spLocks xmlns:a="http://schemas.openxmlformats.org/drawingml/2006/main" noGrp="1"/>
          </p:cNvSpPr>
          <p:nvPr/>
        </p:nvSpPr>
        <p:spPr>
          <a:xfrm xmlns:a="http://schemas.openxmlformats.org/drawingml/2006/main">
            <a:off x="4665464" y="39871650"/>
            <a:ext cx="342900" cy="342900"/>
          </a:xfrm>
          <a:prstGeom xmlns:a="http://schemas.openxmlformats.org/drawingml/2006/main" prst="ellipse">
            <a:avLst/>
          </a:prstGeom>
          <a:solidFill xmlns:a="http://schemas.openxmlformats.org/drawingml/2006/main">
            <a:srgbClr val="33AB94"/>
          </a:solidFill>
          <a:ln xmlns:a="http://schemas.openxmlformats.org/drawingml/2006/main" w="28575">
            <a:solidFill>
              <a:srgbClr val="33AB94"/>
            </a:solid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950" b="1">
                <a:solidFill>
                  <a:srgbClr val="0B1113"/>
                </a:solidFill>
                <a:latin typeface="Segoe UI"/>
                <a:ea typeface="Segoe UI"/>
                <a:cs typeface="Segoe UI"/>
              </a:defRPr>
            </a:pPr>
            <a:r>
              <a:rPr sz="1950" b="1">
                <a:solidFill>
                  <a:srgbClr val="0B1113"/>
                </a:solidFill>
                <a:latin typeface="Segoe UI"/>
                <a:ea typeface="Segoe UI"/>
                <a:cs typeface="Segoe UI"/>
              </a:rPr>
              <a:t>✓</a:t>
            </a:r>
          </a:p>
        </p:txBody>
      </p:sp>
      <p:sp>
        <p:nvSpPr>
          <p:cNvPr id="287" name="Timeline version 1">
            <a:extLst xmlns:a="http://schemas.openxmlformats.org/drawingml/2006/main">
              <a:ext uri="{FF2B5EF4-FFF2-40B4-BE49-F238E27FC236}">
                <a16:creationId xmlns:a16="http://schemas.microsoft.com/office/drawing/2014/main" id="{9C204EB8-1D91-422F-AC7E-CAB61CCC8BCC}"/>
              </a:ext>
            </a:extLst>
          </p:cNvPr>
          <p:cNvSpPr>
            <a:spLocks xmlns:a="http://schemas.openxmlformats.org/drawingml/2006/main" noGrp="1"/>
          </p:cNvSpPr>
          <p:nvPr/>
        </p:nvSpPr>
        <p:spPr>
          <a:xfrm xmlns:a="http://schemas.openxmlformats.org/drawingml/2006/main">
            <a:off x="3618309" y="40309800"/>
            <a:ext cx="243720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33AB94"/>
                </a:solidFill>
                <a:latin typeface="Fira Code"/>
                <a:ea typeface="Fira Code"/>
                <a:cs typeface="Fira Code"/>
              </a:defRPr>
            </a:pPr>
            <a:r>
              <a:rPr sz="2250" b="1">
                <a:solidFill>
                  <a:srgbClr val="33AB94"/>
                </a:solidFill>
                <a:latin typeface="Fira Code"/>
                <a:ea typeface="Fira Code"/>
                <a:cs typeface="Fira Code"/>
              </a:rPr>
              <a:t>0.0.1</a:t>
            </a:r>
          </a:p>
        </p:txBody>
      </p:sp>
      <p:sp>
        <p:nvSpPr>
          <p:cNvPr id="288" name="Timeline description 1">
            <a:extLst xmlns:a="http://schemas.openxmlformats.org/drawingml/2006/main">
              <a:ext uri="{FF2B5EF4-FFF2-40B4-BE49-F238E27FC236}">
                <a16:creationId xmlns:a16="http://schemas.microsoft.com/office/drawing/2014/main" id="{666401A4-777C-4E4B-A5C3-83E685504D0F}"/>
              </a:ext>
            </a:extLst>
          </p:cNvPr>
          <p:cNvSpPr>
            <a:spLocks xmlns:a="http://schemas.openxmlformats.org/drawingml/2006/main" noGrp="1"/>
          </p:cNvSpPr>
          <p:nvPr/>
        </p:nvSpPr>
        <p:spPr>
          <a:xfrm xmlns:a="http://schemas.openxmlformats.org/drawingml/2006/main">
            <a:off x="3618309" y="40709850"/>
            <a:ext cx="2437209"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First alpha</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release</a:t>
            </a:r>
          </a:p>
        </p:txBody>
      </p:sp>
      <p:sp>
        <p:nvSpPr>
          <p:cNvPr id="289" name="Timeline date 1">
            <a:extLst xmlns:a="http://schemas.openxmlformats.org/drawingml/2006/main">
              <a:ext uri="{FF2B5EF4-FFF2-40B4-BE49-F238E27FC236}">
                <a16:creationId xmlns:a16="http://schemas.microsoft.com/office/drawing/2014/main" id="{E64172EB-5FA1-4E71-91EC-C483E7D4AD4B}"/>
              </a:ext>
            </a:extLst>
          </p:cNvPr>
          <p:cNvSpPr>
            <a:spLocks xmlns:a="http://schemas.openxmlformats.org/drawingml/2006/main" noGrp="1"/>
          </p:cNvSpPr>
          <p:nvPr/>
        </p:nvSpPr>
        <p:spPr>
          <a:xfrm xmlns:a="http://schemas.openxmlformats.org/drawingml/2006/main">
            <a:off x="3618309" y="41395650"/>
            <a:ext cx="243720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75" b="0">
                <a:solidFill>
                  <a:srgbClr val="A4BAC8"/>
                </a:solidFill>
                <a:latin typeface="Segoe UI"/>
                <a:ea typeface="Segoe UI"/>
                <a:cs typeface="Segoe UI"/>
              </a:rPr>
              <a:t>2019</a:t>
            </a:r>
          </a:p>
        </p:txBody>
      </p:sp>
      <p:sp>
        <p:nvSpPr>
          <p:cNvPr id="290" name="Timeline milestone 2">
            <a:extLst xmlns:a="http://schemas.openxmlformats.org/drawingml/2006/main">
              <a:ext uri="{FF2B5EF4-FFF2-40B4-BE49-F238E27FC236}">
                <a16:creationId xmlns:a16="http://schemas.microsoft.com/office/drawing/2014/main" id="{6053AB31-1541-4A47-B465-EBFC6CF544B1}"/>
              </a:ext>
            </a:extLst>
          </p:cNvPr>
          <p:cNvSpPr>
            <a:spLocks xmlns:a="http://schemas.openxmlformats.org/drawingml/2006/main" noGrp="1"/>
          </p:cNvSpPr>
          <p:nvPr/>
        </p:nvSpPr>
        <p:spPr>
          <a:xfrm xmlns:a="http://schemas.openxmlformats.org/drawingml/2006/main">
            <a:off x="7255073" y="39871650"/>
            <a:ext cx="342900" cy="342900"/>
          </a:xfrm>
          <a:prstGeom xmlns:a="http://schemas.openxmlformats.org/drawingml/2006/main" prst="ellipse">
            <a:avLst/>
          </a:prstGeom>
          <a:solidFill xmlns:a="http://schemas.openxmlformats.org/drawingml/2006/main">
            <a:srgbClr val="33AB94"/>
          </a:solidFill>
          <a:ln xmlns:a="http://schemas.openxmlformats.org/drawingml/2006/main" w="28575">
            <a:solidFill>
              <a:srgbClr val="33AB94"/>
            </a:solid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950" b="1">
                <a:solidFill>
                  <a:srgbClr val="0B1113"/>
                </a:solidFill>
                <a:latin typeface="Segoe UI"/>
                <a:ea typeface="Segoe UI"/>
                <a:cs typeface="Segoe UI"/>
              </a:defRPr>
            </a:pPr>
            <a:r>
              <a:rPr sz="1950" b="1">
                <a:solidFill>
                  <a:srgbClr val="0B1113"/>
                </a:solidFill>
                <a:latin typeface="Segoe UI"/>
                <a:ea typeface="Segoe UI"/>
                <a:cs typeface="Segoe UI"/>
              </a:rPr>
              <a:t>✓</a:t>
            </a:r>
          </a:p>
        </p:txBody>
      </p:sp>
      <p:sp>
        <p:nvSpPr>
          <p:cNvPr id="291" name="Timeline version 2">
            <a:extLst xmlns:a="http://schemas.openxmlformats.org/drawingml/2006/main">
              <a:ext uri="{FF2B5EF4-FFF2-40B4-BE49-F238E27FC236}">
                <a16:creationId xmlns:a16="http://schemas.microsoft.com/office/drawing/2014/main" id="{00C17099-D99D-4C10-9890-39ABCBA41C31}"/>
              </a:ext>
            </a:extLst>
          </p:cNvPr>
          <p:cNvSpPr>
            <a:spLocks xmlns:a="http://schemas.openxmlformats.org/drawingml/2006/main" noGrp="1"/>
          </p:cNvSpPr>
          <p:nvPr/>
        </p:nvSpPr>
        <p:spPr>
          <a:xfrm xmlns:a="http://schemas.openxmlformats.org/drawingml/2006/main">
            <a:off x="6207919" y="40309800"/>
            <a:ext cx="243720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33AB94"/>
                </a:solidFill>
                <a:latin typeface="Fira Code"/>
                <a:ea typeface="Fira Code"/>
                <a:cs typeface="Fira Code"/>
              </a:defRPr>
            </a:pPr>
            <a:r>
              <a:rPr sz="2250" b="1">
                <a:solidFill>
                  <a:srgbClr val="33AB94"/>
                </a:solidFill>
                <a:latin typeface="Fira Code"/>
                <a:ea typeface="Fira Code"/>
                <a:cs typeface="Fira Code"/>
              </a:rPr>
              <a:t>v0.1</a:t>
            </a:r>
          </a:p>
        </p:txBody>
      </p:sp>
      <p:sp>
        <p:nvSpPr>
          <p:cNvPr id="292" name="Timeline description 2">
            <a:extLst xmlns:a="http://schemas.openxmlformats.org/drawingml/2006/main">
              <a:ext uri="{FF2B5EF4-FFF2-40B4-BE49-F238E27FC236}">
                <a16:creationId xmlns:a16="http://schemas.microsoft.com/office/drawing/2014/main" id="{960C9852-C035-4C21-901F-C3D48500F798}"/>
              </a:ext>
            </a:extLst>
          </p:cNvPr>
          <p:cNvSpPr>
            <a:spLocks xmlns:a="http://schemas.openxmlformats.org/drawingml/2006/main" noGrp="1"/>
          </p:cNvSpPr>
          <p:nvPr/>
        </p:nvSpPr>
        <p:spPr>
          <a:xfrm xmlns:a="http://schemas.openxmlformats.org/drawingml/2006/main">
            <a:off x="6207919" y="40709850"/>
            <a:ext cx="2437209"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Proof of</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concept</a:t>
            </a:r>
          </a:p>
        </p:txBody>
      </p:sp>
      <p:sp>
        <p:nvSpPr>
          <p:cNvPr id="293" name="Timeline date 2">
            <a:extLst xmlns:a="http://schemas.openxmlformats.org/drawingml/2006/main">
              <a:ext uri="{FF2B5EF4-FFF2-40B4-BE49-F238E27FC236}">
                <a16:creationId xmlns:a16="http://schemas.microsoft.com/office/drawing/2014/main" id="{AF75E4FA-616D-46BF-AA26-7D96C316EA06}"/>
              </a:ext>
            </a:extLst>
          </p:cNvPr>
          <p:cNvSpPr>
            <a:spLocks xmlns:a="http://schemas.openxmlformats.org/drawingml/2006/main" noGrp="1"/>
          </p:cNvSpPr>
          <p:nvPr/>
        </p:nvSpPr>
        <p:spPr>
          <a:xfrm xmlns:a="http://schemas.openxmlformats.org/drawingml/2006/main">
            <a:off x="6207919" y="41395650"/>
            <a:ext cx="243720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75" b="0">
                <a:solidFill>
                  <a:srgbClr val="A4BAC8"/>
                </a:solidFill>
                <a:latin typeface="Segoe UI"/>
                <a:ea typeface="Segoe UI"/>
                <a:cs typeface="Segoe UI"/>
              </a:rPr>
              <a:t>2023</a:t>
            </a:r>
          </a:p>
        </p:txBody>
      </p:sp>
      <p:sp>
        <p:nvSpPr>
          <p:cNvPr id="294" name="Timeline milestone 3">
            <a:extLst xmlns:a="http://schemas.openxmlformats.org/drawingml/2006/main">
              <a:ext uri="{FF2B5EF4-FFF2-40B4-BE49-F238E27FC236}">
                <a16:creationId xmlns:a16="http://schemas.microsoft.com/office/drawing/2014/main" id="{5CD24779-5FD4-46DF-9F71-002556DA68FD}"/>
              </a:ext>
            </a:extLst>
          </p:cNvPr>
          <p:cNvSpPr>
            <a:spLocks xmlns:a="http://schemas.openxmlformats.org/drawingml/2006/main" noGrp="1"/>
          </p:cNvSpPr>
          <p:nvPr/>
        </p:nvSpPr>
        <p:spPr>
          <a:xfrm xmlns:a="http://schemas.openxmlformats.org/drawingml/2006/main">
            <a:off x="9844683" y="39871650"/>
            <a:ext cx="342900" cy="342900"/>
          </a:xfrm>
          <a:prstGeom xmlns:a="http://schemas.openxmlformats.org/drawingml/2006/main" prst="ellipse">
            <a:avLst/>
          </a:prstGeom>
          <a:solidFill xmlns:a="http://schemas.openxmlformats.org/drawingml/2006/main">
            <a:srgbClr val="33AB94"/>
          </a:solidFill>
          <a:ln xmlns:a="http://schemas.openxmlformats.org/drawingml/2006/main" w="28575">
            <a:solidFill>
              <a:srgbClr val="33AB94"/>
            </a:solid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950" b="1">
                <a:solidFill>
                  <a:srgbClr val="0B1113"/>
                </a:solidFill>
                <a:latin typeface="Segoe UI"/>
                <a:ea typeface="Segoe UI"/>
                <a:cs typeface="Segoe UI"/>
              </a:defRPr>
            </a:pPr>
            <a:r>
              <a:rPr sz="1950" b="1">
                <a:solidFill>
                  <a:srgbClr val="0B1113"/>
                </a:solidFill>
                <a:latin typeface="Segoe UI"/>
                <a:ea typeface="Segoe UI"/>
                <a:cs typeface="Segoe UI"/>
              </a:rPr>
              <a:t>✓</a:t>
            </a:r>
          </a:p>
        </p:txBody>
      </p:sp>
      <p:sp>
        <p:nvSpPr>
          <p:cNvPr id="295" name="Timeline version 3">
            <a:extLst xmlns:a="http://schemas.openxmlformats.org/drawingml/2006/main">
              <a:ext uri="{FF2B5EF4-FFF2-40B4-BE49-F238E27FC236}">
                <a16:creationId xmlns:a16="http://schemas.microsoft.com/office/drawing/2014/main" id="{DA1186C7-2DCA-4B3F-BE97-722AFBF24D7C}"/>
              </a:ext>
            </a:extLst>
          </p:cNvPr>
          <p:cNvSpPr>
            <a:spLocks xmlns:a="http://schemas.openxmlformats.org/drawingml/2006/main" noGrp="1"/>
          </p:cNvSpPr>
          <p:nvPr/>
        </p:nvSpPr>
        <p:spPr>
          <a:xfrm xmlns:a="http://schemas.openxmlformats.org/drawingml/2006/main">
            <a:off x="8797528" y="40309800"/>
            <a:ext cx="243720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33AB94"/>
                </a:solidFill>
                <a:latin typeface="Fira Code"/>
                <a:ea typeface="Fira Code"/>
                <a:cs typeface="Fira Code"/>
              </a:defRPr>
            </a:pPr>
            <a:r>
              <a:rPr sz="2250" b="1">
                <a:solidFill>
                  <a:srgbClr val="33AB94"/>
                </a:solidFill>
                <a:latin typeface="Fira Code"/>
                <a:ea typeface="Fira Code"/>
                <a:cs typeface="Fira Code"/>
              </a:rPr>
              <a:t>v0.2</a:t>
            </a:r>
          </a:p>
        </p:txBody>
      </p:sp>
      <p:sp>
        <p:nvSpPr>
          <p:cNvPr id="296" name="Timeline description 3">
            <a:extLst xmlns:a="http://schemas.openxmlformats.org/drawingml/2006/main">
              <a:ext uri="{FF2B5EF4-FFF2-40B4-BE49-F238E27FC236}">
                <a16:creationId xmlns:a16="http://schemas.microsoft.com/office/drawing/2014/main" id="{57B4D29A-AC28-4344-B576-8318143EEC1A}"/>
              </a:ext>
            </a:extLst>
          </p:cNvPr>
          <p:cNvSpPr>
            <a:spLocks xmlns:a="http://schemas.openxmlformats.org/drawingml/2006/main" noGrp="1"/>
          </p:cNvSpPr>
          <p:nvPr/>
        </p:nvSpPr>
        <p:spPr>
          <a:xfrm xmlns:a="http://schemas.openxmlformats.org/drawingml/2006/main">
            <a:off x="8797528" y="40709850"/>
            <a:ext cx="2437209"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Data</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specification</a:t>
            </a:r>
          </a:p>
        </p:txBody>
      </p:sp>
      <p:sp>
        <p:nvSpPr>
          <p:cNvPr id="297" name="Timeline date 3">
            <a:extLst xmlns:a="http://schemas.openxmlformats.org/drawingml/2006/main">
              <a:ext uri="{FF2B5EF4-FFF2-40B4-BE49-F238E27FC236}">
                <a16:creationId xmlns:a16="http://schemas.microsoft.com/office/drawing/2014/main" id="{20CB6332-6351-4003-83BB-51A90FA94348}"/>
              </a:ext>
            </a:extLst>
          </p:cNvPr>
          <p:cNvSpPr>
            <a:spLocks xmlns:a="http://schemas.openxmlformats.org/drawingml/2006/main" noGrp="1"/>
          </p:cNvSpPr>
          <p:nvPr/>
        </p:nvSpPr>
        <p:spPr>
          <a:xfrm xmlns:a="http://schemas.openxmlformats.org/drawingml/2006/main">
            <a:off x="8797528" y="41395650"/>
            <a:ext cx="243720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75" b="0">
                <a:solidFill>
                  <a:srgbClr val="A4BAC8"/>
                </a:solidFill>
                <a:latin typeface="Segoe UI"/>
                <a:ea typeface="Segoe UI"/>
                <a:cs typeface="Segoe UI"/>
              </a:rPr>
              <a:t>2025</a:t>
            </a:r>
          </a:p>
        </p:txBody>
      </p:sp>
      <p:sp>
        <p:nvSpPr>
          <p:cNvPr id="298" name="Timeline milestone 4">
            <a:extLst xmlns:a="http://schemas.openxmlformats.org/drawingml/2006/main">
              <a:ext uri="{FF2B5EF4-FFF2-40B4-BE49-F238E27FC236}">
                <a16:creationId xmlns:a16="http://schemas.microsoft.com/office/drawing/2014/main" id="{492897D4-D261-4355-9D89-B27E7C3DDFB8}"/>
              </a:ext>
            </a:extLst>
          </p:cNvPr>
          <p:cNvSpPr>
            <a:spLocks xmlns:a="http://schemas.openxmlformats.org/drawingml/2006/main" noGrp="1"/>
          </p:cNvSpPr>
          <p:nvPr/>
        </p:nvSpPr>
        <p:spPr>
          <a:xfrm xmlns:a="http://schemas.openxmlformats.org/drawingml/2006/main">
            <a:off x="12434292" y="39871650"/>
            <a:ext cx="342900" cy="342900"/>
          </a:xfrm>
          <a:prstGeom xmlns:a="http://schemas.openxmlformats.org/drawingml/2006/main" prst="ellipse">
            <a:avLst/>
          </a:prstGeom>
          <a:solidFill xmlns:a="http://schemas.openxmlformats.org/drawingml/2006/main">
            <a:srgbClr val="33AB94"/>
          </a:solidFill>
          <a:ln xmlns:a="http://schemas.openxmlformats.org/drawingml/2006/main" w="28575">
            <a:solidFill>
              <a:srgbClr val="33AB94"/>
            </a:solid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950" b="1">
                <a:solidFill>
                  <a:srgbClr val="0B1113"/>
                </a:solidFill>
                <a:latin typeface="Segoe UI"/>
                <a:ea typeface="Segoe UI"/>
                <a:cs typeface="Segoe UI"/>
              </a:defRPr>
            </a:pPr>
            <a:r>
              <a:rPr sz="1950" b="1">
                <a:solidFill>
                  <a:srgbClr val="0B1113"/>
                </a:solidFill>
                <a:latin typeface="Segoe UI"/>
                <a:ea typeface="Segoe UI"/>
                <a:cs typeface="Segoe UI"/>
              </a:rPr>
              <a:t>✓</a:t>
            </a:r>
          </a:p>
        </p:txBody>
      </p:sp>
      <p:sp>
        <p:nvSpPr>
          <p:cNvPr id="299" name="Timeline version 4">
            <a:extLst xmlns:a="http://schemas.openxmlformats.org/drawingml/2006/main">
              <a:ext uri="{FF2B5EF4-FFF2-40B4-BE49-F238E27FC236}">
                <a16:creationId xmlns:a16="http://schemas.microsoft.com/office/drawing/2014/main" id="{29E473A0-B7B3-4214-B8C7-EED8D5A238D5}"/>
              </a:ext>
            </a:extLst>
          </p:cNvPr>
          <p:cNvSpPr>
            <a:spLocks xmlns:a="http://schemas.openxmlformats.org/drawingml/2006/main" noGrp="1"/>
          </p:cNvSpPr>
          <p:nvPr/>
        </p:nvSpPr>
        <p:spPr>
          <a:xfrm xmlns:a="http://schemas.openxmlformats.org/drawingml/2006/main">
            <a:off x="11387138" y="40309800"/>
            <a:ext cx="243720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33AB94"/>
                </a:solidFill>
                <a:latin typeface="Fira Code"/>
                <a:ea typeface="Fira Code"/>
                <a:cs typeface="Fira Code"/>
              </a:defRPr>
            </a:pPr>
            <a:r>
              <a:rPr sz="2250" b="1">
                <a:solidFill>
                  <a:srgbClr val="33AB94"/>
                </a:solidFill>
                <a:latin typeface="Fira Code"/>
                <a:ea typeface="Fira Code"/>
                <a:cs typeface="Fira Code"/>
              </a:rPr>
              <a:t>v0.3</a:t>
            </a:r>
          </a:p>
        </p:txBody>
      </p:sp>
      <p:sp>
        <p:nvSpPr>
          <p:cNvPr id="300" name="Timeline description 4">
            <a:extLst xmlns:a="http://schemas.openxmlformats.org/drawingml/2006/main">
              <a:ext uri="{FF2B5EF4-FFF2-40B4-BE49-F238E27FC236}">
                <a16:creationId xmlns:a16="http://schemas.microsoft.com/office/drawing/2014/main" id="{B7763738-7BD7-480A-A72B-E11C6279709C}"/>
              </a:ext>
            </a:extLst>
          </p:cNvPr>
          <p:cNvSpPr>
            <a:spLocks xmlns:a="http://schemas.openxmlformats.org/drawingml/2006/main" noGrp="1"/>
          </p:cNvSpPr>
          <p:nvPr/>
        </p:nvSpPr>
        <p:spPr>
          <a:xfrm xmlns:a="http://schemas.openxmlformats.org/drawingml/2006/main">
            <a:off x="11387138" y="40709850"/>
            <a:ext cx="2437209"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Program</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specification</a:t>
            </a:r>
          </a:p>
        </p:txBody>
      </p:sp>
      <p:sp>
        <p:nvSpPr>
          <p:cNvPr id="301" name="Timeline date 4">
            <a:extLst xmlns:a="http://schemas.openxmlformats.org/drawingml/2006/main">
              <a:ext uri="{FF2B5EF4-FFF2-40B4-BE49-F238E27FC236}">
                <a16:creationId xmlns:a16="http://schemas.microsoft.com/office/drawing/2014/main" id="{3500FEEF-05D6-415C-A4F5-617D2824A108}"/>
              </a:ext>
            </a:extLst>
          </p:cNvPr>
          <p:cNvSpPr>
            <a:spLocks xmlns:a="http://schemas.openxmlformats.org/drawingml/2006/main" noGrp="1"/>
          </p:cNvSpPr>
          <p:nvPr/>
        </p:nvSpPr>
        <p:spPr>
          <a:xfrm xmlns:a="http://schemas.openxmlformats.org/drawingml/2006/main">
            <a:off x="11387138" y="41395650"/>
            <a:ext cx="243720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75" b="0">
                <a:solidFill>
                  <a:srgbClr val="A4BAC8"/>
                </a:solidFill>
                <a:latin typeface="Segoe UI"/>
                <a:ea typeface="Segoe UI"/>
                <a:cs typeface="Segoe UI"/>
              </a:rPr>
              <a:t>2026</a:t>
            </a:r>
          </a:p>
        </p:txBody>
      </p:sp>
      <p:sp>
        <p:nvSpPr>
          <p:cNvPr id="302" name="Timeline milestone 5">
            <a:extLst xmlns:a="http://schemas.openxmlformats.org/drawingml/2006/main">
              <a:ext uri="{FF2B5EF4-FFF2-40B4-BE49-F238E27FC236}">
                <a16:creationId xmlns:a16="http://schemas.microsoft.com/office/drawing/2014/main" id="{B82A275E-52CE-400B-BB67-41E8B5376704}"/>
              </a:ext>
            </a:extLst>
          </p:cNvPr>
          <p:cNvSpPr>
            <a:spLocks xmlns:a="http://schemas.openxmlformats.org/drawingml/2006/main" noGrp="1"/>
          </p:cNvSpPr>
          <p:nvPr/>
        </p:nvSpPr>
        <p:spPr>
          <a:xfrm xmlns:a="http://schemas.openxmlformats.org/drawingml/2006/main">
            <a:off x="15023902" y="39871650"/>
            <a:ext cx="342900" cy="342900"/>
          </a:xfrm>
          <a:prstGeom xmlns:a="http://schemas.openxmlformats.org/drawingml/2006/main" prst="ellipse">
            <a:avLst/>
          </a:prstGeom>
          <a:solidFill xmlns:a="http://schemas.openxmlformats.org/drawingml/2006/main">
            <a:srgbClr val="0B1113"/>
          </a:solidFill>
          <a:ln xmlns:a="http://schemas.openxmlformats.org/drawingml/2006/main" w="28575">
            <a:solidFill>
              <a:srgbClr val="F6C04E"/>
            </a:solidFill>
          </a:ln>
        </p:spPr>
      </p:sp>
      <p:sp>
        <p:nvSpPr>
          <p:cNvPr id="303" name="Current runtime milestone">
            <a:extLst xmlns:a="http://schemas.openxmlformats.org/drawingml/2006/main">
              <a:ext uri="{FF2B5EF4-FFF2-40B4-BE49-F238E27FC236}">
                <a16:creationId xmlns:a16="http://schemas.microsoft.com/office/drawing/2014/main" id="{992D6658-EDB7-47A1-BB4B-3389640EEDD7}"/>
              </a:ext>
            </a:extLst>
          </p:cNvPr>
          <p:cNvSpPr>
            <a:spLocks xmlns:a="http://schemas.openxmlformats.org/drawingml/2006/main" noGrp="1"/>
          </p:cNvSpPr>
          <p:nvPr/>
        </p:nvSpPr>
        <p:spPr>
          <a:xfrm xmlns:a="http://schemas.openxmlformats.org/drawingml/2006/main">
            <a:off x="15138202" y="39985950"/>
            <a:ext cx="114300" cy="114300"/>
          </a:xfrm>
          <a:prstGeom xmlns:a="http://schemas.openxmlformats.org/drawingml/2006/main" prst="ellipse">
            <a:avLst/>
          </a:prstGeom>
          <a:solidFill xmlns:a="http://schemas.openxmlformats.org/drawingml/2006/main">
            <a:srgbClr val="F6C04E"/>
          </a:solidFill>
          <a:ln xmlns:a="http://schemas.openxmlformats.org/drawingml/2006/main" w="0">
            <a:noFill/>
          </a:ln>
        </p:spPr>
      </p:sp>
      <p:sp>
        <p:nvSpPr>
          <p:cNvPr id="304" name="Timeline version 5">
            <a:extLst xmlns:a="http://schemas.openxmlformats.org/drawingml/2006/main">
              <a:ext uri="{FF2B5EF4-FFF2-40B4-BE49-F238E27FC236}">
                <a16:creationId xmlns:a16="http://schemas.microsoft.com/office/drawing/2014/main" id="{A655F4AC-2D9D-424F-A5CA-75A669D5C679}"/>
              </a:ext>
            </a:extLst>
          </p:cNvPr>
          <p:cNvSpPr>
            <a:spLocks xmlns:a="http://schemas.openxmlformats.org/drawingml/2006/main" noGrp="1"/>
          </p:cNvSpPr>
          <p:nvPr/>
        </p:nvSpPr>
        <p:spPr>
          <a:xfrm xmlns:a="http://schemas.openxmlformats.org/drawingml/2006/main">
            <a:off x="13976747" y="40309800"/>
            <a:ext cx="243720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F6C04E"/>
                </a:solidFill>
                <a:latin typeface="Fira Code"/>
                <a:ea typeface="Fira Code"/>
                <a:cs typeface="Fira Code"/>
              </a:defRPr>
            </a:pPr>
            <a:r>
              <a:rPr sz="2250" b="1">
                <a:solidFill>
                  <a:srgbClr val="F6C04E"/>
                </a:solidFill>
                <a:latin typeface="Fira Code"/>
                <a:ea typeface="Fira Code"/>
                <a:cs typeface="Fira Code"/>
              </a:rPr>
              <a:t>v0.4</a:t>
            </a:r>
          </a:p>
        </p:txBody>
      </p:sp>
      <p:sp>
        <p:nvSpPr>
          <p:cNvPr id="305" name="Timeline description 5">
            <a:extLst xmlns:a="http://schemas.openxmlformats.org/drawingml/2006/main">
              <a:ext uri="{FF2B5EF4-FFF2-40B4-BE49-F238E27FC236}">
                <a16:creationId xmlns:a16="http://schemas.microsoft.com/office/drawing/2014/main" id="{2B6FE9CA-DF66-444C-9158-04D7C5EA1D65}"/>
              </a:ext>
            </a:extLst>
          </p:cNvPr>
          <p:cNvSpPr>
            <a:spLocks xmlns:a="http://schemas.openxmlformats.org/drawingml/2006/main" noGrp="1"/>
          </p:cNvSpPr>
          <p:nvPr/>
        </p:nvSpPr>
        <p:spPr>
          <a:xfrm xmlns:a="http://schemas.openxmlformats.org/drawingml/2006/main">
            <a:off x="13976747" y="40709850"/>
            <a:ext cx="2437209"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Reactive</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Runtime</a:t>
            </a:r>
          </a:p>
        </p:txBody>
      </p:sp>
      <p:sp>
        <p:nvSpPr>
          <p:cNvPr id="306" name="Timeline date 5">
            <a:extLst xmlns:a="http://schemas.openxmlformats.org/drawingml/2006/main">
              <a:ext uri="{FF2B5EF4-FFF2-40B4-BE49-F238E27FC236}">
                <a16:creationId xmlns:a16="http://schemas.microsoft.com/office/drawing/2014/main" id="{AE0ED9BA-0A45-4CDC-8994-99B49411C62D}"/>
              </a:ext>
            </a:extLst>
          </p:cNvPr>
          <p:cNvSpPr>
            <a:spLocks xmlns:a="http://schemas.openxmlformats.org/drawingml/2006/main" noGrp="1"/>
          </p:cNvSpPr>
          <p:nvPr/>
        </p:nvSpPr>
        <p:spPr>
          <a:xfrm xmlns:a="http://schemas.openxmlformats.org/drawingml/2006/main">
            <a:off x="13976747" y="41395650"/>
            <a:ext cx="243720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F6C04E"/>
                </a:solidFill>
                <a:latin typeface="Segoe UI"/>
                <a:ea typeface="Segoe UI"/>
                <a:cs typeface="Segoe UI"/>
              </a:defRPr>
            </a:pPr>
            <a:r>
              <a:rPr sz="1875" b="0">
                <a:solidFill>
                  <a:srgbClr val="F6C04E"/>
                </a:solidFill>
                <a:latin typeface="Segoe UI"/>
                <a:ea typeface="Segoe UI"/>
                <a:cs typeface="Segoe UI"/>
              </a:rPr>
              <a:t>In progress</a:t>
            </a:r>
          </a:p>
        </p:txBody>
      </p:sp>
      <p:sp>
        <p:nvSpPr>
          <p:cNvPr id="307" name="Timeline milestone 6">
            <a:extLst xmlns:a="http://schemas.openxmlformats.org/drawingml/2006/main">
              <a:ext uri="{FF2B5EF4-FFF2-40B4-BE49-F238E27FC236}">
                <a16:creationId xmlns:a16="http://schemas.microsoft.com/office/drawing/2014/main" id="{A702EFC7-3CAB-4F39-AB2E-FDF879F29ADF}"/>
              </a:ext>
            </a:extLst>
          </p:cNvPr>
          <p:cNvSpPr>
            <a:spLocks xmlns:a="http://schemas.openxmlformats.org/drawingml/2006/main" noGrp="1"/>
          </p:cNvSpPr>
          <p:nvPr/>
        </p:nvSpPr>
        <p:spPr>
          <a:xfrm xmlns:a="http://schemas.openxmlformats.org/drawingml/2006/main">
            <a:off x="17613511" y="39871650"/>
            <a:ext cx="342900" cy="342900"/>
          </a:xfrm>
          <a:prstGeom xmlns:a="http://schemas.openxmlformats.org/drawingml/2006/main" prst="ellipse">
            <a:avLst/>
          </a:prstGeom>
          <a:solidFill xmlns:a="http://schemas.openxmlformats.org/drawingml/2006/main">
            <a:srgbClr val="0B1113"/>
          </a:solidFill>
          <a:ln xmlns:a="http://schemas.openxmlformats.org/drawingml/2006/main" w="28575">
            <a:solidFill>
              <a:srgbClr val="CD8DCA"/>
            </a:solidFill>
          </a:ln>
        </p:spPr>
      </p:sp>
      <p:sp>
        <p:nvSpPr>
          <p:cNvPr id="308" name="Timeline version 6">
            <a:extLst xmlns:a="http://schemas.openxmlformats.org/drawingml/2006/main">
              <a:ext uri="{FF2B5EF4-FFF2-40B4-BE49-F238E27FC236}">
                <a16:creationId xmlns:a16="http://schemas.microsoft.com/office/drawing/2014/main" id="{857EC814-B5F4-4ED3-A510-6FD6A8A2A56E}"/>
              </a:ext>
            </a:extLst>
          </p:cNvPr>
          <p:cNvSpPr>
            <a:spLocks xmlns:a="http://schemas.openxmlformats.org/drawingml/2006/main" noGrp="1"/>
          </p:cNvSpPr>
          <p:nvPr/>
        </p:nvSpPr>
        <p:spPr>
          <a:xfrm xmlns:a="http://schemas.openxmlformats.org/drawingml/2006/main">
            <a:off x="16566356" y="40309800"/>
            <a:ext cx="243720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CD8DCA"/>
                </a:solidFill>
                <a:latin typeface="Fira Code"/>
                <a:ea typeface="Fira Code"/>
                <a:cs typeface="Fira Code"/>
              </a:defRPr>
            </a:pPr>
            <a:r>
              <a:rPr sz="2250" b="1">
                <a:solidFill>
                  <a:srgbClr val="CD8DCA"/>
                </a:solidFill>
                <a:latin typeface="Fira Code"/>
                <a:ea typeface="Fira Code"/>
                <a:cs typeface="Fira Code"/>
              </a:rPr>
              <a:t>v0.5</a:t>
            </a:r>
          </a:p>
        </p:txBody>
      </p:sp>
      <p:sp>
        <p:nvSpPr>
          <p:cNvPr id="309" name="Timeline description 6">
            <a:extLst xmlns:a="http://schemas.openxmlformats.org/drawingml/2006/main">
              <a:ext uri="{FF2B5EF4-FFF2-40B4-BE49-F238E27FC236}">
                <a16:creationId xmlns:a16="http://schemas.microsoft.com/office/drawing/2014/main" id="{BF908E2B-EECC-4382-9A0B-F0729BB16E22}"/>
              </a:ext>
            </a:extLst>
          </p:cNvPr>
          <p:cNvSpPr>
            <a:spLocks xmlns:a="http://schemas.openxmlformats.org/drawingml/2006/main" noGrp="1"/>
          </p:cNvSpPr>
          <p:nvPr/>
        </p:nvSpPr>
        <p:spPr>
          <a:xfrm xmlns:a="http://schemas.openxmlformats.org/drawingml/2006/main">
            <a:off x="16566356" y="40709850"/>
            <a:ext cx="2437209"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Distribution</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&amp; concurrency</a:t>
            </a:r>
          </a:p>
        </p:txBody>
      </p:sp>
      <p:sp>
        <p:nvSpPr>
          <p:cNvPr id="310" name="Timeline date 6">
            <a:extLst xmlns:a="http://schemas.openxmlformats.org/drawingml/2006/main">
              <a:ext uri="{FF2B5EF4-FFF2-40B4-BE49-F238E27FC236}">
                <a16:creationId xmlns:a16="http://schemas.microsoft.com/office/drawing/2014/main" id="{7D4F6989-576A-4E86-9D08-47F3073EA918}"/>
              </a:ext>
            </a:extLst>
          </p:cNvPr>
          <p:cNvSpPr>
            <a:spLocks xmlns:a="http://schemas.openxmlformats.org/drawingml/2006/main" noGrp="1"/>
          </p:cNvSpPr>
          <p:nvPr/>
        </p:nvSpPr>
        <p:spPr>
          <a:xfrm xmlns:a="http://schemas.openxmlformats.org/drawingml/2006/main">
            <a:off x="16566356" y="41395650"/>
            <a:ext cx="243720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75" b="0">
                <a:solidFill>
                  <a:srgbClr val="A4BAC8"/>
                </a:solidFill>
                <a:latin typeface="Segoe UI"/>
                <a:ea typeface="Segoe UI"/>
                <a:cs typeface="Segoe UI"/>
              </a:rPr>
              <a:t>2027 (planned)</a:t>
            </a:r>
          </a:p>
        </p:txBody>
      </p:sp>
      <p:sp>
        <p:nvSpPr>
          <p:cNvPr id="311" name="Timeline milestone 7">
            <a:extLst xmlns:a="http://schemas.openxmlformats.org/drawingml/2006/main">
              <a:ext uri="{FF2B5EF4-FFF2-40B4-BE49-F238E27FC236}">
                <a16:creationId xmlns:a16="http://schemas.microsoft.com/office/drawing/2014/main" id="{744130B2-B41D-4A62-9D99-AD16D4FBB2D3}"/>
              </a:ext>
            </a:extLst>
          </p:cNvPr>
          <p:cNvSpPr>
            <a:spLocks xmlns:a="http://schemas.openxmlformats.org/drawingml/2006/main" noGrp="1"/>
          </p:cNvSpPr>
          <p:nvPr/>
        </p:nvSpPr>
        <p:spPr>
          <a:xfrm xmlns:a="http://schemas.openxmlformats.org/drawingml/2006/main">
            <a:off x="20203120" y="39871650"/>
            <a:ext cx="342900" cy="342900"/>
          </a:xfrm>
          <a:prstGeom xmlns:a="http://schemas.openxmlformats.org/drawingml/2006/main" prst="ellipse">
            <a:avLst/>
          </a:prstGeom>
          <a:solidFill xmlns:a="http://schemas.openxmlformats.org/drawingml/2006/main">
            <a:srgbClr val="0B1113"/>
          </a:solidFill>
          <a:ln xmlns:a="http://schemas.openxmlformats.org/drawingml/2006/main" w="28575">
            <a:solidFill>
              <a:srgbClr val="CD8DCA"/>
            </a:solidFill>
          </a:ln>
        </p:spPr>
      </p:sp>
      <p:sp>
        <p:nvSpPr>
          <p:cNvPr id="312" name="Timeline version 7">
            <a:extLst xmlns:a="http://schemas.openxmlformats.org/drawingml/2006/main">
              <a:ext uri="{FF2B5EF4-FFF2-40B4-BE49-F238E27FC236}">
                <a16:creationId xmlns:a16="http://schemas.microsoft.com/office/drawing/2014/main" id="{39A3C5CB-D151-4501-A2CF-94645651F0B7}"/>
              </a:ext>
            </a:extLst>
          </p:cNvPr>
          <p:cNvSpPr>
            <a:spLocks xmlns:a="http://schemas.openxmlformats.org/drawingml/2006/main" noGrp="1"/>
          </p:cNvSpPr>
          <p:nvPr/>
        </p:nvSpPr>
        <p:spPr>
          <a:xfrm xmlns:a="http://schemas.openxmlformats.org/drawingml/2006/main">
            <a:off x="19155966" y="40309800"/>
            <a:ext cx="243720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CD8DCA"/>
                </a:solidFill>
                <a:latin typeface="Fira Code"/>
                <a:ea typeface="Fira Code"/>
                <a:cs typeface="Fira Code"/>
              </a:defRPr>
            </a:pPr>
            <a:r>
              <a:rPr sz="2250" b="1">
                <a:solidFill>
                  <a:srgbClr val="CD8DCA"/>
                </a:solidFill>
                <a:latin typeface="Fira Code"/>
                <a:ea typeface="Fira Code"/>
                <a:cs typeface="Fira Code"/>
              </a:rPr>
              <a:t>v1.0</a:t>
            </a:r>
          </a:p>
        </p:txBody>
      </p:sp>
      <p:sp>
        <p:nvSpPr>
          <p:cNvPr id="313" name="Timeline description 7">
            <a:extLst xmlns:a="http://schemas.openxmlformats.org/drawingml/2006/main">
              <a:ext uri="{FF2B5EF4-FFF2-40B4-BE49-F238E27FC236}">
                <a16:creationId xmlns:a16="http://schemas.microsoft.com/office/drawing/2014/main" id="{1DC100E7-E398-4A72-8D3C-568C9922E089}"/>
              </a:ext>
            </a:extLst>
          </p:cNvPr>
          <p:cNvSpPr>
            <a:spLocks xmlns:a="http://schemas.openxmlformats.org/drawingml/2006/main" noGrp="1"/>
          </p:cNvSpPr>
          <p:nvPr/>
        </p:nvSpPr>
        <p:spPr>
          <a:xfrm xmlns:a="http://schemas.openxmlformats.org/drawingml/2006/main">
            <a:off x="19155966" y="40709850"/>
            <a:ext cx="2437209"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Release</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Candidate</a:t>
            </a:r>
          </a:p>
        </p:txBody>
      </p:sp>
      <p:sp>
        <p:nvSpPr>
          <p:cNvPr id="314" name="Timeline date 7">
            <a:extLst xmlns:a="http://schemas.openxmlformats.org/drawingml/2006/main">
              <a:ext uri="{FF2B5EF4-FFF2-40B4-BE49-F238E27FC236}">
                <a16:creationId xmlns:a16="http://schemas.microsoft.com/office/drawing/2014/main" id="{E3B7E2F3-7F55-45C5-94DF-1785CD682F6B}"/>
              </a:ext>
            </a:extLst>
          </p:cNvPr>
          <p:cNvSpPr>
            <a:spLocks xmlns:a="http://schemas.openxmlformats.org/drawingml/2006/main" noGrp="1"/>
          </p:cNvSpPr>
          <p:nvPr/>
        </p:nvSpPr>
        <p:spPr>
          <a:xfrm xmlns:a="http://schemas.openxmlformats.org/drawingml/2006/main">
            <a:off x="19155966" y="41395650"/>
            <a:ext cx="243720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75" b="0">
                <a:solidFill>
                  <a:srgbClr val="A4BAC8"/>
                </a:solidFill>
                <a:latin typeface="Segoe UI"/>
                <a:ea typeface="Segoe UI"/>
                <a:cs typeface="Segoe UI"/>
              </a:rPr>
              <a:t>2028 (planned)</a:t>
            </a:r>
          </a:p>
        </p:txBody>
      </p:sp>
      <p:sp>
        <p:nvSpPr>
          <p:cNvPr id="315" name="QR caption">
            <a:extLst xmlns:a="http://schemas.openxmlformats.org/drawingml/2006/main">
              <a:ext uri="{FF2B5EF4-FFF2-40B4-BE49-F238E27FC236}">
                <a16:creationId xmlns:a16="http://schemas.microsoft.com/office/drawing/2014/main" id="{44151A15-563D-4496-B43D-6DD885D9C23B}"/>
              </a:ext>
            </a:extLst>
          </p:cNvPr>
          <p:cNvSpPr>
            <a:spLocks xmlns:a="http://schemas.openxmlformats.org/drawingml/2006/main" noGrp="1"/>
          </p:cNvSpPr>
          <p:nvPr/>
        </p:nvSpPr>
        <p:spPr>
          <a:xfrm xmlns:a="http://schemas.openxmlformats.org/drawingml/2006/main">
            <a:off x="952500" y="41814750"/>
            <a:ext cx="2071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950" b="0">
                <a:solidFill>
                  <a:srgbClr val="E8EDF0"/>
                </a:solidFill>
                <a:latin typeface="Segoe UI"/>
                <a:ea typeface="Segoe UI"/>
                <a:cs typeface="Segoe UI"/>
              </a:defRPr>
            </a:pPr>
            <a:r>
              <a:rPr sz="1950" b="0">
                <a:solidFill>
                  <a:srgbClr val="F6C04E"/>
                </a:solidFill>
                <a:latin typeface="Segoe UI"/>
                <a:ea typeface="Segoe UI"/>
                <a:cs typeface="Segoe UI"/>
              </a:rPr>
              <a:t>Experience this poster as a live reactive program. Mech’s WebAssembly runtime supports the CPU and WGPU comparison online.</a:t>
            </a:r>
          </a:p>
        </p:txBody>
      </p:sp>
      <p:sp>
        <p:nvSpPr>
          <p:cNvPr id="319" name="Benchmark setup title">
            <a:extLst xmlns:a="http://schemas.openxmlformats.org/drawingml/2006/main">
              <a:ext uri="{FF2B5EF4-FFF2-40B4-BE49-F238E27FC236}">
                <a16:creationId xmlns:a16="http://schemas.microsoft.com/office/drawing/2014/main" id="{827A2F15-BF96-48B0-A5A2-6EEDB9ED9C23}"/>
              </a:ext>
            </a:extLst>
          </p:cNvPr>
          <p:cNvSpPr>
            <a:spLocks xmlns:a="http://schemas.openxmlformats.org/drawingml/2006/main" noGrp="1"/>
          </p:cNvSpPr>
          <p:nvPr/>
        </p:nvSpPr>
        <p:spPr>
          <a:xfrm xmlns:a="http://schemas.openxmlformats.org/drawingml/2006/main">
            <a:off x="3333750" y="42195750"/>
            <a:ext cx="304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950" b="1">
                <a:solidFill>
                  <a:srgbClr val="A4BAC8"/>
                </a:solidFill>
                <a:latin typeface="Fira Code"/>
                <a:ea typeface="Fira Code"/>
                <a:cs typeface="Fira Code"/>
              </a:defRPr>
            </a:pPr>
            <a:r>
              <a:rPr sz="1950" b="1">
                <a:solidFill>
                  <a:srgbClr val="A4BAC8"/>
                </a:solidFill>
                <a:latin typeface="Fira Code"/>
                <a:ea typeface="Fira Code"/>
                <a:cs typeface="Fira Code"/>
              </a:rPr>
              <a:t/>
            </a:r>
          </a:p>
        </p:txBody>
      </p:sp>
      <p:sp>
        <p:nvSpPr>
          <p:cNvPr id="320" name="Benchmark machine line">
            <a:extLst xmlns:a="http://schemas.openxmlformats.org/drawingml/2006/main">
              <a:ext uri="{FF2B5EF4-FFF2-40B4-BE49-F238E27FC236}">
                <a16:creationId xmlns:a16="http://schemas.microsoft.com/office/drawing/2014/main" id="{4EDBDB1B-3996-419A-A8DC-6AB5FF3EC34B}"/>
              </a:ext>
            </a:extLst>
          </p:cNvPr>
          <p:cNvSpPr>
            <a:spLocks xmlns:a="http://schemas.openxmlformats.org/drawingml/2006/main" noGrp="1"/>
          </p:cNvSpPr>
          <p:nvPr/>
        </p:nvSpPr>
        <p:spPr>
          <a:xfrm xmlns:a="http://schemas.openxmlformats.org/drawingml/2006/main">
            <a:off x="6572250" y="42195750"/>
            <a:ext cx="2019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0">
                <a:solidFill>
                  <a:srgbClr val="A4BAC8"/>
                </a:solidFill>
                <a:latin typeface="Segoe UI"/>
                <a:ea typeface="Segoe UI"/>
                <a:cs typeface="Segoe UI"/>
              </a:defRPr>
            </a:pPr>
            <a:r>
              <a:rPr sz="1725" b="0">
                <a:solidFill>
                  <a:srgbClr val="A4BAC8"/>
                </a:solidFill>
                <a:latin typeface="Segoe UI"/>
                <a:ea typeface="Segoe UI"/>
                <a:cs typeface="Segoe UI"/>
              </a:rPr>
              <a:t/>
            </a:r>
          </a:p>
        </p:txBody>
      </p:sp>
      <p:sp>
        <p:nvSpPr>
          <p:cNvPr id="321" name="Benchmark methods">
            <a:extLst xmlns:a="http://schemas.openxmlformats.org/drawingml/2006/main">
              <a:ext uri="{FF2B5EF4-FFF2-40B4-BE49-F238E27FC236}">
                <a16:creationId xmlns:a16="http://schemas.microsoft.com/office/drawing/2014/main" id="{422E08C7-5DA8-4CC4-9994-55137A1A0981}"/>
              </a:ext>
            </a:extLst>
          </p:cNvPr>
          <p:cNvSpPr>
            <a:spLocks xmlns:a="http://schemas.openxmlformats.org/drawingml/2006/main" noGrp="1"/>
          </p:cNvSpPr>
          <p:nvPr/>
        </p:nvSpPr>
        <p:spPr>
          <a:xfrm xmlns:a="http://schemas.openxmlformats.org/drawingml/2006/main">
            <a:off x="3333750" y="42195750"/>
            <a:ext cx="234315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500" b="0">
                <a:solidFill>
                  <a:srgbClr val="A4BAC8"/>
                </a:solidFill>
                <a:latin typeface="Segoe UI"/>
                <a:ea typeface="Segoe UI"/>
                <a:cs typeface="Segoe UI"/>
              </a:defRPr>
            </a:pPr>
            <a:r>
              <a:rPr sz="1500" b="0">
                <a:solidFill>
                  <a:srgbClr val="A4BAC8"/>
                </a:solidFill>
                <a:latin typeface="Segoe UI"/>
                <a:ea typeface="Segoe UI"/>
                <a:cs typeface="Segoe UI"/>
              </a:rPr>
              <a:t>Benchmark setup. Apple M1: 4P + 4E CPU, 8-core GPU, 8 GB, macOS 15.6.1. Charts: f32, 500,000 filters × 40 turns, n=10. Median ± MAD.</a:t>
            </a:r>
          </a:p>
          <a:p xmlns:a="http://schemas.openxmlformats.org/drawingml/2006/main">
            <a:pPr algn="l">
              <a:lnSpc>
                <a:spcPct val="106000"/>
              </a:lnSpc>
              <a:buNone/>
              <a:defRPr sz="1500" b="0">
                <a:solidFill>
                  <a:srgbClr val="A4BAC8"/>
                </a:solidFill>
                <a:latin typeface="Segoe UI"/>
                <a:ea typeface="Segoe UI"/>
                <a:cs typeface="Segoe UI"/>
              </a:defRPr>
            </a:pPr>
            <a:r>
              <a:rPr sz="1500" b="0">
                <a:solidFill>
                  <a:srgbClr val="A4BAC8"/>
                </a:solidFill>
                <a:latin typeface="Segoe UI"/>
                <a:ea typeface="Segoe UI"/>
                <a:cs typeface="Segoe UI"/>
              </a:rPr>
              <a:t>Rust 1.96.0-nightly ec818fda3 / LLVM 22.1.0, Cranelift 0.131.3. Julia 1.12.6. Mojo 1.1.0 / MAX 26.6.0. Futhark 0.27.1 / ISPC 1.31.0 / LLVM 22.1.8. Python 3.12.14 / NumPy 2.2.6 / Numba 0.61.2. Apple clang 17.0.0.</a:t>
            </a:r>
          </a:p>
          <a:p xmlns:a="http://schemas.openxmlformats.org/drawingml/2006/main">
            <a:pPr algn="l">
              <a:lnSpc>
                <a:spcPct val="106000"/>
              </a:lnSpc>
              <a:buNone/>
              <a:defRPr sz="1500" b="0">
                <a:solidFill>
                  <a:srgbClr val="A4BAC8"/>
                </a:solidFill>
                <a:latin typeface="Segoe UI"/>
                <a:ea typeface="Segoe UI"/>
                <a:cs typeface="Segoe UI"/>
              </a:defRPr>
            </a:pPr>
            <a:r>
              <a:rPr sz="1500" b="0">
                <a:solidFill>
                  <a:srgbClr val="A4BAC8"/>
                </a:solidFill>
                <a:latin typeface="Segoe UI"/>
                <a:ea typeface="Segoe UI"/>
                <a:cs typeface="Segoe UI"/>
              </a:rPr>
              <a:t>Mech v0.4 development (package 0.3.6). Backend pairs f4b69052c, CPU eedc1c75b, dylibs dab98af1d. iros-workshop-benchmarks, benchmarks/iros-2026.</a:t>
            </a:r>
          </a:p>
          <a:p xmlns:a="http://schemas.openxmlformats.org/drawingml/2006/main">
            <a:pPr algn="l">
              <a:lnSpc>
                <a:spcPct val="106000"/>
              </a:lnSpc>
              <a:buNone/>
              <a:defRPr sz="1500" b="0">
                <a:solidFill>
                  <a:srgbClr val="A4BAC8"/>
                </a:solidFill>
                <a:latin typeface="Segoe UI"/>
                <a:ea typeface="Segoe UI"/>
                <a:cs typeface="Segoe UI"/>
              </a:defRPr>
            </a:pPr>
            <a:r>
              <a:rPr sz="1500" b="0">
                <a:solidFill>
                  <a:srgbClr val="A4BAC8"/>
                </a:solidFill>
                <a:latin typeface="Segoe UI"/>
                <a:ea typeface="Segoe UI"/>
                <a:cs typeface="Segoe UI"/>
              </a:rPr>
              <a:t>† Dylib table: minimal ABI loader, 1 thread, 10,000 filters × 200 turns, n=7. RSS covers the process. Compile/load/warmup excluded. File sizes reflect linker/segment layout. The new embedding wrapper is not timed.</a:t>
            </a:r>
          </a:p>
          <a:p xmlns:a="http://schemas.openxmlformats.org/drawingml/2006/main">
            <a:pPr algn="l">
              <a:lnSpc>
                <a:spcPct val="106000"/>
              </a:lnSpc>
              <a:buNone/>
              <a:defRPr sz="1500" b="0">
                <a:solidFill>
                  <a:srgbClr val="A4BAC8"/>
                </a:solidFill>
                <a:latin typeface="Segoe UI"/>
                <a:ea typeface="Segoe UI"/>
                <a:cs typeface="Segoe UI"/>
              </a:defRPr>
            </a:pPr>
            <a:r>
              <a:rPr sz="1500" b="0">
                <a:solidFill>
                  <a:srgbClr val="A4BAC8"/>
                </a:solidFill>
                <a:latin typeface="Segoe UI"/>
                <a:ea typeface="Segoe UI"/>
                <a:cs typeface="Segoe UI"/>
              </a:rPr>
              <a:t>‡ SIMD JIT and AOT share the Cranelift pipeline. JIT compiles on demand. AOT emits a library ahead of deployment, allowing the host to omit the compiler.</a:t>
            </a:r>
          </a:p>
          <a:p xmlns:a="http://schemas.openxmlformats.org/drawingml/2006/main">
            <a:pPr algn="l">
              <a:lnSpc>
                <a:spcPct val="106000"/>
              </a:lnSpc>
              <a:buNone/>
              <a:defRPr sz="1500" b="0">
                <a:solidFill>
                  <a:srgbClr val="A4BAC8"/>
                </a:solidFill>
                <a:latin typeface="Segoe UI"/>
                <a:ea typeface="Segoe UI"/>
                <a:cs typeface="Segoe UI"/>
              </a:defRPr>
            </a:pPr>
            <a:r>
              <a:rPr sz="1500" b="0">
                <a:solidFill>
                  <a:srgbClr val="A4BAC8"/>
                </a:solidFill>
                <a:latin typeface="Segoe UI"/>
                <a:ea typeface="Segoe UI"/>
                <a:cs typeface="Segoe UI"/>
              </a:rPr>
              <a:t>[1] Thrun, Burgard &amp; Fox. Probabilistic Robotics. MIT Press, 2005. §7.4.2, Table 7.2 (adapted).</a:t>
            </a:r>
          </a:p>
        </p:txBody>
      </p:sp>
      <p:sp>
        <p:nvSpPr>
          <p:cNvPr id="322" name="EKF reference">
            <a:extLst xmlns:a="http://schemas.openxmlformats.org/drawingml/2006/main">
              <a:ext uri="{FF2B5EF4-FFF2-40B4-BE49-F238E27FC236}">
                <a16:creationId xmlns:a16="http://schemas.microsoft.com/office/drawing/2014/main" id="{940591A9-EF6F-45A6-AF8E-2F11A214ED58}"/>
              </a:ext>
            </a:extLst>
          </p:cNvPr>
          <p:cNvSpPr>
            <a:spLocks xmlns:a="http://schemas.openxmlformats.org/drawingml/2006/main" noGrp="1"/>
          </p:cNvSpPr>
          <p:nvPr/>
        </p:nvSpPr>
        <p:spPr>
          <a:xfrm xmlns:a="http://schemas.openxmlformats.org/drawingml/2006/main">
            <a:off x="3333750" y="43462575"/>
            <a:ext cx="2343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0">
                <a:solidFill>
                  <a:srgbClr val="A4BAC8"/>
                </a:solidFill>
                <a:latin typeface="Segoe UI"/>
                <a:ea typeface="Segoe UI"/>
                <a:cs typeface="Segoe UI"/>
              </a:defRPr>
            </a:pPr>
            <a:r>
              <a:rPr sz="1575" b="0">
                <a:solidFill>
                  <a:srgbClr val="A4BAC8"/>
                </a:solidFill>
                <a:latin typeface="Segoe UI"/>
                <a:ea typeface="Segoe UI"/>
                <a:cs typeface="Segoe UI"/>
              </a:rPr>
              <a:t/>
            </a:r>
          </a:p>
        </p:txBody>
      </p:sp>
      <p:sp>
        <p:nvSpPr>
          <p:cNvPr id="215" name="Resident computation">
            <a:extLst xmlns:a="http://schemas.openxmlformats.org/drawingml/2006/main">
              <a:ext uri="{FF2B5EF4-FFF2-40B4-BE49-F238E27FC236}">
                <a16:creationId xmlns:a16="http://schemas.microsoft.com/office/drawing/2014/main" id="{414F868C-C761-458D-B319-1D57894EFCEF}"/>
              </a:ext>
            </a:extLst>
          </p:cNvPr>
          <p:cNvSpPr>
            <a:spLocks xmlns:a="http://schemas.openxmlformats.org/drawingml/2006/main" noGrp="1"/>
          </p:cNvSpPr>
          <p:nvPr/>
        </p:nvSpPr>
        <p:spPr>
          <a:xfrm xmlns:a="http://schemas.openxmlformats.org/drawingml/2006/main">
            <a:off x="4810125" y="24669750"/>
            <a:ext cx="5810250" cy="2524125"/>
          </a:xfrm>
          <a:prstGeom xmlns:a="http://schemas.openxmlformats.org/drawingml/2006/main" prst="rect">
            <a:avLst/>
          </a:prstGeom>
          <a:solidFill xmlns:a="http://schemas.openxmlformats.org/drawingml/2006/main">
            <a:srgbClr val="101B20"/>
          </a:solidFill>
          <a:ln xmlns:a="http://schemas.openxmlformats.org/drawingml/2006/main" w="19050">
            <a:solidFill>
              <a:srgbClr val="CD8DCA"/>
            </a:solidFill>
          </a:ln>
        </p:spPr>
      </p:sp>
      <p:cxnSp>
        <p:nvCxnSpPr>
          <p:cNvPr id="756" name="Build source to compiler"/>
          <p:cNvCxnSpPr>
            <a:stCxn xmlns:a="http://schemas.openxmlformats.org/drawingml/2006/main" id="196" idx="3"/>
            <a:endCxn xmlns:a="http://schemas.openxmlformats.org/drawingml/2006/main" id="197" idx="1"/>
          </p:cNvCxnSpPr>
          <p:nvPr/>
        </p:nvCxnSpPr>
        <p:spPr>
          <a:xfrm xmlns:a="http://schemas.openxmlformats.org/drawingml/2006/main">
            <a:off x="3619500" y="23217188"/>
            <a:ext cx="666750" cy="0"/>
          </a:xfrm>
          <a:prstGeom xmlns:a="http://schemas.openxmlformats.org/drawingml/2006/main" prst="straightConnector1">
            <a:avLst/>
          </a:prstGeom>
          <a:ln xmlns:a="http://schemas.openxmlformats.org/drawingml/2006/main" w="28575">
            <a:solidFill>
              <a:srgbClr val="7FC7FF"/>
            </a:solidFill>
            <a:tailEnd type="triangle" w="med" len="med"/>
          </a:ln>
        </p:spPr>
      </p:cxnSp>
      <p:cxnSp>
        <p:nvCxnSpPr>
          <p:cNvPr id="757" name="Compiler to program artifact"/>
          <p:cNvCxnSpPr>
            <a:stCxn xmlns:a="http://schemas.openxmlformats.org/drawingml/2006/main" id="197" idx="3"/>
            <a:endCxn xmlns:a="http://schemas.openxmlformats.org/drawingml/2006/main" id="198" idx="1"/>
          </p:cNvCxnSpPr>
          <p:nvPr/>
        </p:nvCxnSpPr>
        <p:spPr>
          <a:xfrm xmlns:a="http://schemas.openxmlformats.org/drawingml/2006/main">
            <a:off x="7524750" y="23217188"/>
            <a:ext cx="381000" cy="1"/>
          </a:xfrm>
          <a:prstGeom xmlns:a="http://schemas.openxmlformats.org/drawingml/2006/main" prst="straightConnector1">
            <a:avLst/>
          </a:prstGeom>
          <a:ln xmlns:a="http://schemas.openxmlformats.org/drawingml/2006/main" w="38100">
            <a:solidFill>
              <a:srgbClr val="CD8DCA"/>
            </a:solidFill>
            <a:tailEnd type="triangle" w="med" len="med"/>
          </a:ln>
        </p:spPr>
      </p:cxnSp>
      <p:cxnSp>
        <p:nvCxnSpPr>
          <p:cNvPr id="758" name="Artifact to activation"/>
          <p:cNvCxnSpPr>
            <a:stCxn xmlns:a="http://schemas.openxmlformats.org/drawingml/2006/main" id="198" idx="3"/>
            <a:endCxn xmlns:a="http://schemas.openxmlformats.org/drawingml/2006/main" id="199" idx="1"/>
          </p:cNvCxnSpPr>
          <p:nvPr/>
        </p:nvCxnSpPr>
        <p:spPr>
          <a:xfrm xmlns:a="http://schemas.openxmlformats.org/drawingml/2006/main" flipV="1">
            <a:off x="12382500" y="23217188"/>
            <a:ext cx="952500" cy="1"/>
          </a:xfrm>
          <a:prstGeom xmlns:a="http://schemas.openxmlformats.org/drawingml/2006/main" prst="straightConnector1">
            <a:avLst/>
          </a:prstGeom>
          <a:ln xmlns:a="http://schemas.openxmlformats.org/drawingml/2006/main" w="38100">
            <a:solidFill>
              <a:srgbClr val="CD8DCA"/>
            </a:solidFill>
            <a:tailEnd type="triangle" w="med" len="med"/>
          </a:ln>
        </p:spPr>
      </p:cxnSp>
      <p:cxnSp>
        <p:nvCxnSpPr>
          <p:cNvPr id="759" name="Activation to resident instance"/>
          <p:cNvCxnSpPr>
            <a:stCxn xmlns:a="http://schemas.openxmlformats.org/drawingml/2006/main" id="199" idx="3"/>
            <a:endCxn xmlns:a="http://schemas.openxmlformats.org/drawingml/2006/main" id="200" idx="1"/>
          </p:cNvCxnSpPr>
          <p:nvPr/>
        </p:nvCxnSpPr>
        <p:spPr>
          <a:xfrm xmlns:a="http://schemas.openxmlformats.org/drawingml/2006/main">
            <a:off x="17335500" y="23217188"/>
            <a:ext cx="666750" cy="0"/>
          </a:xfrm>
          <a:prstGeom xmlns:a="http://schemas.openxmlformats.org/drawingml/2006/main" prst="straightConnector1">
            <a:avLst/>
          </a:prstGeom>
          <a:ln xmlns:a="http://schemas.openxmlformats.org/drawingml/2006/main" w="28575">
            <a:solidFill>
              <a:srgbClr val="33AB94"/>
            </a:solidFill>
            <a:tailEnd type="triangle" w="med" len="med"/>
          </a:ln>
        </p:spPr>
      </p:cxnSp>
      <p:cxnSp>
        <p:nvCxnSpPr>
          <p:cNvPr id="760" name="Artifact encode and decode"/>
          <p:cNvCxnSpPr>
            <a:stCxn xmlns:a="http://schemas.openxmlformats.org/drawingml/2006/main" id="193" idx="2"/>
            <a:endCxn xmlns:a="http://schemas.openxmlformats.org/drawingml/2006/main" id="198" idx="0"/>
          </p:cNvCxnSpPr>
          <p:nvPr/>
        </p:nvCxnSpPr>
        <p:spPr>
          <a:xfrm xmlns:a="http://schemas.openxmlformats.org/drawingml/2006/main">
            <a:off x="10144125" y="22240875"/>
            <a:ext cx="0" cy="357188"/>
          </a:xfrm>
          <a:prstGeom xmlns:a="http://schemas.openxmlformats.org/drawingml/2006/main" prst="straightConnector1">
            <a:avLst/>
          </a:prstGeom>
          <a:ln xmlns:a="http://schemas.openxmlformats.org/drawingml/2006/main" w="28575">
            <a:solidFill>
              <a:srgbClr val="CD8DCA"/>
            </a:solidFill>
            <a:headEnd type="triangle" w="med" len="med"/>
            <a:tailEnd type="triangle" w="med" len="med"/>
          </a:ln>
        </p:spPr>
      </p:cxnSp>
      <p:cxnSp>
        <p:nvCxnSpPr>
          <p:cNvPr id="761" name="Configuration to activation"/>
          <p:cNvCxnSpPr>
            <a:stCxn xmlns:a="http://schemas.openxmlformats.org/drawingml/2006/main" id="194" idx="2"/>
            <a:endCxn xmlns:a="http://schemas.openxmlformats.org/drawingml/2006/main" id="199" idx="0"/>
          </p:cNvCxnSpPr>
          <p:nvPr/>
        </p:nvCxnSpPr>
        <p:spPr>
          <a:xfrm xmlns:a="http://schemas.openxmlformats.org/drawingml/2006/main">
            <a:off x="15335250" y="22240875"/>
            <a:ext cx="0" cy="571500"/>
          </a:xfrm>
          <a:prstGeom xmlns:a="http://schemas.openxmlformats.org/drawingml/2006/main" prst="straightConnector1">
            <a:avLst/>
          </a:prstGeom>
          <a:ln xmlns:a="http://schemas.openxmlformats.org/drawingml/2006/main" w="28575">
            <a:solidFill>
              <a:srgbClr val="7FC7FF"/>
            </a:solidFill>
            <a:tailEnd type="triangle" w="med" len="med"/>
          </a:ln>
        </p:spPr>
      </p:cxnSp>
      <p:cxnSp>
        <p:nvCxnSpPr>
          <p:cNvPr id="770" name="EKF prediction to correction"/>
          <p:cNvCxnSpPr>
            <a:stCxn xmlns:a="http://schemas.openxmlformats.org/drawingml/2006/main" id="217" idx="2"/>
            <a:endCxn xmlns:a="http://schemas.openxmlformats.org/drawingml/2006/main" id="218" idx="0"/>
          </p:cNvCxnSpPr>
          <p:nvPr/>
        </p:nvCxnSpPr>
        <p:spPr>
          <a:xfrm xmlns:a="http://schemas.openxmlformats.org/drawingml/2006/main">
            <a:off x="7715250" y="25736550"/>
            <a:ext cx="0" cy="171450"/>
          </a:xfrm>
          <a:prstGeom xmlns:a="http://schemas.openxmlformats.org/drawingml/2006/main" prst="straightConnector1">
            <a:avLst/>
          </a:prstGeom>
          <a:ln xmlns:a="http://schemas.openxmlformats.org/drawingml/2006/main" w="23813">
            <a:solidFill>
              <a:srgbClr val="A4BAC8"/>
            </a:solidFill>
            <a:tailEnd type="triangle" w="med" len="med"/>
          </a:ln>
        </p:spPr>
      </p:cxnSp>
      <p:cxnSp>
        <p:nvCxnSpPr>
          <p:cNvPr id="771" name="Correction to pose mapping"/>
          <p:cNvCxnSpPr>
            <a:stCxn xmlns:a="http://schemas.openxmlformats.org/drawingml/2006/main" id="218" idx="2"/>
            <a:endCxn xmlns:a="http://schemas.openxmlformats.org/drawingml/2006/main" id="219" idx="0"/>
          </p:cNvCxnSpPr>
          <p:nvPr/>
        </p:nvCxnSpPr>
        <p:spPr>
          <a:xfrm xmlns:a="http://schemas.openxmlformats.org/drawingml/2006/main" rot="5400000">
            <a:off x="6869906" y="25796081"/>
            <a:ext cx="333375" cy="1357313"/>
          </a:xfrm>
          <a:prstGeom xmlns:a="http://schemas.openxmlformats.org/drawingml/2006/main" prst="curvedConnector3">
            <a:avLst>
              <a:gd name="adj1" fmla="val 50000"/>
            </a:avLst>
          </a:prstGeom>
          <a:ln xmlns:a="http://schemas.openxmlformats.org/drawingml/2006/main" w="23813">
            <a:solidFill>
              <a:srgbClr val="A4BAC8"/>
            </a:solidFill>
            <a:tailEnd type="triangle" w="med" len="med"/>
          </a:ln>
        </p:spPr>
      </p:cxnSp>
      <p:cxnSp>
        <p:nvCxnSpPr>
          <p:cNvPr id="772" name="Correction to covariance mapping"/>
          <p:cNvCxnSpPr>
            <a:stCxn xmlns:a="http://schemas.openxmlformats.org/drawingml/2006/main" id="218" idx="2"/>
            <a:endCxn xmlns:a="http://schemas.openxmlformats.org/drawingml/2006/main" id="220" idx="0"/>
          </p:cNvCxnSpPr>
          <p:nvPr/>
        </p:nvCxnSpPr>
        <p:spPr>
          <a:xfrm xmlns:a="http://schemas.openxmlformats.org/drawingml/2006/main" rot="16200000" flipH="1">
            <a:off x="8227219" y="25796081"/>
            <a:ext cx="333375" cy="1357313"/>
          </a:xfrm>
          <a:prstGeom xmlns:a="http://schemas.openxmlformats.org/drawingml/2006/main" prst="curvedConnector3">
            <a:avLst>
              <a:gd name="adj1" fmla="val 50000"/>
            </a:avLst>
          </a:prstGeom>
          <a:ln xmlns:a="http://schemas.openxmlformats.org/drawingml/2006/main" w="23813">
            <a:solidFill>
              <a:srgbClr val="A4BAC8"/>
            </a:solidFill>
            <a:tailEnd type="triangle" w="med" len="med"/>
          </a:ln>
        </p:spPr>
      </p:cxnSp>
      <p:cxnSp>
        <p:nvCxnSpPr>
          <p:cNvPr id="773" name="Host drivers to resident computation"/>
          <p:cNvCxnSpPr>
            <a:stCxn xmlns:a="http://schemas.openxmlformats.org/drawingml/2006/main" id="213" idx="3"/>
            <a:endCxn xmlns:a="http://schemas.openxmlformats.org/drawingml/2006/main" id="215" idx="1"/>
          </p:cNvCxnSpPr>
          <p:nvPr/>
        </p:nvCxnSpPr>
        <p:spPr>
          <a:xfrm xmlns:a="http://schemas.openxmlformats.org/drawingml/2006/main" flipV="1">
            <a:off x="4000500" y="25931813"/>
            <a:ext cx="809625" cy="1"/>
          </a:xfrm>
          <a:prstGeom xmlns:a="http://schemas.openxmlformats.org/drawingml/2006/main" prst="straightConnector1">
            <a:avLst/>
          </a:prstGeom>
          <a:ln xmlns:a="http://schemas.openxmlformats.org/drawingml/2006/main" w="28575">
            <a:solidFill>
              <a:srgbClr val="7FC7FF"/>
            </a:solidFill>
            <a:tailEnd type="triangle" w="med" len="med"/>
          </a:ln>
        </p:spPr>
      </p:cxnSp>
      <p:cxnSp>
        <p:nvCxnSpPr>
          <p:cNvPr id="774" name="Resident computation to validation"/>
          <p:cNvCxnSpPr>
            <a:stCxn xmlns:a="http://schemas.openxmlformats.org/drawingml/2006/main" id="215" idx="3"/>
            <a:endCxn xmlns:a="http://schemas.openxmlformats.org/drawingml/2006/main" id="224" idx="1"/>
          </p:cNvCxnSpPr>
          <p:nvPr/>
        </p:nvCxnSpPr>
        <p:spPr>
          <a:xfrm xmlns:a="http://schemas.openxmlformats.org/drawingml/2006/main">
            <a:off x="10620375" y="25931813"/>
            <a:ext cx="762000" cy="1"/>
          </a:xfrm>
          <a:prstGeom xmlns:a="http://schemas.openxmlformats.org/drawingml/2006/main" prst="straightConnector1">
            <a:avLst/>
          </a:prstGeom>
          <a:ln xmlns:a="http://schemas.openxmlformats.org/drawingml/2006/main" w="38100">
            <a:solidFill>
              <a:srgbClr val="CD8DCA"/>
            </a:solidFill>
            <a:tailEnd type="triangle" w="med" len="med"/>
          </a:ln>
        </p:spPr>
      </p:cxnSp>
      <p:cxnSp>
        <p:nvCxnSpPr>
          <p:cNvPr id="775" name="Accepted candidate to publication"/>
          <p:cNvCxnSpPr>
            <a:stCxn xmlns:a="http://schemas.openxmlformats.org/drawingml/2006/main" id="224" idx="3"/>
            <a:endCxn xmlns:a="http://schemas.openxmlformats.org/drawingml/2006/main" id="225" idx="1"/>
          </p:cNvCxnSpPr>
          <p:nvPr/>
        </p:nvCxnSpPr>
        <p:spPr>
          <a:xfrm xmlns:a="http://schemas.openxmlformats.org/drawingml/2006/main">
            <a:off x="13906500" y="25931813"/>
            <a:ext cx="857250" cy="0"/>
          </a:xfrm>
          <a:prstGeom xmlns:a="http://schemas.openxmlformats.org/drawingml/2006/main" prst="straightConnector1">
            <a:avLst/>
          </a:prstGeom>
          <a:ln xmlns:a="http://schemas.openxmlformats.org/drawingml/2006/main" w="38100">
            <a:solidFill>
              <a:srgbClr val="33AB94"/>
            </a:solidFill>
            <a:tailEnd type="triangle" w="med" len="med"/>
          </a:ln>
        </p:spPr>
      </p:cxnSp>
      <p:cxnSp>
        <p:nvCxnSpPr>
          <p:cNvPr id="776" name="Rejected candidate"/>
          <p:cNvCxnSpPr>
            <a:stCxn xmlns:a="http://schemas.openxmlformats.org/drawingml/2006/main" id="224" idx="3"/>
            <a:endCxn xmlns:a="http://schemas.openxmlformats.org/drawingml/2006/main" id="230" idx="1"/>
          </p:cNvCxnSpPr>
          <p:nvPr/>
        </p:nvCxnSpPr>
        <p:spPr>
          <a:xfrm xmlns:a="http://schemas.openxmlformats.org/drawingml/2006/main" rot="16200000" flipH="1">
            <a:off x="13769578" y="26068735"/>
            <a:ext cx="1131094" cy="857250"/>
          </a:xfrm>
          <a:prstGeom xmlns:a="http://schemas.openxmlformats.org/drawingml/2006/main" prst="curvedConnector3">
            <a:avLst>
              <a:gd name="adj1" fmla="val 50000"/>
            </a:avLst>
          </a:prstGeom>
          <a:ln xmlns:a="http://schemas.openxmlformats.org/drawingml/2006/main" w="28575">
            <a:solidFill>
              <a:srgbClr val="CE7979"/>
            </a:solidFill>
            <a:tailEnd type="triangle" w="med" len="med"/>
          </a:ln>
        </p:spPr>
      </p:cxnSp>
      <p:cxnSp>
        <p:nvCxnSpPr>
          <p:cNvPr id="777" name="Publication to numeric state"/>
          <p:cNvCxnSpPr>
            <a:stCxn xmlns:a="http://schemas.openxmlformats.org/drawingml/2006/main" id="225" idx="3"/>
            <a:endCxn xmlns:a="http://schemas.openxmlformats.org/drawingml/2006/main" id="233" idx="1"/>
          </p:cNvCxnSpPr>
          <p:nvPr/>
        </p:nvCxnSpPr>
        <p:spPr>
          <a:xfrm xmlns:a="http://schemas.openxmlformats.org/drawingml/2006/main" rot="5400000">
            <a:off x="17499806" y="25334119"/>
            <a:ext cx="528638" cy="666750"/>
          </a:xfrm>
          <a:prstGeom xmlns:a="http://schemas.openxmlformats.org/drawingml/2006/main" prst="curvedConnector3">
            <a:avLst>
              <a:gd name="adj1" fmla="val 50000"/>
            </a:avLst>
          </a:prstGeom>
          <a:ln xmlns:a="http://schemas.openxmlformats.org/drawingml/2006/main" w="28575">
            <a:solidFill>
              <a:srgbClr val="33AB94"/>
            </a:solidFill>
            <a:tailEnd type="triangle" w="med" len="med"/>
          </a:ln>
        </p:spPr>
      </p:cxnSp>
      <p:cxnSp>
        <p:nvCxnSpPr>
          <p:cNvPr id="778" name="Publication to SVG output"/>
          <p:cNvCxnSpPr>
            <a:stCxn xmlns:a="http://schemas.openxmlformats.org/drawingml/2006/main" id="225" idx="3"/>
            <a:endCxn xmlns:a="http://schemas.openxmlformats.org/drawingml/2006/main" id="234" idx="1"/>
          </p:cNvCxnSpPr>
          <p:nvPr/>
        </p:nvCxnSpPr>
        <p:spPr>
          <a:xfrm xmlns:a="http://schemas.openxmlformats.org/drawingml/2006/main" rot="16200000" flipH="1">
            <a:off x="17247394" y="26115169"/>
            <a:ext cx="1033462" cy="666750"/>
          </a:xfrm>
          <a:prstGeom xmlns:a="http://schemas.openxmlformats.org/drawingml/2006/main" prst="curvedConnector3">
            <a:avLst>
              <a:gd name="adj1" fmla="val 50000"/>
            </a:avLst>
          </a:prstGeom>
          <a:ln xmlns:a="http://schemas.openxmlformats.org/drawingml/2006/main" w="28575">
            <a:solidFill>
              <a:srgbClr val="33AB94"/>
            </a:solidFill>
            <a:tailEnd type="triangle" w="med" len="med"/>
          </a:ln>
        </p:spPr>
      </p:cxnSp>
      <p:sp>
        <p:nvSpPr>
          <p:cNvPr id="193" name="Serialized program input">
            <a:extLst xmlns:a="http://schemas.openxmlformats.org/drawingml/2006/main">
              <a:ext uri="{FF2B5EF4-FFF2-40B4-BE49-F238E27FC236}">
                <a16:creationId xmlns:a16="http://schemas.microsoft.com/office/drawing/2014/main" id="{77C647FD-16E0-4155-B09C-A8E7C7FE38E5}"/>
              </a:ext>
            </a:extLst>
          </p:cNvPr>
          <p:cNvSpPr>
            <a:spLocks xmlns:a="http://schemas.openxmlformats.org/drawingml/2006/main" noGrp="1"/>
          </p:cNvSpPr>
          <p:nvPr/>
        </p:nvSpPr>
        <p:spPr>
          <a:xfrm xmlns:a="http://schemas.openxmlformats.org/drawingml/2006/main">
            <a:off x="8191500" y="21669375"/>
            <a:ext cx="3905250" cy="571500"/>
          </a:xfrm>
          <a:prstGeom xmlns:a="http://schemas.openxmlformats.org/drawingml/2006/main" prst="rect">
            <a:avLst/>
          </a:prstGeom>
          <a:solidFill xmlns:a="http://schemas.openxmlformats.org/drawingml/2006/main">
            <a:srgbClr val="101B20"/>
          </a:solidFill>
          <a:ln xmlns:a="http://schemas.openxmlformats.org/drawingml/2006/main" w="19050">
            <a:solidFill>
              <a:srgbClr val="CD8DCA"/>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1725">
                <a:solidFill>
                  <a:srgbClr val="E8EDF0"/>
                </a:solidFill>
                <a:latin typeface="Segoe UI"/>
                <a:ea typeface="Segoe UI"/>
                <a:cs typeface="Segoe UI"/>
              </a:rPr>
              <a:t>program.mecb</a:t>
            </a:r>
          </a:p>
          <a:p xmlns:a="http://schemas.openxmlformats.org/drawingml/2006/main">
            <a:pPr algn="ctr">
              <a:buNone/>
              <a:defRPr sz="2400">
                <a:solidFill>
                  <a:srgbClr val="E8EDF0"/>
                </a:solidFill>
                <a:latin typeface="Segoe UI"/>
                <a:ea typeface="Segoe UI"/>
                <a:cs typeface="Segoe UI"/>
              </a:defRPr>
            </a:pPr>
            <a:r>
              <a:rPr sz="1725">
                <a:solidFill>
                  <a:srgbClr val="E8EDF0"/>
                </a:solidFill>
                <a:latin typeface="Segoe UI"/>
                <a:ea typeface="Segoe UI"/>
                <a:cs typeface="Segoe UI"/>
              </a:rPr>
              <a:t>Serialized artifact</a:t>
            </a:r>
          </a:p>
        </p:txBody>
      </p:sp>
      <p:sp>
        <p:nvSpPr>
          <p:cNvPr id="196" name="Reactive source">
            <a:extLst xmlns:a="http://schemas.openxmlformats.org/drawingml/2006/main">
              <a:ext uri="{FF2B5EF4-FFF2-40B4-BE49-F238E27FC236}">
                <a16:creationId xmlns:a16="http://schemas.microsoft.com/office/drawing/2014/main" id="{CB8DDA00-B87B-4588-81B7-D74B128558C0}"/>
              </a:ext>
            </a:extLst>
          </p:cNvPr>
          <p:cNvSpPr>
            <a:spLocks xmlns:a="http://schemas.openxmlformats.org/drawingml/2006/main" noGrp="1"/>
          </p:cNvSpPr>
          <p:nvPr/>
        </p:nvSpPr>
        <p:spPr>
          <a:xfrm xmlns:a="http://schemas.openxmlformats.org/drawingml/2006/main">
            <a:off x="952500" y="22812375"/>
            <a:ext cx="2667000" cy="809625"/>
          </a:xfrm>
          <a:prstGeom xmlns:a="http://schemas.openxmlformats.org/drawingml/2006/main" prst="rect">
            <a:avLst/>
          </a:prstGeom>
          <a:solidFill xmlns:a="http://schemas.openxmlformats.org/drawingml/2006/main">
            <a:srgbClr val="101B20"/>
          </a:solidFill>
          <a:ln xmlns:a="http://schemas.openxmlformats.org/drawingml/2006/main" w="19050">
            <a:solidFill>
              <a:srgbClr val="7FC7FF"/>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ekf.mec</a:t>
            </a:r>
          </a:p>
        </p:txBody>
      </p:sp>
      <p:sp>
        <p:nvSpPr>
          <p:cNvPr id="197" name="Reactive compile">
            <a:extLst xmlns:a="http://schemas.openxmlformats.org/drawingml/2006/main">
              <a:ext uri="{FF2B5EF4-FFF2-40B4-BE49-F238E27FC236}">
                <a16:creationId xmlns:a16="http://schemas.microsoft.com/office/drawing/2014/main" id="{A33BFF48-2452-43EB-957F-4704069E8CB9}"/>
              </a:ext>
            </a:extLst>
          </p:cNvPr>
          <p:cNvSpPr>
            <a:spLocks xmlns:a="http://schemas.openxmlformats.org/drawingml/2006/main" noGrp="1"/>
          </p:cNvSpPr>
          <p:nvPr/>
        </p:nvSpPr>
        <p:spPr>
          <a:xfrm xmlns:a="http://schemas.openxmlformats.org/drawingml/2006/main">
            <a:off x="4286250" y="22812375"/>
            <a:ext cx="3238500" cy="809625"/>
          </a:xfrm>
          <a:prstGeom xmlns:a="http://schemas.openxmlformats.org/drawingml/2006/main" prst="rect">
            <a:avLst/>
          </a:prstGeom>
          <a:solidFill xmlns:a="http://schemas.openxmlformats.org/drawingml/2006/main">
            <a:srgbClr val="101B20"/>
          </a:solidFill>
          <a:ln xmlns:a="http://schemas.openxmlformats.org/drawingml/2006/main" w="19050">
            <a:solidFill>
              <a:srgbClr val="CD8DCA"/>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Mech compiler</a:t>
            </a:r>
          </a:p>
        </p:txBody>
      </p:sp>
      <p:sp>
        <p:nvSpPr>
          <p:cNvPr id="198" name="Program artifact">
            <a:extLst xmlns:a="http://schemas.openxmlformats.org/drawingml/2006/main">
              <a:ext uri="{FF2B5EF4-FFF2-40B4-BE49-F238E27FC236}">
                <a16:creationId xmlns:a16="http://schemas.microsoft.com/office/drawing/2014/main" id="{8CA2152C-95F2-466A-86E5-B9B757CC1BC4}"/>
              </a:ext>
            </a:extLst>
          </p:cNvPr>
          <p:cNvSpPr>
            <a:spLocks xmlns:a="http://schemas.openxmlformats.org/drawingml/2006/main" noGrp="1"/>
          </p:cNvSpPr>
          <p:nvPr/>
        </p:nvSpPr>
        <p:spPr>
          <a:xfrm xmlns:a="http://schemas.openxmlformats.org/drawingml/2006/main">
            <a:off x="7905750" y="22598063"/>
            <a:ext cx="4476750" cy="1238250"/>
          </a:xfrm>
          <a:prstGeom xmlns:a="http://schemas.openxmlformats.org/drawingml/2006/main" prst="rect">
            <a:avLst/>
          </a:prstGeom>
          <a:solidFill xmlns:a="http://schemas.openxmlformats.org/drawingml/2006/main">
            <a:srgbClr val="231D2B"/>
          </a:solidFill>
          <a:ln xmlns:a="http://schemas.openxmlformats.org/drawingml/2006/main" w="47625">
            <a:solidFill>
              <a:srgbClr val="CD8DCA"/>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700" b="1">
                <a:solidFill>
                  <a:srgbClr val="E8EDF0"/>
                </a:solidFill>
                <a:latin typeface="Segoe UI"/>
                <a:ea typeface="Segoe UI"/>
                <a:cs typeface="Segoe UI"/>
              </a:rPr>
              <a:t>Program Artifact</a:t>
            </a:r>
          </a:p>
          <a:p xmlns:a="http://schemas.openxmlformats.org/drawingml/2006/main">
            <a:pPr algn="ctr">
              <a:buNone/>
              <a:defRPr sz="2400">
                <a:solidFill>
                  <a:srgbClr val="E8EDF0"/>
                </a:solidFill>
                <a:latin typeface="Segoe UI"/>
                <a:ea typeface="Segoe UI"/>
                <a:cs typeface="Segoe UI"/>
              </a:defRPr>
            </a:pPr>
            <a:r>
              <a:rPr sz="2700" b="1">
                <a:solidFill>
                  <a:srgbClr val="E8EDF0"/>
                </a:solidFill>
                <a:latin typeface="Segoe UI"/>
                <a:ea typeface="Segoe UI"/>
                <a:cs typeface="Segoe UI"/>
              </a:rPr>
              <a:t>(typed dataflow graph)</a:t>
            </a:r>
          </a:p>
        </p:txBody>
      </p:sp>
      <p:sp>
        <p:nvSpPr>
          <p:cNvPr id="199" name="Reactive activation">
            <a:extLst xmlns:a="http://schemas.openxmlformats.org/drawingml/2006/main">
              <a:ext uri="{FF2B5EF4-FFF2-40B4-BE49-F238E27FC236}">
                <a16:creationId xmlns:a16="http://schemas.microsoft.com/office/drawing/2014/main" id="{26B92BC5-18E7-432F-B930-DC4AE6F91BFA}"/>
              </a:ext>
            </a:extLst>
          </p:cNvPr>
          <p:cNvSpPr>
            <a:spLocks xmlns:a="http://schemas.openxmlformats.org/drawingml/2006/main" noGrp="1"/>
          </p:cNvSpPr>
          <p:nvPr/>
        </p:nvSpPr>
        <p:spPr>
          <a:xfrm xmlns:a="http://schemas.openxmlformats.org/drawingml/2006/main">
            <a:off x="13335000" y="22812375"/>
            <a:ext cx="4000500" cy="809625"/>
          </a:xfrm>
          <a:prstGeom xmlns:a="http://schemas.openxmlformats.org/drawingml/2006/main" prst="rect">
            <a:avLst/>
          </a:prstGeom>
          <a:solidFill xmlns:a="http://schemas.openxmlformats.org/drawingml/2006/main">
            <a:srgbClr val="101B20"/>
          </a:solidFill>
          <a:ln xmlns:a="http://schemas.openxmlformats.org/drawingml/2006/main" w="19050">
            <a:solidFill>
              <a:srgbClr val="CD8DCA"/>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Activate</a:t>
            </a:r>
          </a:p>
        </p:txBody>
      </p:sp>
      <p:sp>
        <p:nvSpPr>
          <p:cNvPr id="200" name="Reactive resident instance">
            <a:extLst xmlns:a="http://schemas.openxmlformats.org/drawingml/2006/main">
              <a:ext uri="{FF2B5EF4-FFF2-40B4-BE49-F238E27FC236}">
                <a16:creationId xmlns:a16="http://schemas.microsoft.com/office/drawing/2014/main" id="{84BDD81B-30B1-4B6C-B071-AEB51F9D249A}"/>
              </a:ext>
            </a:extLst>
          </p:cNvPr>
          <p:cNvSpPr>
            <a:spLocks xmlns:a="http://schemas.openxmlformats.org/drawingml/2006/main" noGrp="1"/>
          </p:cNvSpPr>
          <p:nvPr/>
        </p:nvSpPr>
        <p:spPr>
          <a:xfrm xmlns:a="http://schemas.openxmlformats.org/drawingml/2006/main">
            <a:off x="18002250" y="22812375"/>
            <a:ext cx="3667125" cy="809625"/>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Resident instance</a:t>
            </a:r>
          </a:p>
        </p:txBody>
      </p:sp>
      <p:sp>
        <p:nvSpPr>
          <p:cNvPr id="207" name="Artifact decoding">
            <a:extLst xmlns:a="http://schemas.openxmlformats.org/drawingml/2006/main">
              <a:ext uri="{FF2B5EF4-FFF2-40B4-BE49-F238E27FC236}">
                <a16:creationId xmlns:a16="http://schemas.microsoft.com/office/drawing/2014/main" id="{7674E409-EB94-444F-A6A8-3A55D19FE11C}"/>
              </a:ext>
            </a:extLst>
          </p:cNvPr>
          <p:cNvSpPr>
            <a:spLocks xmlns:a="http://schemas.openxmlformats.org/drawingml/2006/main" noGrp="1"/>
          </p:cNvSpPr>
          <p:nvPr/>
        </p:nvSpPr>
        <p:spPr>
          <a:xfrm xmlns:a="http://schemas.openxmlformats.org/drawingml/2006/main">
            <a:off x="10477500" y="22288500"/>
            <a:ext cx="2333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425" b="0">
                <a:solidFill>
                  <a:srgbClr val="A4BAC8"/>
                </a:solidFill>
                <a:latin typeface="Segoe UI"/>
                <a:ea typeface="Segoe UI"/>
                <a:cs typeface="Segoe UI"/>
              </a:defRPr>
            </a:pPr>
            <a:r>
              <a:rPr sz="1425" b="0">
                <a:solidFill>
                  <a:srgbClr val="A4BAC8"/>
                </a:solidFill>
                <a:latin typeface="Segoe UI"/>
                <a:ea typeface="Segoe UI"/>
                <a:cs typeface="Segoe UI"/>
              </a:rPr>
              <a:t>encode / decode</a:t>
            </a:r>
          </a:p>
        </p:txBody>
      </p:sp>
      <p:sp>
        <p:nvSpPr>
          <p:cNvPr id="212" name="Execution phase">
            <a:extLst xmlns:a="http://schemas.openxmlformats.org/drawingml/2006/main">
              <a:ext uri="{FF2B5EF4-FFF2-40B4-BE49-F238E27FC236}">
                <a16:creationId xmlns:a16="http://schemas.microsoft.com/office/drawing/2014/main" id="{AC8FA2A7-900B-4900-BF71-C6FE6FECD249}"/>
              </a:ext>
            </a:extLst>
          </p:cNvPr>
          <p:cNvSpPr>
            <a:spLocks xmlns:a="http://schemas.openxmlformats.org/drawingml/2006/main" noGrp="1"/>
          </p:cNvSpPr>
          <p:nvPr/>
        </p:nvSpPr>
        <p:spPr>
          <a:xfrm xmlns:a="http://schemas.openxmlformats.org/drawingml/2006/main">
            <a:off x="952500" y="24145875"/>
            <a:ext cx="952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1">
                <a:solidFill>
                  <a:srgbClr val="CD8DCA"/>
                </a:solidFill>
                <a:latin typeface="Fira Code"/>
                <a:ea typeface="Fira Code"/>
                <a:cs typeface="Fira Code"/>
              </a:defRPr>
            </a:pPr>
            <a:r>
              <a:rPr sz="2700" b="1">
                <a:solidFill>
                  <a:srgbClr val="CD8DCA"/>
                </a:solidFill>
                <a:latin typeface="Fira Code"/>
                <a:ea typeface="Fira Code"/>
                <a:cs typeface="Fira Code"/>
              </a:rPr>
              <a:t>Live execution (each turn)</a:t>
            </a:r>
          </a:p>
        </p:txBody>
      </p:sp>
      <p:sp>
        <p:nvSpPr>
          <p:cNvPr id="213" name="Turn inputs">
            <a:extLst xmlns:a="http://schemas.openxmlformats.org/drawingml/2006/main">
              <a:ext uri="{FF2B5EF4-FFF2-40B4-BE49-F238E27FC236}">
                <a16:creationId xmlns:a16="http://schemas.microsoft.com/office/drawing/2014/main" id="{186976AE-7BC9-4C25-B639-BA8AB3EC2187}"/>
              </a:ext>
            </a:extLst>
          </p:cNvPr>
          <p:cNvSpPr>
            <a:spLocks xmlns:a="http://schemas.openxmlformats.org/drawingml/2006/main" noGrp="1"/>
          </p:cNvSpPr>
          <p:nvPr/>
        </p:nvSpPr>
        <p:spPr>
          <a:xfrm xmlns:a="http://schemas.openxmlformats.org/drawingml/2006/main">
            <a:off x="952500" y="25312688"/>
            <a:ext cx="3048000" cy="1238250"/>
          </a:xfrm>
          <a:prstGeom xmlns:a="http://schemas.openxmlformats.org/drawingml/2006/main" prst="rect">
            <a:avLst/>
          </a:prstGeom>
          <a:solidFill xmlns:a="http://schemas.openxmlformats.org/drawingml/2006/main">
            <a:srgbClr val="101B20"/>
          </a:solidFill>
          <a:ln xmlns:a="http://schemas.openxmlformats.org/drawingml/2006/main" w="19050">
            <a:solidFill>
              <a:srgbClr val="7FC7FF"/>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
            </a:r>
          </a:p>
        </p:txBody>
      </p:sp>
      <p:sp>
        <p:nvSpPr>
          <p:cNvPr id="214" name="Host driver explanation">
            <a:extLst xmlns:a="http://schemas.openxmlformats.org/drawingml/2006/main">
              <a:ext uri="{FF2B5EF4-FFF2-40B4-BE49-F238E27FC236}">
                <a16:creationId xmlns:a16="http://schemas.microsoft.com/office/drawing/2014/main" id="{939B8B63-51F0-4742-9381-4FAE6D21D37B}"/>
              </a:ext>
            </a:extLst>
          </p:cNvPr>
          <p:cNvSpPr>
            <a:spLocks xmlns:a="http://schemas.openxmlformats.org/drawingml/2006/main" noGrp="1"/>
          </p:cNvSpPr>
          <p:nvPr/>
        </p:nvSpPr>
        <p:spPr>
          <a:xfrm xmlns:a="http://schemas.openxmlformats.org/drawingml/2006/main">
            <a:off x="952500" y="26741438"/>
            <a:ext cx="323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A4BAC8"/>
                </a:solidFill>
                <a:latin typeface="Segoe UI"/>
                <a:ea typeface="Segoe UI"/>
                <a:cs typeface="Segoe UI"/>
              </a:defRPr>
            </a:pPr>
            <a:r>
              <a:rPr sz="2100" b="0">
                <a:solidFill>
                  <a:srgbClr val="A4BAC8"/>
                </a:solidFill>
                <a:latin typeface="Segoe UI"/>
                <a:ea typeface="Segoe UI"/>
                <a:cs typeface="Segoe UI"/>
              </a:rPr>
              <a:t>Native Rust interface</a:t>
            </a:r>
          </a:p>
          <a:p xmlns:a="http://schemas.openxmlformats.org/drawingml/2006/main">
            <a:pPr algn="l">
              <a:lnSpc>
                <a:spcPct val="108000"/>
              </a:lnSpc>
              <a:buNone/>
              <a:defRPr sz="2100" b="0">
                <a:solidFill>
                  <a:srgbClr val="A4BAC8"/>
                </a:solidFill>
                <a:latin typeface="Segoe UI"/>
                <a:ea typeface="Segoe UI"/>
                <a:cs typeface="Segoe UI"/>
              </a:defRPr>
            </a:pPr>
            <a:r>
              <a:rPr sz="2100" b="0">
                <a:solidFill>
                  <a:srgbClr val="A4BAC8"/>
                </a:solidFill>
                <a:latin typeface="Segoe UI"/>
                <a:ea typeface="Segoe UI"/>
                <a:cs typeface="Segoe UI"/>
              </a:rPr>
              <a:t>ROS is another channel</a:t>
            </a:r>
          </a:p>
        </p:txBody>
      </p:sp>
      <p:sp>
        <p:nvSpPr>
          <p:cNvPr id="216" name="Resident computation title">
            <a:extLst xmlns:a="http://schemas.openxmlformats.org/drawingml/2006/main">
              <a:ext uri="{FF2B5EF4-FFF2-40B4-BE49-F238E27FC236}">
                <a16:creationId xmlns:a16="http://schemas.microsoft.com/office/drawing/2014/main" id="{6BD2B01E-77F0-433F-986C-A18FAE328432}"/>
              </a:ext>
            </a:extLst>
          </p:cNvPr>
          <p:cNvSpPr>
            <a:spLocks xmlns:a="http://schemas.openxmlformats.org/drawingml/2006/main" noGrp="1"/>
          </p:cNvSpPr>
          <p:nvPr/>
        </p:nvSpPr>
        <p:spPr>
          <a:xfrm xmlns:a="http://schemas.openxmlformats.org/drawingml/2006/main">
            <a:off x="5048250" y="24812625"/>
            <a:ext cx="5334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400" b="1">
                <a:solidFill>
                  <a:srgbClr val="E8EDF0"/>
                </a:solidFill>
                <a:latin typeface="Fira Code"/>
                <a:ea typeface="Fira Code"/>
                <a:cs typeface="Fira Code"/>
              </a:defRPr>
            </a:pPr>
            <a:r>
              <a:rPr sz="2400" b="1">
                <a:solidFill>
                  <a:srgbClr val="E8EDF0"/>
                </a:solidFill>
                <a:latin typeface="Fira Code"/>
                <a:ea typeface="Fira Code"/>
                <a:cs typeface="Fira Code"/>
              </a:rPr>
              <a:t>Resident computation</a:t>
            </a:r>
          </a:p>
        </p:txBody>
      </p:sp>
      <p:sp>
        <p:nvSpPr>
          <p:cNvPr id="217" name="EKF time update">
            <a:extLst xmlns:a="http://schemas.openxmlformats.org/drawingml/2006/main">
              <a:ext uri="{FF2B5EF4-FFF2-40B4-BE49-F238E27FC236}">
                <a16:creationId xmlns:a16="http://schemas.microsoft.com/office/drawing/2014/main" id="{31860099-B226-4A5C-BD78-0A1E6850090A}"/>
              </a:ext>
            </a:extLst>
          </p:cNvPr>
          <p:cNvSpPr>
            <a:spLocks xmlns:a="http://schemas.openxmlformats.org/drawingml/2006/main" noGrp="1"/>
          </p:cNvSpPr>
          <p:nvPr/>
        </p:nvSpPr>
        <p:spPr>
          <a:xfrm xmlns:a="http://schemas.openxmlformats.org/drawingml/2006/main">
            <a:off x="5095875" y="25336500"/>
            <a:ext cx="5238750" cy="400050"/>
          </a:xfrm>
          <a:prstGeom xmlns:a="http://schemas.openxmlformats.org/drawingml/2006/main" prst="rect">
            <a:avLst/>
          </a:prstGeom>
          <a:solidFill xmlns:a="http://schemas.openxmlformats.org/drawingml/2006/main">
            <a:srgbClr val="101B20"/>
          </a:solidFill>
          <a:ln xmlns:a="http://schemas.openxmlformats.org/drawingml/2006/main" w="19050">
            <a:solidFill>
              <a:srgbClr val="354650"/>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1875">
                <a:solidFill>
                  <a:srgbClr val="E8EDF0"/>
                </a:solidFill>
                <a:latin typeface="Segoe UI"/>
                <a:ea typeface="Segoe UI"/>
                <a:cs typeface="Segoe UI"/>
              </a:rPr>
              <a:t>Time update</a:t>
            </a:r>
          </a:p>
        </p:txBody>
      </p:sp>
      <p:sp>
        <p:nvSpPr>
          <p:cNvPr id="218" name="EKF measurement update">
            <a:extLst xmlns:a="http://schemas.openxmlformats.org/drawingml/2006/main">
              <a:ext uri="{FF2B5EF4-FFF2-40B4-BE49-F238E27FC236}">
                <a16:creationId xmlns:a16="http://schemas.microsoft.com/office/drawing/2014/main" id="{96F7584C-5C94-47C0-BC25-511220673F9E}"/>
              </a:ext>
            </a:extLst>
          </p:cNvPr>
          <p:cNvSpPr>
            <a:spLocks xmlns:a="http://schemas.openxmlformats.org/drawingml/2006/main" noGrp="1"/>
          </p:cNvSpPr>
          <p:nvPr/>
        </p:nvSpPr>
        <p:spPr>
          <a:xfrm xmlns:a="http://schemas.openxmlformats.org/drawingml/2006/main">
            <a:off x="5095875" y="25908000"/>
            <a:ext cx="5238750" cy="400050"/>
          </a:xfrm>
          <a:prstGeom xmlns:a="http://schemas.openxmlformats.org/drawingml/2006/main" prst="rect">
            <a:avLst/>
          </a:prstGeom>
          <a:solidFill xmlns:a="http://schemas.openxmlformats.org/drawingml/2006/main">
            <a:srgbClr val="101B20"/>
          </a:solidFill>
          <a:ln xmlns:a="http://schemas.openxmlformats.org/drawingml/2006/main" w="19050">
            <a:solidFill>
              <a:srgbClr val="354650"/>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1875">
                <a:solidFill>
                  <a:srgbClr val="E8EDF0"/>
                </a:solidFill>
                <a:latin typeface="Segoe UI"/>
                <a:ea typeface="Segoe UI"/>
                <a:cs typeface="Segoe UI"/>
              </a:rPr>
              <a:t>Measurement update</a:t>
            </a:r>
          </a:p>
        </p:txBody>
      </p:sp>
      <p:sp>
        <p:nvSpPr>
          <p:cNvPr id="219" name="Mean visual mapping">
            <a:extLst xmlns:a="http://schemas.openxmlformats.org/drawingml/2006/main">
              <a:ext uri="{FF2B5EF4-FFF2-40B4-BE49-F238E27FC236}">
                <a16:creationId xmlns:a16="http://schemas.microsoft.com/office/drawing/2014/main" id="{324222CC-5F18-4BDA-AAB1-23AA6F9C8758}"/>
              </a:ext>
            </a:extLst>
          </p:cNvPr>
          <p:cNvSpPr>
            <a:spLocks xmlns:a="http://schemas.openxmlformats.org/drawingml/2006/main" noGrp="1"/>
          </p:cNvSpPr>
          <p:nvPr/>
        </p:nvSpPr>
        <p:spPr>
          <a:xfrm xmlns:a="http://schemas.openxmlformats.org/drawingml/2006/main">
            <a:off x="5095875" y="26641425"/>
            <a:ext cx="2524125" cy="400050"/>
          </a:xfrm>
          <a:prstGeom xmlns:a="http://schemas.openxmlformats.org/drawingml/2006/main" prst="rect">
            <a:avLst/>
          </a:prstGeom>
          <a:solidFill xmlns:a="http://schemas.openxmlformats.org/drawingml/2006/main">
            <a:srgbClr val="101B20"/>
          </a:solidFill>
          <a:ln xmlns:a="http://schemas.openxmlformats.org/drawingml/2006/main" w="19050">
            <a:solidFill>
              <a:srgbClr val="354650"/>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1875">
                <a:solidFill>
                  <a:srgbClr val="E8EDF0"/>
                </a:solidFill>
                <a:latin typeface="Segoe UI"/>
                <a:ea typeface="Segoe UI"/>
                <a:cs typeface="Segoe UI"/>
              </a:rPr>
              <a:t>μ → robot pose</a:t>
            </a:r>
          </a:p>
        </p:txBody>
      </p:sp>
      <p:sp>
        <p:nvSpPr>
          <p:cNvPr id="220" name="Covariance visual mapping">
            <a:extLst xmlns:a="http://schemas.openxmlformats.org/drawingml/2006/main">
              <a:ext uri="{FF2B5EF4-FFF2-40B4-BE49-F238E27FC236}">
                <a16:creationId xmlns:a16="http://schemas.microsoft.com/office/drawing/2014/main" id="{23BCBD4B-C245-46CD-AAA5-63B2FFA78D36}"/>
              </a:ext>
            </a:extLst>
          </p:cNvPr>
          <p:cNvSpPr>
            <a:spLocks xmlns:a="http://schemas.openxmlformats.org/drawingml/2006/main" noGrp="1"/>
          </p:cNvSpPr>
          <p:nvPr/>
        </p:nvSpPr>
        <p:spPr>
          <a:xfrm xmlns:a="http://schemas.openxmlformats.org/drawingml/2006/main">
            <a:off x="7810500" y="26641425"/>
            <a:ext cx="2524125" cy="400050"/>
          </a:xfrm>
          <a:prstGeom xmlns:a="http://schemas.openxmlformats.org/drawingml/2006/main" prst="rect">
            <a:avLst/>
          </a:prstGeom>
          <a:solidFill xmlns:a="http://schemas.openxmlformats.org/drawingml/2006/main">
            <a:srgbClr val="101B20"/>
          </a:solidFill>
          <a:ln xmlns:a="http://schemas.openxmlformats.org/drawingml/2006/main" w="19050">
            <a:solidFill>
              <a:srgbClr val="354650"/>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1875">
                <a:solidFill>
                  <a:srgbClr val="E8EDF0"/>
                </a:solidFill>
                <a:latin typeface="Segoe UI"/>
                <a:ea typeface="Segoe UI"/>
                <a:cs typeface="Segoe UI"/>
              </a:rPr>
              <a:t>Σ → ellipse</a:t>
            </a:r>
          </a:p>
        </p:txBody>
      </p:sp>
      <p:sp>
        <p:nvSpPr>
          <p:cNvPr id="224" name="Guards">
            <a:extLst xmlns:a="http://schemas.openxmlformats.org/drawingml/2006/main">
              <a:ext uri="{FF2B5EF4-FFF2-40B4-BE49-F238E27FC236}">
                <a16:creationId xmlns:a16="http://schemas.microsoft.com/office/drawing/2014/main" id="{310AA0C1-C9DD-4DC3-A471-5BB329541A6F}"/>
              </a:ext>
            </a:extLst>
          </p:cNvPr>
          <p:cNvSpPr>
            <a:spLocks xmlns:a="http://schemas.openxmlformats.org/drawingml/2006/main" noGrp="1"/>
          </p:cNvSpPr>
          <p:nvPr/>
        </p:nvSpPr>
        <p:spPr>
          <a:xfrm xmlns:a="http://schemas.openxmlformats.org/drawingml/2006/main">
            <a:off x="11382375" y="25503188"/>
            <a:ext cx="2524125" cy="857250"/>
          </a:xfrm>
          <a:prstGeom xmlns:a="http://schemas.openxmlformats.org/drawingml/2006/main" prst="rect">
            <a:avLst/>
          </a:prstGeom>
          <a:solidFill xmlns:a="http://schemas.openxmlformats.org/drawingml/2006/main">
            <a:srgbClr val="101B20"/>
          </a:solidFill>
          <a:ln xmlns:a="http://schemas.openxmlformats.org/drawingml/2006/main" w="19050">
            <a:solidFill>
              <a:srgbClr val="CD8DCA"/>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Validate</a:t>
            </a:r>
          </a:p>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candidate</a:t>
            </a:r>
          </a:p>
        </p:txBody>
      </p:sp>
      <p:sp>
        <p:nvSpPr>
          <p:cNvPr id="225" name="Publish">
            <a:extLst xmlns:a="http://schemas.openxmlformats.org/drawingml/2006/main">
              <a:ext uri="{FF2B5EF4-FFF2-40B4-BE49-F238E27FC236}">
                <a16:creationId xmlns:a16="http://schemas.microsoft.com/office/drawing/2014/main" id="{8F1E2C7B-A96C-4BE9-B3A3-798E09D04F22}"/>
              </a:ext>
            </a:extLst>
          </p:cNvPr>
          <p:cNvSpPr>
            <a:spLocks xmlns:a="http://schemas.openxmlformats.org/drawingml/2006/main" noGrp="1"/>
          </p:cNvSpPr>
          <p:nvPr/>
        </p:nvSpPr>
        <p:spPr>
          <a:xfrm xmlns:a="http://schemas.openxmlformats.org/drawingml/2006/main">
            <a:off x="14763750" y="25503188"/>
            <a:ext cx="2667000" cy="857250"/>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250">
                <a:solidFill>
                  <a:srgbClr val="E8EDF0"/>
                </a:solidFill>
                <a:latin typeface="Segoe UI"/>
                <a:ea typeface="Segoe UI"/>
                <a:cs typeface="Segoe UI"/>
              </a:rPr>
              <a:t>Publish state</a:t>
            </a:r>
          </a:p>
          <a:p xmlns:a="http://schemas.openxmlformats.org/drawingml/2006/main">
            <a:pPr algn="ctr">
              <a:buNone/>
              <a:defRPr sz="2400">
                <a:solidFill>
                  <a:srgbClr val="E8EDF0"/>
                </a:solidFill>
                <a:latin typeface="Segoe UI"/>
                <a:ea typeface="Segoe UI"/>
                <a:cs typeface="Segoe UI"/>
              </a:defRPr>
            </a:pPr>
            <a:r>
              <a:rPr sz="2250">
                <a:solidFill>
                  <a:srgbClr val="E8EDF0"/>
                </a:solidFill>
                <a:latin typeface="Segoe UI"/>
                <a:ea typeface="Segoe UI"/>
                <a:cs typeface="Segoe UI"/>
              </a:rPr>
              <a:t>+ record</a:t>
            </a:r>
          </a:p>
        </p:txBody>
      </p:sp>
      <p:sp>
        <p:nvSpPr>
          <p:cNvPr id="229" name="Accept label">
            <a:extLst xmlns:a="http://schemas.openxmlformats.org/drawingml/2006/main">
              <a:ext uri="{FF2B5EF4-FFF2-40B4-BE49-F238E27FC236}">
                <a16:creationId xmlns:a16="http://schemas.microsoft.com/office/drawing/2014/main" id="{8A94B7F6-5A5D-4DAF-996C-DA29720BB55D}"/>
              </a:ext>
            </a:extLst>
          </p:cNvPr>
          <p:cNvSpPr>
            <a:spLocks xmlns:a="http://schemas.openxmlformats.org/drawingml/2006/main" noGrp="1"/>
          </p:cNvSpPr>
          <p:nvPr/>
        </p:nvSpPr>
        <p:spPr>
          <a:xfrm xmlns:a="http://schemas.openxmlformats.org/drawingml/2006/main">
            <a:off x="14039850" y="25117425"/>
            <a:ext cx="76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a:solidFill>
                  <a:srgbClr val="33AB94"/>
                </a:solidFill>
                <a:latin typeface="Fira Code"/>
                <a:ea typeface="Fira Code"/>
                <a:cs typeface="Fira Code"/>
              </a:defRPr>
            </a:pPr>
            <a:r>
              <a:rPr sz="1875" b="1">
                <a:solidFill>
                  <a:srgbClr val="33AB94"/>
                </a:solidFill>
                <a:latin typeface="Fira Code"/>
                <a:ea typeface="Fira Code"/>
                <a:cs typeface="Fira Code"/>
              </a:rPr>
              <a:t>pass</a:t>
            </a:r>
          </a:p>
        </p:txBody>
      </p:sp>
      <p:sp>
        <p:nvSpPr>
          <p:cNvPr id="230" name="Reject turn">
            <a:extLst xmlns:a="http://schemas.openxmlformats.org/drawingml/2006/main">
              <a:ext uri="{FF2B5EF4-FFF2-40B4-BE49-F238E27FC236}">
                <a16:creationId xmlns:a16="http://schemas.microsoft.com/office/drawing/2014/main" id="{D17722CA-0128-4BFB-896C-28A3A69481D9}"/>
              </a:ext>
            </a:extLst>
          </p:cNvPr>
          <p:cNvSpPr>
            <a:spLocks xmlns:a="http://schemas.openxmlformats.org/drawingml/2006/main" noGrp="1"/>
          </p:cNvSpPr>
          <p:nvPr/>
        </p:nvSpPr>
        <p:spPr>
          <a:xfrm xmlns:a="http://schemas.openxmlformats.org/drawingml/2006/main">
            <a:off x="14763750" y="26693813"/>
            <a:ext cx="2667000" cy="738188"/>
          </a:xfrm>
          <a:prstGeom xmlns:a="http://schemas.openxmlformats.org/drawingml/2006/main" prst="rect">
            <a:avLst/>
          </a:prstGeom>
          <a:solidFill xmlns:a="http://schemas.openxmlformats.org/drawingml/2006/main">
            <a:srgbClr val="101B20"/>
          </a:solidFill>
          <a:ln xmlns:a="http://schemas.openxmlformats.org/drawingml/2006/main" w="19050">
            <a:solidFill>
              <a:srgbClr val="CE7979"/>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1950">
                <a:solidFill>
                  <a:srgbClr val="E8EDF0"/>
                </a:solidFill>
                <a:latin typeface="Segoe UI"/>
                <a:ea typeface="Segoe UI"/>
                <a:cs typeface="Segoe UI"/>
              </a:rPr>
              <a:t>Abort candidate</a:t>
            </a:r>
          </a:p>
          <a:p xmlns:a="http://schemas.openxmlformats.org/drawingml/2006/main">
            <a:pPr algn="ctr">
              <a:buNone/>
              <a:defRPr sz="2400">
                <a:solidFill>
                  <a:srgbClr val="E8EDF0"/>
                </a:solidFill>
                <a:latin typeface="Segoe UI"/>
                <a:ea typeface="Segoe UI"/>
                <a:cs typeface="Segoe UI"/>
              </a:defRPr>
            </a:pPr>
            <a:r>
              <a:rPr sz="1950">
                <a:solidFill>
                  <a:srgbClr val="E8EDF0"/>
                </a:solidFill>
                <a:latin typeface="Segoe UI"/>
                <a:ea typeface="Segoe UI"/>
                <a:cs typeface="Segoe UI"/>
              </a:rPr>
              <a:t>retain prior state</a:t>
            </a:r>
          </a:p>
        </p:txBody>
      </p:sp>
      <p:sp>
        <p:nvSpPr>
          <p:cNvPr id="232" name="Reject label">
            <a:extLst xmlns:a="http://schemas.openxmlformats.org/drawingml/2006/main">
              <a:ext uri="{FF2B5EF4-FFF2-40B4-BE49-F238E27FC236}">
                <a16:creationId xmlns:a16="http://schemas.microsoft.com/office/drawing/2014/main" id="{60C90CD9-BCCB-41D3-A552-A046CAC7B4F7}"/>
              </a:ext>
            </a:extLst>
          </p:cNvPr>
          <p:cNvSpPr>
            <a:spLocks xmlns:a="http://schemas.openxmlformats.org/drawingml/2006/main" noGrp="1"/>
          </p:cNvSpPr>
          <p:nvPr/>
        </p:nvSpPr>
        <p:spPr>
          <a:xfrm xmlns:a="http://schemas.openxmlformats.org/drawingml/2006/main">
            <a:off x="14039850" y="27193875"/>
            <a:ext cx="76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a:solidFill>
                  <a:srgbClr val="CE7979"/>
                </a:solidFill>
                <a:latin typeface="Fira Code"/>
                <a:ea typeface="Fira Code"/>
                <a:cs typeface="Fira Code"/>
              </a:defRPr>
            </a:pPr>
            <a:r>
              <a:rPr sz="1875" b="1">
                <a:solidFill>
                  <a:srgbClr val="CE7979"/>
                </a:solidFill>
                <a:latin typeface="Fira Code"/>
                <a:ea typeface="Fira Code"/>
                <a:cs typeface="Fira Code"/>
              </a:rPr>
              <a:t>fail</a:t>
            </a:r>
          </a:p>
        </p:txBody>
      </p:sp>
      <p:sp>
        <p:nvSpPr>
          <p:cNvPr id="233" name="Estimate output">
            <a:extLst xmlns:a="http://schemas.openxmlformats.org/drawingml/2006/main">
              <a:ext uri="{FF2B5EF4-FFF2-40B4-BE49-F238E27FC236}">
                <a16:creationId xmlns:a16="http://schemas.microsoft.com/office/drawing/2014/main" id="{8DF5A502-DEC1-4BD4-B259-8359C11FC517}"/>
              </a:ext>
            </a:extLst>
          </p:cNvPr>
          <p:cNvSpPr>
            <a:spLocks xmlns:a="http://schemas.openxmlformats.org/drawingml/2006/main" noGrp="1"/>
          </p:cNvSpPr>
          <p:nvPr/>
        </p:nvSpPr>
        <p:spPr>
          <a:xfrm xmlns:a="http://schemas.openxmlformats.org/drawingml/2006/main">
            <a:off x="18097500" y="24574500"/>
            <a:ext cx="3571875" cy="1657350"/>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
            </a:r>
          </a:p>
        </p:txBody>
      </p:sp>
      <p:sp>
        <p:nvSpPr>
          <p:cNvPr id="234" name="Scene output">
            <a:extLst xmlns:a="http://schemas.openxmlformats.org/drawingml/2006/main">
              <a:ext uri="{FF2B5EF4-FFF2-40B4-BE49-F238E27FC236}">
                <a16:creationId xmlns:a16="http://schemas.microsoft.com/office/drawing/2014/main" id="{E812C68E-EDBF-4B69-9463-0FE1AB92E0D8}"/>
              </a:ext>
            </a:extLst>
          </p:cNvPr>
          <p:cNvSpPr>
            <a:spLocks xmlns:a="http://schemas.openxmlformats.org/drawingml/2006/main" noGrp="1"/>
          </p:cNvSpPr>
          <p:nvPr/>
        </p:nvSpPr>
        <p:spPr>
          <a:xfrm xmlns:a="http://schemas.openxmlformats.org/drawingml/2006/main">
            <a:off x="18097500" y="26431875"/>
            <a:ext cx="3571875" cy="1066800"/>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
            </a:r>
          </a:p>
        </p:txBody>
      </p:sp>
      <p:sp>
        <p:nvSpPr>
          <p:cNvPr id="764" name="Rust host driver label">
            <a:extLst xmlns:a="http://schemas.openxmlformats.org/drawingml/2006/main">
              <a:ext uri="{FF2B5EF4-FFF2-40B4-BE49-F238E27FC236}">
                <a16:creationId xmlns:a16="http://schemas.microsoft.com/office/drawing/2014/main" id="{99884F59-710C-42D6-BA3A-AD291B72AC57}"/>
              </a:ext>
            </a:extLst>
          </p:cNvPr>
          <p:cNvSpPr>
            <a:spLocks xmlns:a="http://schemas.openxmlformats.org/drawingml/2006/main" noGrp="1"/>
          </p:cNvSpPr>
          <p:nvPr/>
        </p:nvSpPr>
        <p:spPr>
          <a:xfrm xmlns:a="http://schemas.openxmlformats.org/drawingml/2006/main">
            <a:off x="1933575" y="25527000"/>
            <a:ext cx="1952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E8EDF0"/>
                </a:solidFill>
                <a:latin typeface="Segoe UI"/>
                <a:ea typeface="Segoe UI"/>
                <a:cs typeface="Segoe UI"/>
              </a:defRPr>
            </a:pPr>
            <a:r>
              <a:rPr sz="2325" b="0">
                <a:solidFill>
                  <a:srgbClr val="E8EDF0"/>
                </a:solidFill>
                <a:latin typeface="Segoe UI"/>
                <a:ea typeface="Segoe UI"/>
                <a:cs typeface="Segoe UI"/>
              </a:rPr>
              <a:t>Rust host</a:t>
            </a:r>
          </a:p>
          <a:p xmlns:a="http://schemas.openxmlformats.org/drawingml/2006/main">
            <a:pPr algn="l">
              <a:lnSpc>
                <a:spcPct val="108000"/>
              </a:lnSpc>
              <a:buNone/>
              <a:defRPr sz="2325" b="0">
                <a:solidFill>
                  <a:srgbClr val="E8EDF0"/>
                </a:solidFill>
                <a:latin typeface="Segoe UI"/>
                <a:ea typeface="Segoe UI"/>
                <a:cs typeface="Segoe UI"/>
              </a:defRPr>
            </a:pPr>
            <a:r>
              <a:rPr sz="2325" b="0">
                <a:solidFill>
                  <a:srgbClr val="E8EDF0"/>
                </a:solidFill>
                <a:latin typeface="Segoe UI"/>
                <a:ea typeface="Segoe UI"/>
                <a:cs typeface="Segoe UI"/>
              </a:rPr>
              <a:t>drivers</a:t>
            </a:r>
          </a:p>
        </p:txBody>
      </p:sp>
      <p:sp>
        <p:nvSpPr>
          <p:cNvPr id="765" name="Example state title">
            <a:extLst xmlns:a="http://schemas.openxmlformats.org/drawingml/2006/main">
              <a:ext uri="{FF2B5EF4-FFF2-40B4-BE49-F238E27FC236}">
                <a16:creationId xmlns:a16="http://schemas.microsoft.com/office/drawing/2014/main" id="{9E789A6C-08FA-4AA7-81A1-62BBB9C5A5D5}"/>
              </a:ext>
            </a:extLst>
          </p:cNvPr>
          <p:cNvSpPr>
            <a:spLocks xmlns:a="http://schemas.openxmlformats.org/drawingml/2006/main" noGrp="1"/>
          </p:cNvSpPr>
          <p:nvPr/>
        </p:nvSpPr>
        <p:spPr>
          <a:xfrm xmlns:a="http://schemas.openxmlformats.org/drawingml/2006/main">
            <a:off x="18249900" y="24650700"/>
            <a:ext cx="32670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025" b="1">
                <a:solidFill>
                  <a:srgbClr val="33AB94"/>
                </a:solidFill>
                <a:latin typeface="Fira Code"/>
                <a:ea typeface="Fira Code"/>
                <a:cs typeface="Fira Code"/>
              </a:defRPr>
            </a:pPr>
            <a:r>
              <a:rPr sz="2025" b="1">
                <a:solidFill>
                  <a:srgbClr val="33AB94"/>
                </a:solidFill>
                <a:latin typeface="Fira Code"/>
                <a:ea typeface="Fira Code"/>
                <a:cs typeface="Fira Code"/>
              </a:rPr>
              <a:t>Example turn 800</a:t>
            </a:r>
          </a:p>
        </p:txBody>
      </p:sp>
      <p:sp>
        <p:nvSpPr>
          <p:cNvPr id="766" name="Example mean">
            <a:extLst xmlns:a="http://schemas.openxmlformats.org/drawingml/2006/main">
              <a:ext uri="{FF2B5EF4-FFF2-40B4-BE49-F238E27FC236}">
                <a16:creationId xmlns:a16="http://schemas.microsoft.com/office/drawing/2014/main" id="{C3A0A394-0496-46F3-A6A0-3E4EE16B7561}"/>
              </a:ext>
            </a:extLst>
          </p:cNvPr>
          <p:cNvSpPr>
            <a:spLocks xmlns:a="http://schemas.openxmlformats.org/drawingml/2006/main" noGrp="1"/>
          </p:cNvSpPr>
          <p:nvPr/>
        </p:nvSpPr>
        <p:spPr>
          <a:xfrm xmlns:a="http://schemas.openxmlformats.org/drawingml/2006/main">
            <a:off x="18249900" y="25003125"/>
            <a:ext cx="32670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75" b="0">
                <a:solidFill>
                  <a:srgbClr val="E8EDF0"/>
                </a:solidFill>
                <a:latin typeface="Fira Code"/>
                <a:ea typeface="Fira Code"/>
                <a:cs typeface="Fira Code"/>
              </a:defRPr>
            </a:pPr>
            <a:r>
              <a:rPr sz="1575" b="0">
                <a:solidFill>
                  <a:srgbClr val="E8EDF0"/>
                </a:solidFill>
                <a:latin typeface="Fira Code"/>
                <a:ea typeface="Fira Code"/>
                <a:cs typeface="Fira Code"/>
              </a:rPr>
              <a:t>μ = [98.24, 55.19, -0.034]</a:t>
            </a:r>
          </a:p>
        </p:txBody>
      </p:sp>
      <p:sp>
        <p:nvSpPr>
          <p:cNvPr id="767" name="Example covariance">
            <a:extLst xmlns:a="http://schemas.openxmlformats.org/drawingml/2006/main">
              <a:ext uri="{FF2B5EF4-FFF2-40B4-BE49-F238E27FC236}">
                <a16:creationId xmlns:a16="http://schemas.microsoft.com/office/drawing/2014/main" id="{4D815B09-A014-411D-B8E4-1606403A0AB9}"/>
              </a:ext>
            </a:extLst>
          </p:cNvPr>
          <p:cNvSpPr>
            <a:spLocks xmlns:a="http://schemas.openxmlformats.org/drawingml/2006/main" noGrp="1"/>
          </p:cNvSpPr>
          <p:nvPr/>
        </p:nvSpPr>
        <p:spPr>
          <a:xfrm xmlns:a="http://schemas.openxmlformats.org/drawingml/2006/main">
            <a:off x="18249900" y="25336500"/>
            <a:ext cx="32670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00" b="0">
                <a:solidFill>
                  <a:srgbClr val="E8EDF0"/>
                </a:solidFill>
                <a:latin typeface="Fira Code"/>
                <a:ea typeface="Fira Code"/>
                <a:cs typeface="Fira Code"/>
              </a:defRPr>
            </a:pPr>
            <a:r>
              <a:rPr sz="1500" b="0">
                <a:solidFill>
                  <a:srgbClr val="E8EDF0"/>
                </a:solidFill>
                <a:latin typeface="Fira Code"/>
                <a:ea typeface="Fira Code"/>
                <a:cs typeface="Fira Code"/>
              </a:rPr>
              <a:t>Σ = [107.89 −28.89 −0.907</a:t>
            </a:r>
          </a:p>
          <a:p xmlns:a="http://schemas.openxmlformats.org/drawingml/2006/main">
            <a:pPr algn="l">
              <a:lnSpc>
                <a:spcPct val="108000"/>
              </a:lnSpc>
              <a:buNone/>
              <a:defRPr sz="1500" b="0">
                <a:solidFill>
                  <a:srgbClr val="E8EDF0"/>
                </a:solidFill>
                <a:latin typeface="Fira Code"/>
                <a:ea typeface="Fira Code"/>
                <a:cs typeface="Fira Code"/>
              </a:defRPr>
            </a:pPr>
            <a:r>
              <a:rPr sz="1500" b="0">
                <a:solidFill>
                  <a:srgbClr val="E8EDF0"/>
                </a:solidFill>
                <a:latin typeface="Fira Code"/>
                <a:ea typeface="Fira Code"/>
                <a:cs typeface="Fira Code"/>
              </a:rPr>
              <a:t>     −28.89  19.88  0.104</a:t>
            </a:r>
          </a:p>
          <a:p xmlns:a="http://schemas.openxmlformats.org/drawingml/2006/main">
            <a:pPr algn="l">
              <a:lnSpc>
                <a:spcPct val="108000"/>
              </a:lnSpc>
              <a:buNone/>
              <a:defRPr sz="1500" b="0">
                <a:solidFill>
                  <a:srgbClr val="E8EDF0"/>
                </a:solidFill>
                <a:latin typeface="Fira Code"/>
                <a:ea typeface="Fira Code"/>
                <a:cs typeface="Fira Code"/>
              </a:defRPr>
            </a:pPr>
            <a:r>
              <a:rPr sz="1500" b="0">
                <a:solidFill>
                  <a:srgbClr val="E8EDF0"/>
                </a:solidFill>
                <a:latin typeface="Fira Code"/>
                <a:ea typeface="Fira Code"/>
                <a:cs typeface="Fira Code"/>
              </a:rPr>
              <a:t>     −0.907  0.104  0.012]</a:t>
            </a:r>
          </a:p>
        </p:txBody>
      </p:sp>
      <p:sp>
        <p:nvSpPr>
          <p:cNvPr id="768" name="SVG scene label">
            <a:extLst xmlns:a="http://schemas.openxmlformats.org/drawingml/2006/main">
              <a:ext uri="{FF2B5EF4-FFF2-40B4-BE49-F238E27FC236}">
                <a16:creationId xmlns:a16="http://schemas.microsoft.com/office/drawing/2014/main" id="{C0E01B3C-D4C8-4AFF-AAFC-18B7FC49F359}"/>
              </a:ext>
            </a:extLst>
          </p:cNvPr>
          <p:cNvSpPr>
            <a:spLocks xmlns:a="http://schemas.openxmlformats.org/drawingml/2006/main" noGrp="1"/>
          </p:cNvSpPr>
          <p:nvPr/>
        </p:nvSpPr>
        <p:spPr>
          <a:xfrm xmlns:a="http://schemas.openxmlformats.org/drawingml/2006/main">
            <a:off x="18440400" y="26527125"/>
            <a:ext cx="1809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025" b="1">
                <a:solidFill>
                  <a:srgbClr val="33AB94"/>
                </a:solidFill>
                <a:latin typeface="Fira Code"/>
                <a:ea typeface="Fira Code"/>
                <a:cs typeface="Fira Code"/>
              </a:defRPr>
            </a:pPr>
            <a:r>
              <a:rPr sz="2025" b="1">
                <a:solidFill>
                  <a:srgbClr val="33AB94"/>
                </a:solidFill>
                <a:latin typeface="Fira Code"/>
                <a:ea typeface="Fira Code"/>
                <a:cs typeface="Fira Code"/>
              </a:rPr>
              <a:t>SVG scene</a:t>
            </a:r>
          </a:p>
        </p:txBody>
      </p:sp>
      <p:sp>
        <p:nvSpPr>
          <p:cNvPr id="769" name="SVG scene explanation">
            <a:extLst xmlns:a="http://schemas.openxmlformats.org/drawingml/2006/main">
              <a:ext uri="{FF2B5EF4-FFF2-40B4-BE49-F238E27FC236}">
                <a16:creationId xmlns:a16="http://schemas.microsoft.com/office/drawing/2014/main" id="{6701A4FB-8DB9-48AD-A03F-EE3087CC9EBC}"/>
              </a:ext>
            </a:extLst>
          </p:cNvPr>
          <p:cNvSpPr>
            <a:spLocks xmlns:a="http://schemas.openxmlformats.org/drawingml/2006/main" noGrp="1"/>
          </p:cNvSpPr>
          <p:nvPr/>
        </p:nvSpPr>
        <p:spPr>
          <a:xfrm xmlns:a="http://schemas.openxmlformats.org/drawingml/2006/main">
            <a:off x="18440400" y="26860500"/>
            <a:ext cx="1828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75" b="0">
                <a:solidFill>
                  <a:srgbClr val="A4BAC8"/>
                </a:solidFill>
                <a:latin typeface="Segoe UI"/>
                <a:ea typeface="Segoe UI"/>
                <a:cs typeface="Segoe UI"/>
              </a:defRPr>
            </a:pPr>
            <a:r>
              <a:rPr sz="1575" b="0">
                <a:solidFill>
                  <a:srgbClr val="A4BAC8"/>
                </a:solidFill>
                <a:latin typeface="Segoe UI"/>
                <a:ea typeface="Segoe UI"/>
                <a:cs typeface="Segoe UI"/>
              </a:rPr>
              <a:t>Pose and 2σ</a:t>
            </a:r>
          </a:p>
          <a:p xmlns:a="http://schemas.openxmlformats.org/drawingml/2006/main">
            <a:pPr algn="l">
              <a:lnSpc>
                <a:spcPct val="108000"/>
              </a:lnSpc>
              <a:buNone/>
              <a:defRPr sz="1575" b="0">
                <a:solidFill>
                  <a:srgbClr val="A4BAC8"/>
                </a:solidFill>
                <a:latin typeface="Segoe UI"/>
                <a:ea typeface="Segoe UI"/>
                <a:cs typeface="Segoe UI"/>
              </a:defRPr>
            </a:pPr>
            <a:r>
              <a:rPr sz="1575" b="0">
                <a:solidFill>
                  <a:srgbClr val="A4BAC8"/>
                </a:solidFill>
                <a:latin typeface="Segoe UI"/>
                <a:ea typeface="Segoe UI"/>
                <a:cs typeface="Segoe UI"/>
              </a:rPr>
              <a:t>position ellipse</a:t>
            </a:r>
          </a:p>
        </p:txBody>
      </p:sp>
      <p:pic>
        <p:nvPicPr>
          <p:cNvPr id="779" name="White Rust logo"/>
          <p:cNvPicPr>
            <a:picLocks xmlns:a="http://schemas.openxmlformats.org/drawingml/2006/main" noChangeAspect="1"/>
          </p:cNvPicPr>
          <p:nvPr/>
        </p:nvPicPr>
        <p:blipFill>
          <a:blip xmlns:r="http://schemas.openxmlformats.org/officeDocument/2006/relationships" xmlns:a="http://schemas.openxmlformats.org/drawingml/2006/main" r:embed="rIdReactive1">
            <a:extLst>
              <a:ext uri="{96DAC541-7B7A-43D3-8B79-37D633B846F1}">
                <asvg:svgBlip xmlns:asvg="http://schemas.microsoft.com/office/drawing/2016/SVG/main" r:embed="rIdReactive2"/>
              </a:ext>
            </a:extLst>
          </a:blip>
          <a:stretch xmlns:a="http://schemas.openxmlformats.org/drawingml/2006/main"/>
        </p:blipFill>
        <p:spPr>
          <a:xfrm xmlns:a="http://schemas.openxmlformats.org/drawingml/2006/main">
            <a:off x="1143000" y="25574625"/>
            <a:ext cx="647700" cy="647700"/>
          </a:xfrm>
          <a:prstGeom xmlns:a="http://schemas.openxmlformats.org/drawingml/2006/main" prst="rect">
            <a:avLst/>
          </a:prstGeom>
        </p:spPr>
      </p:pic>
      <p:pic>
        <p:nvPicPr>
          <p:cNvPr id="780" name="EKF example SVG output"/>
          <p:cNvPicPr>
            <a:picLocks xmlns:a="http://schemas.openxmlformats.org/drawingml/2006/main" noChangeAspect="1"/>
          </p:cNvPicPr>
          <p:nvPr/>
        </p:nvPicPr>
        <p:blipFill>
          <a:blip xmlns:r="http://schemas.openxmlformats.org/officeDocument/2006/relationships" xmlns:a="http://schemas.openxmlformats.org/drawingml/2006/main" r:embed="rIdTurn8001">
            <a:extLst>
              <a:ext uri="{96DAC541-7B7A-43D3-8B79-37D633B846F1}">
                <asvg:svgBlip xmlns:asvg="http://schemas.microsoft.com/office/drawing/2016/SVG/main" r:embed="rIdTurn8002"/>
              </a:ext>
            </a:extLst>
          </a:blip>
          <a:stretch xmlns:a="http://schemas.openxmlformats.org/drawingml/2006/main"/>
        </p:blipFill>
        <p:spPr>
          <a:xfrm xmlns:a="http://schemas.openxmlformats.org/drawingml/2006/main">
            <a:off x="20288250" y="26489025"/>
            <a:ext cx="1285875" cy="971550"/>
          </a:xfrm>
          <a:prstGeom xmlns:a="http://schemas.openxmlformats.org/drawingml/2006/main" prst="rect">
            <a:avLst/>
          </a:prstGeom>
        </p:spPr>
      </p:pic>
      <p:sp>
        <p:nvSpPr>
          <p:cNvPr id="781" name="Yellow dashed curly QR arrow">
            <a:extLst xmlns:a="http://schemas.openxmlformats.org/drawingml/2006/main">
              <a:ext uri="{FF2B5EF4-FFF2-40B4-BE49-F238E27FC236}">
                <a16:creationId xmlns:a16="http://schemas.microsoft.com/office/drawing/2014/main" id="{71125DDD-289A-4C22-A861-60EBCCAE057F}"/>
              </a:ext>
            </a:extLst>
          </p:cNvPr>
          <p:cNvSpPr>
            <a:spLocks xmlns:a="http://schemas.openxmlformats.org/drawingml/2006/main" noGrp="1"/>
          </p:cNvSpPr>
          <p:nvPr/>
        </p:nvSpPr>
        <p:spPr>
          <a:xfrm xmlns:a="http://schemas.openxmlformats.org/drawingml/2006/main">
            <a:off x="2524125" y="42243375"/>
            <a:ext cx="742950" cy="942975"/>
          </a:xfrm>
          <a:custGeom>
            <a:avLst/>
            <a:gdLst/>
            <a:ahLst/>
            <a:cxnLst/>
            <a:rect l="0" t="0" r="r" b="b"/>
            <a:pathLst>
              <a:path w="78000" h="99000" fill="none" stroke="1">
                <a:moveTo>
                  <a:pt x="61000" y="0"/>
                </a:moveTo>
                <a:cubicBezTo>
                  <a:pt x="68000" y="10500"/>
                  <a:pt x="73500" y="22000"/>
                  <a:pt x="70100" y="33500"/>
                </a:cubicBezTo>
                <a:cubicBezTo>
                  <a:pt x="71400" y="45100"/>
                  <a:pt x="60100" y="55600"/>
                  <a:pt x="47300" y="59500"/>
                </a:cubicBezTo>
                <a:cubicBezTo>
                  <a:pt x="38000" y="62700"/>
                  <a:pt x="20500" y="62900"/>
                  <a:pt x="14200" y="55100"/>
                </a:cubicBezTo>
                <a:cubicBezTo>
                  <a:pt x="6800" y="49400"/>
                  <a:pt x="14000" y="39300"/>
                  <a:pt x="24200" y="37400"/>
                </a:cubicBezTo>
                <a:cubicBezTo>
                  <a:pt x="34500" y="33200"/>
                  <a:pt x="47900" y="41400"/>
                  <a:pt x="54100" y="47600"/>
                </a:cubicBezTo>
                <a:cubicBezTo>
                  <a:pt x="62000" y="54500"/>
                  <a:pt x="59600" y="65400"/>
                  <a:pt x="52600" y="73500"/>
                </a:cubicBezTo>
                <a:cubicBezTo>
                  <a:pt x="39200" y="86300"/>
                  <a:pt x="20400" y="91000"/>
                  <a:pt x="0" y="96000"/>
                </a:cubicBezTo>
              </a:path>
            </a:pathLst>
          </a:custGeom>
          <a:noFill xmlns:a="http://schemas.openxmlformats.org/drawingml/2006/main"/>
          <a:ln xmlns:a="http://schemas.openxmlformats.org/drawingml/2006/main" w="36195" cap="rnd">
            <a:solidFill>
              <a:srgbClr val="F6C04E"/>
            </a:solidFill>
            <a:custDash>
              <a:ds d="200000" sp="170000"/>
              <a:ds d="145000" sp="210000"/>
              <a:ds d="235000" sp="155000"/>
              <a:ds d="175000" sp="190000"/>
            </a:custDash>
            <a:round/>
            <a:headEnd type="none"/>
            <a:tailEnd type="arrow" w="lg" len="lg"/>
          </a:ln>
        </p:spPr>
      </p:sp>
      <p:sp>
        <p:nvSpPr>
          <p:cNvPr id="782" name="AOT load code panel">
            <a:extLst xmlns:a="http://schemas.openxmlformats.org/drawingml/2006/main">
              <a:ext uri="{FF2B5EF4-FFF2-40B4-BE49-F238E27FC236}">
                <a16:creationId xmlns:a16="http://schemas.microsoft.com/office/drawing/2014/main" id="{1A587E87-005D-4C9F-9012-02069323CEFB}"/>
              </a:ext>
            </a:extLst>
          </p:cNvPr>
          <p:cNvSpPr>
            <a:spLocks xmlns:a="http://schemas.openxmlformats.org/drawingml/2006/main" noGrp="1"/>
          </p:cNvSpPr>
          <p:nvPr/>
        </p:nvSpPr>
        <p:spPr>
          <a:xfrm xmlns:a="http://schemas.openxmlformats.org/drawingml/2006/main">
            <a:off x="11334750" y="16811625"/>
            <a:ext cx="10334625" cy="1381125"/>
          </a:xfrm>
          <a:prstGeom xmlns:a="http://schemas.openxmlformats.org/drawingml/2006/main" prst="rect">
            <a:avLst/>
          </a:prstGeom>
          <a:solidFill xmlns:a="http://schemas.openxmlformats.org/drawingml/2006/main">
            <a:srgbClr val="101B20"/>
          </a:solidFill>
          <a:ln xmlns:a="http://schemas.openxmlformats.org/drawingml/2006/main" w="19050">
            <a:solidFill>
              <a:srgbClr val="354650"/>
            </a:solidFill>
          </a:ln>
        </p:spPr>
        <p:txBody>
          <a:bodyPr xmlns:a="http://schemas.openxmlformats.org/drawingml/2006/main" wrap="none" lIns="47625" tIns="28575" rIns="47625" bIns="28575" anchor="ctr">
            <a:noAutofit/>
          </a:bodyPr>
          <a:lstStyle xmlns:a="http://schemas.openxmlformats.org/drawingml/2006/main"/>
          <a:p xmlns:a="http://schemas.openxmlformats.org/drawingml/2006/main">
            <a:r>
              <a:t/>
            </a:r>
          </a:p>
        </p:txBody>
      </p:sp>
      <p:sp>
        <p:nvSpPr>
          <p:cNvPr id="783" name="Reactive key Inputs">
            <a:extLst xmlns:a="http://schemas.openxmlformats.org/drawingml/2006/main">
              <a:ext uri="{FF2B5EF4-FFF2-40B4-BE49-F238E27FC236}">
                <a16:creationId xmlns:a16="http://schemas.microsoft.com/office/drawing/2014/main" id="{4B955967-94B1-421B-AC73-1D86EAC156B9}"/>
              </a:ext>
            </a:extLst>
          </p:cNvPr>
          <p:cNvSpPr>
            <a:spLocks xmlns:a="http://schemas.openxmlformats.org/drawingml/2006/main" noGrp="1"/>
          </p:cNvSpPr>
          <p:nvPr/>
        </p:nvSpPr>
        <p:spPr>
          <a:xfrm xmlns:a="http://schemas.openxmlformats.org/drawingml/2006/main">
            <a:off x="952500" y="21583650"/>
            <a:ext cx="219075" cy="219075"/>
          </a:xfrm>
          <a:prstGeom xmlns:a="http://schemas.openxmlformats.org/drawingml/2006/main" prst="rect">
            <a:avLst/>
          </a:prstGeom>
          <a:solidFill xmlns:a="http://schemas.openxmlformats.org/drawingml/2006/main">
            <a:srgbClr val="101B20"/>
          </a:solidFill>
          <a:ln xmlns:a="http://schemas.openxmlformats.org/drawingml/2006/main" w="19050">
            <a:solidFill>
              <a:srgbClr val="7FC7FF"/>
            </a:solidFill>
          </a:ln>
        </p:spPr>
        <p:txBody>
          <a:bodyPr xmlns:a="http://schemas.openxmlformats.org/drawingml/2006/main" wrap="none" lIns="47625" tIns="28575" rIns="47625" bIns="28575" anchor="ctr">
            <a:noAutofit/>
          </a:bodyPr>
          <a:lstStyle xmlns:a="http://schemas.openxmlformats.org/drawingml/2006/main"/>
          <a:p xmlns:a="http://schemas.openxmlformats.org/drawingml/2006/main">
            <a:r>
              <a:t/>
            </a:r>
          </a:p>
        </p:txBody>
      </p:sp>
      <p:sp>
        <p:nvSpPr>
          <p:cNvPr id="784" name="Reactive key label Inputs">
            <a:extLst xmlns:a="http://schemas.openxmlformats.org/drawingml/2006/main">
              <a:ext uri="{FF2B5EF4-FFF2-40B4-BE49-F238E27FC236}">
                <a16:creationId xmlns:a16="http://schemas.microsoft.com/office/drawing/2014/main" id="{8E62BB02-417E-464E-93FA-F938A8AE74AE}"/>
              </a:ext>
            </a:extLst>
          </p:cNvPr>
          <p:cNvSpPr>
            <a:spLocks xmlns:a="http://schemas.openxmlformats.org/drawingml/2006/main" noGrp="1"/>
          </p:cNvSpPr>
          <p:nvPr/>
        </p:nvSpPr>
        <p:spPr>
          <a:xfrm xmlns:a="http://schemas.openxmlformats.org/drawingml/2006/main">
            <a:off x="1276350" y="21526500"/>
            <a:ext cx="1304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a:solidFill>
                  <a:srgbClr val="A4BAC8"/>
                </a:solidFill>
                <a:latin typeface="Segoe UI"/>
                <a:ea typeface="Segoe UI"/>
                <a:cs typeface="Segoe UI"/>
              </a:defRPr>
            </a:pPr>
            <a:r>
              <a:rPr sz="2025">
                <a:solidFill>
                  <a:srgbClr val="A4BAC8"/>
                </a:solidFill>
                <a:latin typeface="Segoe UI"/>
                <a:ea typeface="Segoe UI"/>
                <a:cs typeface="Segoe UI"/>
              </a:rPr>
              <a:t>Inputs</a:t>
            </a:r>
          </a:p>
        </p:txBody>
      </p:sp>
      <p:sp>
        <p:nvSpPr>
          <p:cNvPr id="785" name="Reactive key Program">
            <a:extLst xmlns:a="http://schemas.openxmlformats.org/drawingml/2006/main">
              <a:ext uri="{FF2B5EF4-FFF2-40B4-BE49-F238E27FC236}">
                <a16:creationId xmlns:a16="http://schemas.microsoft.com/office/drawing/2014/main" id="{B064E948-2F1E-45AD-81AA-7B57DC419F64}"/>
              </a:ext>
            </a:extLst>
          </p:cNvPr>
          <p:cNvSpPr>
            <a:spLocks xmlns:a="http://schemas.openxmlformats.org/drawingml/2006/main" noGrp="1"/>
          </p:cNvSpPr>
          <p:nvPr/>
        </p:nvSpPr>
        <p:spPr>
          <a:xfrm xmlns:a="http://schemas.openxmlformats.org/drawingml/2006/main">
            <a:off x="2619375" y="21583650"/>
            <a:ext cx="219075" cy="219075"/>
          </a:xfrm>
          <a:prstGeom xmlns:a="http://schemas.openxmlformats.org/drawingml/2006/main" prst="rect">
            <a:avLst/>
          </a:prstGeom>
          <a:solidFill xmlns:a="http://schemas.openxmlformats.org/drawingml/2006/main">
            <a:srgbClr val="101B20"/>
          </a:solidFill>
          <a:ln xmlns:a="http://schemas.openxmlformats.org/drawingml/2006/main" w="19050">
            <a:solidFill>
              <a:srgbClr val="CD8DCA"/>
            </a:solidFill>
          </a:ln>
        </p:spPr>
        <p:txBody>
          <a:bodyPr xmlns:a="http://schemas.openxmlformats.org/drawingml/2006/main" wrap="none" lIns="47625" tIns="28575" rIns="47625" bIns="28575" anchor="ctr">
            <a:noAutofit/>
          </a:bodyPr>
          <a:lstStyle xmlns:a="http://schemas.openxmlformats.org/drawingml/2006/main"/>
          <a:p xmlns:a="http://schemas.openxmlformats.org/drawingml/2006/main">
            <a:r>
              <a:t/>
            </a:r>
          </a:p>
        </p:txBody>
      </p:sp>
      <p:sp>
        <p:nvSpPr>
          <p:cNvPr id="786" name="Reactive key label Program">
            <a:extLst xmlns:a="http://schemas.openxmlformats.org/drawingml/2006/main">
              <a:ext uri="{FF2B5EF4-FFF2-40B4-BE49-F238E27FC236}">
                <a16:creationId xmlns:a16="http://schemas.microsoft.com/office/drawing/2014/main" id="{31890D18-2496-4352-A109-4C3994BAC60B}"/>
              </a:ext>
            </a:extLst>
          </p:cNvPr>
          <p:cNvSpPr>
            <a:spLocks xmlns:a="http://schemas.openxmlformats.org/drawingml/2006/main" noGrp="1"/>
          </p:cNvSpPr>
          <p:nvPr/>
        </p:nvSpPr>
        <p:spPr>
          <a:xfrm xmlns:a="http://schemas.openxmlformats.org/drawingml/2006/main">
            <a:off x="2943225" y="21526500"/>
            <a:ext cx="1304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a:solidFill>
                  <a:srgbClr val="A4BAC8"/>
                </a:solidFill>
                <a:latin typeface="Segoe UI"/>
                <a:ea typeface="Segoe UI"/>
                <a:cs typeface="Segoe UI"/>
              </a:defRPr>
            </a:pPr>
            <a:r>
              <a:rPr sz="2025">
                <a:solidFill>
                  <a:srgbClr val="A4BAC8"/>
                </a:solidFill>
                <a:latin typeface="Segoe UI"/>
                <a:ea typeface="Segoe UI"/>
                <a:cs typeface="Segoe UI"/>
              </a:rPr>
              <a:t>Program</a:t>
            </a:r>
          </a:p>
        </p:txBody>
      </p:sp>
      <p:sp>
        <p:nvSpPr>
          <p:cNvPr id="787" name="Reactive key Outputs">
            <a:extLst xmlns:a="http://schemas.openxmlformats.org/drawingml/2006/main">
              <a:ext uri="{FF2B5EF4-FFF2-40B4-BE49-F238E27FC236}">
                <a16:creationId xmlns:a16="http://schemas.microsoft.com/office/drawing/2014/main" id="{3F5AC1EB-7AE9-4733-B18A-8B880DA5B03A}"/>
              </a:ext>
            </a:extLst>
          </p:cNvPr>
          <p:cNvSpPr>
            <a:spLocks xmlns:a="http://schemas.openxmlformats.org/drawingml/2006/main" noGrp="1"/>
          </p:cNvSpPr>
          <p:nvPr/>
        </p:nvSpPr>
        <p:spPr>
          <a:xfrm xmlns:a="http://schemas.openxmlformats.org/drawingml/2006/main">
            <a:off x="4286250" y="21583650"/>
            <a:ext cx="219075" cy="219075"/>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none" lIns="47625" tIns="28575" rIns="47625" bIns="28575" anchor="ctr">
            <a:noAutofit/>
          </a:bodyPr>
          <a:lstStyle xmlns:a="http://schemas.openxmlformats.org/drawingml/2006/main"/>
          <a:p xmlns:a="http://schemas.openxmlformats.org/drawingml/2006/main">
            <a:r>
              <a:t/>
            </a:r>
          </a:p>
        </p:txBody>
      </p:sp>
      <p:sp>
        <p:nvSpPr>
          <p:cNvPr id="788" name="Reactive key label Outputs">
            <a:extLst xmlns:a="http://schemas.openxmlformats.org/drawingml/2006/main">
              <a:ext uri="{FF2B5EF4-FFF2-40B4-BE49-F238E27FC236}">
                <a16:creationId xmlns:a16="http://schemas.microsoft.com/office/drawing/2014/main" id="{947C78CE-0131-4628-A27D-A4F5405B2416}"/>
              </a:ext>
            </a:extLst>
          </p:cNvPr>
          <p:cNvSpPr>
            <a:spLocks xmlns:a="http://schemas.openxmlformats.org/drawingml/2006/main" noGrp="1"/>
          </p:cNvSpPr>
          <p:nvPr/>
        </p:nvSpPr>
        <p:spPr>
          <a:xfrm xmlns:a="http://schemas.openxmlformats.org/drawingml/2006/main">
            <a:off x="4610100" y="21526500"/>
            <a:ext cx="1304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a:solidFill>
                  <a:srgbClr val="A4BAC8"/>
                </a:solidFill>
                <a:latin typeface="Segoe UI"/>
                <a:ea typeface="Segoe UI"/>
                <a:cs typeface="Segoe UI"/>
              </a:defRPr>
            </a:pPr>
            <a:r>
              <a:rPr sz="2025">
                <a:solidFill>
                  <a:srgbClr val="A4BAC8"/>
                </a:solidFill>
                <a:latin typeface="Segoe UI"/>
                <a:ea typeface="Segoe UI"/>
                <a:cs typeface="Segoe UI"/>
              </a:rPr>
              <a:t>Outputs</a:t>
            </a:r>
          </a:p>
        </p:txBody>
      </p:sp>
      <p:sp>
        <p:nvSpPr>
          <p:cNvPr id="789" name="Reactive key Failures">
            <a:extLst xmlns:a="http://schemas.openxmlformats.org/drawingml/2006/main">
              <a:ext uri="{FF2B5EF4-FFF2-40B4-BE49-F238E27FC236}">
                <a16:creationId xmlns:a16="http://schemas.microsoft.com/office/drawing/2014/main" id="{07C30400-5A68-452B-8712-80A0F1840F3C}"/>
              </a:ext>
            </a:extLst>
          </p:cNvPr>
          <p:cNvSpPr>
            <a:spLocks xmlns:a="http://schemas.openxmlformats.org/drawingml/2006/main" noGrp="1"/>
          </p:cNvSpPr>
          <p:nvPr/>
        </p:nvSpPr>
        <p:spPr>
          <a:xfrm xmlns:a="http://schemas.openxmlformats.org/drawingml/2006/main">
            <a:off x="5953125" y="21583650"/>
            <a:ext cx="219075" cy="219075"/>
          </a:xfrm>
          <a:prstGeom xmlns:a="http://schemas.openxmlformats.org/drawingml/2006/main" prst="rect">
            <a:avLst/>
          </a:prstGeom>
          <a:solidFill xmlns:a="http://schemas.openxmlformats.org/drawingml/2006/main">
            <a:srgbClr val="101B20"/>
          </a:solidFill>
          <a:ln xmlns:a="http://schemas.openxmlformats.org/drawingml/2006/main" w="19050">
            <a:solidFill>
              <a:srgbClr val="CE7979"/>
            </a:solidFill>
          </a:ln>
        </p:spPr>
        <p:txBody>
          <a:bodyPr xmlns:a="http://schemas.openxmlformats.org/drawingml/2006/main" wrap="none" lIns="47625" tIns="28575" rIns="47625" bIns="28575" anchor="ctr">
            <a:noAutofit/>
          </a:bodyPr>
          <a:lstStyle xmlns:a="http://schemas.openxmlformats.org/drawingml/2006/main"/>
          <a:p xmlns:a="http://schemas.openxmlformats.org/drawingml/2006/main">
            <a:r>
              <a:t/>
            </a:r>
          </a:p>
        </p:txBody>
      </p:sp>
      <p:sp>
        <p:nvSpPr>
          <p:cNvPr id="790" name="Reactive key label Failures">
            <a:extLst xmlns:a="http://schemas.openxmlformats.org/drawingml/2006/main">
              <a:ext uri="{FF2B5EF4-FFF2-40B4-BE49-F238E27FC236}">
                <a16:creationId xmlns:a16="http://schemas.microsoft.com/office/drawing/2014/main" id="{DA411DC6-112E-43F2-BFDD-EDFF05276311}"/>
              </a:ext>
            </a:extLst>
          </p:cNvPr>
          <p:cNvSpPr>
            <a:spLocks xmlns:a="http://schemas.openxmlformats.org/drawingml/2006/main" noGrp="1"/>
          </p:cNvSpPr>
          <p:nvPr/>
        </p:nvSpPr>
        <p:spPr>
          <a:xfrm xmlns:a="http://schemas.openxmlformats.org/drawingml/2006/main">
            <a:off x="6276975" y="21526500"/>
            <a:ext cx="1304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a:solidFill>
                  <a:srgbClr val="A4BAC8"/>
                </a:solidFill>
                <a:latin typeface="Segoe UI"/>
                <a:ea typeface="Segoe UI"/>
                <a:cs typeface="Segoe UI"/>
              </a:defRPr>
            </a:pPr>
            <a:r>
              <a:rPr sz="2025">
                <a:solidFill>
                  <a:srgbClr val="A4BAC8"/>
                </a:solidFill>
                <a:latin typeface="Segoe UI"/>
                <a:ea typeface="Segoe UI"/>
                <a:cs typeface="Segoe UI"/>
              </a:rPr>
              <a:t>Failures</a:t>
            </a:r>
          </a:p>
        </p:txBody>
      </p:sp>
      <p:sp>
        <p:nvSpPr>
          <p:cNvPr id="791" name="Activation failure">
            <a:extLst xmlns:a="http://schemas.openxmlformats.org/drawingml/2006/main">
              <a:ext uri="{FF2B5EF4-FFF2-40B4-BE49-F238E27FC236}">
                <a16:creationId xmlns:a16="http://schemas.microsoft.com/office/drawing/2014/main" id="{FF18FBB5-E623-4826-A4C2-67C4FFBE5AD3}"/>
              </a:ext>
            </a:extLst>
          </p:cNvPr>
          <p:cNvSpPr>
            <a:spLocks xmlns:a="http://schemas.openxmlformats.org/drawingml/2006/main" noGrp="1"/>
          </p:cNvSpPr>
          <p:nvPr/>
        </p:nvSpPr>
        <p:spPr>
          <a:xfrm xmlns:a="http://schemas.openxmlformats.org/drawingml/2006/main">
            <a:off x="13335000" y="23879175"/>
            <a:ext cx="4000500" cy="619125"/>
          </a:xfrm>
          <a:prstGeom xmlns:a="http://schemas.openxmlformats.org/drawingml/2006/main" prst="rect">
            <a:avLst/>
          </a:prstGeom>
          <a:solidFill xmlns:a="http://schemas.openxmlformats.org/drawingml/2006/main">
            <a:srgbClr val="101B20"/>
          </a:solidFill>
          <a:ln xmlns:a="http://schemas.openxmlformats.org/drawingml/2006/main" w="19050">
            <a:solidFill>
              <a:srgbClr val="CE7979"/>
            </a:solidFill>
          </a:ln>
        </p:spPr>
        <p:txBody>
          <a:bodyPr xmlns:a="http://schemas.openxmlformats.org/drawingml/2006/main" wrap="none" lIns="47625" tIns="28575" rIns="47625" bIns="28575" anchor="ctr">
            <a:noAutofit/>
          </a:bodyPr>
          <a:lstStyle xmlns:a="http://schemas.openxmlformats.org/drawingml/2006/main"/>
          <a:p xmlns:a="http://schemas.openxmlformats.org/drawingml/2006/main">
            <a:pPr algn="ctr">
              <a:defRPr sz="2100">
                <a:solidFill>
                  <a:srgbClr val="E8EDF0"/>
                </a:solidFill>
                <a:latin typeface="Segoe UI"/>
                <a:ea typeface="Segoe UI"/>
                <a:cs typeface="Segoe UI"/>
              </a:defRPr>
            </a:pPr>
            <a:r>
              <a:rPr sz="2100">
                <a:solidFill>
                  <a:srgbClr val="E8EDF0"/>
                </a:solidFill>
                <a:latin typeface="Segoe UI"/>
                <a:ea typeface="Segoe UI"/>
                <a:cs typeface="Segoe UI"/>
              </a:rPr>
              <a:t>Activation failed</a:t>
            </a:r>
          </a:p>
        </p:txBody>
      </p:sp>
      <p:cxnSp>
        <p:nvCxnSpPr>
          <p:cNvPr id="792" name="Activation failure branch"/>
          <p:cNvCxnSpPr>
            <a:stCxn xmlns:a="http://schemas.openxmlformats.org/drawingml/2006/main" id="199" idx="2"/>
            <a:endCxn xmlns:a="http://schemas.openxmlformats.org/drawingml/2006/main" id="791" idx="0"/>
          </p:cNvCxnSpPr>
          <p:nvPr/>
        </p:nvCxnSpPr>
        <p:spPr>
          <a:xfrm xmlns:a="http://schemas.openxmlformats.org/drawingml/2006/main">
            <a:off x="15335250" y="23622000"/>
            <a:ext cx="0" cy="257175"/>
          </a:xfrm>
          <a:prstGeom xmlns:a="http://schemas.openxmlformats.org/drawingml/2006/main" prst="straightConnector1">
            <a:avLst/>
          </a:prstGeom>
          <a:ln xmlns:a="http://schemas.openxmlformats.org/drawingml/2006/main" w="28575">
            <a:solidFill>
              <a:srgbClr val="CE7979"/>
            </a:solidFill>
            <a:tailEnd type="triangle" w="med" len="med"/>
          </a:ln>
        </p:spPr>
      </p:cxnSp>
      <p:sp>
        <p:nvSpPr>
          <p:cNvPr id="793" name="Backend checked plus-minus 0">
            <a:extLst xmlns:a="http://schemas.openxmlformats.org/drawingml/2006/main">
              <a:ext uri="{FF2B5EF4-FFF2-40B4-BE49-F238E27FC236}">
                <a16:creationId xmlns:a16="http://schemas.microsoft.com/office/drawing/2014/main" id="{448D65B0-1D53-4F02-A682-EE0939BE295B}"/>
              </a:ext>
            </a:extLst>
          </p:cNvPr>
          <p:cNvSpPr>
            <a:spLocks xmlns:a="http://schemas.openxmlformats.org/drawingml/2006/main" noGrp="1"/>
          </p:cNvSpPr>
          <p:nvPr/>
        </p:nvSpPr>
        <p:spPr>
          <a:xfrm xmlns:a="http://schemas.openxmlformats.org/drawingml/2006/main">
            <a:off x="20764500" y="35930644"/>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950">
                <a:solidFill>
                  <a:srgbClr val="E8EDF0"/>
                </a:solidFill>
                <a:latin typeface="Segoe UI"/>
                <a:ea typeface="Segoe UI"/>
                <a:cs typeface="Segoe UI"/>
              </a:defRPr>
            </a:pPr>
            <a:r>
              <a:rPr sz="1950">
                <a:solidFill>
                  <a:srgbClr val="E8EDF0"/>
                </a:solidFill>
                <a:latin typeface="Segoe UI"/>
                <a:ea typeface="Segoe UI"/>
                <a:cs typeface="Segoe UI"/>
              </a:rPr>
              <a:t>±</a:t>
            </a:r>
          </a:p>
        </p:txBody>
      </p:sp>
      <p:sp>
        <p:nvSpPr>
          <p:cNvPr id="794" name="Backend checked MAD 0">
            <a:extLst xmlns:a="http://schemas.openxmlformats.org/drawingml/2006/main">
              <a:ext uri="{FF2B5EF4-FFF2-40B4-BE49-F238E27FC236}">
                <a16:creationId xmlns:a16="http://schemas.microsoft.com/office/drawing/2014/main" id="{9F19C37D-34F4-4A96-AA03-D2B6EDAD03AB}"/>
              </a:ext>
            </a:extLst>
          </p:cNvPr>
          <p:cNvSpPr>
            <a:spLocks xmlns:a="http://schemas.openxmlformats.org/drawingml/2006/main" noGrp="1"/>
          </p:cNvSpPr>
          <p:nvPr/>
        </p:nvSpPr>
        <p:spPr>
          <a:xfrm xmlns:a="http://schemas.openxmlformats.org/drawingml/2006/main">
            <a:off x="21031200" y="35930644"/>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950">
                <a:solidFill>
                  <a:srgbClr val="E8EDF0"/>
                </a:solidFill>
                <a:latin typeface="Segoe UI"/>
                <a:ea typeface="Segoe UI"/>
                <a:cs typeface="Segoe UI"/>
              </a:defRPr>
            </a:pPr>
            <a:r>
              <a:rPr sz="1950">
                <a:solidFill>
                  <a:srgbClr val="E8EDF0"/>
                </a:solidFill>
                <a:latin typeface="Segoe UI"/>
                <a:ea typeface="Segoe UI"/>
                <a:cs typeface="Segoe UI"/>
              </a:rPr>
              <a:t>&lt;0.1</a:t>
            </a:r>
          </a:p>
        </p:txBody>
      </p:sp>
      <p:sp>
        <p:nvSpPr>
          <p:cNvPr id="795" name="Backend checked plus-minus 1">
            <a:extLst xmlns:a="http://schemas.openxmlformats.org/drawingml/2006/main">
              <a:ext uri="{FF2B5EF4-FFF2-40B4-BE49-F238E27FC236}">
                <a16:creationId xmlns:a16="http://schemas.microsoft.com/office/drawing/2014/main" id="{AB3C21F2-8315-4204-A8B2-29341BEF5F2D}"/>
              </a:ext>
            </a:extLst>
          </p:cNvPr>
          <p:cNvSpPr>
            <a:spLocks xmlns:a="http://schemas.openxmlformats.org/drawingml/2006/main" noGrp="1"/>
          </p:cNvSpPr>
          <p:nvPr/>
        </p:nvSpPr>
        <p:spPr>
          <a:xfrm xmlns:a="http://schemas.openxmlformats.org/drawingml/2006/main">
            <a:off x="20764500" y="34998146"/>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950">
                <a:solidFill>
                  <a:srgbClr val="E8EDF0"/>
                </a:solidFill>
                <a:latin typeface="Segoe UI"/>
                <a:ea typeface="Segoe UI"/>
                <a:cs typeface="Segoe UI"/>
              </a:defRPr>
            </a:pPr>
            <a:r>
              <a:rPr sz="1950">
                <a:solidFill>
                  <a:srgbClr val="E8EDF0"/>
                </a:solidFill>
                <a:latin typeface="Segoe UI"/>
                <a:ea typeface="Segoe UI"/>
                <a:cs typeface="Segoe UI"/>
              </a:rPr>
              <a:t>±</a:t>
            </a:r>
          </a:p>
        </p:txBody>
      </p:sp>
      <p:sp>
        <p:nvSpPr>
          <p:cNvPr id="796" name="Backend checked MAD 1">
            <a:extLst xmlns:a="http://schemas.openxmlformats.org/drawingml/2006/main">
              <a:ext uri="{FF2B5EF4-FFF2-40B4-BE49-F238E27FC236}">
                <a16:creationId xmlns:a16="http://schemas.microsoft.com/office/drawing/2014/main" id="{1DE6B995-DACB-4D89-BF86-0D5BEE901770}"/>
              </a:ext>
            </a:extLst>
          </p:cNvPr>
          <p:cNvSpPr>
            <a:spLocks xmlns:a="http://schemas.openxmlformats.org/drawingml/2006/main" noGrp="1"/>
          </p:cNvSpPr>
          <p:nvPr/>
        </p:nvSpPr>
        <p:spPr>
          <a:xfrm xmlns:a="http://schemas.openxmlformats.org/drawingml/2006/main">
            <a:off x="21031200" y="34998146"/>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950">
                <a:solidFill>
                  <a:srgbClr val="E8EDF0"/>
                </a:solidFill>
                <a:latin typeface="Segoe UI"/>
                <a:ea typeface="Segoe UI"/>
                <a:cs typeface="Segoe UI"/>
              </a:defRPr>
            </a:pPr>
            <a:r>
              <a:rPr sz="1950">
                <a:solidFill>
                  <a:srgbClr val="E8EDF0"/>
                </a:solidFill>
                <a:latin typeface="Segoe UI"/>
                <a:ea typeface="Segoe UI"/>
                <a:cs typeface="Segoe UI"/>
              </a:rPr>
              <a:t>&lt;0.1</a:t>
            </a:r>
          </a:p>
        </p:txBody>
      </p:sp>
      <p:sp>
        <p:nvSpPr>
          <p:cNvPr id="797" name="Backend checked plus-minus 2">
            <a:extLst xmlns:a="http://schemas.openxmlformats.org/drawingml/2006/main">
              <a:ext uri="{FF2B5EF4-FFF2-40B4-BE49-F238E27FC236}">
                <a16:creationId xmlns:a16="http://schemas.microsoft.com/office/drawing/2014/main" id="{637972F5-8991-4639-963A-4EF06E8210A9}"/>
              </a:ext>
            </a:extLst>
          </p:cNvPr>
          <p:cNvSpPr>
            <a:spLocks xmlns:a="http://schemas.openxmlformats.org/drawingml/2006/main" noGrp="1"/>
          </p:cNvSpPr>
          <p:nvPr/>
        </p:nvSpPr>
        <p:spPr>
          <a:xfrm xmlns:a="http://schemas.openxmlformats.org/drawingml/2006/main">
            <a:off x="20764500" y="34065649"/>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950">
                <a:solidFill>
                  <a:srgbClr val="E8EDF0"/>
                </a:solidFill>
                <a:latin typeface="Segoe UI"/>
                <a:ea typeface="Segoe UI"/>
                <a:cs typeface="Segoe UI"/>
              </a:defRPr>
            </a:pPr>
            <a:r>
              <a:rPr sz="1950">
                <a:solidFill>
                  <a:srgbClr val="E8EDF0"/>
                </a:solidFill>
                <a:latin typeface="Segoe UI"/>
                <a:ea typeface="Segoe UI"/>
                <a:cs typeface="Segoe UI"/>
              </a:rPr>
              <a:t>±</a:t>
            </a:r>
          </a:p>
        </p:txBody>
      </p:sp>
      <p:sp>
        <p:nvSpPr>
          <p:cNvPr id="798" name="Backend checked MAD 2">
            <a:extLst xmlns:a="http://schemas.openxmlformats.org/drawingml/2006/main">
              <a:ext uri="{FF2B5EF4-FFF2-40B4-BE49-F238E27FC236}">
                <a16:creationId xmlns:a16="http://schemas.microsoft.com/office/drawing/2014/main" id="{33C9318E-64ED-4B84-AEC4-7ACA2964D0C8}"/>
              </a:ext>
            </a:extLst>
          </p:cNvPr>
          <p:cNvSpPr>
            <a:spLocks xmlns:a="http://schemas.openxmlformats.org/drawingml/2006/main" noGrp="1"/>
          </p:cNvSpPr>
          <p:nvPr/>
        </p:nvSpPr>
        <p:spPr>
          <a:xfrm xmlns:a="http://schemas.openxmlformats.org/drawingml/2006/main">
            <a:off x="21031200" y="34065649"/>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950">
                <a:solidFill>
                  <a:srgbClr val="E8EDF0"/>
                </a:solidFill>
                <a:latin typeface="Segoe UI"/>
                <a:ea typeface="Segoe UI"/>
                <a:cs typeface="Segoe UI"/>
              </a:defRPr>
            </a:pPr>
            <a:r>
              <a:rPr sz="1950">
                <a:solidFill>
                  <a:srgbClr val="E8EDF0"/>
                </a:solidFill>
                <a:latin typeface="Segoe UI"/>
                <a:ea typeface="Segoe UI"/>
                <a:cs typeface="Segoe UI"/>
              </a:rPr>
              <a:t>&lt;0.1</a:t>
            </a:r>
          </a:p>
        </p:txBody>
      </p:sp>
      <p:sp>
        <p:nvSpPr>
          <p:cNvPr id="799" name="Backend checked plus-minus 3">
            <a:extLst xmlns:a="http://schemas.openxmlformats.org/drawingml/2006/main">
              <a:ext uri="{FF2B5EF4-FFF2-40B4-BE49-F238E27FC236}">
                <a16:creationId xmlns:a16="http://schemas.microsoft.com/office/drawing/2014/main" id="{93F652AC-3B55-4533-9EFA-F321A623253E}"/>
              </a:ext>
            </a:extLst>
          </p:cNvPr>
          <p:cNvSpPr>
            <a:spLocks xmlns:a="http://schemas.openxmlformats.org/drawingml/2006/main" noGrp="1"/>
          </p:cNvSpPr>
          <p:nvPr/>
        </p:nvSpPr>
        <p:spPr>
          <a:xfrm xmlns:a="http://schemas.openxmlformats.org/drawingml/2006/main">
            <a:off x="20764500" y="33133151"/>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950">
                <a:solidFill>
                  <a:srgbClr val="E8EDF0"/>
                </a:solidFill>
                <a:latin typeface="Segoe UI"/>
                <a:ea typeface="Segoe UI"/>
                <a:cs typeface="Segoe UI"/>
              </a:defRPr>
            </a:pPr>
            <a:r>
              <a:rPr sz="1950">
                <a:solidFill>
                  <a:srgbClr val="E8EDF0"/>
                </a:solidFill>
                <a:latin typeface="Segoe UI"/>
                <a:ea typeface="Segoe UI"/>
                <a:cs typeface="Segoe UI"/>
              </a:rPr>
              <a:t>±</a:t>
            </a:r>
          </a:p>
        </p:txBody>
      </p:sp>
      <p:sp>
        <p:nvSpPr>
          <p:cNvPr id="800" name="Backend checked MAD 3">
            <a:extLst xmlns:a="http://schemas.openxmlformats.org/drawingml/2006/main">
              <a:ext uri="{FF2B5EF4-FFF2-40B4-BE49-F238E27FC236}">
                <a16:creationId xmlns:a16="http://schemas.microsoft.com/office/drawing/2014/main" id="{38CC2EAC-0F76-493C-8906-D75D43C8A19B}"/>
              </a:ext>
            </a:extLst>
          </p:cNvPr>
          <p:cNvSpPr>
            <a:spLocks xmlns:a="http://schemas.openxmlformats.org/drawingml/2006/main" noGrp="1"/>
          </p:cNvSpPr>
          <p:nvPr/>
        </p:nvSpPr>
        <p:spPr>
          <a:xfrm xmlns:a="http://schemas.openxmlformats.org/drawingml/2006/main">
            <a:off x="21031200" y="33133151"/>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950">
                <a:solidFill>
                  <a:srgbClr val="E8EDF0"/>
                </a:solidFill>
                <a:latin typeface="Segoe UI"/>
                <a:ea typeface="Segoe UI"/>
                <a:cs typeface="Segoe UI"/>
              </a:defRPr>
            </a:pPr>
            <a:r>
              <a:rPr sz="1950">
                <a:solidFill>
                  <a:srgbClr val="E8EDF0"/>
                </a:solidFill>
                <a:latin typeface="Segoe UI"/>
                <a:ea typeface="Segoe UI"/>
                <a:cs typeface="Segoe UI"/>
              </a:rPr>
              <a:t>0.5</a:t>
            </a:r>
          </a:p>
        </p:txBody>
      </p:sp>
      <p:sp>
        <p:nvSpPr>
          <p:cNvPr id="801" name="Backend checked plus-minus 4">
            <a:extLst xmlns:a="http://schemas.openxmlformats.org/drawingml/2006/main">
              <a:ext uri="{FF2B5EF4-FFF2-40B4-BE49-F238E27FC236}">
                <a16:creationId xmlns:a16="http://schemas.microsoft.com/office/drawing/2014/main" id="{7C92080F-76B9-42A2-91F0-39742FE36E3F}"/>
              </a:ext>
            </a:extLst>
          </p:cNvPr>
          <p:cNvSpPr>
            <a:spLocks xmlns:a="http://schemas.openxmlformats.org/drawingml/2006/main" noGrp="1"/>
          </p:cNvSpPr>
          <p:nvPr/>
        </p:nvSpPr>
        <p:spPr>
          <a:xfrm xmlns:a="http://schemas.openxmlformats.org/drawingml/2006/main">
            <a:off x="20764500" y="32200654"/>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950">
                <a:solidFill>
                  <a:srgbClr val="E8EDF0"/>
                </a:solidFill>
                <a:latin typeface="Segoe UI"/>
                <a:ea typeface="Segoe UI"/>
                <a:cs typeface="Segoe UI"/>
              </a:defRPr>
            </a:pPr>
            <a:r>
              <a:rPr sz="1950">
                <a:solidFill>
                  <a:srgbClr val="E8EDF0"/>
                </a:solidFill>
                <a:latin typeface="Segoe UI"/>
                <a:ea typeface="Segoe UI"/>
                <a:cs typeface="Segoe UI"/>
              </a:rPr>
              <a:t>±</a:t>
            </a:r>
          </a:p>
        </p:txBody>
      </p:sp>
      <p:sp>
        <p:nvSpPr>
          <p:cNvPr id="802" name="Backend checked MAD 4">
            <a:extLst xmlns:a="http://schemas.openxmlformats.org/drawingml/2006/main">
              <a:ext uri="{FF2B5EF4-FFF2-40B4-BE49-F238E27FC236}">
                <a16:creationId xmlns:a16="http://schemas.microsoft.com/office/drawing/2014/main" id="{2D0B084E-17FC-492E-A64F-62604142C559}"/>
              </a:ext>
            </a:extLst>
          </p:cNvPr>
          <p:cNvSpPr>
            <a:spLocks xmlns:a="http://schemas.openxmlformats.org/drawingml/2006/main" noGrp="1"/>
          </p:cNvSpPr>
          <p:nvPr/>
        </p:nvSpPr>
        <p:spPr>
          <a:xfrm xmlns:a="http://schemas.openxmlformats.org/drawingml/2006/main">
            <a:off x="21031200" y="32200654"/>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950">
                <a:solidFill>
                  <a:srgbClr val="E8EDF0"/>
                </a:solidFill>
                <a:latin typeface="Segoe UI"/>
                <a:ea typeface="Segoe UI"/>
                <a:cs typeface="Segoe UI"/>
              </a:defRPr>
            </a:pPr>
            <a:r>
              <a:rPr sz="1950">
                <a:solidFill>
                  <a:srgbClr val="E8EDF0"/>
                </a:solidFill>
                <a:latin typeface="Segoe UI"/>
                <a:ea typeface="Segoe UI"/>
                <a:cs typeface="Segoe UI"/>
              </a:rPr>
              <a:t>2.3</a:t>
            </a:r>
          </a:p>
        </p:txBody>
      </p:sp>
      <p:sp>
        <p:nvSpPr>
          <p:cNvPr id="803" name="Backend unchecked plus-minus 0">
            <a:extLst xmlns:a="http://schemas.openxmlformats.org/drawingml/2006/main">
              <a:ext uri="{FF2B5EF4-FFF2-40B4-BE49-F238E27FC236}">
                <a16:creationId xmlns:a16="http://schemas.microsoft.com/office/drawing/2014/main" id="{15A251E1-D487-47C3-A106-1E1CEED4DE68}"/>
              </a:ext>
            </a:extLst>
          </p:cNvPr>
          <p:cNvSpPr>
            <a:spLocks xmlns:a="http://schemas.openxmlformats.org/drawingml/2006/main" noGrp="1"/>
          </p:cNvSpPr>
          <p:nvPr/>
        </p:nvSpPr>
        <p:spPr>
          <a:xfrm xmlns:a="http://schemas.openxmlformats.org/drawingml/2006/main">
            <a:off x="20764500" y="35564959"/>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950">
                <a:solidFill>
                  <a:srgbClr val="E8EDF0"/>
                </a:solidFill>
                <a:latin typeface="Segoe UI"/>
                <a:ea typeface="Segoe UI"/>
                <a:cs typeface="Segoe UI"/>
              </a:defRPr>
            </a:pPr>
            <a:r>
              <a:rPr sz="1950">
                <a:solidFill>
                  <a:srgbClr val="E8EDF0"/>
                </a:solidFill>
                <a:latin typeface="Segoe UI"/>
                <a:ea typeface="Segoe UI"/>
                <a:cs typeface="Segoe UI"/>
              </a:rPr>
              <a:t>±</a:t>
            </a:r>
          </a:p>
        </p:txBody>
      </p:sp>
      <p:sp>
        <p:nvSpPr>
          <p:cNvPr id="804" name="Backend unchecked MAD 0">
            <a:extLst xmlns:a="http://schemas.openxmlformats.org/drawingml/2006/main">
              <a:ext uri="{FF2B5EF4-FFF2-40B4-BE49-F238E27FC236}">
                <a16:creationId xmlns:a16="http://schemas.microsoft.com/office/drawing/2014/main" id="{E82E8857-E341-465D-878B-91C2CE9ACA73}"/>
              </a:ext>
            </a:extLst>
          </p:cNvPr>
          <p:cNvSpPr>
            <a:spLocks xmlns:a="http://schemas.openxmlformats.org/drawingml/2006/main" noGrp="1"/>
          </p:cNvSpPr>
          <p:nvPr/>
        </p:nvSpPr>
        <p:spPr>
          <a:xfrm xmlns:a="http://schemas.openxmlformats.org/drawingml/2006/main">
            <a:off x="21031200" y="35564959"/>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950">
                <a:solidFill>
                  <a:srgbClr val="E8EDF0"/>
                </a:solidFill>
                <a:latin typeface="Segoe UI"/>
                <a:ea typeface="Segoe UI"/>
                <a:cs typeface="Segoe UI"/>
              </a:defRPr>
            </a:pPr>
            <a:r>
              <a:rPr sz="1950">
                <a:solidFill>
                  <a:srgbClr val="E8EDF0"/>
                </a:solidFill>
                <a:latin typeface="Segoe UI"/>
                <a:ea typeface="Segoe UI"/>
                <a:cs typeface="Segoe UI"/>
              </a:rPr>
              <a:t>&lt;0.1</a:t>
            </a:r>
          </a:p>
        </p:txBody>
      </p:sp>
      <p:sp>
        <p:nvSpPr>
          <p:cNvPr id="805" name="Backend unchecked plus-minus 1">
            <a:extLst xmlns:a="http://schemas.openxmlformats.org/drawingml/2006/main">
              <a:ext uri="{FF2B5EF4-FFF2-40B4-BE49-F238E27FC236}">
                <a16:creationId xmlns:a16="http://schemas.microsoft.com/office/drawing/2014/main" id="{67635534-5EC8-4B5D-8735-3846BCEA4709}"/>
              </a:ext>
            </a:extLst>
          </p:cNvPr>
          <p:cNvSpPr>
            <a:spLocks xmlns:a="http://schemas.openxmlformats.org/drawingml/2006/main" noGrp="1"/>
          </p:cNvSpPr>
          <p:nvPr/>
        </p:nvSpPr>
        <p:spPr>
          <a:xfrm xmlns:a="http://schemas.openxmlformats.org/drawingml/2006/main">
            <a:off x="20764500" y="34632461"/>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950">
                <a:solidFill>
                  <a:srgbClr val="E8EDF0"/>
                </a:solidFill>
                <a:latin typeface="Segoe UI"/>
                <a:ea typeface="Segoe UI"/>
                <a:cs typeface="Segoe UI"/>
              </a:defRPr>
            </a:pPr>
            <a:r>
              <a:rPr sz="1950">
                <a:solidFill>
                  <a:srgbClr val="E8EDF0"/>
                </a:solidFill>
                <a:latin typeface="Segoe UI"/>
                <a:ea typeface="Segoe UI"/>
                <a:cs typeface="Segoe UI"/>
              </a:rPr>
              <a:t>±</a:t>
            </a:r>
          </a:p>
        </p:txBody>
      </p:sp>
      <p:sp>
        <p:nvSpPr>
          <p:cNvPr id="806" name="Backend unchecked MAD 1">
            <a:extLst xmlns:a="http://schemas.openxmlformats.org/drawingml/2006/main">
              <a:ext uri="{FF2B5EF4-FFF2-40B4-BE49-F238E27FC236}">
                <a16:creationId xmlns:a16="http://schemas.microsoft.com/office/drawing/2014/main" id="{5A348A60-85D8-4148-8CF9-A457157A61E3}"/>
              </a:ext>
            </a:extLst>
          </p:cNvPr>
          <p:cNvSpPr>
            <a:spLocks xmlns:a="http://schemas.openxmlformats.org/drawingml/2006/main" noGrp="1"/>
          </p:cNvSpPr>
          <p:nvPr/>
        </p:nvSpPr>
        <p:spPr>
          <a:xfrm xmlns:a="http://schemas.openxmlformats.org/drawingml/2006/main">
            <a:off x="21031200" y="34632461"/>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950">
                <a:solidFill>
                  <a:srgbClr val="E8EDF0"/>
                </a:solidFill>
                <a:latin typeface="Segoe UI"/>
                <a:ea typeface="Segoe UI"/>
                <a:cs typeface="Segoe UI"/>
              </a:defRPr>
            </a:pPr>
            <a:r>
              <a:rPr sz="1950">
                <a:solidFill>
                  <a:srgbClr val="E8EDF0"/>
                </a:solidFill>
                <a:latin typeface="Segoe UI"/>
                <a:ea typeface="Segoe UI"/>
                <a:cs typeface="Segoe UI"/>
              </a:rPr>
              <a:t>&lt;0.1</a:t>
            </a:r>
          </a:p>
        </p:txBody>
      </p:sp>
      <p:sp>
        <p:nvSpPr>
          <p:cNvPr id="807" name="Backend unchecked plus-minus 2">
            <a:extLst xmlns:a="http://schemas.openxmlformats.org/drawingml/2006/main">
              <a:ext uri="{FF2B5EF4-FFF2-40B4-BE49-F238E27FC236}">
                <a16:creationId xmlns:a16="http://schemas.microsoft.com/office/drawing/2014/main" id="{93223277-6266-4388-98FA-1D0A5EB4B436}"/>
              </a:ext>
            </a:extLst>
          </p:cNvPr>
          <p:cNvSpPr>
            <a:spLocks xmlns:a="http://schemas.openxmlformats.org/drawingml/2006/main" noGrp="1"/>
          </p:cNvSpPr>
          <p:nvPr/>
        </p:nvSpPr>
        <p:spPr>
          <a:xfrm xmlns:a="http://schemas.openxmlformats.org/drawingml/2006/main">
            <a:off x="20764500" y="33699964"/>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950">
                <a:solidFill>
                  <a:srgbClr val="E8EDF0"/>
                </a:solidFill>
                <a:latin typeface="Segoe UI"/>
                <a:ea typeface="Segoe UI"/>
                <a:cs typeface="Segoe UI"/>
              </a:defRPr>
            </a:pPr>
            <a:r>
              <a:rPr sz="1950">
                <a:solidFill>
                  <a:srgbClr val="E8EDF0"/>
                </a:solidFill>
                <a:latin typeface="Segoe UI"/>
                <a:ea typeface="Segoe UI"/>
                <a:cs typeface="Segoe UI"/>
              </a:rPr>
              <a:t>±</a:t>
            </a:r>
          </a:p>
        </p:txBody>
      </p:sp>
      <p:sp>
        <p:nvSpPr>
          <p:cNvPr id="808" name="Backend unchecked MAD 2">
            <a:extLst xmlns:a="http://schemas.openxmlformats.org/drawingml/2006/main">
              <a:ext uri="{FF2B5EF4-FFF2-40B4-BE49-F238E27FC236}">
                <a16:creationId xmlns:a16="http://schemas.microsoft.com/office/drawing/2014/main" id="{8E9CB3A4-BE4A-49DB-9981-016570F6F0E9}"/>
              </a:ext>
            </a:extLst>
          </p:cNvPr>
          <p:cNvSpPr>
            <a:spLocks xmlns:a="http://schemas.openxmlformats.org/drawingml/2006/main" noGrp="1"/>
          </p:cNvSpPr>
          <p:nvPr/>
        </p:nvSpPr>
        <p:spPr>
          <a:xfrm xmlns:a="http://schemas.openxmlformats.org/drawingml/2006/main">
            <a:off x="21031200" y="33699964"/>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950">
                <a:solidFill>
                  <a:srgbClr val="E8EDF0"/>
                </a:solidFill>
                <a:latin typeface="Segoe UI"/>
                <a:ea typeface="Segoe UI"/>
                <a:cs typeface="Segoe UI"/>
              </a:defRPr>
            </a:pPr>
            <a:r>
              <a:rPr sz="1950">
                <a:solidFill>
                  <a:srgbClr val="E8EDF0"/>
                </a:solidFill>
                <a:latin typeface="Segoe UI"/>
                <a:ea typeface="Segoe UI"/>
                <a:cs typeface="Segoe UI"/>
              </a:rPr>
              <a:t>0.1</a:t>
            </a:r>
          </a:p>
        </p:txBody>
      </p:sp>
      <p:sp>
        <p:nvSpPr>
          <p:cNvPr id="809" name="Backend unchecked plus-minus 3">
            <a:extLst xmlns:a="http://schemas.openxmlformats.org/drawingml/2006/main">
              <a:ext uri="{FF2B5EF4-FFF2-40B4-BE49-F238E27FC236}">
                <a16:creationId xmlns:a16="http://schemas.microsoft.com/office/drawing/2014/main" id="{0A67829D-EB30-49AF-9C46-0543D2E45B95}"/>
              </a:ext>
            </a:extLst>
          </p:cNvPr>
          <p:cNvSpPr>
            <a:spLocks xmlns:a="http://schemas.openxmlformats.org/drawingml/2006/main" noGrp="1"/>
          </p:cNvSpPr>
          <p:nvPr/>
        </p:nvSpPr>
        <p:spPr>
          <a:xfrm xmlns:a="http://schemas.openxmlformats.org/drawingml/2006/main">
            <a:off x="20764500" y="32767466"/>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950">
                <a:solidFill>
                  <a:srgbClr val="E8EDF0"/>
                </a:solidFill>
                <a:latin typeface="Segoe UI"/>
                <a:ea typeface="Segoe UI"/>
                <a:cs typeface="Segoe UI"/>
              </a:defRPr>
            </a:pPr>
            <a:r>
              <a:rPr sz="1950">
                <a:solidFill>
                  <a:srgbClr val="E8EDF0"/>
                </a:solidFill>
                <a:latin typeface="Segoe UI"/>
                <a:ea typeface="Segoe UI"/>
                <a:cs typeface="Segoe UI"/>
              </a:rPr>
              <a:t>±</a:t>
            </a:r>
          </a:p>
        </p:txBody>
      </p:sp>
      <p:sp>
        <p:nvSpPr>
          <p:cNvPr id="810" name="Backend unchecked MAD 3">
            <a:extLst xmlns:a="http://schemas.openxmlformats.org/drawingml/2006/main">
              <a:ext uri="{FF2B5EF4-FFF2-40B4-BE49-F238E27FC236}">
                <a16:creationId xmlns:a16="http://schemas.microsoft.com/office/drawing/2014/main" id="{9E689A90-455C-4CA9-BE50-09B384CC1994}"/>
              </a:ext>
            </a:extLst>
          </p:cNvPr>
          <p:cNvSpPr>
            <a:spLocks xmlns:a="http://schemas.openxmlformats.org/drawingml/2006/main" noGrp="1"/>
          </p:cNvSpPr>
          <p:nvPr/>
        </p:nvSpPr>
        <p:spPr>
          <a:xfrm xmlns:a="http://schemas.openxmlformats.org/drawingml/2006/main">
            <a:off x="21031200" y="32767466"/>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950">
                <a:solidFill>
                  <a:srgbClr val="E8EDF0"/>
                </a:solidFill>
                <a:latin typeface="Segoe UI"/>
                <a:ea typeface="Segoe UI"/>
                <a:cs typeface="Segoe UI"/>
              </a:defRPr>
            </a:pPr>
            <a:r>
              <a:rPr sz="1950">
                <a:solidFill>
                  <a:srgbClr val="E8EDF0"/>
                </a:solidFill>
                <a:latin typeface="Segoe UI"/>
                <a:ea typeface="Segoe UI"/>
                <a:cs typeface="Segoe UI"/>
              </a:rPr>
              <a:t>0.8</a:t>
            </a:r>
          </a:p>
        </p:txBody>
      </p:sp>
      <p:sp>
        <p:nvSpPr>
          <p:cNvPr id="811" name="Backend unchecked plus-minus 4">
            <a:extLst xmlns:a="http://schemas.openxmlformats.org/drawingml/2006/main">
              <a:ext uri="{FF2B5EF4-FFF2-40B4-BE49-F238E27FC236}">
                <a16:creationId xmlns:a16="http://schemas.microsoft.com/office/drawing/2014/main" id="{A139C7A1-A3F3-4093-8F54-41F9A26A479D}"/>
              </a:ext>
            </a:extLst>
          </p:cNvPr>
          <p:cNvSpPr>
            <a:spLocks xmlns:a="http://schemas.openxmlformats.org/drawingml/2006/main" noGrp="1"/>
          </p:cNvSpPr>
          <p:nvPr/>
        </p:nvSpPr>
        <p:spPr>
          <a:xfrm xmlns:a="http://schemas.openxmlformats.org/drawingml/2006/main">
            <a:off x="20764500" y="31834969"/>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950">
                <a:solidFill>
                  <a:srgbClr val="E8EDF0"/>
                </a:solidFill>
                <a:latin typeface="Segoe UI"/>
                <a:ea typeface="Segoe UI"/>
                <a:cs typeface="Segoe UI"/>
              </a:defRPr>
            </a:pPr>
            <a:r>
              <a:rPr sz="1950">
                <a:solidFill>
                  <a:srgbClr val="E8EDF0"/>
                </a:solidFill>
                <a:latin typeface="Segoe UI"/>
                <a:ea typeface="Segoe UI"/>
                <a:cs typeface="Segoe UI"/>
              </a:rPr>
              <a:t>±</a:t>
            </a:r>
          </a:p>
        </p:txBody>
      </p:sp>
      <p:sp>
        <p:nvSpPr>
          <p:cNvPr id="812" name="Backend unchecked MAD 4">
            <a:extLst xmlns:a="http://schemas.openxmlformats.org/drawingml/2006/main">
              <a:ext uri="{FF2B5EF4-FFF2-40B4-BE49-F238E27FC236}">
                <a16:creationId xmlns:a16="http://schemas.microsoft.com/office/drawing/2014/main" id="{FC597355-854F-4888-95AE-A39EEA77CA1D}"/>
              </a:ext>
            </a:extLst>
          </p:cNvPr>
          <p:cNvSpPr>
            <a:spLocks xmlns:a="http://schemas.openxmlformats.org/drawingml/2006/main" noGrp="1"/>
          </p:cNvSpPr>
          <p:nvPr/>
        </p:nvSpPr>
        <p:spPr>
          <a:xfrm xmlns:a="http://schemas.openxmlformats.org/drawingml/2006/main">
            <a:off x="21031200" y="31834969"/>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950">
                <a:solidFill>
                  <a:srgbClr val="E8EDF0"/>
                </a:solidFill>
                <a:latin typeface="Segoe UI"/>
                <a:ea typeface="Segoe UI"/>
                <a:cs typeface="Segoe UI"/>
              </a:defRPr>
            </a:pPr>
            <a:r>
              <a:rPr sz="1950">
                <a:solidFill>
                  <a:srgbClr val="E8EDF0"/>
                </a:solidFill>
                <a:latin typeface="Segoe UI"/>
                <a:ea typeface="Segoe UI"/>
                <a:cs typeface="Segoe UI"/>
              </a:rPr>
              <a:t>2.3</a:t>
            </a:r>
          </a:p>
        </p:txBody>
      </p:sp>
      <p:sp>
        <p:nvSpPr>
          <p:cNvPr id="813" name="AOT loader code">
            <a:extLst xmlns:a="http://schemas.openxmlformats.org/drawingml/2006/main">
              <a:ext uri="{FF2B5EF4-FFF2-40B4-BE49-F238E27FC236}">
                <a16:creationId xmlns:a16="http://schemas.microsoft.com/office/drawing/2014/main" id="{12DE081B-2DB3-4D4C-B18E-561384A0D9A0}"/>
              </a:ext>
            </a:extLst>
          </p:cNvPr>
          <p:cNvSpPr>
            <a:spLocks xmlns:a="http://schemas.openxmlformats.org/drawingml/2006/main" noGrp="1"/>
          </p:cNvSpPr>
          <p:nvPr/>
        </p:nvSpPr>
        <p:spPr>
          <a:xfrm xmlns:a="http://schemas.openxmlformats.org/drawingml/2006/main">
            <a:off x="11525250" y="17002125"/>
            <a:ext cx="9953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a:solidFill>
                  <a:srgbClr val="E8EDF0"/>
                </a:solidFill>
                <a:latin typeface="Segoe UI"/>
                <a:ea typeface="Segoe UI"/>
                <a:cs typeface="Segoe UI"/>
              </a:defRPr>
            </a:pPr>
            <a:r>
              <a:rPr sz="2100">
                <a:solidFill>
                  <a:srgbClr val="AB7AB8"/>
                </a:solidFill>
                <a:latin typeface="Fira Code"/>
                <a:ea typeface="Fira Code"/>
                <a:cs typeface="Fira Code"/>
              </a:rPr>
              <a:t xml:space="preserve">let</a:t>
            </a:r>
            <a:r>
              <a:rPr sz="2100">
                <a:solidFill>
                  <a:srgbClr val="EDDAF1"/>
                </a:solidFill>
                <a:latin typeface="Fira Code"/>
                <a:ea typeface="Fira Code"/>
                <a:cs typeface="Fira Code"/>
              </a:rPr>
              <a:t xml:space="preserve"> </a:t>
            </a:r>
            <a:r>
              <a:rPr sz="2100">
                <a:solidFill>
                  <a:srgbClr val="EDDAF1"/>
                </a:solidFill>
                <a:latin typeface="Fira Code"/>
                <a:ea typeface="Fira Code"/>
                <a:cs typeface="Fira Code"/>
              </a:rPr>
              <a:t xml:space="preserve">kernel</a:t>
            </a:r>
            <a:r>
              <a:rPr sz="2100">
                <a:solidFill>
                  <a:srgbClr val="EDDAF1"/>
                </a:solidFill>
                <a:latin typeface="Fira Code"/>
                <a:ea typeface="Fira Code"/>
                <a:cs typeface="Fira Code"/>
              </a:rPr>
              <a:t xml:space="preserve"> </a:t>
            </a:r>
            <a:r>
              <a:rPr sz="2100">
                <a:solidFill>
                  <a:srgbClr val="AB7AB8"/>
                </a:solidFill>
                <a:latin typeface="Fira Code"/>
                <a:ea typeface="Fira Code"/>
                <a:cs typeface="Fira Code"/>
              </a:rPr>
              <a:t xml:space="preserve">=</a:t>
            </a:r>
            <a:r>
              <a:rPr sz="2100">
                <a:solidFill>
                  <a:srgbClr val="EDDAF1"/>
                </a:solidFill>
                <a:latin typeface="Fira Code"/>
                <a:ea typeface="Fira Code"/>
                <a:cs typeface="Fira Code"/>
              </a:rPr>
              <a:t xml:space="preserve"> </a:t>
            </a:r>
            <a:r>
              <a:rPr sz="2100">
                <a:solidFill>
                  <a:srgbClr val="AB7AB8"/>
                </a:solidFill>
                <a:latin typeface="Fira Code"/>
                <a:ea typeface="Fira Code"/>
                <a:cs typeface="Fira Code"/>
              </a:rPr>
              <a:t xml:space="preserve">unsafe</a:t>
            </a:r>
            <a:r>
              <a:rPr sz="2100">
                <a:solidFill>
                  <a:srgbClr val="EDDAF1"/>
                </a:solidFill>
                <a:latin typeface="Fira Code"/>
                <a:ea typeface="Fira Code"/>
                <a:cs typeface="Fira Code"/>
              </a:rPr>
              <a:t xml:space="preserve"> </a:t>
            </a:r>
            <a:r>
              <a:rPr sz="2100">
                <a:solidFill>
                  <a:srgbClr val="EDDAF1"/>
                </a:solidFill>
                <a:latin typeface="Fira Code"/>
                <a:ea typeface="Fira Code"/>
                <a:cs typeface="Fira Code"/>
              </a:rPr>
              <a:t xml:space="preserve">{</a:t>
            </a:r>
            <a:r>
              <a:rPr sz="2100">
                <a:solidFill>
                  <a:srgbClr val="EDDAF1"/>
                </a:solidFill>
                <a:latin typeface="Fira Code"/>
                <a:ea typeface="Fira Code"/>
                <a:cs typeface="Fira Code"/>
              </a:rPr>
              <a:t xml:space="preserve"> </a:t>
            </a:r>
            <a:r>
              <a:rPr sz="2100">
                <a:solidFill>
                  <a:srgbClr val="BBDDC2"/>
                </a:solidFill>
                <a:latin typeface="Fira Code"/>
                <a:ea typeface="Fira Code"/>
                <a:cs typeface="Fira Code"/>
              </a:rPr>
              <a:t xml:space="preserve">Kernel</a:t>
            </a:r>
            <a:r>
              <a:rPr sz="2100">
                <a:solidFill>
                  <a:srgbClr val="AB7AB8"/>
                </a:solidFill>
                <a:latin typeface="Fira Code"/>
                <a:ea typeface="Fira Code"/>
                <a:cs typeface="Fira Code"/>
              </a:rPr>
              <a:t xml:space="preserve">::</a:t>
            </a:r>
            <a:r>
              <a:rPr sz="2100">
                <a:solidFill>
                  <a:srgbClr val="BBDDC2"/>
                </a:solidFill>
                <a:latin typeface="Fira Code"/>
                <a:ea typeface="Fira Code"/>
                <a:cs typeface="Fira Code"/>
              </a:rPr>
              <a:t xml:space="preserve">load_bundle</a:t>
            </a:r>
            <a:r>
              <a:rPr sz="2100">
                <a:solidFill>
                  <a:srgbClr val="99CCA4"/>
                </a:solidFill>
                <a:latin typeface="Fira Code"/>
                <a:ea typeface="Fira Code"/>
                <a:cs typeface="Fira Code"/>
              </a:rPr>
              <a:t xml:space="preserve">(</a:t>
            </a:r>
            <a:r>
              <a:rPr sz="2100">
                <a:solidFill>
                  <a:srgbClr val="9BC7F3"/>
                </a:solidFill>
                <a:latin typeface="Fira Code"/>
                <a:ea typeface="Fira Code"/>
                <a:cs typeface="Fira Code"/>
              </a:rPr>
              <a:t xml:space="preserve">"ekf.bundle"</a:t>
            </a:r>
            <a:r>
              <a:rPr sz="2100">
                <a:solidFill>
                  <a:srgbClr val="99CCA4"/>
                </a:solidFill>
                <a:latin typeface="Fira Code"/>
                <a:ea typeface="Fira Code"/>
                <a:cs typeface="Fira Code"/>
              </a:rPr>
              <a:t xml:space="preserve">)</a:t>
            </a:r>
            <a:r>
              <a:rPr sz="2100">
                <a:solidFill>
                  <a:srgbClr val="AB7AB8"/>
                </a:solidFill>
                <a:latin typeface="Fira Code"/>
                <a:ea typeface="Fira Code"/>
                <a:cs typeface="Fira Code"/>
              </a:rPr>
              <a:t xml:space="preserve">?</a:t>
            </a:r>
            <a:r>
              <a:rPr sz="2100">
                <a:solidFill>
                  <a:srgbClr val="EDDAF1"/>
                </a:solidFill>
                <a:latin typeface="Fira Code"/>
                <a:ea typeface="Fira Code"/>
                <a:cs typeface="Fira Code"/>
              </a:rPr>
              <a:t xml:space="preserve"> </a:t>
            </a:r>
            <a:r>
              <a:rPr sz="2100">
                <a:solidFill>
                  <a:srgbClr val="EDDAF1"/>
                </a:solidFill>
                <a:latin typeface="Fira Code"/>
                <a:ea typeface="Fira Code"/>
                <a:cs typeface="Fira Code"/>
              </a:rPr>
              <a:t xml:space="preserve">}</a:t>
            </a:r>
            <a:r>
              <a:rPr sz="2100">
                <a:solidFill>
                  <a:srgbClr val="99CCA4"/>
                </a:solidFill>
                <a:latin typeface="Fira Code"/>
                <a:ea typeface="Fira Code"/>
                <a:cs typeface="Fira Code"/>
              </a:rPr>
              <a:t xml:space="preserve">;</a:t>
            </a:r>
          </a:p>
          <a:p xmlns:a="http://schemas.openxmlformats.org/drawingml/2006/main">
            <a:pPr algn="l">
              <a:defRPr sz="2100">
                <a:solidFill>
                  <a:srgbClr val="E8EDF0"/>
                </a:solidFill>
                <a:latin typeface="Segoe UI"/>
                <a:ea typeface="Segoe UI"/>
                <a:cs typeface="Segoe UI"/>
              </a:defRPr>
            </a:pPr>
            <a:r>
              <a:rPr sz="2100">
                <a:solidFill>
                  <a:srgbClr val="AB7AB8"/>
                </a:solidFill>
                <a:latin typeface="Fira Code"/>
                <a:ea typeface="Fira Code"/>
                <a:cs typeface="Fira Code"/>
              </a:rPr>
              <a:t xml:space="preserve">let</a:t>
            </a:r>
            <a:r>
              <a:rPr sz="2100">
                <a:solidFill>
                  <a:srgbClr val="EDDAF1"/>
                </a:solidFill>
                <a:latin typeface="Fira Code"/>
                <a:ea typeface="Fira Code"/>
                <a:cs typeface="Fira Code"/>
              </a:rPr>
              <a:t xml:space="preserve"> </a:t>
            </a:r>
            <a:r>
              <a:rPr sz="2100">
                <a:solidFill>
                  <a:srgbClr val="AB7AB8"/>
                </a:solidFill>
                <a:latin typeface="Fira Code"/>
                <a:ea typeface="Fira Code"/>
                <a:cs typeface="Fira Code"/>
              </a:rPr>
              <a:t xml:space="preserve">mut</a:t>
            </a:r>
            <a:r>
              <a:rPr sz="2100">
                <a:solidFill>
                  <a:srgbClr val="EDDAF1"/>
                </a:solidFill>
                <a:latin typeface="Fira Code"/>
                <a:ea typeface="Fira Code"/>
                <a:cs typeface="Fira Code"/>
              </a:rPr>
              <a:t xml:space="preserve"> </a:t>
            </a:r>
            <a:r>
              <a:rPr sz="2100">
                <a:solidFill>
                  <a:srgbClr val="EDDAF1"/>
                </a:solidFill>
                <a:latin typeface="Fira Code"/>
                <a:ea typeface="Fira Code"/>
                <a:cs typeface="Fira Code"/>
              </a:rPr>
              <a:t xml:space="preserve">ekf</a:t>
            </a:r>
            <a:r>
              <a:rPr sz="2100">
                <a:solidFill>
                  <a:srgbClr val="EDDAF1"/>
                </a:solidFill>
                <a:latin typeface="Fira Code"/>
                <a:ea typeface="Fira Code"/>
                <a:cs typeface="Fira Code"/>
              </a:rPr>
              <a:t xml:space="preserve"> </a:t>
            </a:r>
            <a:r>
              <a:rPr sz="2100">
                <a:solidFill>
                  <a:srgbClr val="AB7AB8"/>
                </a:solidFill>
                <a:latin typeface="Fira Code"/>
                <a:ea typeface="Fira Code"/>
                <a:cs typeface="Fira Code"/>
              </a:rPr>
              <a:t xml:space="preserve">=</a:t>
            </a:r>
            <a:r>
              <a:rPr sz="2100">
                <a:solidFill>
                  <a:srgbClr val="EDDAF1"/>
                </a:solidFill>
                <a:latin typeface="Fira Code"/>
                <a:ea typeface="Fira Code"/>
                <a:cs typeface="Fira Code"/>
              </a:rPr>
              <a:t xml:space="preserve"> </a:t>
            </a:r>
            <a:r>
              <a:rPr sz="2100">
                <a:solidFill>
                  <a:srgbClr val="EDDAF1"/>
                </a:solidFill>
                <a:latin typeface="Fira Code"/>
                <a:ea typeface="Fira Code"/>
                <a:cs typeface="Fira Code"/>
              </a:rPr>
              <a:t xml:space="preserve">kernel</a:t>
            </a:r>
            <a:r>
              <a:rPr sz="2100">
                <a:solidFill>
                  <a:srgbClr val="AB7AB8"/>
                </a:solidFill>
                <a:latin typeface="Fira Code"/>
                <a:ea typeface="Fira Code"/>
                <a:cs typeface="Fira Code"/>
              </a:rPr>
              <a:t xml:space="preserve">.</a:t>
            </a:r>
            <a:r>
              <a:rPr sz="2100">
                <a:solidFill>
                  <a:srgbClr val="BBDDC2"/>
                </a:solidFill>
                <a:latin typeface="Fira Code"/>
                <a:ea typeface="Fira Code"/>
                <a:cs typeface="Fira Code"/>
              </a:rPr>
              <a:t xml:space="preserve">start</a:t>
            </a:r>
            <a:r>
              <a:rPr sz="2100">
                <a:solidFill>
                  <a:srgbClr val="99CCA4"/>
                </a:solidFill>
                <a:latin typeface="Fira Code"/>
                <a:ea typeface="Fira Code"/>
                <a:cs typeface="Fira Code"/>
              </a:rPr>
              <a:t xml:space="preserve">(</a:t>
            </a:r>
            <a:r>
              <a:rPr sz="2100">
                <a:solidFill>
                  <a:srgbClr val="99CCA4"/>
                </a:solidFill>
                <a:latin typeface="Fira Code"/>
                <a:ea typeface="Fira Code"/>
                <a:cs typeface="Fira Code"/>
              </a:rPr>
              <a:t xml:space="preserve">)</a:t>
            </a:r>
            <a:r>
              <a:rPr sz="2100">
                <a:solidFill>
                  <a:srgbClr val="AB7AB8"/>
                </a:solidFill>
                <a:latin typeface="Fira Code"/>
                <a:ea typeface="Fira Code"/>
                <a:cs typeface="Fira Code"/>
              </a:rPr>
              <a:t xml:space="preserve">?</a:t>
            </a:r>
            <a:r>
              <a:rPr sz="2100">
                <a:solidFill>
                  <a:srgbClr val="99CCA4"/>
                </a:solidFill>
                <a:latin typeface="Fira Code"/>
                <a:ea typeface="Fira Code"/>
                <a:cs typeface="Fira Code"/>
              </a:rPr>
              <a:t xml:space="preserve">;</a:t>
            </a:r>
          </a:p>
          <a:p xmlns:a="http://schemas.openxmlformats.org/drawingml/2006/main">
            <a:pPr algn="l">
              <a:defRPr sz="2100">
                <a:solidFill>
                  <a:srgbClr val="E8EDF0"/>
                </a:solidFill>
                <a:latin typeface="Segoe UI"/>
                <a:ea typeface="Segoe UI"/>
                <a:cs typeface="Segoe UI"/>
              </a:defRPr>
            </a:pPr>
            <a:r>
              <a:rPr sz="2100">
                <a:solidFill>
                  <a:srgbClr val="EDDAF1"/>
                </a:solidFill>
                <a:latin typeface="Fira Code"/>
                <a:ea typeface="Fira Code"/>
                <a:cs typeface="Fira Code"/>
              </a:rPr>
              <a:t xml:space="preserve">ekf</a:t>
            </a:r>
            <a:r>
              <a:rPr sz="2100">
                <a:solidFill>
                  <a:srgbClr val="AB7AB8"/>
                </a:solidFill>
                <a:latin typeface="Fira Code"/>
                <a:ea typeface="Fira Code"/>
                <a:cs typeface="Fira Code"/>
              </a:rPr>
              <a:t xml:space="preserve">.</a:t>
            </a:r>
            <a:r>
              <a:rPr sz="2100">
                <a:solidFill>
                  <a:srgbClr val="BBDDC2"/>
                </a:solidFill>
                <a:latin typeface="Fira Code"/>
                <a:ea typeface="Fira Code"/>
                <a:cs typeface="Fira Code"/>
              </a:rPr>
              <a:t xml:space="preserve">turn</a:t>
            </a:r>
            <a:r>
              <a:rPr sz="2100">
                <a:solidFill>
                  <a:srgbClr val="99CCA4"/>
                </a:solidFill>
                <a:latin typeface="Fira Code"/>
                <a:ea typeface="Fira Code"/>
                <a:cs typeface="Fira Code"/>
              </a:rPr>
              <a:t xml:space="preserve">(</a:t>
            </a:r>
            <a:r>
              <a:rPr sz="2100">
                <a:solidFill>
                  <a:srgbClr val="EDDAF1"/>
                </a:solidFill>
                <a:latin typeface="Fira Code"/>
                <a:ea typeface="Fira Code"/>
                <a:cs typeface="Fira Code"/>
              </a:rPr>
              <a:t xml:space="preserve">[</a:t>
            </a:r>
            <a:r>
              <a:rPr sz="2100">
                <a:solidFill>
                  <a:srgbClr val="99CCA4"/>
                </a:solidFill>
                <a:latin typeface="Fira Code"/>
                <a:ea typeface="Fira Code"/>
                <a:cs typeface="Fira Code"/>
              </a:rPr>
              <a:t xml:space="preserve">(</a:t>
            </a:r>
            <a:r>
              <a:rPr sz="2100">
                <a:solidFill>
                  <a:srgbClr val="9BC7F3"/>
                </a:solidFill>
                <a:latin typeface="Fira Code"/>
                <a:ea typeface="Fira Code"/>
                <a:cs typeface="Fira Code"/>
              </a:rPr>
              <a:t xml:space="preserve">"bearing"</a:t>
            </a:r>
            <a:r>
              <a:rPr sz="2100">
                <a:solidFill>
                  <a:srgbClr val="99CCA4"/>
                </a:solidFill>
                <a:latin typeface="Fira Code"/>
                <a:ea typeface="Fira Code"/>
                <a:cs typeface="Fira Code"/>
              </a:rPr>
              <a:t xml:space="preserve">,</a:t>
            </a:r>
            <a:r>
              <a:rPr sz="2100">
                <a:solidFill>
                  <a:srgbClr val="EDDAF1"/>
                </a:solidFill>
                <a:latin typeface="Fira Code"/>
                <a:ea typeface="Fira Code"/>
                <a:cs typeface="Fira Code"/>
              </a:rPr>
              <a:t xml:space="preserve"> </a:t>
            </a:r>
            <a:r>
              <a:rPr sz="2100">
                <a:solidFill>
                  <a:srgbClr val="EDDAF1"/>
                </a:solidFill>
                <a:latin typeface="Fira Code"/>
                <a:ea typeface="Fira Code"/>
                <a:cs typeface="Fira Code"/>
              </a:rPr>
              <a:t xml:space="preserve">[</a:t>
            </a:r>
            <a:r>
              <a:rPr sz="2100">
                <a:solidFill>
                  <a:srgbClr val="EDDAF1"/>
                </a:solidFill>
                <a:latin typeface="Fira Code"/>
                <a:ea typeface="Fira Code"/>
                <a:cs typeface="Fira Code"/>
              </a:rPr>
              <a:t xml:space="preserve">-</a:t>
            </a:r>
            <a:r>
              <a:rPr sz="2100">
                <a:solidFill>
                  <a:srgbClr val="9BC7F3"/>
                </a:solidFill>
                <a:latin typeface="Fira Code"/>
                <a:ea typeface="Fira Code"/>
                <a:cs typeface="Fira Code"/>
              </a:rPr>
              <a:t xml:space="preserve">0.54</a:t>
            </a:r>
            <a:r>
              <a:rPr sz="2100">
                <a:solidFill>
                  <a:srgbClr val="99CCA4"/>
                </a:solidFill>
                <a:latin typeface="Fira Code"/>
                <a:ea typeface="Fira Code"/>
                <a:cs typeface="Fira Code"/>
              </a:rPr>
              <a:t xml:space="preserve">;</a:t>
            </a:r>
            <a:r>
              <a:rPr sz="2100">
                <a:solidFill>
                  <a:srgbClr val="EDDAF1"/>
                </a:solidFill>
                <a:latin typeface="Fira Code"/>
                <a:ea typeface="Fira Code"/>
                <a:cs typeface="Fira Code"/>
              </a:rPr>
              <a:t xml:space="preserve"> </a:t>
            </a:r>
            <a:r>
              <a:rPr sz="2100">
                <a:solidFill>
                  <a:srgbClr val="9BC7F3"/>
                </a:solidFill>
                <a:latin typeface="Fira Code"/>
                <a:ea typeface="Fira Code"/>
                <a:cs typeface="Fira Code"/>
              </a:rPr>
              <a:t xml:space="preserve">4</a:t>
            </a:r>
            <a:r>
              <a:rPr sz="2100">
                <a:solidFill>
                  <a:srgbClr val="EDDAF1"/>
                </a:solidFill>
                <a:latin typeface="Fira Code"/>
                <a:ea typeface="Fira Code"/>
                <a:cs typeface="Fira Code"/>
              </a:rPr>
              <a:t xml:space="preserve">]</a:t>
            </a:r>
            <a:r>
              <a:rPr sz="2100">
                <a:solidFill>
                  <a:srgbClr val="99CCA4"/>
                </a:solidFill>
                <a:latin typeface="Fira Code"/>
                <a:ea typeface="Fira Code"/>
                <a:cs typeface="Fira Code"/>
              </a:rPr>
              <a:t xml:space="preserve">)</a:t>
            </a:r>
            <a:r>
              <a:rPr sz="2100">
                <a:solidFill>
                  <a:srgbClr val="EDDAF1"/>
                </a:solidFill>
                <a:latin typeface="Fira Code"/>
                <a:ea typeface="Fira Code"/>
                <a:cs typeface="Fira Code"/>
              </a:rPr>
              <a:t xml:space="preserve">]</a:t>
            </a:r>
            <a:r>
              <a:rPr sz="2100">
                <a:solidFill>
                  <a:srgbClr val="99CCA4"/>
                </a:solidFill>
                <a:latin typeface="Fira Code"/>
                <a:ea typeface="Fira Code"/>
                <a:cs typeface="Fira Code"/>
              </a:rPr>
              <a:t xml:space="preserve">)</a:t>
            </a:r>
            <a:r>
              <a:rPr sz="2100">
                <a:solidFill>
                  <a:srgbClr val="AB7AB8"/>
                </a:solidFill>
                <a:latin typeface="Fira Code"/>
                <a:ea typeface="Fira Code"/>
                <a:cs typeface="Fira Code"/>
              </a:rPr>
              <a:t xml:space="preserve">?</a:t>
            </a:r>
            <a:r>
              <a:rPr sz="2100">
                <a:solidFill>
                  <a:srgbClr val="99CCA4"/>
                </a:solidFill>
                <a:latin typeface="Fira Code"/>
                <a:ea typeface="Fira Code"/>
                <a:cs typeface="Fira Code"/>
              </a:rPr>
              <a:t xml:space="preserve">;</a:t>
            </a:r>
          </a:p>
        </p:txBody>
      </p:sp>
      <p:sp>
        <p:nvSpPr>
          <p:cNvPr id="814" name="Mech notation comments">
            <a:extLst xmlns:a="http://schemas.openxmlformats.org/drawingml/2006/main">
              <a:ext uri="{FF2B5EF4-FFF2-40B4-BE49-F238E27FC236}">
                <a16:creationId xmlns:a16="http://schemas.microsoft.com/office/drawing/2014/main" id="{DFB8122F-2D22-45E5-86A7-5A618E715FF3}"/>
              </a:ext>
            </a:extLst>
          </p:cNvPr>
          <p:cNvSpPr>
            <a:spLocks xmlns:a="http://schemas.openxmlformats.org/drawingml/2006/main" noGrp="1"/>
          </p:cNvSpPr>
          <p:nvPr/>
        </p:nvSpPr>
        <p:spPr>
          <a:xfrm xmlns:a="http://schemas.openxmlformats.org/drawingml/2006/main">
            <a:off x="28003500" y="14430375"/>
            <a:ext cx="3714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A4BAC8"/>
                </a:solidFill>
                <a:latin typeface="Fira Code"/>
                <a:ea typeface="Segoe UI"/>
                <a:cs typeface="Segoe UI"/>
              </a:defRPr>
            </a:pPr>
            <a:r>
              <a:rPr sz="1800">
                <a:solidFill>
                  <a:srgbClr val="A4BAC8"/>
                </a:solidFill>
                <a:latin typeface="Fira Code"/>
                <a:ea typeface="Fira Code"/>
                <a:cs typeface="Fira Code"/>
              </a:rPr>
              <a:t>-- ~ mutable</a:t>
            </a:r>
          </a:p>
          <a:p xmlns:a="http://schemas.openxmlformats.org/drawingml/2006/main">
            <a:pPr algn="l">
              <a:defRPr sz="1800">
                <a:solidFill>
                  <a:srgbClr val="A4BAC8"/>
                </a:solidFill>
                <a:latin typeface="Fira Code"/>
                <a:ea typeface="Segoe UI"/>
                <a:cs typeface="Segoe UI"/>
              </a:defRPr>
            </a:pPr>
            <a:r>
              <a:rPr sz="1800">
                <a:solidFill>
                  <a:srgbClr val="A4BAC8"/>
                </a:solidFill>
                <a:latin typeface="Fira Code"/>
                <a:ea typeface="Fira Code"/>
                <a:cs typeface="Fira Code"/>
              </a:rPr>
              <a:t>-- := define</a:t>
            </a:r>
          </a:p>
          <a:p xmlns:a="http://schemas.openxmlformats.org/drawingml/2006/main">
            <a:pPr algn="l">
              <a:defRPr sz="1800">
                <a:solidFill>
                  <a:srgbClr val="A4BAC8"/>
                </a:solidFill>
                <a:latin typeface="Fira Code"/>
                <a:ea typeface="Segoe UI"/>
                <a:cs typeface="Segoe UI"/>
              </a:defRPr>
            </a:pPr>
            <a:r>
              <a:rPr sz="1800">
                <a:solidFill>
                  <a:srgbClr val="A4BAC8"/>
                </a:solidFill>
                <a:latin typeface="Fira Code"/>
                <a:ea typeface="Fira Code"/>
                <a:cs typeface="Fira Code"/>
              </a:rPr>
              <a:t>-- = assign</a:t>
            </a:r>
          </a:p>
          <a:p xmlns:a="http://schemas.openxmlformats.org/drawingml/2006/main">
            <a:pPr algn="l">
              <a:defRPr sz="1800">
                <a:solidFill>
                  <a:srgbClr val="A4BAC8"/>
                </a:solidFill>
                <a:latin typeface="Fira Code"/>
                <a:ea typeface="Segoe UI"/>
                <a:cs typeface="Segoe UI"/>
              </a:defRPr>
            </a:pPr>
            <a:r>
              <a:rPr sz="1800">
                <a:solidFill>
                  <a:srgbClr val="A4BAC8"/>
                </a:solidFill>
                <a:latin typeface="Fira Code"/>
                <a:ea typeface="Fira Code"/>
                <a:cs typeface="Fira Code"/>
              </a:rPr>
              <a:t>-- ** matrix multiply</a:t>
            </a:r>
          </a:p>
          <a:p xmlns:a="http://schemas.openxmlformats.org/drawingml/2006/main">
            <a:pPr algn="l">
              <a:defRPr sz="1800">
                <a:solidFill>
                  <a:srgbClr val="A4BAC8"/>
                </a:solidFill>
                <a:latin typeface="Fira Code"/>
                <a:ea typeface="Segoe UI"/>
                <a:cs typeface="Segoe UI"/>
              </a:defRPr>
            </a:pPr>
            <a:r>
              <a:rPr sz="1800">
                <a:solidFill>
                  <a:srgbClr val="A4BAC8"/>
                </a:solidFill>
                <a:latin typeface="Fira Code"/>
                <a:ea typeface="Fira Code"/>
                <a:cs typeface="Fira Code"/>
              </a:rPr>
              <a:t>-- ' transpose</a:t>
            </a:r>
          </a:p>
          <a:p xmlns:a="http://schemas.openxmlformats.org/drawingml/2006/main">
            <a:pPr algn="l">
              <a:defRPr sz="1800">
                <a:solidFill>
                  <a:srgbClr val="A4BAC8"/>
                </a:solidFill>
                <a:latin typeface="Fira Code"/>
                <a:ea typeface="Segoe UI"/>
                <a:cs typeface="Segoe UI"/>
              </a:defRPr>
            </a:pPr>
            <a:r>
              <a:rPr sz="1800">
                <a:solidFill>
                  <a:srgbClr val="A4BAC8"/>
                </a:solidFill>
                <a:latin typeface="Fira Code"/>
                <a:ea typeface="Fira Code"/>
                <a:cs typeface="Fira Code"/>
              </a:rPr>
              <a:t>-- * broadcast multiply</a:t>
            </a:r>
          </a:p>
        </p:txBody>
      </p:sp>
      <p:sp>
        <p:nvSpPr>
          <p:cNvPr id="815" name="Checking cost explanation">
            <a:extLst xmlns:a="http://schemas.openxmlformats.org/drawingml/2006/main">
              <a:ext uri="{FF2B5EF4-FFF2-40B4-BE49-F238E27FC236}">
                <a16:creationId xmlns:a16="http://schemas.microsoft.com/office/drawing/2014/main" id="{F59DC4F6-C4B8-4359-A1FF-C481CF851198}"/>
              </a:ext>
            </a:extLst>
          </p:cNvPr>
          <p:cNvSpPr>
            <a:spLocks xmlns:a="http://schemas.openxmlformats.org/drawingml/2006/main" noGrp="1"/>
          </p:cNvSpPr>
          <p:nvPr/>
        </p:nvSpPr>
        <p:spPr>
          <a:xfrm xmlns:a="http://schemas.openxmlformats.org/drawingml/2006/main">
            <a:off x="952500" y="29603700"/>
            <a:ext cx="207168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a:solidFill>
                  <a:srgbClr val="E8EDF0"/>
                </a:solidFill>
                <a:latin typeface="Segoe UI"/>
                <a:ea typeface="Segoe UI"/>
                <a:cs typeface="Segoe UI"/>
              </a:defRPr>
            </a:pPr>
            <a:r>
              <a:rPr sz="2250">
                <a:solidFill>
                  <a:srgbClr val="E8EDF0"/>
                </a:solidFill>
                <a:latin typeface="Segoe UI"/>
                <a:ea typeface="Segoe UI"/>
                <a:cs typeface="Segoe UI"/>
              </a:rPr>
              <a:t>Unchecked runs omit integrity predicates and retain per-turn publication in the Mech chart. Checking reduces SIMD AOT throughput by 6.6%. The Metal difference is within measured variation.</a:t>
            </a:r>
          </a:p>
        </p:txBody>
      </p:sp>
    </p:spTree>
    <p:extLst>
      <p:ext uri="{BB962C8B-B14F-4D97-AF65-F5344CB8AC3E}">
        <p14:creationId xmlns:p14="http://schemas.microsoft.com/office/powerpoint/2010/main" val="3015490280"/>
      </p:ext>
    </p:extLst>
  </p:cSld>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2026-09-25T16:34:52.5070000Z</dcterms:created>
  <dcterms:modified xsi:type="dcterms:W3CDTF">2026-09-25T16:34:52.5070000Z</dcterms:modified>
</coreProperties>
</file>