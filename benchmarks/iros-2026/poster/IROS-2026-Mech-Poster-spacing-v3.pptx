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a:p>
            <a:r>
              <a:t>GitHub Invertocat logo: GitHub Brand Toolkit, https://brand.github.com/foundations/logo. Original white asset: https://brand.github.com/GitHub_Logos.zip.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 Type="http://schemas.openxmlformats.org/officeDocument/2006/relationships/hyperlink" Target="https://mech-lang.org" TargetMode="External" Id="rId1"/><Relationship Type="http://schemas.openxmlformats.org/officeDocument/2006/relationships/hyperlink" Target="https://github.com/mech-lang/mech" TargetMode="External" Id="rId2"/><Relationship Type="http://schemas.openxmlformats.org/officeDocument/2006/relationships/hyperlink" Target="https://github.com/mech-lang/mech" TargetMode="External" Id="rId3"/><Relationship Type="http://schemas.openxmlformats.org/officeDocument/2006/relationships/image" Target="../media/github-invertocat-white.png" Id="rId4"/></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C85E00"/>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762000"/>
            <a:ext cx="0" cy="4962293"/>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hlinkClick xmlns:r="http://schemas.openxmlformats.org/officeDocument/2006/relationships" r:id="rId1"/>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7" y="4000500"/>
            <a:ext cx="7403335"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4000">
                <a:solidFill>
                  <a:srgbClr val="9EB3C2"/>
                </a:solidFill>
                <a:latin typeface="Fira Code"/>
                <a:ea typeface="Fira Code"/>
                <a:cs typeface="Fira Code"/>
              </a:defRPr>
            </a:pPr>
            <a:r>
              <a:rPr sz="4000" u="none">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1386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652825"/>
            <a:ext cx="1476375" cy="14763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logic</a:t>
            </a:r>
            <a:r>
              <a:rPr sz="2800">
                <a:solidFill>
                  <a:srgbClr val="99CCA4"/>
                </a:solidFill>
                <a:latin typeface="Fira Code"/>
                <a:ea typeface="Fira Code"/>
                <a:cs typeface="Fira Code"/>
              </a:rPr>
              <a:t>/</a:t>
            </a:r>
            <a:r>
              <a:rPr sz="2800">
                <a:solidFill>
                  <a:srgbClr val="BBDDC2"/>
                </a:solidFill>
                <a:latin typeface="Fira Code"/>
                <a:ea typeface="Fira Code"/>
                <a:cs typeface="Fira Code"/>
              </a:rPr>
              <a:t>all</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337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718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0992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28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offers a concrete syntax for typed matrix equations, illustrated by the bearing-only EKF below.</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857250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The Mech kernel is shorter than the textbook and SIMD Rust versions. SIMD Rust needs a separate vector and batch implementation, written directly or supplied by a library. Mech reuses the kernel across backends.</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0572750"/>
            <a:ext cx="9525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this syntax to a typed dataflow artifact. The interpreter uses nalgebra and could support other Rust numerical libraries. Other backends specialize the graph for the host architecture without source changes or backend-specific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lowers the same syntax to each backend without source changes. In Rust, layout and batching require backend-specific code or a supporting library.</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Rust SIMD implementation includes vector adapters and a batch dispatcher with rollback. Mech uses reusable compiler and runtime components for these operations, explaining the zero helper and SIMD-support entries.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945725" y="41148000"/>
            <a:ext cx="9344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7346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782425"/>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from a single numerical function to a reactive subsystem. Rust hosts can compile Mech source or load a dylib. Browser applications can embed it through WebAssembly.</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29254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592175"/>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782675"/>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783175"/>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once, then submit measurement updates. A failed integrity check preserves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2925425"/>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592175"/>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16300"/>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164175"/>
            <a:ext cx="1014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stores the dylib and metadata for named inputs, exported state and initial values.</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0214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0691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models robot feedback loops over continuous sensor streams from Rust host drivers, through direct interfaces or ROS. Each update triggers a turn that computes and validates candidate state. Rejection notifies the caller and preserves prior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205037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30742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49792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926050" y="21259800"/>
            <a:ext cx="37433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Activation checks host availability and capabilities (resource permissions).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6987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575000"/>
            <a:ext cx="20716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supports native CPU/GPU execution and WebAssembly/WGPU. The right chart compares five backend configurations of the displayed f32 EKF, compiled without source changes. Integrity checks add a runtime cost. Disabling them increases CPU throughput while preserving reactive turns.</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03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037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5276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5276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graphicFrame>
        <p:nvGraphicFramePr>
          <p:cNvPr id="681" name="Chart"/>
          <p:cNvGraphicFramePr/>
          <p:nvPr/>
        </p:nvGraphicFramePr>
        <p:xfrm>
          <a:off xmlns:a="http://schemas.openxmlformats.org/drawingml/2006/main" x="80962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571875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5604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571875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56044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45081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426233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388128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36354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325439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300855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262750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23816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00061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175477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137372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12788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446053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4165533"/>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37082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34132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295600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266099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2203738"/>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190873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14514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156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906250" y="35604450"/>
            <a:ext cx="976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SIMD JIT and AOT share the numerical compilation pipeline.</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workers. Worker scaling depends on host support.</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Performance specialists may further optimize these implementations.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6385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7290375"/>
            <a:ext cx="20716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v0.4-beta needs further validation and hardening. Over the next year, we plan to expand deployments on research robots and gather feedback. Development also includes additional hosts and language features, with a v1.0 release candidate planned for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899535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893820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098607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CPU/WGPU in WebAssembly.</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831675"/>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045738"/>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04573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04573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045738"/>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069425"/>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069425"/>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898475"/>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9580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9580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6093738"/>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6093738"/>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6093738"/>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230660"/>
            <a:ext cx="1131094" cy="857250"/>
          </a:xfrm>
          <a:prstGeom xmlns:a="http://schemas.openxmlformats.org/drawingml/2006/main" prst="curvedConnector3">
            <a:avLst>
              <a:gd name="adj1" fmla="val 50000"/>
            </a:avLst>
          </a:prstGeom>
          <a:ln xmlns:a="http://schemas.openxmlformats.org/drawingml/2006/main" w="38100">
            <a:solidFill>
              <a:srgbClr val="EF948D"/>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496044"/>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277094"/>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49792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64092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64092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42661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64092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64092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computation</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1170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173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474613"/>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9745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4984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60699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8033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8033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665113"/>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665113"/>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27935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855738"/>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3558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F948D"/>
                </a:solidFill>
                <a:latin typeface="Fira Code"/>
                <a:ea typeface="Fira Code"/>
                <a:cs typeface="Fira Code"/>
              </a:defRPr>
            </a:pPr>
            <a:r>
              <a:rPr sz="1875" b="1">
                <a:solidFill>
                  <a:srgbClr val="EF948D"/>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736425"/>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593800"/>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688925"/>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8126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16505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498425"/>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6890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7022425"/>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736550"/>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650950"/>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419350" y="41757600"/>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w="42863" cap="rnd">
            <a:solidFill>
              <a:srgbClr val="F6C04E"/>
            </a:solidFill>
            <a:prstDash val="sysDot"/>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687800"/>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6027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5455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4022050"/>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450550"/>
            <a:ext cx="0" cy="571500"/>
          </a:xfrm>
          <a:prstGeom xmlns:a="http://schemas.openxmlformats.org/drawingml/2006/main" prst="straightConnector1">
            <a:avLst/>
          </a:prstGeom>
          <a:ln xmlns:a="http://schemas.openxmlformats.org/drawingml/2006/main" w="38100">
            <a:solidFill>
              <a:srgbClr val="EF948D"/>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446053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446053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37082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37082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295600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295600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2203738"/>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2203738"/>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14514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14514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4165533"/>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4165533"/>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34132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34132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266099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266099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190873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190873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156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156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6878300"/>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146250" y="15176497"/>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+&gt; import library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mutable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define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assign</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matrix multiply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transpose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broadcast multiply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x! integrity constraint</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Still, nu­mer­i­cal kernels can require sub­stan­tial code for SIMD layouts and GPU ex­e­cu­tion. Backend-specific im­ple­men­ta­tions can be harder to verify against the equations and maintain.</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an open-source, Rust-native em­bed­dable language that makes nu­mer­i­cal kernels easier to develop within Rust applications. For robotics, its re­ac­tive semantics process suc­ces­sive sensor updates and validate can­di­date state. Failed turns preserve the last accepted state.</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1190625" y="10029825"/>
            <a:ext cx="19192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2EAD9"/>
                </a:solidFill>
                <a:latin typeface="Avenir Next"/>
                <a:ea typeface="Avenir Next"/>
                <a:cs typeface="Avenir Next"/>
              </a:defRPr>
            </a:pPr>
            <a:r>
              <a:rPr sz="2100">
                <a:solidFill>
                  <a:srgbClr val="F2EAD9"/>
                </a:solidFill>
                <a:latin typeface="Avenir Next"/>
                <a:ea typeface="Avenir Next"/>
                <a:cs typeface="Avenir Next"/>
              </a:rPr>
              <a:t>This case study covers numerical features. Mech also has first-class state machines and pattern matching. </a:t>
            </a:r>
            <a:r>
              <a:rPr sz="2100" b="1">
                <a:solidFill>
                  <a:srgbClr val="F6C04E"/>
                </a:solidFill>
                <a:latin typeface="Avenir Next"/>
                <a:ea typeface="Avenir Next"/>
                <a:cs typeface="Avenir Next"/>
              </a:rPr>
              <a:t>Scan the QR code at the bottom for a demo.</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829050" y="419862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8-core GPU, 8 GB), macOS 15.6.1. f32, 500,000 filters × 40 turns, n=10. CPU: 8 workers, fused turns. Mech backends: per-turn publication.</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829050" y="422529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829050" y="425196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7863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619500" y="427863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7CE6E"/>
                </a:solidFill>
                <a:latin typeface="Fira Code"/>
                <a:ea typeface="Fira Code"/>
                <a:cs typeface="Fira Code"/>
              </a:defRPr>
            </a:pPr>
            <a:r>
              <a:rPr sz="2100">
                <a:solidFill>
                  <a:srgbClr val="F7CE6E"/>
                </a:solidFill>
                <a:latin typeface="Fira Code"/>
                <a:ea typeface="Fira Code"/>
                <a:cs typeface="Fira Code"/>
              </a:rPr>
              <a:t>†</a:t>
            </a:r>
          </a:p>
        </p:txBody>
      </p:sp>
      <p:sp>
        <p:nvSpPr>
          <p:cNvPr id="832" name="Motivation information accent">
            <a:extLst xmlns:a="http://schemas.openxmlformats.org/drawingml/2006/main">
              <a:ext uri="{FF2B5EF4-FFF2-40B4-BE49-F238E27FC236}">
                <a16:creationId xmlns:a16="http://schemas.microsoft.com/office/drawing/2014/main" id="{0BCD3C3A-BD75-4527-9C78-47B07437846D}"/>
              </a:ext>
            </a:extLst>
          </p:cNvPr>
          <p:cNvSpPr>
            <a:spLocks xmlns:a="http://schemas.openxmlformats.org/drawingml/2006/main" noGrp="1"/>
          </p:cNvSpPr>
          <p:nvPr/>
        </p:nvSpPr>
        <p:spPr>
          <a:xfrm xmlns:a="http://schemas.openxmlformats.org/drawingml/2006/main">
            <a:off x="952500" y="10029825"/>
            <a:ext cx="57150" cy="3619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4" name="Visible dylib dagger">
            <a:extLst xmlns:a="http://schemas.openxmlformats.org/drawingml/2006/main">
              <a:ext uri="{FF2B5EF4-FFF2-40B4-BE49-F238E27FC236}">
                <a16:creationId xmlns:a16="http://schemas.microsoft.com/office/drawing/2014/main" id="{4484D0DE-2981-47C6-989F-D43F7EC7986F}"/>
              </a:ext>
            </a:extLst>
          </p:cNvPr>
          <p:cNvSpPr>
            <a:spLocks xmlns:a="http://schemas.openxmlformats.org/drawingml/2006/main" noGrp="1"/>
          </p:cNvSpPr>
          <p:nvPr/>
        </p:nvSpPr>
        <p:spPr>
          <a:xfrm xmlns:a="http://schemas.openxmlformats.org/drawingml/2006/main">
            <a:off x="14516100" y="1285875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550">
                <a:solidFill>
                  <a:srgbClr val="F6C04E"/>
                </a:solidFill>
                <a:latin typeface="Fira Code"/>
                <a:ea typeface="Fira Code"/>
                <a:cs typeface="Fira Code"/>
              </a:defRPr>
            </a:pPr>
            <a:r>
              <a:rPr sz="2550">
                <a:solidFill>
                  <a:srgbClr val="F6C04E"/>
                </a:solidFill>
                <a:latin typeface="Fira Code"/>
                <a:ea typeface="Fira Code"/>
                <a:cs typeface="Fira Code"/>
              </a:rPr>
              <a:t>†</a:t>
            </a:r>
          </a:p>
        </p:txBody>
      </p:sp>
      <p:sp>
        <p:nvSpPr>
          <p:cNvPr id="835" name="Activation information accent">
            <a:extLst xmlns:a="http://schemas.openxmlformats.org/drawingml/2006/main">
              <a:ext uri="{FF2B5EF4-FFF2-40B4-BE49-F238E27FC236}">
                <a16:creationId xmlns:a16="http://schemas.microsoft.com/office/drawing/2014/main" id="{2E220D12-8EA1-465F-8887-B9EBC5158EE3}"/>
              </a:ext>
            </a:extLst>
          </p:cNvPr>
          <p:cNvSpPr>
            <a:spLocks xmlns:a="http://schemas.openxmlformats.org/drawingml/2006/main" noGrp="1"/>
          </p:cNvSpPr>
          <p:nvPr/>
        </p:nvSpPr>
        <p:spPr>
          <a:xfrm xmlns:a="http://schemas.openxmlformats.org/drawingml/2006/main">
            <a:off x="17716500" y="21259800"/>
            <a:ext cx="57150" cy="10096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6" name="Source comparison title continuation">
            <a:extLst xmlns:a="http://schemas.openxmlformats.org/drawingml/2006/main">
              <a:ext uri="{FF2B5EF4-FFF2-40B4-BE49-F238E27FC236}">
                <a16:creationId xmlns:a16="http://schemas.microsoft.com/office/drawing/2014/main" id="{5B87583D-9095-4EDF-BAB9-8547E9AEF640}"/>
              </a:ext>
            </a:extLst>
          </p:cNvPr>
          <p:cNvSpPr>
            <a:spLocks xmlns:a="http://schemas.openxmlformats.org/drawingml/2006/main" noGrp="1"/>
          </p:cNvSpPr>
          <p:nvPr/>
        </p:nvSpPr>
        <p:spPr>
          <a:xfrm xmlns:a="http://schemas.openxmlformats.org/drawingml/2006/main">
            <a:off x="25336500" y="34099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50">
                <a:solidFill>
                  <a:srgbClr val="7FC7FF"/>
                </a:solidFill>
                <a:latin typeface="Fira Code"/>
                <a:ea typeface="Fira Code"/>
                <a:cs typeface="Fira Code"/>
              </a:defRPr>
            </a:pPr>
            <a:r>
              <a:rPr sz="2850" b="1">
                <a:solidFill>
                  <a:srgbClr val="7FC7FF"/>
                </a:solidFill>
                <a:latin typeface="Fira Code"/>
                <a:ea typeface="Fira Code"/>
                <a:cs typeface="Fira Code"/>
              </a:rPr>
              <a:t>source characters</a:t>
            </a:r>
          </a:p>
        </p:txBody>
      </p:sp>
      <p:sp>
        <p:nvSpPr>
          <p:cNvPr id="837" name="Normalization diamond reference">
            <a:extLst xmlns:a="http://schemas.openxmlformats.org/drawingml/2006/main">
              <a:ext uri="{FF2B5EF4-FFF2-40B4-BE49-F238E27FC236}">
                <a16:creationId xmlns:a16="http://schemas.microsoft.com/office/drawing/2014/main" id="{31B3873B-A372-41C5-B0CA-19C3287AFC79}"/>
              </a:ext>
            </a:extLst>
          </p:cNvPr>
          <p:cNvSpPr>
            <a:spLocks xmlns:a="http://schemas.openxmlformats.org/drawingml/2006/main" noGrp="1"/>
          </p:cNvSpPr>
          <p:nvPr/>
        </p:nvSpPr>
        <p:spPr>
          <a:xfrm xmlns:a="http://schemas.openxmlformats.org/drawingml/2006/main">
            <a:off x="25050750" y="34204275"/>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8" name="Normalization diamond note">
            <a:extLst xmlns:a="http://schemas.openxmlformats.org/drawingml/2006/main">
              <a:ext uri="{FF2B5EF4-FFF2-40B4-BE49-F238E27FC236}">
                <a16:creationId xmlns:a16="http://schemas.microsoft.com/office/drawing/2014/main" id="{DEAB11C8-530D-461A-96D5-9F143B114A4E}"/>
              </a:ext>
            </a:extLst>
          </p:cNvPr>
          <p:cNvSpPr>
            <a:spLocks xmlns:a="http://schemas.openxmlformats.org/drawingml/2006/main" noGrp="1"/>
          </p:cNvSpPr>
          <p:nvPr/>
        </p:nvSpPr>
        <p:spPr>
          <a:xfrm xmlns:a="http://schemas.openxmlformats.org/drawingml/2006/main">
            <a:off x="22764750" y="41205150"/>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9" name="GitHub repository link">
            <a:hlinkClick xmlns:r="http://schemas.openxmlformats.org/officeDocument/2006/relationships" r:id="rId2"/>
            <a:extLst xmlns:a="http://schemas.openxmlformats.org/drawingml/2006/main">
              <a:ext uri="{FF2B5EF4-FFF2-40B4-BE49-F238E27FC236}">
                <a16:creationId xmlns:a16="http://schemas.microsoft.com/office/drawing/2014/main" id="{6ADE8C1B-F812-47D9-8751-4D68ACA56770}"/>
              </a:ext>
            </a:extLst>
          </p:cNvPr>
          <p:cNvSpPr>
            <a:spLocks xmlns:a="http://schemas.openxmlformats.org/drawingml/2006/main" noGrp="1"/>
          </p:cNvSpPr>
          <p:nvPr/>
        </p:nvSpPr>
        <p:spPr>
          <a:xfrm xmlns:a="http://schemas.openxmlformats.org/drawingml/2006/main">
            <a:off x="2952750" y="477202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000">
                <a:solidFill>
                  <a:srgbClr val="9EB3C2"/>
                </a:solidFill>
                <a:latin typeface="Fira Code"/>
                <a:ea typeface="Fira Code"/>
                <a:cs typeface="Fira Code"/>
              </a:defRPr>
            </a:pPr>
            <a:r>
              <a:rPr sz="4000" u="none">
                <a:solidFill>
                  <a:srgbClr val="9EB3C2"/>
                </a:solidFill>
                <a:latin typeface="Fira Code"/>
                <a:ea typeface="Fira Code"/>
                <a:cs typeface="Fira Code"/>
              </a:rPr>
              <a:t>mech-lang/mech</a:t>
            </a:r>
          </a:p>
        </p:txBody>
      </p:sp>
      <p:sp>
        <p:nvSpPr>
          <p:cNvPr id="840" name="QR invitation hook">
            <a:extLst xmlns:a="http://schemas.openxmlformats.org/drawingml/2006/main">
              <a:ext uri="{FF2B5EF4-FFF2-40B4-BE49-F238E27FC236}">
                <a16:creationId xmlns:a16="http://schemas.microsoft.com/office/drawing/2014/main" id="{5D82B73E-F2EC-47C0-9AFF-802F5EB68028}"/>
              </a:ext>
            </a:extLst>
          </p:cNvPr>
          <p:cNvSpPr>
            <a:spLocks xmlns:a="http://schemas.openxmlformats.org/drawingml/2006/main" noGrp="1"/>
          </p:cNvSpPr>
          <p:nvPr/>
        </p:nvSpPr>
        <p:spPr>
          <a:xfrm xmlns:a="http://schemas.openxmlformats.org/drawingml/2006/main">
            <a:off x="19812000" y="10096500"/>
            <a:ext cx="1066800" cy="809625"/>
          </a:xfrm>
          <a:custGeom>
            <a:avLst/>
            <a:gdLst/>
            <a:ahLst/>
            <a:cxnLst/>
            <a:rect l="0" t="0" r="r" b="b"/>
            <a:pathLst>
              <a:path w="1120" h="850" fill="none" stroke="1">
                <a:moveTo>
                  <a:pt x="0" y="130"/>
                </a:moveTo>
                <a:cubicBezTo>
                  <a:pt x="930" y="-40"/>
                  <a:pt x="1000" y="60"/>
                  <a:pt x="930" y="220"/>
                </a:cubicBezTo>
                <a:cubicBezTo>
                  <a:pt x="810" y="380"/>
                  <a:pt x="465" y="400"/>
                  <a:pt x="325" y="625"/>
                </a:cubicBezTo>
                <a:lnTo>
                  <a:pt x="185" y="850"/>
                </a:lnTo>
              </a:path>
            </a:pathLst>
          </a:custGeom>
          <a:noFill/>
          <a:ln w="42863" cap="rnd">
            <a:solidFill>
              <a:srgbClr val="F6C04E"/>
            </a:solidFill>
            <a:prstDash val="sysDot"/>
            <a:round/>
            <a:headEnd type="none"/>
            <a:tailEnd type="arrow" w="lg" len="lg"/>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41" name="Benchmark setup title reference">
            <a:extLst xmlns:a="http://schemas.openxmlformats.org/drawingml/2006/main">
              <a:ext uri="{FF2B5EF4-FFF2-40B4-BE49-F238E27FC236}">
                <a16:creationId xmlns:a16="http://schemas.microsoft.com/office/drawing/2014/main" id="{42D6F962-7EE6-4B9D-9E97-C1590F804BB5}"/>
              </a:ext>
            </a:extLst>
          </p:cNvPr>
          <p:cNvSpPr>
            <a:spLocks xmlns:a="http://schemas.openxmlformats.org/drawingml/2006/main" noGrp="1"/>
          </p:cNvSpPr>
          <p:nvPr/>
        </p:nvSpPr>
        <p:spPr>
          <a:xfrm xmlns:a="http://schemas.openxmlformats.org/drawingml/2006/main">
            <a:off x="9222391" y="29937075"/>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400">
                <a:solidFill>
                  <a:srgbClr val="F6C04E"/>
                </a:solidFill>
                <a:latin typeface="Fira Code"/>
                <a:ea typeface="Fira Code"/>
                <a:cs typeface="Fira Code"/>
              </a:defRPr>
            </a:pPr>
            <a:r>
              <a:rPr sz="2400">
                <a:solidFill>
                  <a:srgbClr val="F6C04E"/>
                </a:solidFill>
                <a:latin typeface="Fira Code"/>
                <a:ea typeface="Fira Code"/>
                <a:cs typeface="Fira Code"/>
              </a:rPr>
              <a:t>‡</a:t>
            </a:r>
          </a:p>
        </p:txBody>
      </p:sp>
      <p:sp>
        <p:nvSpPr>
          <p:cNvPr id="842" name="EKF integrity constraint">
            <a:extLst xmlns:a="http://schemas.openxmlformats.org/drawingml/2006/main">
              <a:ext uri="{FF2B5EF4-FFF2-40B4-BE49-F238E27FC236}">
                <a16:creationId xmlns:a16="http://schemas.microsoft.com/office/drawing/2014/main" id="{BB9B39EC-5AB5-4A66-9059-747376F98062}"/>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00">
                <a:solidFill>
                  <a:srgbClr val="EDDAF1"/>
                </a:solidFill>
                <a:latin typeface="Fira Code"/>
                <a:ea typeface="Fira Code"/>
                <a:cs typeface="Fira Code"/>
              </a:defRPr>
            </a:pPr>
            <a:r>
              <a:rPr sz="2800">
                <a:solidFill>
                  <a:srgbClr val="FFAA80"/>
                </a:solidFill>
                <a:latin typeface="Fira Code"/>
                <a:ea typeface="Fira Code"/>
                <a:cs typeface="Fira Code"/>
              </a:rPr>
              <a:t>variance!</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all</a:t>
            </a:r>
            <a:r>
              <a:rPr sz="2800">
                <a:solidFill>
                  <a:srgbClr val="AB7AB8"/>
                </a:solidFill>
                <a:latin typeface="Fira Code"/>
                <a:ea typeface="Fira Code"/>
                <a:cs typeface="Fira Code"/>
              </a:rPr>
              <a:t>(</a:t>
            </a:r>
            <a:r>
              <a:rPr sz="2800">
                <a:solidFill>
                  <a:srgbClr val="EDDAF1"/>
                </a:solidFill>
                <a:latin typeface="Fira Code"/>
                <a:ea typeface="Fira Code"/>
                <a:cs typeface="Fira Code"/>
              </a:rPr>
              <a:t>Σ₊</a:t>
            </a:r>
            <a:r>
              <a:rPr sz="2800">
                <a:solidFill>
                  <a:srgbClr val="AB7AB8"/>
                </a:solidFill>
                <a:latin typeface="Fira Code"/>
                <a:ea typeface="Fira Code"/>
                <a:cs typeface="Fira Code"/>
              </a:rPr>
              <a:t>[[</a:t>
            </a:r>
            <a:r>
              <a:rPr sz="2800">
                <a:solidFill>
                  <a:srgbClr val="93C1E8"/>
                </a:solidFill>
                <a:latin typeface="Fira Code"/>
                <a:ea typeface="Fira Code"/>
                <a:cs typeface="Fira Code"/>
              </a:rPr>
              <a:t>1 5 9</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&gt;</a:t>
            </a:r>
            <a:r>
              <a:rPr sz="2800">
                <a:solidFill>
                  <a:srgbClr val="EDDAF1"/>
                </a:solidFill>
                <a:latin typeface="Fira Code"/>
                <a:ea typeface="Fira Code"/>
                <a:cs typeface="Fira Code"/>
              </a:rPr>
              <a:t> </a:t>
            </a:r>
            <a:r>
              <a:rPr sz="2800">
                <a:solidFill>
                  <a:srgbClr val="93C1E8"/>
                </a:solidFill>
                <a:latin typeface="Fira Code"/>
                <a:ea typeface="Fira Code"/>
                <a:cs typeface="Fira Code"/>
              </a:rPr>
              <a:t>0</a:t>
            </a:r>
            <a:r>
              <a:rPr sz="2800">
                <a:solidFill>
                  <a:srgbClr val="AB7AB8"/>
                </a:solidFill>
                <a:latin typeface="Fira Code"/>
                <a:ea typeface="Fira Code"/>
                <a:cs typeface="Fira Code"/>
              </a:rPr>
              <a:t>)</a:t>
            </a:r>
          </a:p>
        </p:txBody>
      </p:sp>
      <p:sp>
        <p:nvSpPr>
          <p:cNvPr id="843" name="Contributions invitation">
            <a:hlinkClick xmlns:r="http://schemas.openxmlformats.org/officeDocument/2006/relationships" r:id="rId3"/>
            <a:extLst xmlns:a="http://schemas.openxmlformats.org/drawingml/2006/main">
              <a:ext uri="{FF2B5EF4-FFF2-40B4-BE49-F238E27FC236}">
                <a16:creationId xmlns:a16="http://schemas.microsoft.com/office/drawing/2014/main" id="{1CEF8EC6-C0BB-40D7-A6E6-C8E9F1B01E18}"/>
              </a:ext>
            </a:extLst>
          </p:cNvPr>
          <p:cNvSpPr>
            <a:spLocks xmlns:a="http://schemas.openxmlformats.org/drawingml/2006/main" noGrp="1"/>
          </p:cNvSpPr>
          <p:nvPr/>
        </p:nvSpPr>
        <p:spPr>
          <a:xfrm xmlns:a="http://schemas.openxmlformats.org/drawingml/2006/main">
            <a:off x="952500" y="4127182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u="none">
                <a:solidFill>
                  <a:srgbClr val="F2EAD9"/>
                </a:solidFill>
                <a:latin typeface="Avenir Next"/>
                <a:ea typeface="Avenir Next"/>
                <a:cs typeface="Avenir Next"/>
              </a:rPr>
              <a:t>Contributions and bug reports are welcome on GitHub: </a:t>
            </a:r>
            <a:r>
              <a:rPr sz="1800" u="none">
                <a:solidFill>
                  <a:srgbClr val="F6C04E"/>
                </a:solidFill>
                <a:latin typeface="Avenir Next"/>
                <a:ea typeface="Avenir Next"/>
                <a:cs typeface="Avenir Next"/>
              </a:rPr>
              <a:t>mech-lang/mech</a:t>
            </a:r>
            <a:r>
              <a:rPr sz="1800" u="none">
                <a:solidFill>
                  <a:srgbClr val="F2EAD9"/>
                </a:solidFill>
                <a:latin typeface="Avenir Next"/>
                <a:ea typeface="Avenir Next"/>
                <a:cs typeface="Avenir Next"/>
              </a:rPr>
              <a:t>.</a:t>
            </a:r>
          </a:p>
        </p:txBody>
      </p:sp>
      <p:sp>
        <p:nvSpPr>
          <p:cNvPr id="844" name="Benchmark setup note reference">
            <a:extLst xmlns:a="http://schemas.openxmlformats.org/drawingml/2006/main">
              <a:ext uri="{FF2B5EF4-FFF2-40B4-BE49-F238E27FC236}">
                <a16:creationId xmlns:a16="http://schemas.microsoft.com/office/drawing/2014/main" id="{36FF6434-F66E-4F00-BD64-3B9D9AAAD5AB}"/>
              </a:ext>
            </a:extLst>
          </p:cNvPr>
          <p:cNvSpPr>
            <a:spLocks xmlns:a="http://schemas.openxmlformats.org/drawingml/2006/main" noGrp="1"/>
          </p:cNvSpPr>
          <p:nvPr/>
        </p:nvSpPr>
        <p:spPr>
          <a:xfrm xmlns:a="http://schemas.openxmlformats.org/drawingml/2006/main">
            <a:off x="3619500" y="419862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6C04E"/>
                </a:solidFill>
                <a:latin typeface="Fira Code"/>
                <a:ea typeface="Fira Code"/>
                <a:cs typeface="Fira Code"/>
              </a:defRPr>
            </a:pPr>
            <a:r>
              <a:rPr sz="2100">
                <a:solidFill>
                  <a:srgbClr val="F6C04E"/>
                </a:solidFill>
                <a:latin typeface="Fira Code"/>
                <a:ea typeface="Fira Code"/>
                <a:cs typeface="Fira Code"/>
              </a:rPr>
              <a:t>‡</a:t>
            </a:r>
          </a:p>
        </p:txBody>
      </p:sp>
      <p:pic>
        <p:nvPicPr>
          <p:cNvPr id="845" name="GitHub repository logo" descr="GitHub Invertocat logo">
            <a:hlinkClick xmlns:r="http://schemas.openxmlformats.org/officeDocument/2006/relationships" r:id="rId2"/>
          </p:cNvPr>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2278743" y="4912456"/>
            <a:ext cx="471714" cy="462088"/>
          </a:xfrm>
          <a:prstGeom xmlns:a="http://schemas.openxmlformats.org/drawingml/2006/main" prst="rect">
            <a:avLst/>
          </a:prstGeom>
        </p:spPr>
      </p:pic>
      <p:sp>
        <p:nvSpPr>
          <p:cNvPr id="848" name="Backend compilation note accent">
            <a:extLst xmlns:a="http://schemas.openxmlformats.org/drawingml/2006/main">
              <a:ext uri="{FF2B5EF4-FFF2-40B4-BE49-F238E27FC236}">
                <a16:creationId xmlns:a16="http://schemas.microsoft.com/office/drawing/2014/main" id="{47DA5003-0207-4DE4-BAE3-D8BAA5A0EE79}"/>
              </a:ext>
            </a:extLst>
          </p:cNvPr>
          <p:cNvSpPr>
            <a:spLocks xmlns:a="http://schemas.openxmlformats.org/drawingml/2006/main" noGrp="1"/>
          </p:cNvSpPr>
          <p:nvPr/>
        </p:nvSpPr>
        <p:spPr>
          <a:xfrm xmlns:a="http://schemas.openxmlformats.org/drawingml/2006/main">
            <a:off x="11715750" y="35652075"/>
            <a:ext cx="57150" cy="762000"/>
          </a:xfrm>
          <a:prstGeom xmlns:a="http://schemas.openxmlformats.org/drawingml/2006/main" prst="rect">
            <a:avLst/>
          </a:prstGeom>
          <a:solidFill xmlns:a="http://schemas.openxmlformats.org/drawingml/2006/main">
            <a:srgbClr val="B89A5A"/>
          </a:solidFill>
          <a:ln xmlns:a="http://schemas.openxmlformats.org/drawingml/2006/main" w="0">
            <a:noFill/>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