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a:p>
            <a:r>
              <a:t xml:space="preserve">2026-09-25 layout revision: Mech code indentation is one Fira Code space, while import and headings retain their margin. A six-line notation key uses Mech comment syntax in the code panel's upper-right whitespace. Normalized source-character heading and local definition use matching asterisk markers. Reactive legend moved under the paragraph. Activation checks existing configured capabilities and host availability before creating the resident instance, distinct from per-turn integrity validation. Code references: src/runtime/src/runtime/builder.rs:355, src/runtime/src/runtime/program/external/admission.rs:95, src/runtime/src/runtime/program/loading.rs:401. Same-source and checked/unchecked findings promoted to body text without changing data. JIT/AOT pipeline sentence moved below charts. Avenir Next is a body-prose design comparison, with Fira Code headings/code and Segoe UI chart measurements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 xml:space="preserve">+&gt;</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math</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            </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025735" y="1438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025735" y="1476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025735" y="1514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025735" y="1552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025735" y="1590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025735" y="1628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025735" y="1666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025735" y="1704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025735" y="1743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025735" y="1781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025735" y="1819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025735" y="1857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025735" y="2009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025735" y="2047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025735" y="2085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025735" y="2124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025735" y="2162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025735" y="2200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025735" y="2238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025735" y="2276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025735" y="2352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025735" y="2390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025735" y="2428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025735" y="2466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025735" y="2619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025735" y="2657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025735" y="2695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025735" y="2733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025735" y="2809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025735" y="2847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025735" y="2886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025735" y="2962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025735" y="3000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025735" y="3038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025735" y="3076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025735" y="3152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025735" y="3190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025735" y="3267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025735" y="3305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Mech offers a concrete syntax that expresses numerical algorithms as typed matrix equations. The bearing-only EKF below adapts the textbook formulation [1], preserving its matrix-level notation.</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compiles a typed dataflow artifact. Its ordinary backend uses nalgebra. Other backends specialize the graph without backend-specific source annotations.</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719000"/>
            <a:ext cx="952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Time and measurement updates remain explicit matrix equations. Backend code handles layout and batching for scalar and SIMD execution.</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195375"/>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Rust SIMD implementation includes vector adapters and a batch dispatcher with rollback. Mech uses reusable compiler and runtime components for these operations, explaining the zero helper and SIMD-support entries.</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3126700" y="41148000"/>
            <a:ext cx="9163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858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906250"/>
            <a:ext cx="2071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runs standalone or embeds in Rust through its native interface. Browser applications can embed it through WebAssembly. Rust hosts can load a dylib or compile Mech source, bind inputs and retain state between updates.</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from_source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Compile once, then submit successive measurement updates. Each checked turn retains the last accepted state.</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Checked dylibs</a:t>
            </a:r>
            <a:r>
              <a:rPr sz="1500" b="1" baseline="55000">
                <a:solidFill>
                  <a:srgbClr val="F7CE6E"/>
                </a:solidFill>
                <a:latin typeface="Fira Code"/>
                <a:ea typeface="Fira Code"/>
                <a:cs typeface="Fira Code"/>
              </a:rPr>
              <a:t>†</a:t>
            </a:r>
          </a:p>
        </p:txBody>
      </p:sp>
      <p:graphicFrame>
        <p:nvGraphicFramePr>
          <p:cNvPr id="623"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6240125"/>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8383250"/>
            <a:ext cx="10144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bundle contains the dylib and its saved interface.</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9145250"/>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201930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Robots commonly use feedback control loops over continuous data streams. Rust host drivers supply measurements directly or through ROS. Each Mech turn validates candidate state against integrity constraints. Rejection notifies the caller and retains the previous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2221825"/>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716500" y="21526500"/>
            <a:ext cx="3952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Activation checks host availability and capabilities (permissions for resource operations).</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765500"/>
            <a:ext cx="2071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Mech’s typed graph supports interpretation, scalar/SIMD CPU, multicore, GPU and WebAssembly/WGPU.</a:t>
            </a:r>
          </a:p>
        </p:txBody>
      </p:sp>
      <p:sp>
        <p:nvSpPr>
          <p:cNvPr id="239" name="JIT AOT explanation">
            <a:extLst xmlns:a="http://schemas.openxmlformats.org/drawingml/2006/main">
              <a:ext uri="{FF2B5EF4-FFF2-40B4-BE49-F238E27FC236}">
                <a16:creationId xmlns:a16="http://schemas.microsoft.com/office/drawing/2014/main" id="{81D7AE81-DB5D-49AA-BCBA-B6456383EEFD}"/>
              </a:ext>
            </a:extLst>
          </p:cNvPr>
          <p:cNvSpPr>
            <a:spLocks xmlns:a="http://schemas.openxmlformats.org/drawingml/2006/main" noGrp="1"/>
          </p:cNvSpPr>
          <p:nvPr/>
        </p:nvSpPr>
        <p:spPr>
          <a:xfrm xmlns:a="http://schemas.openxmlformats.org/drawingml/2006/main">
            <a:off x="952500" y="29241750"/>
            <a:ext cx="2071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backend rows share one f32 EKF implementation of the equations shown at right.</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6514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65145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11467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8 workers, fused execution, 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1146750"/>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Per-turn publication, median ± MAD</a:t>
            </a:r>
          </a:p>
        </p:txBody>
      </p:sp>
      <p:graphicFrame>
        <p:nvGraphicFramePr>
          <p:cNvPr id="681" name="Chart"/>
          <p:cNvGraphicFramePr/>
          <p:nvPr/>
        </p:nvGraphicFramePr>
        <p:xfrm>
          <a:off xmlns:a="http://schemas.openxmlformats.org/drawingml/2006/main" x="80962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7385625"/>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72808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7385625"/>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72808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checked (bottom)</a:t>
            </a:r>
          </a:p>
        </p:txBody>
      </p:sp>
      <p:graphicFrame>
        <p:nvGraphicFramePr>
          <p:cNvPr id="686" name="Chart"/>
          <p:cNvGraphicFramePr/>
          <p:nvPr/>
        </p:nvGraphicFramePr>
        <p:xfrm>
          <a:off xmlns:a="http://schemas.openxmlformats.org/drawingml/2006/main" x="11572875" y="31527750"/>
          <a:ext xmlns:a="http://schemas.openxmlformats.org/drawingml/2006/main" cx="10096500" cy="5667375"/>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59778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56731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52007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489605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44237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4118978"/>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36466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3341897"/>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86955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2564816"/>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209247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78773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593064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556495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499814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4632461"/>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406564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369996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3133151"/>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27674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2200654"/>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83496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950" b="0">
                <a:solidFill>
                  <a:srgbClr val="E8EDF0"/>
                </a:solidFill>
                <a:latin typeface="Segoe UI"/>
                <a:ea typeface="Segoe UI"/>
                <a:cs typeface="Segoe UI"/>
              </a:defRPr>
            </a:pPr>
            <a:r>
              <a:rPr sz="195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715750" y="37280850"/>
            <a:ext cx="995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1w/8w: one/eight CPU workers. JIT and AOT share the numerical pipeline.</a:t>
            </a:r>
            <a:r>
              <a:rPr sz="1500" b="0" baseline="55000">
                <a:solidFill>
                  <a:srgbClr val="F7CE6E"/>
                </a:solidFill>
                <a:latin typeface="Avenir Next"/>
                <a:ea typeface="Avenir Next"/>
                <a:cs typeface="Avenir Next"/>
              </a:rPr>
              <a:t>‡</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8719125"/>
            <a:ext cx="20716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This poster presents a snapshot of Mech v0.4-beta. Many features are implemented and working, with further validation and hardening needed. Validation on research robots remains limited. Over the next year, we plan broader hardware deployments and user feedback to guide development toward a v1.0 release in 2028.</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40243125"/>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40243125"/>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40243125"/>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40243125"/>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40243125"/>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40243125"/>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40243125"/>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40071675"/>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40481250"/>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4086225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1414700"/>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40071675"/>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40481250"/>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4086225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1414700"/>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40071675"/>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40481250"/>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4086225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1414700"/>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40071675"/>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40481250"/>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4086225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1414700"/>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40071675"/>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40481250"/>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4086225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1414700"/>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40071675"/>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40185975"/>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40481250"/>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4086225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1414700"/>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00"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40071675"/>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40481250"/>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4086225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1414700"/>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40071675"/>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40481250"/>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4086225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1414700"/>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1814750"/>
            <a:ext cx="2071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6C04E"/>
                </a:solidFill>
                <a:latin typeface="Avenir Next"/>
                <a:ea typeface="Avenir Next"/>
                <a:cs typeface="Avenir Next"/>
              </a:defRPr>
            </a:pPr>
            <a:r>
              <a:rPr sz="1800" b="0">
                <a:solidFill>
                  <a:srgbClr val="F6C04E"/>
                </a:solidFill>
                <a:latin typeface="Avenir Next"/>
                <a:ea typeface="Avenir Next"/>
                <a:cs typeface="Avenir Next"/>
              </a:rPr>
              <a:t>Experience this poster as a live reactive program. Mech’s WebAssembly runtime supports the CPU and WGPU comparison online.</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669750"/>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3217188"/>
            <a:ext cx="666750" cy="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321718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321718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3217188"/>
            <a:ext cx="6667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2240875"/>
            <a:ext cx="0" cy="357188"/>
          </a:xfrm>
          <a:prstGeom xmlns:a="http://schemas.openxmlformats.org/drawingml/2006/main" prst="straightConnector1">
            <a:avLst/>
          </a:prstGeom>
          <a:ln xmlns:a="http://schemas.openxmlformats.org/drawingml/2006/main" w="38100">
            <a:solidFill>
              <a:srgbClr val="7FC7FF"/>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2240875"/>
            <a:ext cx="0" cy="57150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736550"/>
            <a:ext cx="0" cy="171450"/>
          </a:xfrm>
          <a:prstGeom xmlns:a="http://schemas.openxmlformats.org/drawingml/2006/main" prst="straightConnector1">
            <a:avLst/>
          </a:prstGeom>
          <a:ln xmlns:a="http://schemas.openxmlformats.org/drawingml/2006/main" w="38100">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796081"/>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796081"/>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931813"/>
            <a:ext cx="809625" cy="1"/>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931813"/>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931813"/>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6068735"/>
            <a:ext cx="1131094" cy="857250"/>
          </a:xfrm>
          <a:prstGeom xmlns:a="http://schemas.openxmlformats.org/drawingml/2006/main" prst="curvedConnector3">
            <a:avLst>
              <a:gd name="adj1" fmla="val 50000"/>
            </a:avLst>
          </a:prstGeom>
          <a:ln xmlns:a="http://schemas.openxmlformats.org/drawingml/2006/main" w="38100">
            <a:solidFill>
              <a:srgbClr val="CE7979"/>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334119"/>
            <a:ext cx="528638"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6115169"/>
            <a:ext cx="1033462"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81237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81237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59806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81237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81237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228850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41458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312688"/>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4" name="Host driver explanation">
            <a:extLst xmlns:a="http://schemas.openxmlformats.org/drawingml/2006/main">
              <a:ext uri="{FF2B5EF4-FFF2-40B4-BE49-F238E27FC236}">
                <a16:creationId xmlns:a16="http://schemas.microsoft.com/office/drawing/2014/main" id="{939B8B63-51F0-4742-9381-4FAE6D21D37B}"/>
              </a:ext>
            </a:extLst>
          </p:cNvPr>
          <p:cNvSpPr>
            <a:spLocks xmlns:a="http://schemas.openxmlformats.org/drawingml/2006/main" noGrp="1"/>
          </p:cNvSpPr>
          <p:nvPr/>
        </p:nvSpPr>
        <p:spPr>
          <a:xfrm xmlns:a="http://schemas.openxmlformats.org/drawingml/2006/main">
            <a:off x="952500" y="26741438"/>
            <a:ext cx="323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Avenir Next"/>
                <a:ea typeface="Segoe UI"/>
                <a:cs typeface="Segoe UI"/>
              </a:defRPr>
            </a:pPr>
            <a:r>
              <a:rPr sz="2100" b="0">
                <a:solidFill>
                  <a:srgbClr val="A4BAC8"/>
                </a:solidFill>
                <a:latin typeface="Avenir Next"/>
                <a:ea typeface="Segoe UI"/>
                <a:cs typeface="Segoe UI"/>
              </a:rPr>
              <a:t>Native Rust interface</a:t>
            </a:r>
          </a:p>
          <a:p xmlns:a="http://schemas.openxmlformats.org/drawingml/2006/main">
            <a:pPr algn="l">
              <a:lnSpc>
                <a:spcPct val="108000"/>
              </a:lnSpc>
              <a:buNone/>
              <a:defRPr sz="2100" b="0">
                <a:solidFill>
                  <a:srgbClr val="A4BAC8"/>
                </a:solidFill>
                <a:latin typeface="Avenir Next"/>
                <a:ea typeface="Segoe UI"/>
                <a:cs typeface="Segoe UI"/>
              </a:defRPr>
            </a:pPr>
            <a:r>
              <a:rPr sz="2100" b="0">
                <a:solidFill>
                  <a:srgbClr val="A4BAC8"/>
                </a:solidFill>
                <a:latin typeface="Avenir Next"/>
                <a:ea typeface="Segoe UI"/>
                <a:cs typeface="Segoe UI"/>
              </a:rPr>
              <a:t>ROS is another channel</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8126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3365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908000"/>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641425"/>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503188"/>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503188"/>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511742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693813"/>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7193875"/>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875" b="1">
                <a:solidFill>
                  <a:srgbClr val="CE7979"/>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574500"/>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431875"/>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527000"/>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650700"/>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EKF state telemetry</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5003125"/>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336500"/>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527125"/>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860500"/>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574625"/>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489025"/>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524125" y="42243375"/>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xmlns:a="http://schemas.openxmlformats.org/drawingml/2006/main" w="36195" cap="rnd">
            <a:solidFill>
              <a:srgbClr val="F6C04E"/>
            </a:solidFill>
            <a:custDash>
              <a:ds d="200000" sp="170000"/>
              <a:ds d="145000" sp="210000"/>
              <a:ds d="235000" sp="155000"/>
              <a:ds d="175000" sp="190000"/>
            </a:custDash>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811625"/>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952500" y="217741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1276350" y="217170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2619375" y="217741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2943225" y="217170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4286250" y="217741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4610100" y="217170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5953125" y="2177415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6276975" y="2171700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4193500"/>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3622000"/>
            <a:ext cx="0" cy="571500"/>
          </a:xfrm>
          <a:prstGeom xmlns:a="http://schemas.openxmlformats.org/drawingml/2006/main" prst="straightConnector1">
            <a:avLst/>
          </a:prstGeom>
          <a:ln xmlns:a="http://schemas.openxmlformats.org/drawingml/2006/main" w="38100">
            <a:solidFill>
              <a:srgbClr val="CE7979"/>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593064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593064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499814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499814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406564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406564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3133151"/>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3133151"/>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220065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220065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556495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556495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4632461"/>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4632461"/>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3699964"/>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3699964"/>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27674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27674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83496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950">
                <a:solidFill>
                  <a:srgbClr val="E8EDF0"/>
                </a:solidFill>
                <a:latin typeface="Segoe UI"/>
                <a:ea typeface="Segoe UI"/>
                <a:cs typeface="Segoe UI"/>
              </a:defRPr>
            </a:pPr>
            <a:r>
              <a:rPr sz="195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83496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950">
                <a:solidFill>
                  <a:srgbClr val="E8EDF0"/>
                </a:solidFill>
                <a:latin typeface="Segoe UI"/>
                <a:ea typeface="Segoe UI"/>
                <a:cs typeface="Segoe UI"/>
              </a:defRPr>
            </a:pPr>
            <a:r>
              <a:rPr sz="195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7002125"/>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p:txBody>
      </p:sp>
      <p:sp>
        <p:nvSpPr>
          <p:cNvPr id="814" name="Mech notation comments">
            <a:extLst xmlns:a="http://schemas.openxmlformats.org/drawingml/2006/main">
              <a:ext uri="{FF2B5EF4-FFF2-40B4-BE49-F238E27FC236}">
                <a16:creationId xmlns:a16="http://schemas.microsoft.com/office/drawing/2014/main" id="{DFB8122F-2D22-45E5-86A7-5A618E715FF3}"/>
              </a:ext>
            </a:extLst>
          </p:cNvPr>
          <p:cNvSpPr>
            <a:spLocks xmlns:a="http://schemas.openxmlformats.org/drawingml/2006/main" noGrp="1"/>
          </p:cNvSpPr>
          <p:nvPr/>
        </p:nvSpPr>
        <p:spPr>
          <a:xfrm xmlns:a="http://schemas.openxmlformats.org/drawingml/2006/main">
            <a:off x="27622500" y="14001750"/>
            <a:ext cx="4143375"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+&gt; import library</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mutable</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define</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assign</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matrix multiply</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transpose</a:t>
            </a:r>
          </a:p>
          <a:p xmlns:a="http://schemas.openxmlformats.org/drawingml/2006/main">
            <a:pPr algn="l">
              <a:lnSpc>
                <a:spcPct val="106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broadcast multiply</a:t>
            </a:r>
          </a:p>
        </p:txBody>
      </p:sp>
      <p:sp>
        <p:nvSpPr>
          <p:cNvPr id="815" name="Checking cost explanation">
            <a:extLst xmlns:a="http://schemas.openxmlformats.org/drawingml/2006/main">
              <a:ext uri="{FF2B5EF4-FFF2-40B4-BE49-F238E27FC236}">
                <a16:creationId xmlns:a16="http://schemas.microsoft.com/office/drawing/2014/main" id="{F59DC4F6-C4B8-4359-A1FF-C481CF851198}"/>
              </a:ext>
            </a:extLst>
          </p:cNvPr>
          <p:cNvSpPr>
            <a:spLocks xmlns:a="http://schemas.openxmlformats.org/drawingml/2006/main" noGrp="1"/>
          </p:cNvSpPr>
          <p:nvPr/>
        </p:nvSpPr>
        <p:spPr>
          <a:xfrm xmlns:a="http://schemas.openxmlformats.org/drawingml/2006/main">
            <a:off x="952500" y="29718000"/>
            <a:ext cx="20716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Unchecked runs omit integrity predicates and retain per-turn publication. Checking reduces SIMD AOT throughput by 6.6%. The Metal difference is within measured variation.</a:t>
            </a:r>
          </a:p>
        </p:txBody>
      </p:sp>
      <p:sp>
        <p:nvSpPr>
          <p:cNvPr id="816" name="Motivation Rust">
            <a:extLst xmlns:a="http://schemas.openxmlformats.org/drawingml/2006/main">
              <a:ext uri="{FF2B5EF4-FFF2-40B4-BE49-F238E27FC236}">
                <a16:creationId xmlns:a16="http://schemas.microsoft.com/office/drawing/2014/main" id="{68FFA313-5A71-40BE-9812-76E8E24DE968}"/>
              </a:ext>
            </a:extLst>
          </p:cNvPr>
          <p:cNvSpPr>
            <a:spLocks xmlns:a="http://schemas.openxmlformats.org/drawingml/2006/main" noGrp="1"/>
          </p:cNvSpPr>
          <p:nvPr/>
        </p:nvSpPr>
        <p:spPr>
          <a:xfrm xmlns:a="http://schemas.openxmlformats.org/drawingml/2006/main">
            <a:off x="952500" y="7524750"/>
            <a:ext cx="99536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Rust’s memory safety and performance make it a strong foundation for robotics. Still, numerical kernels can require substantial code for SIMD layouts and GPU execution. Backend-specific implementations can be harder to verify against the equations and maintain. Streaming sensor updates also require state management and validation.</a:t>
            </a:r>
          </a:p>
        </p:txBody>
      </p:sp>
      <p:sp>
        <p:nvSpPr>
          <p:cNvPr id="817" name="Motivation Mech">
            <a:extLst xmlns:a="http://schemas.openxmlformats.org/drawingml/2006/main">
              <a:ext uri="{FF2B5EF4-FFF2-40B4-BE49-F238E27FC236}">
                <a16:creationId xmlns:a16="http://schemas.microsoft.com/office/drawing/2014/main" id="{DEE16B77-DA84-4EC8-8EF8-100B6EA5909D}"/>
              </a:ext>
            </a:extLst>
          </p:cNvPr>
          <p:cNvSpPr>
            <a:spLocks xmlns:a="http://schemas.openxmlformats.org/drawingml/2006/main" noGrp="1"/>
          </p:cNvSpPr>
          <p:nvPr/>
        </p:nvSpPr>
        <p:spPr>
          <a:xfrm xmlns:a="http://schemas.openxmlformats.org/drawingml/2006/main">
            <a:off x="11715750" y="7524750"/>
            <a:ext cx="995362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Mech is a Rust-native embeddable language that aims to make numerical kernels easier to write in Rust. For robotics, it adds reactive semantics that process successive sensor updates, validate candidate state and retain the last accepted state when a turn fails. Applications can use one function or a complete subsystem.</a:t>
            </a:r>
          </a:p>
        </p:txBody>
      </p:sp>
      <p:sp>
        <p:nvSpPr>
          <p:cNvPr id="818" name="Motivation scope and demo">
            <a:extLst xmlns:a="http://schemas.openxmlformats.org/drawingml/2006/main">
              <a:ext uri="{FF2B5EF4-FFF2-40B4-BE49-F238E27FC236}">
                <a16:creationId xmlns:a16="http://schemas.microsoft.com/office/drawing/2014/main" id="{F01A6859-AE51-4FA3-8C51-A58720F278CB}"/>
              </a:ext>
            </a:extLst>
          </p:cNvPr>
          <p:cNvSpPr>
            <a:spLocks xmlns:a="http://schemas.openxmlformats.org/drawingml/2006/main" noGrp="1"/>
          </p:cNvSpPr>
          <p:nvPr/>
        </p:nvSpPr>
        <p:spPr>
          <a:xfrm xmlns:a="http://schemas.openxmlformats.org/drawingml/2006/main">
            <a:off x="952500" y="10191750"/>
            <a:ext cx="1485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This case study presents Mech’s numerical features. The functional language also includes</a:t>
            </a:r>
          </a:p>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first-class state machines and pattern matching.</a:t>
            </a:r>
          </a:p>
        </p:txBody>
      </p:sp>
      <p:sp>
        <p:nvSpPr>
          <p:cNvPr id="819" name="Motivation QR invitation">
            <a:extLst xmlns:a="http://schemas.openxmlformats.org/drawingml/2006/main">
              <a:ext uri="{FF2B5EF4-FFF2-40B4-BE49-F238E27FC236}">
                <a16:creationId xmlns:a16="http://schemas.microsoft.com/office/drawing/2014/main" id="{13B00735-C9BB-4303-82FE-45768D6EACAF}"/>
              </a:ext>
            </a:extLst>
          </p:cNvPr>
          <p:cNvSpPr>
            <a:spLocks xmlns:a="http://schemas.openxmlformats.org/drawingml/2006/main" noGrp="1"/>
          </p:cNvSpPr>
          <p:nvPr/>
        </p:nvSpPr>
        <p:spPr>
          <a:xfrm xmlns:a="http://schemas.openxmlformats.org/drawingml/2006/main">
            <a:off x="16573500" y="10191750"/>
            <a:ext cx="438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7CE6E"/>
                </a:solidFill>
                <a:latin typeface="Avenir Next"/>
                <a:ea typeface="Avenir Next"/>
                <a:cs typeface="Avenir Next"/>
              </a:defRPr>
            </a:pPr>
            <a:r>
              <a:rPr sz="1800">
                <a:solidFill>
                  <a:srgbClr val="F7CE6E"/>
                </a:solidFill>
                <a:latin typeface="Avenir Next"/>
                <a:ea typeface="Avenir Next"/>
                <a:cs typeface="Avenir Next"/>
              </a:rPr>
              <a:t>Scan the bottom QR code</a:t>
            </a:r>
          </a:p>
          <a:p xmlns:a="http://schemas.openxmlformats.org/drawingml/2006/main">
            <a:pPr algn="l">
              <a:lnSpc>
                <a:spcPct val="106000"/>
              </a:lnSpc>
              <a:buNone/>
              <a:defRPr sz="1800">
                <a:solidFill>
                  <a:srgbClr val="F7CE6E"/>
                </a:solidFill>
                <a:latin typeface="Avenir Next"/>
                <a:ea typeface="Avenir Next"/>
                <a:cs typeface="Avenir Next"/>
              </a:defRPr>
            </a:pPr>
            <a:r>
              <a:rPr sz="1800">
                <a:solidFill>
                  <a:srgbClr val="F7CE6E"/>
                </a:solidFill>
                <a:latin typeface="Avenir Next"/>
                <a:ea typeface="Avenir Next"/>
                <a:cs typeface="Avenir Next"/>
              </a:rPr>
              <a:t>for a fuller demonstration.</a:t>
            </a:r>
          </a:p>
        </p:txBody>
      </p:sp>
      <p:sp>
        <p:nvSpPr>
          <p:cNvPr id="820" name="Motivation downward QR arrow">
            <a:extLst xmlns:a="http://schemas.openxmlformats.org/drawingml/2006/main">
              <a:ext uri="{FF2B5EF4-FFF2-40B4-BE49-F238E27FC236}">
                <a16:creationId xmlns:a16="http://schemas.microsoft.com/office/drawing/2014/main" id="{C357F7E4-8D90-4DCC-A2E1-569B98695C51}"/>
              </a:ext>
            </a:extLst>
          </p:cNvPr>
          <p:cNvSpPr>
            <a:spLocks xmlns:a="http://schemas.openxmlformats.org/drawingml/2006/main" noGrp="1"/>
          </p:cNvSpPr>
          <p:nvPr/>
        </p:nvSpPr>
        <p:spPr>
          <a:xfrm xmlns:a="http://schemas.openxmlformats.org/drawingml/2006/main">
            <a:off x="21145500" y="10096500"/>
            <a:ext cx="428625" cy="619125"/>
          </a:xfrm>
          <a:custGeom>
            <a:avLst/>
            <a:gdLst/>
            <a:ahLst/>
            <a:cxnLst/>
            <a:rect l="0" t="0" r="r" b="b"/>
            <a:pathLst>
              <a:path w="450" h="650" fill="none" stroke="1">
                <a:moveTo>
                  <a:pt x="65" y="35"/>
                </a:moveTo>
                <a:cubicBezTo>
                  <a:pt x="405" y="10"/>
                  <a:pt x="432" y="176"/>
                  <a:pt x="273" y="197"/>
                </a:cubicBezTo>
                <a:cubicBezTo>
                  <a:pt x="92" y="215"/>
                  <a:pt x="74" y="77"/>
                  <a:pt x="232" y="110"/>
                </a:cubicBezTo>
                <a:cubicBezTo>
                  <a:pt x="443" y="156"/>
                  <a:pt x="278" y="386"/>
                  <a:pt x="278" y="611"/>
                </a:cubicBezTo>
              </a:path>
            </a:pathLst>
          </a:custGeom>
          <a:noFill xmlns:a="http://schemas.openxmlformats.org/drawingml/2006/main"/>
          <a:ln xmlns:a="http://schemas.openxmlformats.org/drawingml/2006/main" w="28575" cap="rnd">
            <a:solidFill>
              <a:srgbClr val="F6C04E"/>
            </a:solidFill>
            <a:custDash>
              <a:ds d="200000" sp="170000"/>
              <a:ds d="145000" sp="210000"/>
              <a:ds d="235000" sp="155000"/>
              <a:ds d="175000" sp="190000"/>
            </a:custDash>
            <a:round/>
            <a:headEnd type="none"/>
            <a:tailEnd type="arrow" w="lg" len="lg"/>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21" name="Source size superscript reference">
            <a:extLst xmlns:a="http://schemas.openxmlformats.org/drawingml/2006/main">
              <a:ext uri="{FF2B5EF4-FFF2-40B4-BE49-F238E27FC236}">
                <a16:creationId xmlns:a16="http://schemas.microsoft.com/office/drawing/2014/main" id="{32540738-B680-4B34-A863-DF427D962153}"/>
              </a:ext>
            </a:extLst>
          </p:cNvPr>
          <p:cNvSpPr>
            <a:spLocks xmlns:a="http://schemas.openxmlformats.org/drawingml/2006/main" noGrp="1"/>
          </p:cNvSpPr>
          <p:nvPr/>
        </p:nvSpPr>
        <p:spPr>
          <a:xfrm xmlns:a="http://schemas.openxmlformats.org/drawingml/2006/main">
            <a:off x="24936450" y="34023300"/>
            <a:ext cx="19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00">
                <a:solidFill>
                  <a:srgbClr val="F7CE6E"/>
                </a:solidFill>
                <a:latin typeface="Fira Code"/>
                <a:ea typeface="Fira Code"/>
                <a:cs typeface="Fira Code"/>
              </a:defRPr>
            </a:pPr>
            <a:r>
              <a:rPr sz="1500" b="1">
                <a:solidFill>
                  <a:srgbClr val="F7CE6E"/>
                </a:solidFill>
                <a:latin typeface="Fira Code"/>
                <a:ea typeface="Fira Code"/>
                <a:cs typeface="Fira Code"/>
              </a:rPr>
              <a:t>a</a:t>
            </a:r>
          </a:p>
        </p:txBody>
      </p:sp>
      <p:sp>
        <p:nvSpPr>
          <p:cNvPr id="822" name="Source size footnote marker">
            <a:extLst xmlns:a="http://schemas.openxmlformats.org/drawingml/2006/main">
              <a:ext uri="{FF2B5EF4-FFF2-40B4-BE49-F238E27FC236}">
                <a16:creationId xmlns:a16="http://schemas.microsoft.com/office/drawing/2014/main" id="{03CCDE65-E0E5-45F9-9103-389CD8A67651}"/>
              </a:ext>
            </a:extLst>
          </p:cNvPr>
          <p:cNvSpPr>
            <a:spLocks xmlns:a="http://schemas.openxmlformats.org/drawingml/2006/main" noGrp="1"/>
          </p:cNvSpPr>
          <p:nvPr/>
        </p:nvSpPr>
        <p:spPr>
          <a:xfrm xmlns:a="http://schemas.openxmlformats.org/drawingml/2006/main">
            <a:off x="22764750" y="41148000"/>
            <a:ext cx="266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7CE6E"/>
                </a:solidFill>
                <a:latin typeface="Fira Code"/>
                <a:ea typeface="Fira Code"/>
                <a:cs typeface="Fira Code"/>
              </a:defRPr>
            </a:pPr>
            <a:r>
              <a:rPr sz="1800">
                <a:solidFill>
                  <a:srgbClr val="F7CE6E"/>
                </a:solidFill>
                <a:latin typeface="Fira Code"/>
                <a:ea typeface="Fira Code"/>
                <a:cs typeface="Fira Code"/>
              </a:rPr>
              <a:t>a</a:t>
            </a:r>
          </a:p>
        </p:txBody>
      </p:sp>
      <p:sp>
        <p:nvSpPr>
          <p:cNvPr id="823" name="Benchmark note 0">
            <a:extLst xmlns:a="http://schemas.openxmlformats.org/drawingml/2006/main">
              <a:ext uri="{FF2B5EF4-FFF2-40B4-BE49-F238E27FC236}">
                <a16:creationId xmlns:a16="http://schemas.microsoft.com/office/drawing/2014/main" id="{CC0DB177-484E-41EB-89BF-6763E656A03F}"/>
              </a:ext>
            </a:extLst>
          </p:cNvPr>
          <p:cNvSpPr>
            <a:spLocks xmlns:a="http://schemas.openxmlformats.org/drawingml/2006/main" noGrp="1"/>
          </p:cNvSpPr>
          <p:nvPr/>
        </p:nvSpPr>
        <p:spPr>
          <a:xfrm xmlns:a="http://schemas.openxmlformats.org/drawingml/2006/main">
            <a:off x="3333750" y="42195750"/>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Benchmark setup. Apple M1: 4P + 4E CPU, 8-core GPU, 8 GB, macOS 15.6.1. Charts: f32, 500,000 filters × 40 turns, n=10. Median ± MAD.</a:t>
            </a:r>
          </a:p>
        </p:txBody>
      </p:sp>
      <p:sp>
        <p:nvSpPr>
          <p:cNvPr id="824" name="Benchmark note 1">
            <a:extLst xmlns:a="http://schemas.openxmlformats.org/drawingml/2006/main">
              <a:ext uri="{FF2B5EF4-FFF2-40B4-BE49-F238E27FC236}">
                <a16:creationId xmlns:a16="http://schemas.microsoft.com/office/drawing/2014/main" id="{CCFB6DA7-0564-4FEB-867A-2F2801D1B77C}"/>
              </a:ext>
            </a:extLst>
          </p:cNvPr>
          <p:cNvSpPr>
            <a:spLocks xmlns:a="http://schemas.openxmlformats.org/drawingml/2006/main" noGrp="1"/>
          </p:cNvSpPr>
          <p:nvPr/>
        </p:nvSpPr>
        <p:spPr>
          <a:xfrm xmlns:a="http://schemas.openxmlformats.org/drawingml/2006/main">
            <a:off x="3333750" y="42462450"/>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Rust 1.96.0-nightly ec818fda3/LLVM 22.1.0. Cranelift 0.131.3. Julia 1.12.6. Mojo 1.1.0/MAX 26.6.0. Futhark 0.27.1/ISPC 1.31.0/LLVM 22.1.8. Python 3.12.14/NumPy 2.2.6/Numba 0.61.2. Clang 17.0.0.</a:t>
            </a:r>
          </a:p>
        </p:txBody>
      </p:sp>
      <p:sp>
        <p:nvSpPr>
          <p:cNvPr id="825" name="Benchmark note 2">
            <a:extLst xmlns:a="http://schemas.openxmlformats.org/drawingml/2006/main">
              <a:ext uri="{FF2B5EF4-FFF2-40B4-BE49-F238E27FC236}">
                <a16:creationId xmlns:a16="http://schemas.microsoft.com/office/drawing/2014/main" id="{55C031D4-494D-43D3-9DCF-924C84FB2E0E}"/>
              </a:ext>
            </a:extLst>
          </p:cNvPr>
          <p:cNvSpPr>
            <a:spLocks xmlns:a="http://schemas.openxmlformats.org/drawingml/2006/main" noGrp="1"/>
          </p:cNvSpPr>
          <p:nvPr/>
        </p:nvSpPr>
        <p:spPr>
          <a:xfrm xmlns:a="http://schemas.openxmlformats.org/drawingml/2006/main">
            <a:off x="3333750" y="42729150"/>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Mech v0.4 development (package 0.3.6). Backend pairs f4b69052c, CPU eedc1c75b, dylibs dab98af1d. iros-workshop-benchmarks, benchmarks/iros-2026.</a:t>
            </a:r>
          </a:p>
        </p:txBody>
      </p:sp>
      <p:sp>
        <p:nvSpPr>
          <p:cNvPr id="826" name="Benchmark note 3">
            <a:extLst xmlns:a="http://schemas.openxmlformats.org/drawingml/2006/main">
              <a:ext uri="{FF2B5EF4-FFF2-40B4-BE49-F238E27FC236}">
                <a16:creationId xmlns:a16="http://schemas.microsoft.com/office/drawing/2014/main" id="{C5E5E0F0-C311-4005-8B3E-2162DF6FB474}"/>
              </a:ext>
            </a:extLst>
          </p:cNvPr>
          <p:cNvSpPr>
            <a:spLocks xmlns:a="http://schemas.openxmlformats.org/drawingml/2006/main" noGrp="1"/>
          </p:cNvSpPr>
          <p:nvPr/>
        </p:nvSpPr>
        <p:spPr>
          <a:xfrm xmlns:a="http://schemas.openxmlformats.org/drawingml/2006/main">
            <a:off x="3829050" y="4299585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Dylibs: minimal native-ABI hosts, 1 worker, 10,000 filters × 200 turns, n=7. Whole-process peak RSS. Timing excludes compilation, loading and warmup.</a:t>
            </a:r>
          </a:p>
        </p:txBody>
      </p:sp>
      <p:sp>
        <p:nvSpPr>
          <p:cNvPr id="827" name="Benchmark marker 3">
            <a:extLst xmlns:a="http://schemas.openxmlformats.org/drawingml/2006/main">
              <a:ext uri="{FF2B5EF4-FFF2-40B4-BE49-F238E27FC236}">
                <a16:creationId xmlns:a16="http://schemas.microsoft.com/office/drawing/2014/main" id="{C3604088-F319-4527-9958-4B7FA5719E6E}"/>
              </a:ext>
            </a:extLst>
          </p:cNvPr>
          <p:cNvSpPr>
            <a:spLocks xmlns:a="http://schemas.openxmlformats.org/drawingml/2006/main" noGrp="1"/>
          </p:cNvSpPr>
          <p:nvPr/>
        </p:nvSpPr>
        <p:spPr>
          <a:xfrm xmlns:a="http://schemas.openxmlformats.org/drawingml/2006/main">
            <a:off x="3333750" y="429958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7CE6E"/>
                </a:solidFill>
                <a:latin typeface="Fira Code"/>
                <a:ea typeface="Fira Code"/>
                <a:cs typeface="Fira Code"/>
              </a:defRPr>
            </a:pPr>
            <a:r>
              <a:rPr sz="1800">
                <a:solidFill>
                  <a:srgbClr val="F7CE6E"/>
                </a:solidFill>
                <a:latin typeface="Fira Code"/>
                <a:ea typeface="Fira Code"/>
                <a:cs typeface="Fira Code"/>
              </a:rPr>
              <a:t>†</a:t>
            </a:r>
          </a:p>
        </p:txBody>
      </p:sp>
      <p:sp>
        <p:nvSpPr>
          <p:cNvPr id="828" name="Benchmark note 4">
            <a:extLst xmlns:a="http://schemas.openxmlformats.org/drawingml/2006/main">
              <a:ext uri="{FF2B5EF4-FFF2-40B4-BE49-F238E27FC236}">
                <a16:creationId xmlns:a16="http://schemas.microsoft.com/office/drawing/2014/main" id="{8333F759-B797-4654-A0FD-571A975269C9}"/>
              </a:ext>
            </a:extLst>
          </p:cNvPr>
          <p:cNvSpPr>
            <a:spLocks xmlns:a="http://schemas.openxmlformats.org/drawingml/2006/main" noGrp="1"/>
          </p:cNvSpPr>
          <p:nvPr/>
        </p:nvSpPr>
        <p:spPr>
          <a:xfrm xmlns:a="http://schemas.openxmlformats.org/drawingml/2006/main">
            <a:off x="3829050" y="4326255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SIMD JIT and AOT share the Cranelift pipeline. JIT compiles on demand. AOT emits a library ahead of deployment, allowing the host to omit the compiler.</a:t>
            </a:r>
          </a:p>
        </p:txBody>
      </p:sp>
      <p:sp>
        <p:nvSpPr>
          <p:cNvPr id="829" name="Benchmark marker 4">
            <a:extLst xmlns:a="http://schemas.openxmlformats.org/drawingml/2006/main">
              <a:ext uri="{FF2B5EF4-FFF2-40B4-BE49-F238E27FC236}">
                <a16:creationId xmlns:a16="http://schemas.microsoft.com/office/drawing/2014/main" id="{39ED3EAF-EE16-4950-B353-86557D2F5EEC}"/>
              </a:ext>
            </a:extLst>
          </p:cNvPr>
          <p:cNvSpPr>
            <a:spLocks xmlns:a="http://schemas.openxmlformats.org/drawingml/2006/main" noGrp="1"/>
          </p:cNvSpPr>
          <p:nvPr/>
        </p:nvSpPr>
        <p:spPr>
          <a:xfrm xmlns:a="http://schemas.openxmlformats.org/drawingml/2006/main">
            <a:off x="3333750" y="432625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7CE6E"/>
                </a:solidFill>
                <a:latin typeface="Fira Code"/>
                <a:ea typeface="Fira Code"/>
                <a:cs typeface="Fira Code"/>
              </a:defRPr>
            </a:pPr>
            <a:r>
              <a:rPr sz="1800">
                <a:solidFill>
                  <a:srgbClr val="F7CE6E"/>
                </a:solidFill>
                <a:latin typeface="Fira Code"/>
                <a:ea typeface="Fira Code"/>
                <a:cs typeface="Fira Code"/>
              </a:rPr>
              <a:t>‡</a:t>
            </a:r>
          </a:p>
        </p:txBody>
      </p:sp>
      <p:sp>
        <p:nvSpPr>
          <p:cNvPr id="830" name="Benchmark note 5">
            <a:extLst xmlns:a="http://schemas.openxmlformats.org/drawingml/2006/main">
              <a:ext uri="{FF2B5EF4-FFF2-40B4-BE49-F238E27FC236}">
                <a16:creationId xmlns:a16="http://schemas.microsoft.com/office/drawing/2014/main" id="{725624C5-1C60-4DA0-AC6D-8405CD883EF6}"/>
              </a:ext>
            </a:extLst>
          </p:cNvPr>
          <p:cNvSpPr>
            <a:spLocks xmlns:a="http://schemas.openxmlformats.org/drawingml/2006/main" noGrp="1"/>
          </p:cNvSpPr>
          <p:nvPr/>
        </p:nvSpPr>
        <p:spPr>
          <a:xfrm xmlns:a="http://schemas.openxmlformats.org/drawingml/2006/main">
            <a:off x="3829050" y="4352925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Thrun, Burgard &amp; Fox. Probabilistic Robotics. MIT Press, 2005. §7.4.2, Table 7.2 (adapted).</a:t>
            </a:r>
          </a:p>
        </p:txBody>
      </p:sp>
      <p:sp>
        <p:nvSpPr>
          <p:cNvPr id="831" name="Benchmark marker 5">
            <a:extLst xmlns:a="http://schemas.openxmlformats.org/drawingml/2006/main">
              <a:ext uri="{FF2B5EF4-FFF2-40B4-BE49-F238E27FC236}">
                <a16:creationId xmlns:a16="http://schemas.microsoft.com/office/drawing/2014/main" id="{4C8D9D61-492C-4316-8F24-F7ABD0A2FAE7}"/>
              </a:ext>
            </a:extLst>
          </p:cNvPr>
          <p:cNvSpPr>
            <a:spLocks xmlns:a="http://schemas.openxmlformats.org/drawingml/2006/main" noGrp="1"/>
          </p:cNvSpPr>
          <p:nvPr/>
        </p:nvSpPr>
        <p:spPr>
          <a:xfrm xmlns:a="http://schemas.openxmlformats.org/drawingml/2006/main">
            <a:off x="3333750" y="435292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7CE6E"/>
                </a:solidFill>
                <a:latin typeface="Fira Code"/>
                <a:ea typeface="Fira Code"/>
                <a:cs typeface="Fira Code"/>
              </a:defRPr>
            </a:pPr>
            <a:r>
              <a:rPr sz="1800">
                <a:solidFill>
                  <a:srgbClr val="F7CE6E"/>
                </a:solidFill>
                <a:latin typeface="Fira Code"/>
                <a:ea typeface="Fira Code"/>
                <a:cs typeface="Fira Code"/>
              </a:rPr>
              <a:t>[1]</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