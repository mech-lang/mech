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Regular.fntdata" ContentType="application/x-fontdata"/>
  <Override PartName="/ppt/fonts/FiraCode-Bold.fntdata" ContentType="application/x-fontdata"/>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8d2289ceb974af9" /><Relationship Type="http://schemas.openxmlformats.org/officeDocument/2006/relationships/extended-properties" Target="/docProps/app.xml" Id="R824a553e4a0d4bf1" /><Relationship Type="http://schemas.openxmlformats.org/officeDocument/2006/relationships/officeDocument" Target="/ppt/presentation.xml" Id="R0945b750b9524580" /></Relationships>
</file>

<file path=ppt/presentation.xml><?xml version="1.0" encoding="utf-8"?>
<p:presentation xmlns:p="http://schemas.openxmlformats.org/presentationml/2006/main" xmlns:r="http://schemas.openxmlformats.org/officeDocument/2006/relationships" embedTrueTypeFonts="1" saveSubsetFonts="0">
  <p:sldMasterIdLst>
    <p:sldMasterId xmlns:r="http://schemas.openxmlformats.org/officeDocument/2006/relationships" id="2147483648" r:id="Re2930fa03ce640dc"/>
  </p:sldMasterIdLst>
  <p:notesMasterIdLst>
    <p:notesMasterId xmlns:r="http://schemas.openxmlformats.org/officeDocument/2006/relationships" r:id="R91f249ed7e4045e1"/>
  </p:notesMasterIdLst>
  <p:sldIdLst>
    <p:sldId xmlns:r="http://schemas.openxmlformats.org/officeDocument/2006/relationships" id="256" r:id="Rb67a88e2e62a4352"/>
  </p:sldIdLst>
  <p:sldSz cx="32918400" cy="43891200"/>
  <p:notesSz cx="6858000" cy="9144000"/>
  <p:embeddedFontLst>
    <p:embeddedFont>
      <p:font typeface="Fira Code" pitchFamily="49" charset="1"/>
      <p:regular r:id="rIdFiraCodeRegular"/>
      <p:bold r:id="rIdFiraCodeBol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Relationships xmlns="http://schemas.openxmlformats.org/package/2006/relationships"><Relationship Type="http://schemas.openxmlformats.org/officeDocument/2006/relationships/theme" Target="/ppt/theme/theme1.xml" Id="Rb63889de0c954be7"/><Relationship Type="http://schemas.openxmlformats.org/officeDocument/2006/relationships/slideMaster" Target="/ppt/slideMasters/slideMaster1.xml" Id="Re2930fa03ce640dc"/><Relationship Type="http://schemas.openxmlformats.org/officeDocument/2006/relationships/notesMaster" Target="/ppt/notesMasters/notesMaster1.xml" Id="R91f249ed7e4045e1"/><Relationship Type="http://schemas.openxmlformats.org/officeDocument/2006/relationships/presProps" Target="/ppt/presProps.xml" Id="R9f97c608cef24ad9"/><Relationship Type="http://schemas.openxmlformats.org/officeDocument/2006/relationships/viewProps" Target="/ppt/viewProps.xml" Id="Rb62fe495cc9a4f3f"/><Relationship Type="http://schemas.openxmlformats.org/officeDocument/2006/relationships/tableStyles" Target="/ppt/tableStyles.xml" Id="R401c0c1588f7453e"/><Relationship Type="http://schemas.openxmlformats.org/officeDocument/2006/relationships/slide" Target="/ppt/slides/slide1.xml" Id="Rb67a88e2e62a4352"/><Relationship Id="rIdFiraCodeRegular" Type="http://schemas.openxmlformats.org/officeDocument/2006/relationships/font" Target="fonts/FiraCode-Regular.fntdata"/><Relationship Id="rIdFiraCodeBold" Type="http://schemas.openxmlformats.org/officeDocument/2006/relationships/font" Target="fonts/FiraCode-Bold.fntdata"/></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49f1fe95197045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00d5d5fa96455f" /><Relationship Type="http://schemas.openxmlformats.org/officeDocument/2006/relationships/notesMaster" Target="/ppt/notesMasters/notesMaster1.xml" Id="R855b39a34e7240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a:p xmlns:a="http://schemas.openxmlformats.org/drawingml/2006/main">
            <a:r>
              <a:t>SIMD JIT/AOT: hosts/gpu/src/batched/simd_jit.rs and simd_aot.rs consume the same fixed-shape compute graph and use Cranelift for vector code generation. They have separate lowering implementations, math helper implementations and native dispatch ABIs. The chart compares eight-worker JIT and one-worker AOT, and does not establish equal throughput. JIT compiles to executable memory when requested. AOT emits a relocatable object and links a native library. The minimal Rust common-ABI loader can deploy that library without Mech's compiler. The displayed Kernel::from_source(...).compile(...) example still invokes compilation in its host.</a:t>
            </a:r>
          </a:p>
          <a:p xmlns:a="http://schemas.openxmlformats.org/drawingml/2006/main">
            <a:r>
              <a:t/>
            </a:r>
          </a:p>
          <a:p xmlns:a="http://schemas.openxmlformats.org/drawingml/2006/main">
            <a:r>
              <a:t>Browser execution: src/wasm/Cargo.toml compiles the Rust runtime wrapper to WebAssembly. src/wasm/src/mixed_compute.rs, gpu.rs and include/browser-compute.js implement browser CPU evaluation and WGPU/WebGPU execution using generated WGSL. This is not a claim of standalone Mech-source-to-Wasm AOT code generation. The QR destination is the user-approved planned live poster and CPU/WGPU comparison at https://mech-lang.org/iros-r4r-2026/index.html. It returned HTTP 404 on 2026-09-25 at 15:06 UTC and still requires publication before distribution.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02c50c8d3c46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a51ee58acd4b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98c931f98948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9e938e7fbde44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c8c9d3adcd46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a73623861142e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a4a9b16f2754cc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48add28d8b241e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b425d1ae2fd47a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3787eb8d73d45d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b01904c62c2476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BF207A-1F6D-457B-8557-9373E4285CBE}"/>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1218B60-2F91-40D1-A78C-6B35EC59DF36}"/>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EEAA6FD-A40E-4B2B-A5E0-FA6444410B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A79611AA-C462-4829-8523-2ECFA29294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B30C42C-48E8-4393-B138-248121A3B0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2B70E5-CCC2-4B4A-80E3-335A6CFCBF0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1C86F5E-9C43-4C97-85AC-5EADF014825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6481E56-3FA5-4A4E-9647-60F7BD746F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12B99301-B465-40E6-B903-C696F8B4741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8544ED2-DF88-41BC-B6F8-037462F86C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0A2372-9F74-4160-BE8F-691454EC0D1D}"/>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5866641-5844-4BC8-AAAA-6B48A4947F0B}"/>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300DBDF-DA5A-4082-889E-6AA9C6170D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E24363FB-8AB8-4F5E-9251-CEBC5E7524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0AE2EEA-0973-41D7-98C7-62919693B0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9C9B693-D04A-4AF7-B19A-5CF293E8D81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B14A1B1-71EE-4822-A7A6-D8D6DC4AA641}"/>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3FFA8AC2-DD06-4453-8D2F-9B7D57952363}"/>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A3B0104-79E0-4771-8458-39D7145A21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204F0650-C6EF-48B1-A344-C16126434F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9685429-E4EF-4880-9D14-E1E9725559A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27DB2E-1612-4059-803B-728F29958F98}"/>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AC14038-96DB-4615-984D-96B75037CF2D}"/>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B28F0B7-2F44-4736-860B-C8B013C018AE}"/>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36AC6E65-D8C1-4E01-8018-CCA2BCDF34AA}"/>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90AC7E4-BAFB-4CF1-B2BD-9726AA82ADE4}"/>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598C6E19-7C3F-4DD3-9A16-34E2E10AA4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F5275CB4-16FB-4B50-862A-25029FB64F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132AEDB-5644-4EF6-8536-9E5B88FDD3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EAA6E26-74EA-46BB-A89D-07AC10CB24B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C26D707C-0FC7-4039-9C85-1FAFA6E2F2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A693631C-8622-4175-A1DE-AE1397CF2C5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C7EA732-0022-4AB8-AF55-4959B12B88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3388CF6-D4D4-437B-B86A-DB5B69CEA5A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A47B4E70-D71F-443E-8324-0AEA6624689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664FEA51-96AC-4689-8DF1-E408F41616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B7A034-09E6-4B42-AAC9-0F6A81D20114}"/>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0F56F7FF-2E17-4756-B624-9CC9CC6EB302}"/>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1798B24-7C69-4D96-9DCB-B96492FD84C4}"/>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9144485-FB91-407A-988A-6E399D787A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90495ACE-217E-43A0-9DBA-40155CEBECB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3699B62-8B77-4AF1-900C-829FD0E613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99763BE-FC2E-4CF3-A56D-85418AB173FE}"/>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D5ED5EE7-79CC-48F0-9CC8-3500CC54B249}"/>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E8E84CDA-A65E-42BF-8984-65B9369BC7B8}"/>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0131057-FDEB-4B41-BA7C-6AAE36FA08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50F9F782-FBE2-48A8-8E6C-F7F68A482A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F0903D5B-DEA1-406B-8869-03105927B4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A8F604-3CFD-4D4C-A28E-2049C1BC80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6691D3BA-FFCB-4B16-8F58-9CC453982CF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F04BD06-8E2D-4721-8012-86789996E4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FCD2FA7D-FA8D-4BE6-8814-3977736009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7CEB009-AC42-4C78-BD82-75C21D5F9A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F21B831-3A6E-4A16-B866-30F8EB2A4FDF}"/>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1BD1BF3-6759-498C-9DC3-AC4658F915A6}"/>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62B09C6-748B-44E1-B95A-1C412D877C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DA5C99D5-D170-4709-8A1A-D248A692BB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204FB0D-606F-44E5-9B30-B833A43906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d70a8d699b4f85" /><Relationship Type="http://schemas.openxmlformats.org/officeDocument/2006/relationships/slideLayout" Target="/ppt/slideLayouts/slideLayout1.xml" Id="R9ce37382ee4f4bcc" /><Relationship Type="http://schemas.openxmlformats.org/officeDocument/2006/relationships/slideLayout" Target="/ppt/slideLayouts/slideLayout2.xml" Id="R590230943896489d" /><Relationship Type="http://schemas.openxmlformats.org/officeDocument/2006/relationships/slideLayout" Target="/ppt/slideLayouts/slideLayout3.xml" Id="R78b8ee93724949a9" /><Relationship Type="http://schemas.openxmlformats.org/officeDocument/2006/relationships/slideLayout" Target="/ppt/slideLayouts/slideLayout4.xml" Id="R2befd5f67d044d32" /><Relationship Type="http://schemas.openxmlformats.org/officeDocument/2006/relationships/slideLayout" Target="/ppt/slideLayouts/slideLayout5.xml" Id="Rd88a5b5a94e24b43" /><Relationship Type="http://schemas.openxmlformats.org/officeDocument/2006/relationships/slideLayout" Target="/ppt/slideLayouts/slideLayout6.xml" Id="Rf339ecb1a9454cdf" /><Relationship Type="http://schemas.openxmlformats.org/officeDocument/2006/relationships/slideLayout" Target="/ppt/slideLayouts/slideLayout7.xml" Id="R426562fc0ab94f88" /><Relationship Type="http://schemas.openxmlformats.org/officeDocument/2006/relationships/slideLayout" Target="/ppt/slideLayouts/slideLayout8.xml" Id="R7169515835d74dad" /><Relationship Type="http://schemas.openxmlformats.org/officeDocument/2006/relationships/slideLayout" Target="/ppt/slideLayouts/slideLayout9.xml" Id="Rdfaea0548d40498a" /><Relationship Type="http://schemas.openxmlformats.org/officeDocument/2006/relationships/slideLayout" Target="/ppt/slideLayouts/slideLayout10.xml" Id="Re618e85da7194dc1" /><Relationship Type="http://schemas.openxmlformats.org/officeDocument/2006/relationships/slideLayout" Target="/ppt/slideLayouts/slideLayout11.xml" Id="R0ded2f697497477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75780E1-C588-4CE3-AE43-7E4A8BE4F7F1}"/>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E92647A-8E4E-43BC-A806-D97DEBE255CF}"/>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1A44CD3-4143-4012-BC50-A19D840B7189}"/>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C7F8278F-2C54-4489-8CE3-CC123B2C00AB}"/>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5589665-C40C-4E5D-BB38-BD48FF15354A}"/>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e37382ee4f4bcc"/>
    <p:sldLayoutId xmlns:r="http://schemas.openxmlformats.org/officeDocument/2006/relationships" id="2147483650" r:id="R590230943896489d"/>
    <p:sldLayoutId xmlns:r="http://schemas.openxmlformats.org/officeDocument/2006/relationships" id="2147483651" r:id="R78b8ee93724949a9"/>
    <p:sldLayoutId xmlns:r="http://schemas.openxmlformats.org/officeDocument/2006/relationships" id="2147483652" r:id="R2befd5f67d044d32"/>
    <p:sldLayoutId xmlns:r="http://schemas.openxmlformats.org/officeDocument/2006/relationships" id="2147483653" r:id="Rd88a5b5a94e24b43"/>
    <p:sldLayoutId xmlns:r="http://schemas.openxmlformats.org/officeDocument/2006/relationships" id="2147483654" r:id="Rf339ecb1a9454cdf"/>
    <p:sldLayoutId xmlns:r="http://schemas.openxmlformats.org/officeDocument/2006/relationships" id="2147483655" r:id="R426562fc0ab94f88"/>
    <p:sldLayoutId xmlns:r="http://schemas.openxmlformats.org/officeDocument/2006/relationships" id="2147483656" r:id="R7169515835d74dad"/>
    <p:sldLayoutId xmlns:r="http://schemas.openxmlformats.org/officeDocument/2006/relationships" id="2147483657" r:id="Rdfaea0548d40498a"/>
    <p:sldLayoutId xmlns:r="http://schemas.openxmlformats.org/officeDocument/2006/relationships" id="2147483658" r:id="Re618e85da7194dc1"/>
    <p:sldLayoutId xmlns:r="http://schemas.openxmlformats.org/officeDocument/2006/relationships" id="2147483659" r:id="R0ded2f6974974775"/>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058a63bace4a80" /><Relationship Type="http://schemas.openxmlformats.org/officeDocument/2006/relationships/image" Target="/ppt/media/image.png" Id="R23361781e06148f7" /><Relationship Type="http://schemas.openxmlformats.org/officeDocument/2006/relationships/image" Target="/ppt/media/image2.png" Id="R85374a58a94f4d97" /><Relationship Type="http://schemas.openxmlformats.org/officeDocument/2006/relationships/image" Target="/ppt/media/image.svg" Id="R751b475418cb484d" /><Relationship Type="http://schemas.openxmlformats.org/officeDocument/2006/relationships/image" Target="/ppt/media/image3.png" Id="R6a1310ff95984904" /><Relationship Type="http://schemas.openxmlformats.org/officeDocument/2006/relationships/chart" Target="/ppt/slides/charts/chart1.xml" Id="R691b570611144b18" /><Relationship Type="http://schemas.openxmlformats.org/officeDocument/2006/relationships/chart" Target="/ppt/slides/charts/chart2.xml" Id="R57745ac8844e4de2" /><Relationship Type="http://schemas.openxmlformats.org/officeDocument/2006/relationships/notesSlide" Target="/ppt/notesSlides/notesSlide1.xml" Id="R8c101237455d47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3"/>
          <c:w val="0.86"/>
          <c:h val="0.89"/>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2"/>
          <c:y val="0.03"/>
          <c:w val="0.68"/>
          <c:h val="0.89"/>
        </c:manualLayout>
      </c:layout>
      <c:barChart>
        <c:barDir val="bar"/>
        <c:grouping val="clustered"/>
        <c:varyColors val="0"/>
        <c:ser>
          <c:idx val="0"/>
          <c:order val="0"/>
          <c:tx>
            <c:v>Checked</c:v>
          </c:tx>
          <c:spPr>
            <a:solidFill xmlns:a="http://schemas.openxmlformats.org/drawingml/2006/main">
              <a:srgbClr val="F6C04E"/>
            </a:solidFill>
          </c:spPr>
          <c:dPt>
            <c:idx val="4"/>
            <c:invertIfNegative val="0"/>
            <c:spPr>
              <a:pattFill xmlns:a="http://schemas.openxmlformats.org/drawingml/2006/main" prst="upDiag">
                <a:fgClr>
                  <a:srgbClr val="D9A637"/>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dPt>
            <c:idx val="4"/>
            <c:invertIfNegative val="0"/>
            <c:spPr>
              <a:pattFill xmlns:a="http://schemas.openxmlformats.org/drawingml/2006/main" prst="upDiag">
                <a:fgClr>
                  <a:srgbClr val="6B4A00"/>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logBase val="10"/>
          <c:orientation val="minMax"/>
          <c:max val="1000"/>
          <c:min val="0.1"/>
        </c:scaling>
        <c:delete val="0"/>
        <c:axPos val="b"/>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355EBD6B-79E3-4088-965C-57DCA81523E2}"/>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323" name="Picture 12"/>
          <p:cNvPicPr>
            <a:picLocks xmlns:a="http://schemas.openxmlformats.org/drawingml/2006/main" noChangeAspect="1"/>
          </p:cNvPicPr>
          <p:nvPr/>
        </p:nvPicPr>
        <p:blipFill>
          <a:blip xmlns:r="http://schemas.openxmlformats.org/officeDocument/2006/relationships" xmlns:a="http://schemas.openxmlformats.org/drawingml/2006/main" r:embed="R23361781e06148f7"/>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325" name="Graphic 67"/>
          <p:cNvPicPr>
            <a:picLocks xmlns:a="http://schemas.openxmlformats.org/drawingml/2006/main" noChangeAspect="1"/>
          </p:cNvPicPr>
          <p:nvPr/>
        </p:nvPicPr>
        <p:blipFill>
          <a:blip xmlns:r="http://schemas.openxmlformats.org/officeDocument/2006/relationships" xmlns:a="http://schemas.openxmlformats.org/drawingml/2006/main" r:embed="R85374a58a94f4d97">
            <a:extLst>
              <a:ext uri="{96DAC541-7B7A-43D3-8B79-37D633B846F1}">
                <asvg:svgBlip xmlns:asvg="http://schemas.microsoft.com/office/drawing/2016/SVG/main" r:embed="R751b475418cb484d"/>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326" name="Picture 104"/>
          <p:cNvPicPr>
            <a:picLocks xmlns:a="http://schemas.openxmlformats.org/drawingml/2006/main" noChangeAspect="1"/>
          </p:cNvPicPr>
          <p:nvPr/>
        </p:nvPicPr>
        <p:blipFill>
          <a:blip xmlns:r="http://schemas.openxmlformats.org/officeDocument/2006/relationships" xmlns:a="http://schemas.openxmlformats.org/drawingml/2006/main" r:embed="R6a1310ff95984904">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0FFE3D98-488C-4DE8-8E2B-9EB9B0CE1676}"/>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0198FE7C-4F51-4C56-A87A-6E44E989537A}"/>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6EA7ED43-A4F1-44EB-ADED-4FDAA6050152}"/>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B4219FBC-BA58-46B1-AAC7-585C5B554F63}"/>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0950FEFB-DA5A-4B97-8DFD-93A183C166AD}"/>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272B9DF2-DDAD-4538-A325-91A7F0FBF97B}"/>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52651014-7721-48E8-9E2E-376128D63A78}"/>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4B64193F-5156-4ACC-B9AC-3C03E2998B71}"/>
              </a:ext>
            </a:extLst>
          </p:cNvPr>
          <p:cNvSpPr>
            <a:spLocks xmlns:a="http://schemas.openxmlformats.org/drawingml/2006/main" noGrp="1"/>
          </p:cNvSpPr>
          <p:nvPr/>
        </p:nvSpPr>
        <p:spPr>
          <a:xfrm xmlns:a="http://schemas.openxmlformats.org/drawingml/2006/main">
            <a:off x="22812375" y="1438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0C64A604-9BBC-4C3D-AD29-3FB652E8BF14}"/>
              </a:ext>
            </a:extLst>
          </p:cNvPr>
          <p:cNvSpPr>
            <a:spLocks xmlns:a="http://schemas.openxmlformats.org/drawingml/2006/main" noGrp="1"/>
          </p:cNvSpPr>
          <p:nvPr/>
        </p:nvSpPr>
        <p:spPr>
          <a:xfrm xmlns:a="http://schemas.openxmlformats.org/drawingml/2006/main">
            <a:off x="22812375" y="1476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9A5BD97D-8D30-4A1D-8AAA-3DDBBF8E8B10}"/>
              </a:ext>
            </a:extLst>
          </p:cNvPr>
          <p:cNvSpPr>
            <a:spLocks xmlns:a="http://schemas.openxmlformats.org/drawingml/2006/main" noGrp="1"/>
          </p:cNvSpPr>
          <p:nvPr/>
        </p:nvSpPr>
        <p:spPr>
          <a:xfrm xmlns:a="http://schemas.openxmlformats.org/drawingml/2006/main">
            <a:off x="22812375" y="1514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5CA66BCE-470C-49D9-925F-0422D88D78D6}"/>
              </a:ext>
            </a:extLst>
          </p:cNvPr>
          <p:cNvSpPr>
            <a:spLocks xmlns:a="http://schemas.openxmlformats.org/drawingml/2006/main" noGrp="1"/>
          </p:cNvSpPr>
          <p:nvPr/>
        </p:nvSpPr>
        <p:spPr>
          <a:xfrm xmlns:a="http://schemas.openxmlformats.org/drawingml/2006/main">
            <a:off x="22812375" y="1552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9D614F7B-885C-4EDF-BB3D-43992844A183}"/>
              </a:ext>
            </a:extLst>
          </p:cNvPr>
          <p:cNvSpPr>
            <a:spLocks xmlns:a="http://schemas.openxmlformats.org/drawingml/2006/main" noGrp="1"/>
          </p:cNvSpPr>
          <p:nvPr/>
        </p:nvSpPr>
        <p:spPr>
          <a:xfrm xmlns:a="http://schemas.openxmlformats.org/drawingml/2006/main">
            <a:off x="22812375" y="1590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699E2003-E2AF-43FA-8E76-3525ED9FC7E0}"/>
              </a:ext>
            </a:extLst>
          </p:cNvPr>
          <p:cNvSpPr>
            <a:spLocks xmlns:a="http://schemas.openxmlformats.org/drawingml/2006/main" noGrp="1"/>
          </p:cNvSpPr>
          <p:nvPr/>
        </p:nvSpPr>
        <p:spPr>
          <a:xfrm xmlns:a="http://schemas.openxmlformats.org/drawingml/2006/main">
            <a:off x="22812375" y="1628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5BB896D7-EC6A-428C-9E1F-D6B95D571272}"/>
              </a:ext>
            </a:extLst>
          </p:cNvPr>
          <p:cNvSpPr>
            <a:spLocks xmlns:a="http://schemas.openxmlformats.org/drawingml/2006/main" noGrp="1"/>
          </p:cNvSpPr>
          <p:nvPr/>
        </p:nvSpPr>
        <p:spPr>
          <a:xfrm xmlns:a="http://schemas.openxmlformats.org/drawingml/2006/main">
            <a:off x="22812375" y="1666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D10C4C67-3F1C-441C-A3AA-5EB563B06DB6}"/>
              </a:ext>
            </a:extLst>
          </p:cNvPr>
          <p:cNvSpPr>
            <a:spLocks xmlns:a="http://schemas.openxmlformats.org/drawingml/2006/main" noGrp="1"/>
          </p:cNvSpPr>
          <p:nvPr/>
        </p:nvSpPr>
        <p:spPr>
          <a:xfrm xmlns:a="http://schemas.openxmlformats.org/drawingml/2006/main">
            <a:off x="22812375" y="1704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A3207247-B1CD-41B0-B8FD-F9379302C683}"/>
              </a:ext>
            </a:extLst>
          </p:cNvPr>
          <p:cNvSpPr>
            <a:spLocks xmlns:a="http://schemas.openxmlformats.org/drawingml/2006/main" noGrp="1"/>
          </p:cNvSpPr>
          <p:nvPr/>
        </p:nvSpPr>
        <p:spPr>
          <a:xfrm xmlns:a="http://schemas.openxmlformats.org/drawingml/2006/main">
            <a:off x="22812375" y="1743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B75853B5-A120-4EC0-81C0-050AE3180B77}"/>
              </a:ext>
            </a:extLst>
          </p:cNvPr>
          <p:cNvSpPr>
            <a:spLocks xmlns:a="http://schemas.openxmlformats.org/drawingml/2006/main" noGrp="1"/>
          </p:cNvSpPr>
          <p:nvPr/>
        </p:nvSpPr>
        <p:spPr>
          <a:xfrm xmlns:a="http://schemas.openxmlformats.org/drawingml/2006/main">
            <a:off x="22812375" y="1781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t>
            </a:r>
          </a:p>
        </p:txBody>
      </p:sp>
      <p:sp>
        <p:nvSpPr>
          <p:cNvPr id="130" name="EKF source line 13">
            <a:extLst xmlns:a="http://schemas.openxmlformats.org/drawingml/2006/main">
              <a:ext uri="{FF2B5EF4-FFF2-40B4-BE49-F238E27FC236}">
                <a16:creationId xmlns:a16="http://schemas.microsoft.com/office/drawing/2014/main" id="{DA65FBA6-677A-4440-B32E-153E3ABCC750}"/>
              </a:ext>
            </a:extLst>
          </p:cNvPr>
          <p:cNvSpPr>
            <a:spLocks xmlns:a="http://schemas.openxmlformats.org/drawingml/2006/main" noGrp="1"/>
          </p:cNvSpPr>
          <p:nvPr/>
        </p:nvSpPr>
        <p:spPr>
          <a:xfrm xmlns:a="http://schemas.openxmlformats.org/drawingml/2006/main">
            <a:off x="22812375" y="1819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A60DE383-96F5-40AF-9AE4-EEA4203C049E}"/>
              </a:ext>
            </a:extLst>
          </p:cNvPr>
          <p:cNvSpPr>
            <a:spLocks xmlns:a="http://schemas.openxmlformats.org/drawingml/2006/main" noGrp="1"/>
          </p:cNvSpPr>
          <p:nvPr/>
        </p:nvSpPr>
        <p:spPr>
          <a:xfrm xmlns:a="http://schemas.openxmlformats.org/drawingml/2006/main">
            <a:off x="22812375" y="1857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88C27562-EF41-4D3F-A2AA-1281355EBF80}"/>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88E4E570-8B43-47BE-AAA0-96ED862350FE}"/>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5E3E3C6E-890D-4A99-9FDF-038B977290E5}"/>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66A631F0-BF06-4A70-868F-774E90BF380C}"/>
              </a:ext>
            </a:extLst>
          </p:cNvPr>
          <p:cNvSpPr>
            <a:spLocks xmlns:a="http://schemas.openxmlformats.org/drawingml/2006/main" noGrp="1"/>
          </p:cNvSpPr>
          <p:nvPr/>
        </p:nvSpPr>
        <p:spPr>
          <a:xfrm xmlns:a="http://schemas.openxmlformats.org/drawingml/2006/main">
            <a:off x="22812375" y="2009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75FB28C6-EBE3-48DF-81A8-68DD08BD4E63}"/>
              </a:ext>
            </a:extLst>
          </p:cNvPr>
          <p:cNvSpPr>
            <a:spLocks xmlns:a="http://schemas.openxmlformats.org/drawingml/2006/main" noGrp="1"/>
          </p:cNvSpPr>
          <p:nvPr/>
        </p:nvSpPr>
        <p:spPr>
          <a:xfrm xmlns:a="http://schemas.openxmlformats.org/drawingml/2006/main">
            <a:off x="22812375" y="2047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645194CF-A6FB-4606-A643-BABBB8470524}"/>
              </a:ext>
            </a:extLst>
          </p:cNvPr>
          <p:cNvSpPr>
            <a:spLocks xmlns:a="http://schemas.openxmlformats.org/drawingml/2006/main" noGrp="1"/>
          </p:cNvSpPr>
          <p:nvPr/>
        </p:nvSpPr>
        <p:spPr>
          <a:xfrm xmlns:a="http://schemas.openxmlformats.org/drawingml/2006/main">
            <a:off x="22812375" y="2085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9BFC8144-3EA1-43B6-944B-A8906458C29B}"/>
              </a:ext>
            </a:extLst>
          </p:cNvPr>
          <p:cNvSpPr>
            <a:spLocks xmlns:a="http://schemas.openxmlformats.org/drawingml/2006/main" noGrp="1"/>
          </p:cNvSpPr>
          <p:nvPr/>
        </p:nvSpPr>
        <p:spPr>
          <a:xfrm xmlns:a="http://schemas.openxmlformats.org/drawingml/2006/main">
            <a:off x="22812375" y="2124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E168FB79-B80E-4A6E-83CC-ED2BC45FA122}"/>
              </a:ext>
            </a:extLst>
          </p:cNvPr>
          <p:cNvSpPr>
            <a:spLocks xmlns:a="http://schemas.openxmlformats.org/drawingml/2006/main" noGrp="1"/>
          </p:cNvSpPr>
          <p:nvPr/>
        </p:nvSpPr>
        <p:spPr>
          <a:xfrm xmlns:a="http://schemas.openxmlformats.org/drawingml/2006/main">
            <a:off x="22812375" y="2162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A35C4CB4-46E0-46DB-839B-63B3BDD363C3}"/>
              </a:ext>
            </a:extLst>
          </p:cNvPr>
          <p:cNvSpPr>
            <a:spLocks xmlns:a="http://schemas.openxmlformats.org/drawingml/2006/main" noGrp="1"/>
          </p:cNvSpPr>
          <p:nvPr/>
        </p:nvSpPr>
        <p:spPr>
          <a:xfrm xmlns:a="http://schemas.openxmlformats.org/drawingml/2006/main">
            <a:off x="22812375" y="2200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B1758921-88DE-48F0-849F-D93F19E3F98B}"/>
              </a:ext>
            </a:extLst>
          </p:cNvPr>
          <p:cNvSpPr>
            <a:spLocks xmlns:a="http://schemas.openxmlformats.org/drawingml/2006/main" noGrp="1"/>
          </p:cNvSpPr>
          <p:nvPr/>
        </p:nvSpPr>
        <p:spPr>
          <a:xfrm xmlns:a="http://schemas.openxmlformats.org/drawingml/2006/main">
            <a:off x="22812375" y="2238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5FDF6150-B055-4940-A863-8D8907F0B06A}"/>
              </a:ext>
            </a:extLst>
          </p:cNvPr>
          <p:cNvSpPr>
            <a:spLocks xmlns:a="http://schemas.openxmlformats.org/drawingml/2006/main" noGrp="1"/>
          </p:cNvSpPr>
          <p:nvPr/>
        </p:nvSpPr>
        <p:spPr>
          <a:xfrm xmlns:a="http://schemas.openxmlformats.org/drawingml/2006/main">
            <a:off x="22812375" y="2276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46228635-534A-4BA3-ADEC-60169CFEF238}"/>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84C11F2C-D872-4AE3-93CE-8277993C3824}"/>
              </a:ext>
            </a:extLst>
          </p:cNvPr>
          <p:cNvSpPr>
            <a:spLocks xmlns:a="http://schemas.openxmlformats.org/drawingml/2006/main" noGrp="1"/>
          </p:cNvSpPr>
          <p:nvPr/>
        </p:nvSpPr>
        <p:spPr>
          <a:xfrm xmlns:a="http://schemas.openxmlformats.org/drawingml/2006/main">
            <a:off x="22812375" y="2352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ADA43B72-1D76-451E-BF9E-FEF2DD51A438}"/>
              </a:ext>
            </a:extLst>
          </p:cNvPr>
          <p:cNvSpPr>
            <a:spLocks xmlns:a="http://schemas.openxmlformats.org/drawingml/2006/main" noGrp="1"/>
          </p:cNvSpPr>
          <p:nvPr/>
        </p:nvSpPr>
        <p:spPr>
          <a:xfrm xmlns:a="http://schemas.openxmlformats.org/drawingml/2006/main">
            <a:off x="22812375" y="2390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3D58DE72-8376-47DF-AC4B-C797AA4D6A18}"/>
              </a:ext>
            </a:extLst>
          </p:cNvPr>
          <p:cNvSpPr>
            <a:spLocks xmlns:a="http://schemas.openxmlformats.org/drawingml/2006/main" noGrp="1"/>
          </p:cNvSpPr>
          <p:nvPr/>
        </p:nvSpPr>
        <p:spPr>
          <a:xfrm xmlns:a="http://schemas.openxmlformats.org/drawingml/2006/main">
            <a:off x="22812375" y="2428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8E85E5AA-520A-4D03-AC9E-45A92F893283}"/>
              </a:ext>
            </a:extLst>
          </p:cNvPr>
          <p:cNvSpPr>
            <a:spLocks xmlns:a="http://schemas.openxmlformats.org/drawingml/2006/main" noGrp="1"/>
          </p:cNvSpPr>
          <p:nvPr/>
        </p:nvSpPr>
        <p:spPr>
          <a:xfrm xmlns:a="http://schemas.openxmlformats.org/drawingml/2006/main">
            <a:off x="22812375" y="2466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BC5A907A-9BCD-42EA-B388-96572A541686}"/>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27431DC9-DD09-4E90-A221-A8B8F07F83AF}"/>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AB72806B-C0F3-4306-AA16-BD006979F24A}"/>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77FA0F52-4004-4B2D-AB5E-70043E4DA879}"/>
              </a:ext>
            </a:extLst>
          </p:cNvPr>
          <p:cNvSpPr>
            <a:spLocks xmlns:a="http://schemas.openxmlformats.org/drawingml/2006/main" noGrp="1"/>
          </p:cNvSpPr>
          <p:nvPr/>
        </p:nvSpPr>
        <p:spPr>
          <a:xfrm xmlns:a="http://schemas.openxmlformats.org/drawingml/2006/main">
            <a:off x="22812375" y="2619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C5B1F021-5EC2-4056-BDBA-3CB34B855C54}"/>
              </a:ext>
            </a:extLst>
          </p:cNvPr>
          <p:cNvSpPr>
            <a:spLocks xmlns:a="http://schemas.openxmlformats.org/drawingml/2006/main" noGrp="1"/>
          </p:cNvSpPr>
          <p:nvPr/>
        </p:nvSpPr>
        <p:spPr>
          <a:xfrm xmlns:a="http://schemas.openxmlformats.org/drawingml/2006/main">
            <a:off x="22812375" y="2657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B6E2BBEB-931E-4283-8982-EFDDADAC45EC}"/>
              </a:ext>
            </a:extLst>
          </p:cNvPr>
          <p:cNvSpPr>
            <a:spLocks xmlns:a="http://schemas.openxmlformats.org/drawingml/2006/main" noGrp="1"/>
          </p:cNvSpPr>
          <p:nvPr/>
        </p:nvSpPr>
        <p:spPr>
          <a:xfrm xmlns:a="http://schemas.openxmlformats.org/drawingml/2006/main">
            <a:off x="22812375" y="2695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905FFC10-38CD-44D3-98A2-76CC683C0366}"/>
              </a:ext>
            </a:extLst>
          </p:cNvPr>
          <p:cNvSpPr>
            <a:spLocks xmlns:a="http://schemas.openxmlformats.org/drawingml/2006/main" noGrp="1"/>
          </p:cNvSpPr>
          <p:nvPr/>
        </p:nvSpPr>
        <p:spPr>
          <a:xfrm xmlns:a="http://schemas.openxmlformats.org/drawingml/2006/main">
            <a:off x="22812375" y="2733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891C1283-504E-40ED-94F3-F8A9D59D6A1E}"/>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49C72F4F-1935-4FCF-BD47-58236ADA6709}"/>
              </a:ext>
            </a:extLst>
          </p:cNvPr>
          <p:cNvSpPr>
            <a:spLocks xmlns:a="http://schemas.openxmlformats.org/drawingml/2006/main" noGrp="1"/>
          </p:cNvSpPr>
          <p:nvPr/>
        </p:nvSpPr>
        <p:spPr>
          <a:xfrm xmlns:a="http://schemas.openxmlformats.org/drawingml/2006/main">
            <a:off x="22812375" y="2809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A9512EA9-91B3-4A95-86DB-BB629BD0373D}"/>
              </a:ext>
            </a:extLst>
          </p:cNvPr>
          <p:cNvSpPr>
            <a:spLocks xmlns:a="http://schemas.openxmlformats.org/drawingml/2006/main" noGrp="1"/>
          </p:cNvSpPr>
          <p:nvPr/>
        </p:nvSpPr>
        <p:spPr>
          <a:xfrm xmlns:a="http://schemas.openxmlformats.org/drawingml/2006/main">
            <a:off x="22812375" y="2847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0FEA202C-C078-47BF-9E70-01681B8B0C1F}"/>
              </a:ext>
            </a:extLst>
          </p:cNvPr>
          <p:cNvSpPr>
            <a:spLocks xmlns:a="http://schemas.openxmlformats.org/drawingml/2006/main" noGrp="1"/>
          </p:cNvSpPr>
          <p:nvPr/>
        </p:nvSpPr>
        <p:spPr>
          <a:xfrm xmlns:a="http://schemas.openxmlformats.org/drawingml/2006/main">
            <a:off x="22812375" y="2886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2A93BDDD-EBC3-4C44-9CEB-4E06B698D7ED}"/>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90477D91-2497-4A2C-A8E8-A3E92EB9BC7E}"/>
              </a:ext>
            </a:extLst>
          </p:cNvPr>
          <p:cNvSpPr>
            <a:spLocks xmlns:a="http://schemas.openxmlformats.org/drawingml/2006/main" noGrp="1"/>
          </p:cNvSpPr>
          <p:nvPr/>
        </p:nvSpPr>
        <p:spPr>
          <a:xfrm xmlns:a="http://schemas.openxmlformats.org/drawingml/2006/main">
            <a:off x="22812375" y="2962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79E76D6D-0C3C-4ED4-BB73-8228F034B860}"/>
              </a:ext>
            </a:extLst>
          </p:cNvPr>
          <p:cNvSpPr>
            <a:spLocks xmlns:a="http://schemas.openxmlformats.org/drawingml/2006/main" noGrp="1"/>
          </p:cNvSpPr>
          <p:nvPr/>
        </p:nvSpPr>
        <p:spPr>
          <a:xfrm xmlns:a="http://schemas.openxmlformats.org/drawingml/2006/main">
            <a:off x="22812375" y="3000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B7253F51-BB75-4EE6-8D85-E0E4792BAD35}"/>
              </a:ext>
            </a:extLst>
          </p:cNvPr>
          <p:cNvSpPr>
            <a:spLocks xmlns:a="http://schemas.openxmlformats.org/drawingml/2006/main" noGrp="1"/>
          </p:cNvSpPr>
          <p:nvPr/>
        </p:nvSpPr>
        <p:spPr>
          <a:xfrm xmlns:a="http://schemas.openxmlformats.org/drawingml/2006/main">
            <a:off x="22812375" y="3038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D179C9A7-2B90-44CB-B7D3-DDB579C8DE7C}"/>
              </a:ext>
            </a:extLst>
          </p:cNvPr>
          <p:cNvSpPr>
            <a:spLocks xmlns:a="http://schemas.openxmlformats.org/drawingml/2006/main" noGrp="1"/>
          </p:cNvSpPr>
          <p:nvPr/>
        </p:nvSpPr>
        <p:spPr>
          <a:xfrm xmlns:a="http://schemas.openxmlformats.org/drawingml/2006/main">
            <a:off x="22812375" y="3076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5C0D42B2-7B7D-4EED-8EE0-CA890A651904}"/>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5D7C0E0A-53BA-46BC-8181-C99D1DF9550E}"/>
              </a:ext>
            </a:extLst>
          </p:cNvPr>
          <p:cNvSpPr>
            <a:spLocks xmlns:a="http://schemas.openxmlformats.org/drawingml/2006/main" noGrp="1"/>
          </p:cNvSpPr>
          <p:nvPr/>
        </p:nvSpPr>
        <p:spPr>
          <a:xfrm xmlns:a="http://schemas.openxmlformats.org/drawingml/2006/main">
            <a:off x="22812375" y="3152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6BBEA265-E9CA-4BF6-AEC8-9A182985843F}"/>
              </a:ext>
            </a:extLst>
          </p:cNvPr>
          <p:cNvSpPr>
            <a:spLocks xmlns:a="http://schemas.openxmlformats.org/drawingml/2006/main" noGrp="1"/>
          </p:cNvSpPr>
          <p:nvPr/>
        </p:nvSpPr>
        <p:spPr>
          <a:xfrm xmlns:a="http://schemas.openxmlformats.org/drawingml/2006/main">
            <a:off x="22812375" y="3190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2DA237F4-ED97-48AF-863B-FA4FB545737B}"/>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ED68C791-8772-4E9F-9181-953B45F955FA}"/>
              </a:ext>
            </a:extLst>
          </p:cNvPr>
          <p:cNvSpPr>
            <a:spLocks xmlns:a="http://schemas.openxmlformats.org/drawingml/2006/main" noGrp="1"/>
          </p:cNvSpPr>
          <p:nvPr/>
        </p:nvSpPr>
        <p:spPr>
          <a:xfrm xmlns:a="http://schemas.openxmlformats.org/drawingml/2006/main">
            <a:off x="22812375" y="3267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E813C763-315B-4963-AE56-F46FAF99D054}"/>
              </a:ext>
            </a:extLst>
          </p:cNvPr>
          <p:cNvSpPr>
            <a:spLocks xmlns:a="http://schemas.openxmlformats.org/drawingml/2006/main" noGrp="1"/>
          </p:cNvSpPr>
          <p:nvPr/>
        </p:nvSpPr>
        <p:spPr>
          <a:xfrm xmlns:a="http://schemas.openxmlformats.org/drawingml/2006/main">
            <a:off x="22812375" y="3305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equations">
            <a:extLst xmlns:a="http://schemas.openxmlformats.org/drawingml/2006/main">
              <a:ext uri="{FF2B5EF4-FFF2-40B4-BE49-F238E27FC236}">
                <a16:creationId xmlns:a16="http://schemas.microsoft.com/office/drawing/2014/main" id="{757F3420-17DA-4D01-A35F-67872E818D24}"/>
              </a:ext>
            </a:extLst>
          </p:cNvPr>
          <p:cNvSpPr>
            <a:spLocks xmlns:a="http://schemas.openxmlformats.org/drawingml/2006/main" noGrp="1"/>
          </p:cNvSpPr>
          <p:nvPr/>
        </p:nvSpPr>
        <p:spPr>
          <a:xfrm xmlns:a="http://schemas.openxmlformats.org/drawingml/2006/main">
            <a:off x="22764750" y="77152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EKF below is comparable in scale to the textbook pseudocode [1], retaining its matrix-level notation.</a:t>
            </a:r>
          </a:p>
        </p:txBody>
      </p:sp>
      <p:sp>
        <p:nvSpPr>
          <p:cNvPr id="171" name="Numerical narrative graph">
            <a:extLst xmlns:a="http://schemas.openxmlformats.org/drawingml/2006/main">
              <a:ext uri="{FF2B5EF4-FFF2-40B4-BE49-F238E27FC236}">
                <a16:creationId xmlns:a16="http://schemas.microsoft.com/office/drawing/2014/main" id="{0D54F581-D0EB-43F2-8363-3233B152B18C}"/>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653C8506-99B7-4489-9959-CAFE540016A8}"/>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15AF7EC9-109F-4F91-93DC-BBE9848456B2}"/>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388"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30311592-09AD-4E45-BA17-B02983F4C24D}"/>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SIMD Rust uses almost five times as many normalized source characters as Mech in this example, mainly for SIMD and batch support.</a:t>
            </a:r>
          </a:p>
        </p:txBody>
      </p:sp>
      <p:sp>
        <p:nvSpPr>
          <p:cNvPr id="176" name="Source size scope">
            <a:extLst xmlns:a="http://schemas.openxmlformats.org/drawingml/2006/main">
              <a:ext uri="{FF2B5EF4-FFF2-40B4-BE49-F238E27FC236}">
                <a16:creationId xmlns:a16="http://schemas.microsoft.com/office/drawing/2014/main" id="{CE95A4DC-DA30-4226-A936-4073E04BC15D}"/>
              </a:ext>
            </a:extLst>
          </p:cNvPr>
          <p:cNvSpPr>
            <a:spLocks xmlns:a="http://schemas.openxmlformats.org/drawingml/2006/main" noGrp="1"/>
          </p:cNvSpPr>
          <p:nvPr/>
        </p:nvSpPr>
        <p:spPr>
          <a:xfrm xmlns:a="http://schemas.openxmlformats.org/drawingml/2006/main">
            <a:off x="22764750" y="3857625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Each identifier occurrence counts as one character. Comments and nonliteral whitespace are removed. General runtime/compiler internals are excluded.</a:t>
            </a:r>
          </a:p>
        </p:txBody>
      </p:sp>
      <p:sp>
        <p:nvSpPr>
          <p:cNvPr id="177" name="Embeddable">
            <a:extLst xmlns:a="http://schemas.openxmlformats.org/drawingml/2006/main">
              <a:ext uri="{FF2B5EF4-FFF2-40B4-BE49-F238E27FC236}">
                <a16:creationId xmlns:a16="http://schemas.microsoft.com/office/drawing/2014/main" id="{1C98F4E6-9BB3-4FDD-B7B5-25CED101FAA2}"/>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78" name="AOT deployment">
            <a:extLst xmlns:a="http://schemas.openxmlformats.org/drawingml/2006/main">
              <a:ext uri="{FF2B5EF4-FFF2-40B4-BE49-F238E27FC236}">
                <a16:creationId xmlns:a16="http://schemas.microsoft.com/office/drawing/2014/main" id="{891526EF-21D6-4B6C-B1AC-2CFE7552CFFC}"/>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79" name="Rust caller title">
            <a:extLst xmlns:a="http://schemas.openxmlformats.org/drawingml/2006/main">
              <a:ext uri="{FF2B5EF4-FFF2-40B4-BE49-F238E27FC236}">
                <a16:creationId xmlns:a16="http://schemas.microsoft.com/office/drawing/2014/main" id="{1329E155-E09B-4BD5-8C22-0175A80E8F51}"/>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0" name="Rust caller panel">
            <a:extLst xmlns:a="http://schemas.openxmlformats.org/drawingml/2006/main">
              <a:ext uri="{FF2B5EF4-FFF2-40B4-BE49-F238E27FC236}">
                <a16:creationId xmlns:a16="http://schemas.microsoft.com/office/drawing/2014/main" id="{4DBF583D-EEC5-4680-82F7-14440B0D36EA}"/>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1" name="Rust caller">
            <a:extLst xmlns:a="http://schemas.openxmlformats.org/drawingml/2006/main">
              <a:ext uri="{FF2B5EF4-FFF2-40B4-BE49-F238E27FC236}">
                <a16:creationId xmlns:a16="http://schemas.microsoft.com/office/drawing/2014/main" id="{5DEFFC82-694B-40BF-97C8-B371E85865CC}"/>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2" name="Rust caller explanation">
            <a:extLst xmlns:a="http://schemas.openxmlformats.org/drawingml/2006/main">
              <a:ext uri="{FF2B5EF4-FFF2-40B4-BE49-F238E27FC236}">
                <a16:creationId xmlns:a16="http://schemas.microsoft.com/office/drawing/2014/main" id="{30FFD9C1-7B69-4AF6-A663-A6B5E9ADB0BC}"/>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83" name="AOT benchmark title">
            <a:extLst xmlns:a="http://schemas.openxmlformats.org/drawingml/2006/main">
              <a:ext uri="{FF2B5EF4-FFF2-40B4-BE49-F238E27FC236}">
                <a16:creationId xmlns:a16="http://schemas.microsoft.com/office/drawing/2014/main" id="{50629CAF-AA36-4814-A7C2-4CC08E7924B1}"/>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398"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5" name="AOT interpretation">
            <a:extLst xmlns:a="http://schemas.openxmlformats.org/drawingml/2006/main">
              <a:ext uri="{FF2B5EF4-FFF2-40B4-BE49-F238E27FC236}">
                <a16:creationId xmlns:a16="http://schemas.microsoft.com/office/drawing/2014/main" id="{5F1AE56C-D49A-4F81-B37D-A53F802683F5}"/>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Mech’s smaller files primarily reflect linker and segment layout. Rust’s specialized scalar loop is faster than scalar Mech. Mech SIMD-4 packs four filters per vector and reaches higher throughput.</a:t>
            </a:r>
          </a:p>
        </p:txBody>
      </p:sp>
      <p:sp>
        <p:nvSpPr>
          <p:cNvPr id="186" name="AOT scope">
            <a:extLst xmlns:a="http://schemas.openxmlformats.org/drawingml/2006/main">
              <a:ext uri="{FF2B5EF4-FFF2-40B4-BE49-F238E27FC236}">
                <a16:creationId xmlns:a16="http://schemas.microsoft.com/office/drawing/2014/main" id="{6AC39277-B3F7-4DEF-9F6F-17C47E7CBEAB}"/>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Median ± MAD. RSS covers the whole loader process. Compile/load/warmup excluded.</a:t>
            </a:r>
          </a:p>
        </p:txBody>
      </p:sp>
      <p:sp>
        <p:nvSpPr>
          <p:cNvPr id="187" name="Reactive">
            <a:extLst xmlns:a="http://schemas.openxmlformats.org/drawingml/2006/main">
              <a:ext uri="{FF2B5EF4-FFF2-40B4-BE49-F238E27FC236}">
                <a16:creationId xmlns:a16="http://schemas.microsoft.com/office/drawing/2014/main" id="{37404927-E9A7-48A8-BD3A-098CE154FE91}"/>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88" name="Reactive thesis">
            <a:extLst xmlns:a="http://schemas.openxmlformats.org/drawingml/2006/main">
              <a:ext uri="{FF2B5EF4-FFF2-40B4-BE49-F238E27FC236}">
                <a16:creationId xmlns:a16="http://schemas.microsoft.com/office/drawing/2014/main" id="{611CFCC3-6205-4EBD-A3AB-453ED26C555F}"/>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89" name="Build phase">
            <a:extLst xmlns:a="http://schemas.openxmlformats.org/drawingml/2006/main">
              <a:ext uri="{FF2B5EF4-FFF2-40B4-BE49-F238E27FC236}">
                <a16:creationId xmlns:a16="http://schemas.microsoft.com/office/drawing/2014/main" id="{05A79EC5-C087-4531-863C-E8AFC5F91D0C}"/>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0" name="Artifact serialization group">
            <a:extLst xmlns:a="http://schemas.openxmlformats.org/drawingml/2006/main">
              <a:ext uri="{FF2B5EF4-FFF2-40B4-BE49-F238E27FC236}">
                <a16:creationId xmlns:a16="http://schemas.microsoft.com/office/drawing/2014/main" id="{EEFF0D8E-0A96-4E2B-937C-03C2DB5D8B71}"/>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1" name="Serialized program input">
            <a:extLst xmlns:a="http://schemas.openxmlformats.org/drawingml/2006/main">
              <a:ext uri="{FF2B5EF4-FFF2-40B4-BE49-F238E27FC236}">
                <a16:creationId xmlns:a16="http://schemas.microsoft.com/office/drawing/2014/main" id="{C0AFA1C2-5F32-4989-BA81-AB8C7B49F8CB}"/>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2" name="Runtime configuration">
            <a:extLst xmlns:a="http://schemas.openxmlformats.org/drawingml/2006/main">
              <a:ext uri="{FF2B5EF4-FFF2-40B4-BE49-F238E27FC236}">
                <a16:creationId xmlns:a16="http://schemas.microsoft.com/office/drawing/2014/main" id="{E39AF31B-E2EB-4EC1-83F4-E60787617046}"/>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3" name="Configuration explanation">
            <a:extLst xmlns:a="http://schemas.openxmlformats.org/drawingml/2006/main">
              <a:ext uri="{FF2B5EF4-FFF2-40B4-BE49-F238E27FC236}">
                <a16:creationId xmlns:a16="http://schemas.microsoft.com/office/drawing/2014/main" id="{33DC175A-0E48-453D-B103-3B461782F70E}"/>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194" name="Reactive source">
            <a:extLst xmlns:a="http://schemas.openxmlformats.org/drawingml/2006/main">
              <a:ext uri="{FF2B5EF4-FFF2-40B4-BE49-F238E27FC236}">
                <a16:creationId xmlns:a16="http://schemas.microsoft.com/office/drawing/2014/main" id="{1D8075C8-A389-41A1-BF66-541E49BB4DB4}"/>
              </a:ext>
            </a:extLst>
          </p:cNvPr>
          <p:cNvSpPr>
            <a:spLocks xmlns:a="http://schemas.openxmlformats.org/drawingml/2006/main" noGrp="1"/>
          </p:cNvSpPr>
          <p:nvPr/>
        </p:nvSpPr>
        <p:spPr>
          <a:xfrm xmlns:a="http://schemas.openxmlformats.org/drawingml/2006/main">
            <a:off x="952500" y="22764750"/>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5" name="Reactive compile">
            <a:extLst xmlns:a="http://schemas.openxmlformats.org/drawingml/2006/main">
              <a:ext uri="{FF2B5EF4-FFF2-40B4-BE49-F238E27FC236}">
                <a16:creationId xmlns:a16="http://schemas.microsoft.com/office/drawing/2014/main" id="{58598CCB-AA2F-4A2B-8D86-DB9B1875A8A2}"/>
              </a:ext>
            </a:extLst>
          </p:cNvPr>
          <p:cNvSpPr>
            <a:spLocks xmlns:a="http://schemas.openxmlformats.org/drawingml/2006/main" noGrp="1"/>
          </p:cNvSpPr>
          <p:nvPr/>
        </p:nvSpPr>
        <p:spPr>
          <a:xfrm xmlns:a="http://schemas.openxmlformats.org/drawingml/2006/main">
            <a:off x="4286250" y="22764750"/>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196" name="Program artifact">
            <a:extLst xmlns:a="http://schemas.openxmlformats.org/drawingml/2006/main">
              <a:ext uri="{FF2B5EF4-FFF2-40B4-BE49-F238E27FC236}">
                <a16:creationId xmlns:a16="http://schemas.microsoft.com/office/drawing/2014/main" id="{B4C4E75B-6E5C-4F94-86C1-4DC7250612CD}"/>
              </a:ext>
            </a:extLst>
          </p:cNvPr>
          <p:cNvSpPr>
            <a:spLocks xmlns:a="http://schemas.openxmlformats.org/drawingml/2006/main" noGrp="1"/>
          </p:cNvSpPr>
          <p:nvPr/>
        </p:nvSpPr>
        <p:spPr>
          <a:xfrm xmlns:a="http://schemas.openxmlformats.org/drawingml/2006/main">
            <a:off x="7905750" y="22621875"/>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7" name="Reactive activation">
            <a:extLst xmlns:a="http://schemas.openxmlformats.org/drawingml/2006/main">
              <a:ext uri="{FF2B5EF4-FFF2-40B4-BE49-F238E27FC236}">
                <a16:creationId xmlns:a16="http://schemas.microsoft.com/office/drawing/2014/main" id="{BD8172B3-D30E-451B-A3B2-DDC633B14048}"/>
              </a:ext>
            </a:extLst>
          </p:cNvPr>
          <p:cNvSpPr>
            <a:spLocks xmlns:a="http://schemas.openxmlformats.org/drawingml/2006/main" noGrp="1"/>
          </p:cNvSpPr>
          <p:nvPr/>
        </p:nvSpPr>
        <p:spPr>
          <a:xfrm xmlns:a="http://schemas.openxmlformats.org/drawingml/2006/main">
            <a:off x="13335000" y="22764750"/>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198" name="Reactive resident instance">
            <a:extLst xmlns:a="http://schemas.openxmlformats.org/drawingml/2006/main">
              <a:ext uri="{FF2B5EF4-FFF2-40B4-BE49-F238E27FC236}">
                <a16:creationId xmlns:a16="http://schemas.microsoft.com/office/drawing/2014/main" id="{3156BB57-E219-40BE-9DC6-AC9F5C88A8D5}"/>
              </a:ext>
            </a:extLst>
          </p:cNvPr>
          <p:cNvSpPr>
            <a:spLocks xmlns:a="http://schemas.openxmlformats.org/drawingml/2006/main" noGrp="1"/>
          </p:cNvSpPr>
          <p:nvPr/>
        </p:nvSpPr>
        <p:spPr>
          <a:xfrm xmlns:a="http://schemas.openxmlformats.org/drawingml/2006/main">
            <a:off x="18002250" y="22764750"/>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cxnSp>
        <p:nvCxnSpPr>
          <p:cNvPr id="413" name=""/>
          <p:cNvCxnSpPr>
            <a:stCxn xmlns:a="http://schemas.openxmlformats.org/drawingml/2006/main" id="194" idx="3"/>
            <a:endCxn xmlns:a="http://schemas.openxmlformats.org/drawingml/2006/main" id="195" idx="1"/>
          </p:cNvCxnSpPr>
          <p:nvPr/>
        </p:nvCxnSpPr>
        <p:spPr>
          <a:xfrm xmlns:a="http://schemas.openxmlformats.org/drawingml/2006/main">
            <a:off x="3619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4" name=""/>
          <p:cNvCxnSpPr>
            <a:stCxn xmlns:a="http://schemas.openxmlformats.org/drawingml/2006/main" id="195" idx="3"/>
            <a:endCxn xmlns:a="http://schemas.openxmlformats.org/drawingml/2006/main" id="196" idx="1"/>
          </p:cNvCxnSpPr>
          <p:nvPr/>
        </p:nvCxnSpPr>
        <p:spPr>
          <a:xfrm xmlns:a="http://schemas.openxmlformats.org/drawingml/2006/main">
            <a:off x="7524750" y="23169563"/>
            <a:ext cx="3810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5" name=""/>
          <p:cNvCxnSpPr>
            <a:stCxn xmlns:a="http://schemas.openxmlformats.org/drawingml/2006/main" id="196" idx="3"/>
            <a:endCxn xmlns:a="http://schemas.openxmlformats.org/drawingml/2006/main" id="197" idx="1"/>
          </p:cNvCxnSpPr>
          <p:nvPr/>
        </p:nvCxnSpPr>
        <p:spPr>
          <a:xfrm xmlns:a="http://schemas.openxmlformats.org/drawingml/2006/main" flipV="1">
            <a:off x="12382500" y="23169563"/>
            <a:ext cx="9525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6" name=""/>
          <p:cNvCxnSpPr>
            <a:stCxn xmlns:a="http://schemas.openxmlformats.org/drawingml/2006/main" id="197" idx="3"/>
            <a:endCxn xmlns:a="http://schemas.openxmlformats.org/drawingml/2006/main" id="198" idx="1"/>
          </p:cNvCxnSpPr>
          <p:nvPr/>
        </p:nvCxnSpPr>
        <p:spPr>
          <a:xfrm xmlns:a="http://schemas.openxmlformats.org/drawingml/2006/main">
            <a:off x="17335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7" name=""/>
          <p:cNvCxnSpPr>
            <a:stCxn xmlns:a="http://schemas.openxmlformats.org/drawingml/2006/main" id="191" idx="2"/>
            <a:endCxn xmlns:a="http://schemas.openxmlformats.org/drawingml/2006/main" id="196" idx="0"/>
          </p:cNvCxnSpPr>
          <p:nvPr/>
        </p:nvCxnSpPr>
        <p:spPr>
          <a:xfrm xmlns:a="http://schemas.openxmlformats.org/drawingml/2006/main">
            <a:off x="10144125" y="22240875"/>
            <a:ext cx="0" cy="381000"/>
          </a:xfrm>
          <a:prstGeom xmlns:a="http://schemas.openxmlformats.org/drawingml/2006/main" prst="straightConnector1">
            <a:avLst/>
          </a:prstGeom>
          <a:ln xmlns:a="http://schemas.openxmlformats.org/drawingml/2006/main" w="38100">
            <a:solidFill>
              <a:srgbClr val="7FC7FF"/>
            </a:solidFill>
            <a:headEnd type="arrow" w="med" len="med"/>
            <a:tailEnd type="arrow" w="med" len="med"/>
          </a:ln>
        </p:spPr>
      </p:cxnSp>
      <p:cxnSp>
        <p:nvCxnSpPr>
          <p:cNvPr id="418" name=""/>
          <p:cNvCxnSpPr>
            <a:stCxn xmlns:a="http://schemas.openxmlformats.org/drawingml/2006/main" id="192" idx="2"/>
            <a:endCxn xmlns:a="http://schemas.openxmlformats.org/drawingml/2006/main" id="197" idx="0"/>
          </p:cNvCxnSpPr>
          <p:nvPr/>
        </p:nvCxnSpPr>
        <p:spPr>
          <a:xfrm xmlns:a="http://schemas.openxmlformats.org/drawingml/2006/main">
            <a:off x="15335250" y="22240875"/>
            <a:ext cx="0" cy="523875"/>
          </a:xfrm>
          <a:prstGeom xmlns:a="http://schemas.openxmlformats.org/drawingml/2006/main" prst="straightConnector1">
            <a:avLst/>
          </a:prstGeom>
          <a:ln xmlns:a="http://schemas.openxmlformats.org/drawingml/2006/main" w="38100">
            <a:solidFill>
              <a:srgbClr val="7FC7FF"/>
            </a:solidFill>
            <a:tailEnd type="arrow" w="med" len="med"/>
          </a:ln>
        </p:spPr>
      </p:cxnSp>
      <p:sp>
        <p:nvSpPr>
          <p:cNvPr id="205" name="Artifact decoding">
            <a:extLst xmlns:a="http://schemas.openxmlformats.org/drawingml/2006/main">
              <a:ext uri="{FF2B5EF4-FFF2-40B4-BE49-F238E27FC236}">
                <a16:creationId xmlns:a16="http://schemas.microsoft.com/office/drawing/2014/main" id="{236A0A4B-79BC-4184-9246-7FB6FC293289}"/>
              </a:ext>
            </a:extLst>
          </p:cNvPr>
          <p:cNvSpPr>
            <a:spLocks xmlns:a="http://schemas.openxmlformats.org/drawingml/2006/main" noGrp="1"/>
          </p:cNvSpPr>
          <p:nvPr/>
        </p:nvSpPr>
        <p:spPr>
          <a:xfrm xmlns:a="http://schemas.openxmlformats.org/drawingml/2006/main">
            <a:off x="10572750" y="22317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06" name="AOT preparation">
            <a:extLst xmlns:a="http://schemas.openxmlformats.org/drawingml/2006/main">
              <a:ext uri="{FF2B5EF4-FFF2-40B4-BE49-F238E27FC236}">
                <a16:creationId xmlns:a16="http://schemas.microsoft.com/office/drawing/2014/main" id="{2DC816CE-6968-4F57-A00C-7C6C672F428C}"/>
              </a:ext>
            </a:extLst>
          </p:cNvPr>
          <p:cNvSpPr>
            <a:spLocks xmlns:a="http://schemas.openxmlformats.org/drawingml/2006/main" noGrp="1"/>
          </p:cNvSpPr>
          <p:nvPr/>
        </p:nvSpPr>
        <p:spPr>
          <a:xfrm xmlns:a="http://schemas.openxmlformats.org/drawingml/2006/main">
            <a:off x="12858750" y="23812500"/>
            <a:ext cx="52387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025">
                <a:solidFill>
                  <a:srgbClr val="E8EDF0"/>
                </a:solidFill>
                <a:latin typeface="Segoe UI"/>
                <a:ea typeface="Segoe UI"/>
                <a:cs typeface="Segoe UI"/>
              </a:rPr>
              <a:t>Fixed-shape lowering + AOT</a:t>
            </a:r>
          </a:p>
        </p:txBody>
      </p:sp>
      <p:sp>
        <p:nvSpPr>
          <p:cNvPr id="207" name="AOT dylib">
            <a:extLst xmlns:a="http://schemas.openxmlformats.org/drawingml/2006/main">
              <a:ext uri="{FF2B5EF4-FFF2-40B4-BE49-F238E27FC236}">
                <a16:creationId xmlns:a16="http://schemas.microsoft.com/office/drawing/2014/main" id="{27124250-3B63-40EF-A653-0CBB1A51E324}"/>
              </a:ext>
            </a:extLst>
          </p:cNvPr>
          <p:cNvSpPr>
            <a:spLocks xmlns:a="http://schemas.openxmlformats.org/drawingml/2006/main" noGrp="1"/>
          </p:cNvSpPr>
          <p:nvPr/>
        </p:nvSpPr>
        <p:spPr>
          <a:xfrm xmlns:a="http://schemas.openxmlformats.org/drawingml/2006/main">
            <a:off x="18764250" y="23812500"/>
            <a:ext cx="2905125"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025">
                <a:solidFill>
                  <a:srgbClr val="E8EDF0"/>
                </a:solidFill>
                <a:latin typeface="Segoe UI"/>
                <a:ea typeface="Segoe UI"/>
                <a:cs typeface="Segoe UI"/>
              </a:rPr>
              <a:t>Native dylib</a:t>
            </a:r>
          </a:p>
        </p:txBody>
      </p:sp>
      <p:cxnSp>
        <p:nvCxnSpPr>
          <p:cNvPr id="422" name=""/>
          <p:cNvCxnSpPr>
            <a:stCxn xmlns:a="http://schemas.openxmlformats.org/drawingml/2006/main" id="196" idx="2"/>
            <a:endCxn xmlns:a="http://schemas.openxmlformats.org/drawingml/2006/main" id="206" idx="1"/>
          </p:cNvCxnSpPr>
          <p:nvPr/>
        </p:nvCxnSpPr>
        <p:spPr>
          <a:xfrm xmlns:a="http://schemas.openxmlformats.org/drawingml/2006/main">
            <a:off x="10144125" y="23860125"/>
            <a:ext cx="2714625" cy="238125"/>
          </a:xfrm>
          <a:prstGeom xmlns:a="http://schemas.openxmlformats.org/drawingml/2006/main" prst="bentConnector3">
            <a:avLst>
              <a:gd name="adj1" fmla="val 0"/>
            </a:avLst>
          </a:prstGeom>
          <a:ln xmlns:a="http://schemas.openxmlformats.org/drawingml/2006/main" w="38100">
            <a:solidFill>
              <a:srgbClr val="33AB94"/>
            </a:solidFill>
            <a:tailEnd type="arrow" w="med" len="med"/>
          </a:ln>
        </p:spPr>
      </p:cxnSp>
      <p:cxnSp>
        <p:nvCxnSpPr>
          <p:cNvPr id="423" name=""/>
          <p:cNvCxnSpPr>
            <a:stCxn xmlns:a="http://schemas.openxmlformats.org/drawingml/2006/main" id="206" idx="3"/>
            <a:endCxn xmlns:a="http://schemas.openxmlformats.org/drawingml/2006/main" id="207" idx="1"/>
          </p:cNvCxnSpPr>
          <p:nvPr/>
        </p:nvCxnSpPr>
        <p:spPr>
          <a:xfrm xmlns:a="http://schemas.openxmlformats.org/drawingml/2006/main">
            <a:off x="18097500" y="24098250"/>
            <a:ext cx="66675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10" name="Execution phase">
            <a:extLst xmlns:a="http://schemas.openxmlformats.org/drawingml/2006/main">
              <a:ext uri="{FF2B5EF4-FFF2-40B4-BE49-F238E27FC236}">
                <a16:creationId xmlns:a16="http://schemas.microsoft.com/office/drawing/2014/main" id="{5E9EBCB5-CBED-48A5-96EC-11E78B997A11}"/>
              </a:ext>
            </a:extLst>
          </p:cNvPr>
          <p:cNvSpPr>
            <a:spLocks xmlns:a="http://schemas.openxmlformats.org/drawingml/2006/main" noGrp="1"/>
          </p:cNvSpPr>
          <p:nvPr/>
        </p:nvSpPr>
        <p:spPr>
          <a:xfrm xmlns:a="http://schemas.openxmlformats.org/drawingml/2006/main">
            <a:off x="952500" y="24145875"/>
            <a:ext cx="2071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1" name="Turn inputs">
            <a:extLst xmlns:a="http://schemas.openxmlformats.org/drawingml/2006/main">
              <a:ext uri="{FF2B5EF4-FFF2-40B4-BE49-F238E27FC236}">
                <a16:creationId xmlns:a16="http://schemas.microsoft.com/office/drawing/2014/main" id="{378BF4F8-A805-45B0-B8CB-719DDBFBC910}"/>
              </a:ext>
            </a:extLst>
          </p:cNvPr>
          <p:cNvSpPr>
            <a:spLocks xmlns:a="http://schemas.openxmlformats.org/drawingml/2006/main" noGrp="1"/>
          </p:cNvSpPr>
          <p:nvPr/>
        </p:nvSpPr>
        <p:spPr>
          <a:xfrm xmlns:a="http://schemas.openxmlformats.org/drawingml/2006/main">
            <a:off x="9525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Rust host</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drivers</a:t>
            </a:r>
          </a:p>
        </p:txBody>
      </p:sp>
      <p:sp>
        <p:nvSpPr>
          <p:cNvPr id="212" name="Host driver explanation">
            <a:extLst xmlns:a="http://schemas.openxmlformats.org/drawingml/2006/main">
              <a:ext uri="{FF2B5EF4-FFF2-40B4-BE49-F238E27FC236}">
                <a16:creationId xmlns:a16="http://schemas.microsoft.com/office/drawing/2014/main" id="{D10E6539-5162-4ACB-BF46-265017A1DE0B}"/>
              </a:ext>
            </a:extLst>
          </p:cNvPr>
          <p:cNvSpPr>
            <a:spLocks xmlns:a="http://schemas.openxmlformats.org/drawingml/2006/main" noGrp="1"/>
          </p:cNvSpPr>
          <p:nvPr/>
        </p:nvSpPr>
        <p:spPr>
          <a:xfrm xmlns:a="http://schemas.openxmlformats.org/drawingml/2006/main">
            <a:off x="952500" y="262890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13" name="Resident computation">
            <a:extLst xmlns:a="http://schemas.openxmlformats.org/drawingml/2006/main">
              <a:ext uri="{FF2B5EF4-FFF2-40B4-BE49-F238E27FC236}">
                <a16:creationId xmlns:a16="http://schemas.microsoft.com/office/drawing/2014/main" id="{59EEBF8C-4DB4-4FCC-BF5B-A365B509216C}"/>
              </a:ext>
            </a:extLst>
          </p:cNvPr>
          <p:cNvSpPr>
            <a:spLocks xmlns:a="http://schemas.openxmlformats.org/drawingml/2006/main" noGrp="1"/>
          </p:cNvSpPr>
          <p:nvPr/>
        </p:nvSpPr>
        <p:spPr>
          <a:xfrm xmlns:a="http://schemas.openxmlformats.org/drawingml/2006/main">
            <a:off x="4667250" y="24765000"/>
            <a:ext cx="6191250" cy="2476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sp>
        <p:nvSpPr>
          <p:cNvPr id="214" name="Resident computation title">
            <a:extLst xmlns:a="http://schemas.openxmlformats.org/drawingml/2006/main">
              <a:ext uri="{FF2B5EF4-FFF2-40B4-BE49-F238E27FC236}">
                <a16:creationId xmlns:a16="http://schemas.microsoft.com/office/drawing/2014/main" id="{4858A56A-154B-4169-A6C2-9E4F29C1A8D2}"/>
              </a:ext>
            </a:extLst>
          </p:cNvPr>
          <p:cNvSpPr>
            <a:spLocks xmlns:a="http://schemas.openxmlformats.org/drawingml/2006/main" noGrp="1"/>
          </p:cNvSpPr>
          <p:nvPr/>
        </p:nvSpPr>
        <p:spPr>
          <a:xfrm xmlns:a="http://schemas.openxmlformats.org/drawingml/2006/main">
            <a:off x="4905375" y="24860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5" name="EKF time update">
            <a:extLst xmlns:a="http://schemas.openxmlformats.org/drawingml/2006/main">
              <a:ext uri="{FF2B5EF4-FFF2-40B4-BE49-F238E27FC236}">
                <a16:creationId xmlns:a16="http://schemas.microsoft.com/office/drawing/2014/main" id="{63EF6A18-9DE5-4965-8C9C-31AF1AE55D84}"/>
              </a:ext>
            </a:extLst>
          </p:cNvPr>
          <p:cNvSpPr>
            <a:spLocks xmlns:a="http://schemas.openxmlformats.org/drawingml/2006/main" noGrp="1"/>
          </p:cNvSpPr>
          <p:nvPr/>
        </p:nvSpPr>
        <p:spPr>
          <a:xfrm xmlns:a="http://schemas.openxmlformats.org/drawingml/2006/main">
            <a:off x="4953000" y="25384125"/>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6" name="EKF measurement update">
            <a:extLst xmlns:a="http://schemas.openxmlformats.org/drawingml/2006/main">
              <a:ext uri="{FF2B5EF4-FFF2-40B4-BE49-F238E27FC236}">
                <a16:creationId xmlns:a16="http://schemas.microsoft.com/office/drawing/2014/main" id="{3327F86B-3141-43FA-BD0F-531542461186}"/>
              </a:ext>
            </a:extLst>
          </p:cNvPr>
          <p:cNvSpPr>
            <a:spLocks xmlns:a="http://schemas.openxmlformats.org/drawingml/2006/main" noGrp="1"/>
          </p:cNvSpPr>
          <p:nvPr/>
        </p:nvSpPr>
        <p:spPr>
          <a:xfrm xmlns:a="http://schemas.openxmlformats.org/drawingml/2006/main">
            <a:off x="4953000" y="26003250"/>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7" name="Mean visual mapping">
            <a:extLst xmlns:a="http://schemas.openxmlformats.org/drawingml/2006/main">
              <a:ext uri="{FF2B5EF4-FFF2-40B4-BE49-F238E27FC236}">
                <a16:creationId xmlns:a16="http://schemas.microsoft.com/office/drawing/2014/main" id="{E6181F9E-B25F-4521-96DB-27036FAA1C7E}"/>
              </a:ext>
            </a:extLst>
          </p:cNvPr>
          <p:cNvSpPr>
            <a:spLocks xmlns:a="http://schemas.openxmlformats.org/drawingml/2006/main" noGrp="1"/>
          </p:cNvSpPr>
          <p:nvPr/>
        </p:nvSpPr>
        <p:spPr>
          <a:xfrm xmlns:a="http://schemas.openxmlformats.org/drawingml/2006/main">
            <a:off x="495300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μ → circle</a:t>
            </a:r>
          </a:p>
        </p:txBody>
      </p:sp>
      <p:sp>
        <p:nvSpPr>
          <p:cNvPr id="218" name="Covariance visual mapping">
            <a:extLst xmlns:a="http://schemas.openxmlformats.org/drawingml/2006/main">
              <a:ext uri="{FF2B5EF4-FFF2-40B4-BE49-F238E27FC236}">
                <a16:creationId xmlns:a16="http://schemas.microsoft.com/office/drawing/2014/main" id="{A05F4339-852B-403F-BB2F-E2F7384271DB}"/>
              </a:ext>
            </a:extLst>
          </p:cNvPr>
          <p:cNvSpPr>
            <a:spLocks xmlns:a="http://schemas.openxmlformats.org/drawingml/2006/main" noGrp="1"/>
          </p:cNvSpPr>
          <p:nvPr/>
        </p:nvSpPr>
        <p:spPr>
          <a:xfrm xmlns:a="http://schemas.openxmlformats.org/drawingml/2006/main">
            <a:off x="790575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cxnSp>
        <p:nvCxnSpPr>
          <p:cNvPr id="433" name=""/>
          <p:cNvCxnSpPr>
            <a:stCxn xmlns:a="http://schemas.openxmlformats.org/drawingml/2006/main" id="215" idx="2"/>
            <a:endCxn xmlns:a="http://schemas.openxmlformats.org/drawingml/2006/main" id="216" idx="0"/>
          </p:cNvCxnSpPr>
          <p:nvPr/>
        </p:nvCxnSpPr>
        <p:spPr>
          <a:xfrm xmlns:a="http://schemas.openxmlformats.org/drawingml/2006/main">
            <a:off x="7762875" y="25812750"/>
            <a:ext cx="0" cy="190500"/>
          </a:xfrm>
          <a:prstGeom xmlns:a="http://schemas.openxmlformats.org/drawingml/2006/main" prst="straightConnector1">
            <a:avLst/>
          </a:prstGeom>
          <a:ln xmlns:a="http://schemas.openxmlformats.org/drawingml/2006/main" w="38100">
            <a:solidFill>
              <a:srgbClr val="A4BAC8"/>
            </a:solidFill>
            <a:tailEnd type="arrow" w="med" len="med"/>
          </a:ln>
        </p:spPr>
      </p:cxnSp>
      <p:cxnSp>
        <p:nvCxnSpPr>
          <p:cNvPr id="434" name=""/>
          <p:cNvCxnSpPr>
            <a:stCxn xmlns:a="http://schemas.openxmlformats.org/drawingml/2006/main" id="216" idx="2"/>
            <a:endCxn xmlns:a="http://schemas.openxmlformats.org/drawingml/2006/main" id="217" idx="0"/>
          </p:cNvCxnSpPr>
          <p:nvPr/>
        </p:nvCxnSpPr>
        <p:spPr>
          <a:xfrm xmlns:a="http://schemas.openxmlformats.org/drawingml/2006/main" flipH="1">
            <a:off x="6286500"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cxnSp>
        <p:nvCxnSpPr>
          <p:cNvPr id="435" name=""/>
          <p:cNvCxnSpPr>
            <a:stCxn xmlns:a="http://schemas.openxmlformats.org/drawingml/2006/main" id="216" idx="2"/>
            <a:endCxn xmlns:a="http://schemas.openxmlformats.org/drawingml/2006/main" id="218" idx="0"/>
          </p:cNvCxnSpPr>
          <p:nvPr/>
        </p:nvCxnSpPr>
        <p:spPr>
          <a:xfrm xmlns:a="http://schemas.openxmlformats.org/drawingml/2006/main">
            <a:off x="7762875"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sp>
        <p:nvSpPr>
          <p:cNvPr id="222" name="Guards">
            <a:extLst xmlns:a="http://schemas.openxmlformats.org/drawingml/2006/main">
              <a:ext uri="{FF2B5EF4-FFF2-40B4-BE49-F238E27FC236}">
                <a16:creationId xmlns:a16="http://schemas.microsoft.com/office/drawing/2014/main" id="{419CE713-9AC1-4CD2-A667-07E431E9927B}"/>
              </a:ext>
            </a:extLst>
          </p:cNvPr>
          <p:cNvSpPr>
            <a:spLocks xmlns:a="http://schemas.openxmlformats.org/drawingml/2006/main" noGrp="1"/>
          </p:cNvSpPr>
          <p:nvPr/>
        </p:nvSpPr>
        <p:spPr>
          <a:xfrm xmlns:a="http://schemas.openxmlformats.org/drawingml/2006/main">
            <a:off x="11620500" y="25146000"/>
            <a:ext cx="32385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3" name="Publish">
            <a:extLst xmlns:a="http://schemas.openxmlformats.org/drawingml/2006/main">
              <a:ext uri="{FF2B5EF4-FFF2-40B4-BE49-F238E27FC236}">
                <a16:creationId xmlns:a16="http://schemas.microsoft.com/office/drawing/2014/main" id="{C9BF0F6B-8248-44BE-9A8D-18E0F8D7C5D2}"/>
              </a:ext>
            </a:extLst>
          </p:cNvPr>
          <p:cNvSpPr>
            <a:spLocks xmlns:a="http://schemas.openxmlformats.org/drawingml/2006/main" noGrp="1"/>
          </p:cNvSpPr>
          <p:nvPr/>
        </p:nvSpPr>
        <p:spPr>
          <a:xfrm xmlns:a="http://schemas.openxmlformats.org/drawingml/2006/main">
            <a:off x="156210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Publish state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 record</a:t>
            </a:r>
          </a:p>
        </p:txBody>
      </p:sp>
      <p:cxnSp>
        <p:nvCxnSpPr>
          <p:cNvPr id="438" name=""/>
          <p:cNvCxnSpPr>
            <a:stCxn xmlns:a="http://schemas.openxmlformats.org/drawingml/2006/main" id="211" idx="3"/>
            <a:endCxn xmlns:a="http://schemas.openxmlformats.org/drawingml/2006/main" id="213" idx="1"/>
          </p:cNvCxnSpPr>
          <p:nvPr/>
        </p:nvCxnSpPr>
        <p:spPr>
          <a:xfrm xmlns:a="http://schemas.openxmlformats.org/drawingml/2006/main">
            <a:off x="4000500" y="25622250"/>
            <a:ext cx="66675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39" name=""/>
          <p:cNvCxnSpPr>
            <a:stCxn xmlns:a="http://schemas.openxmlformats.org/drawingml/2006/main" id="213" idx="3"/>
            <a:endCxn xmlns:a="http://schemas.openxmlformats.org/drawingml/2006/main" id="222" idx="1"/>
          </p:cNvCxnSpPr>
          <p:nvPr/>
        </p:nvCxnSpPr>
        <p:spPr>
          <a:xfrm xmlns:a="http://schemas.openxmlformats.org/drawingml/2006/main" flipV="1">
            <a:off x="10858500" y="25622250"/>
            <a:ext cx="76200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40" name=""/>
          <p:cNvCxnSpPr>
            <a:stCxn xmlns:a="http://schemas.openxmlformats.org/drawingml/2006/main" id="222" idx="3"/>
            <a:endCxn xmlns:a="http://schemas.openxmlformats.org/drawingml/2006/main" id="223" idx="1"/>
          </p:cNvCxnSpPr>
          <p:nvPr/>
        </p:nvCxnSpPr>
        <p:spPr>
          <a:xfrm xmlns:a="http://schemas.openxmlformats.org/drawingml/2006/main">
            <a:off x="14859000" y="25622250"/>
            <a:ext cx="76200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27" name="Accept label">
            <a:extLst xmlns:a="http://schemas.openxmlformats.org/drawingml/2006/main">
              <a:ext uri="{FF2B5EF4-FFF2-40B4-BE49-F238E27FC236}">
                <a16:creationId xmlns:a16="http://schemas.microsoft.com/office/drawing/2014/main" id="{3C8F49DF-278C-4E18-A8EA-8E7071256BE0}"/>
              </a:ext>
            </a:extLst>
          </p:cNvPr>
          <p:cNvSpPr>
            <a:spLocks xmlns:a="http://schemas.openxmlformats.org/drawingml/2006/main" noGrp="1"/>
          </p:cNvSpPr>
          <p:nvPr/>
        </p:nvSpPr>
        <p:spPr>
          <a:xfrm xmlns:a="http://schemas.openxmlformats.org/drawingml/2006/main">
            <a:off x="14925675" y="24765000"/>
            <a:ext cx="80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28" name="Reject turn">
            <a:extLst xmlns:a="http://schemas.openxmlformats.org/drawingml/2006/main">
              <a:ext uri="{FF2B5EF4-FFF2-40B4-BE49-F238E27FC236}">
                <a16:creationId xmlns:a16="http://schemas.microsoft.com/office/drawing/2014/main" id="{D9213FEB-D6F9-4FFE-BC8F-A48D53D78932}"/>
              </a:ext>
            </a:extLst>
          </p:cNvPr>
          <p:cNvSpPr>
            <a:spLocks xmlns:a="http://schemas.openxmlformats.org/drawingml/2006/main" noGrp="1"/>
          </p:cNvSpPr>
          <p:nvPr/>
        </p:nvSpPr>
        <p:spPr>
          <a:xfrm xmlns:a="http://schemas.openxmlformats.org/drawingml/2006/main">
            <a:off x="11430000" y="26479500"/>
            <a:ext cx="3619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Abort candidate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retain prior state</a:t>
            </a:r>
          </a:p>
        </p:txBody>
      </p:sp>
      <p:cxnSp>
        <p:nvCxnSpPr>
          <p:cNvPr id="443" name=""/>
          <p:cNvCxnSpPr>
            <a:stCxn xmlns:a="http://schemas.openxmlformats.org/drawingml/2006/main" id="222" idx="2"/>
            <a:endCxn xmlns:a="http://schemas.openxmlformats.org/drawingml/2006/main" id="228" idx="0"/>
          </p:cNvCxnSpPr>
          <p:nvPr/>
        </p:nvCxnSpPr>
        <p:spPr>
          <a:xfrm xmlns:a="http://schemas.openxmlformats.org/drawingml/2006/main">
            <a:off x="13239750" y="26098500"/>
            <a:ext cx="0" cy="381000"/>
          </a:xfrm>
          <a:prstGeom xmlns:a="http://schemas.openxmlformats.org/drawingml/2006/main" prst="straightConnector1">
            <a:avLst/>
          </a:prstGeom>
          <a:ln xmlns:a="http://schemas.openxmlformats.org/drawingml/2006/main" w="38100">
            <a:solidFill>
              <a:srgbClr val="CE7979"/>
            </a:solidFill>
            <a:tailEnd type="arrow" w="med" len="med"/>
          </a:ln>
        </p:spPr>
      </p:cxnSp>
      <p:sp>
        <p:nvSpPr>
          <p:cNvPr id="230" name="Reject label">
            <a:extLst xmlns:a="http://schemas.openxmlformats.org/drawingml/2006/main">
              <a:ext uri="{FF2B5EF4-FFF2-40B4-BE49-F238E27FC236}">
                <a16:creationId xmlns:a16="http://schemas.microsoft.com/office/drawing/2014/main" id="{F1B46F85-1145-4D7D-8E07-721A772723DC}"/>
              </a:ext>
            </a:extLst>
          </p:cNvPr>
          <p:cNvSpPr>
            <a:spLocks xmlns:a="http://schemas.openxmlformats.org/drawingml/2006/main" noGrp="1"/>
          </p:cNvSpPr>
          <p:nvPr/>
        </p:nvSpPr>
        <p:spPr>
          <a:xfrm xmlns:a="http://schemas.openxmlformats.org/drawingml/2006/main">
            <a:off x="13525500" y="260794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725" b="1">
                <a:solidFill>
                  <a:srgbClr val="CE7979"/>
                </a:solidFill>
                <a:latin typeface="Fira Code"/>
                <a:ea typeface="Fira Code"/>
                <a:cs typeface="Fira Code"/>
              </a:rPr>
              <a:t>fail</a:t>
            </a:r>
          </a:p>
        </p:txBody>
      </p:sp>
      <p:sp>
        <p:nvSpPr>
          <p:cNvPr id="231" name="Estimate output">
            <a:extLst xmlns:a="http://schemas.openxmlformats.org/drawingml/2006/main">
              <a:ext uri="{FF2B5EF4-FFF2-40B4-BE49-F238E27FC236}">
                <a16:creationId xmlns:a16="http://schemas.microsoft.com/office/drawing/2014/main" id="{EBD1EBFA-63E5-4317-B335-BEDB0BA50B30}"/>
              </a:ext>
            </a:extLst>
          </p:cNvPr>
          <p:cNvSpPr>
            <a:spLocks xmlns:a="http://schemas.openxmlformats.org/drawingml/2006/main" noGrp="1"/>
          </p:cNvSpPr>
          <p:nvPr/>
        </p:nvSpPr>
        <p:spPr>
          <a:xfrm xmlns:a="http://schemas.openxmlformats.org/drawingml/2006/main">
            <a:off x="19431000" y="24717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Estimate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(μ, Σ)</a:t>
            </a:r>
          </a:p>
        </p:txBody>
      </p:sp>
      <p:sp>
        <p:nvSpPr>
          <p:cNvPr id="232" name="Scene output">
            <a:extLst xmlns:a="http://schemas.openxmlformats.org/drawingml/2006/main">
              <a:ext uri="{FF2B5EF4-FFF2-40B4-BE49-F238E27FC236}">
                <a16:creationId xmlns:a16="http://schemas.microsoft.com/office/drawing/2014/main" id="{2C19A6F9-B242-4201-BDCD-5BE6074FF5D6}"/>
              </a:ext>
            </a:extLst>
          </p:cNvPr>
          <p:cNvSpPr>
            <a:spLocks xmlns:a="http://schemas.openxmlformats.org/drawingml/2006/main" noGrp="1"/>
          </p:cNvSpPr>
          <p:nvPr/>
        </p:nvSpPr>
        <p:spPr>
          <a:xfrm xmlns:a="http://schemas.openxmlformats.org/drawingml/2006/main">
            <a:off x="19431000" y="26241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SVG scene</a:t>
            </a:r>
          </a:p>
        </p:txBody>
      </p:sp>
      <p:cxnSp>
        <p:nvCxnSpPr>
          <p:cNvPr id="447" name=""/>
          <p:cNvCxnSpPr>
            <a:stCxn xmlns:a="http://schemas.openxmlformats.org/drawingml/2006/main" id="223" idx="3"/>
            <a:endCxn xmlns:a="http://schemas.openxmlformats.org/drawingml/2006/main" id="231" idx="1"/>
          </p:cNvCxnSpPr>
          <p:nvPr/>
        </p:nvCxnSpPr>
        <p:spPr>
          <a:xfrm xmlns:a="http://schemas.openxmlformats.org/drawingml/2006/main" flipV="1">
            <a:off x="18669000" y="25217438"/>
            <a:ext cx="762000" cy="404813"/>
          </a:xfrm>
          <a:prstGeom xmlns:a="http://schemas.openxmlformats.org/drawingml/2006/main" prst="straightConnector1">
            <a:avLst/>
          </a:prstGeom>
          <a:ln xmlns:a="http://schemas.openxmlformats.org/drawingml/2006/main" w="38100">
            <a:solidFill>
              <a:srgbClr val="33AB94"/>
            </a:solidFill>
            <a:tailEnd type="arrow" w="med" len="med"/>
          </a:ln>
        </p:spPr>
      </p:cxnSp>
      <p:cxnSp>
        <p:nvCxnSpPr>
          <p:cNvPr id="448" name=""/>
          <p:cNvCxnSpPr>
            <a:stCxn xmlns:a="http://schemas.openxmlformats.org/drawingml/2006/main" id="223" idx="3"/>
            <a:endCxn xmlns:a="http://schemas.openxmlformats.org/drawingml/2006/main" id="232" idx="1"/>
          </p:cNvCxnSpPr>
          <p:nvPr/>
        </p:nvCxnSpPr>
        <p:spPr>
          <a:xfrm xmlns:a="http://schemas.openxmlformats.org/drawingml/2006/main">
            <a:off x="18669000" y="25622250"/>
            <a:ext cx="762000" cy="1119188"/>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35" name="Heterogeneous">
            <a:extLst xmlns:a="http://schemas.openxmlformats.org/drawingml/2006/main">
              <a:ext uri="{FF2B5EF4-FFF2-40B4-BE49-F238E27FC236}">
                <a16:creationId xmlns:a16="http://schemas.microsoft.com/office/drawing/2014/main" id="{0AE37B13-263B-43DE-8A23-C2308D485D4E}"/>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6" name="Heterogeneous narrative">
            <a:extLst xmlns:a="http://schemas.openxmlformats.org/drawingml/2006/main">
              <a:ext uri="{FF2B5EF4-FFF2-40B4-BE49-F238E27FC236}">
                <a16:creationId xmlns:a16="http://schemas.microsoft.com/office/drawing/2014/main" id="{23C07F43-7FF9-4120-82F1-EB0600DB40DF}"/>
              </a:ext>
            </a:extLst>
          </p:cNvPr>
          <p:cNvSpPr>
            <a:spLocks xmlns:a="http://schemas.openxmlformats.org/drawingml/2006/main" noGrp="1"/>
          </p:cNvSpPr>
          <p:nvPr/>
        </p:nvSpPr>
        <p:spPr>
          <a:xfrm xmlns:a="http://schemas.openxmlformats.org/drawingml/2006/main">
            <a:off x="952500" y="28765500"/>
            <a:ext cx="2071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All Mech backend measurements use one f32 source version of the EKF shown at right.</a:t>
            </a:r>
          </a:p>
        </p:txBody>
      </p:sp>
      <p:sp>
        <p:nvSpPr>
          <p:cNvPr id="237" name="JIT AOT explanation">
            <a:extLst xmlns:a="http://schemas.openxmlformats.org/drawingml/2006/main">
              <a:ext uri="{FF2B5EF4-FFF2-40B4-BE49-F238E27FC236}">
                <a16:creationId xmlns:a16="http://schemas.microsoft.com/office/drawing/2014/main" id="{87842706-0DA0-4466-8BC3-CB1A79D9EACC}"/>
              </a:ext>
            </a:extLst>
          </p:cNvPr>
          <p:cNvSpPr>
            <a:spLocks xmlns:a="http://schemas.openxmlformats.org/drawingml/2006/main" noGrp="1"/>
          </p:cNvSpPr>
          <p:nvPr/>
        </p:nvSpPr>
        <p:spPr>
          <a:xfrm xmlns:a="http://schemas.openxmlformats.org/drawingml/2006/main">
            <a:off x="952500" y="29289375"/>
            <a:ext cx="20716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SIMD JIT and AOT share the numerical graph and Cranelift code generator. JIT compiles on demand. AOT emits a native library before deployment, allowing the host to omit the compiler.</a:t>
            </a:r>
          </a:p>
        </p:txBody>
      </p:sp>
      <p:sp>
        <p:nvSpPr>
          <p:cNvPr id="238" name="Cross CPU title">
            <a:extLst xmlns:a="http://schemas.openxmlformats.org/drawingml/2006/main">
              <a:ext uri="{FF2B5EF4-FFF2-40B4-BE49-F238E27FC236}">
                <a16:creationId xmlns:a16="http://schemas.microsoft.com/office/drawing/2014/main" id="{9EF8BED7-1FE8-406D-B49B-745B30497B0C}"/>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and Rust show similar throughput</a:t>
            </a:r>
          </a:p>
        </p:txBody>
      </p:sp>
      <p:sp>
        <p:nvSpPr>
          <p:cNvPr id="239" name="Backend chart title">
            <a:extLst xmlns:a="http://schemas.openxmlformats.org/drawingml/2006/main">
              <a:ext uri="{FF2B5EF4-FFF2-40B4-BE49-F238E27FC236}">
                <a16:creationId xmlns:a16="http://schemas.microsoft.com/office/drawing/2014/main" id="{66E6F995-4EFC-4767-8A90-DFE09F5C61AF}"/>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Backend choice changes EKF throughput</a:t>
            </a:r>
          </a:p>
        </p:txBody>
      </p:sp>
      <p:sp>
        <p:nvSpPr>
          <p:cNvPr id="240" name="CPU chart unit">
            <a:extLst xmlns:a="http://schemas.openxmlformats.org/drawingml/2006/main">
              <a:ext uri="{FF2B5EF4-FFF2-40B4-BE49-F238E27FC236}">
                <a16:creationId xmlns:a16="http://schemas.microsoft.com/office/drawing/2014/main" id="{5580C65F-A851-4357-8CD3-6D2659909D09}"/>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 filter-turns/s, median ± MAD</a:t>
            </a:r>
          </a:p>
        </p:txBody>
      </p:sp>
      <p:sp>
        <p:nvSpPr>
          <p:cNvPr id="241" name="Backend chart unit">
            <a:extLst xmlns:a="http://schemas.openxmlformats.org/drawingml/2006/main">
              <a:ext uri="{FF2B5EF4-FFF2-40B4-BE49-F238E27FC236}">
                <a16:creationId xmlns:a16="http://schemas.microsoft.com/office/drawing/2014/main" id="{081BB7FA-C585-464D-BBEE-7A24627FA911}"/>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 filter-turns/s, median ± MAD, log axis</a:t>
            </a:r>
          </a:p>
        </p:txBody>
      </p:sp>
      <p:graphicFrame>
        <p:nvGraphicFramePr>
          <p:cNvPr id="456" name="Chart"/>
          <p:cNvGraphicFramePr/>
          <p:nvPr/>
        </p:nvGraphicFramePr>
        <p:xfrm>
          <a:off xmlns:a="http://schemas.openxmlformats.org/drawingml/2006/main" x="809625" y="31527750"/>
          <a:ext xmlns:a="http://schemas.openxmlformats.org/drawingml/2006/main" cx="10096500" cy="5238750"/>
        </p:xfrm>
        <a:graphic xmlns:a="http://schemas.openxmlformats.org/drawingml/2006/main">
          <a:graphicData uri="http://schemas.openxmlformats.org/drawingml/2006/chart">
            <c:chart xmlns:r="http://schemas.openxmlformats.org/officeDocument/2006/relationships" xmlns:c="http://schemas.openxmlformats.org/drawingml/2006/chart" r:id="R691b570611144b18"/>
          </a:graphicData>
        </a:graphic>
      </p:graphicFrame>
      <p:sp>
        <p:nvSpPr>
          <p:cNvPr id="243" name="Unchecked legend">
            <a:extLst xmlns:a="http://schemas.openxmlformats.org/drawingml/2006/main">
              <a:ext uri="{FF2B5EF4-FFF2-40B4-BE49-F238E27FC236}">
                <a16:creationId xmlns:a16="http://schemas.microsoft.com/office/drawing/2014/main" id="{CC299D9F-C146-4B6F-B31F-C1E9A5BB6E98}"/>
              </a:ext>
            </a:extLst>
          </p:cNvPr>
          <p:cNvSpPr>
            <a:spLocks xmlns:a="http://schemas.openxmlformats.org/drawingml/2006/main" noGrp="1"/>
          </p:cNvSpPr>
          <p:nvPr/>
        </p:nvSpPr>
        <p:spPr>
          <a:xfrm xmlns:a="http://schemas.openxmlformats.org/drawingml/2006/main">
            <a:off x="1009650" y="3695700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4" name="Unchecked legend label">
            <a:extLst xmlns:a="http://schemas.openxmlformats.org/drawingml/2006/main">
              <a:ext uri="{FF2B5EF4-FFF2-40B4-BE49-F238E27FC236}">
                <a16:creationId xmlns:a16="http://schemas.microsoft.com/office/drawing/2014/main" id="{F1DE5022-8275-4092-9932-F1612C778CCD}"/>
              </a:ext>
            </a:extLst>
          </p:cNvPr>
          <p:cNvSpPr>
            <a:spLocks xmlns:a="http://schemas.openxmlformats.org/drawingml/2006/main" noGrp="1"/>
          </p:cNvSpPr>
          <p:nvPr/>
        </p:nvSpPr>
        <p:spPr>
          <a:xfrm xmlns:a="http://schemas.openxmlformats.org/drawingml/2006/main">
            <a:off x="1600200" y="368522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5" name="Checked legend">
            <a:extLst xmlns:a="http://schemas.openxmlformats.org/drawingml/2006/main">
              <a:ext uri="{FF2B5EF4-FFF2-40B4-BE49-F238E27FC236}">
                <a16:creationId xmlns:a16="http://schemas.microsoft.com/office/drawing/2014/main" id="{609A4696-1BEB-481F-9EDF-935033C0B88B}"/>
              </a:ext>
            </a:extLst>
          </p:cNvPr>
          <p:cNvSpPr>
            <a:spLocks xmlns:a="http://schemas.openxmlformats.org/drawingml/2006/main" noGrp="1"/>
          </p:cNvSpPr>
          <p:nvPr/>
        </p:nvSpPr>
        <p:spPr>
          <a:xfrm xmlns:a="http://schemas.openxmlformats.org/drawingml/2006/main">
            <a:off x="5334000" y="3695700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6" name="Checked legend label">
            <a:extLst xmlns:a="http://schemas.openxmlformats.org/drawingml/2006/main">
              <a:ext uri="{FF2B5EF4-FFF2-40B4-BE49-F238E27FC236}">
                <a16:creationId xmlns:a16="http://schemas.microsoft.com/office/drawing/2014/main" id="{98BFE964-5ED6-409E-8A0E-E7EBCA428AB7}"/>
              </a:ext>
            </a:extLst>
          </p:cNvPr>
          <p:cNvSpPr>
            <a:spLocks xmlns:a="http://schemas.openxmlformats.org/drawingml/2006/main" noGrp="1"/>
          </p:cNvSpPr>
          <p:nvPr/>
        </p:nvSpPr>
        <p:spPr>
          <a:xfrm xmlns:a="http://schemas.openxmlformats.org/drawingml/2006/main">
            <a:off x="5924550" y="368522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461" name="Chart"/>
          <p:cNvGraphicFramePr/>
          <p:nvPr/>
        </p:nvGraphicFramePr>
        <p:xfrm>
          <a:off xmlns:a="http://schemas.openxmlformats.org/drawingml/2006/main" x="11572875" y="31527750"/>
          <a:ext xmlns:a="http://schemas.openxmlformats.org/drawingml/2006/main" cx="10096500" cy="5238750"/>
        </p:xfrm>
        <a:graphic xmlns:a="http://schemas.openxmlformats.org/drawingml/2006/main">
          <a:graphicData uri="http://schemas.openxmlformats.org/drawingml/2006/chart">
            <c:chart xmlns:r="http://schemas.openxmlformats.org/officeDocument/2006/relationships" xmlns:c="http://schemas.openxmlformats.org/drawingml/2006/chart" r:id="R57745ac8844e4de2"/>
          </a:graphicData>
        </a:graphic>
      </p:graphicFrame>
      <p:sp>
        <p:nvSpPr>
          <p:cNvPr id="248" name="CPU checked measurement 0">
            <a:extLst xmlns:a="http://schemas.openxmlformats.org/drawingml/2006/main">
              <a:ext uri="{FF2B5EF4-FFF2-40B4-BE49-F238E27FC236}">
                <a16:creationId xmlns:a16="http://schemas.microsoft.com/office/drawing/2014/main" id="{75A8E4D1-C05E-4F3A-AFDC-402B991431BE}"/>
              </a:ext>
            </a:extLst>
          </p:cNvPr>
          <p:cNvSpPr>
            <a:spLocks xmlns:a="http://schemas.openxmlformats.org/drawingml/2006/main" noGrp="1"/>
          </p:cNvSpPr>
          <p:nvPr/>
        </p:nvSpPr>
        <p:spPr>
          <a:xfrm xmlns:a="http://schemas.openxmlformats.org/drawingml/2006/main">
            <a:off x="8533448" y="35949303"/>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79.4 ± 0.6</a:t>
            </a:r>
          </a:p>
        </p:txBody>
      </p:sp>
      <p:sp>
        <p:nvSpPr>
          <p:cNvPr id="249" name="CPU unchecked measurement 0">
            <a:extLst xmlns:a="http://schemas.openxmlformats.org/drawingml/2006/main">
              <a:ext uri="{FF2B5EF4-FFF2-40B4-BE49-F238E27FC236}">
                <a16:creationId xmlns:a16="http://schemas.microsoft.com/office/drawing/2014/main" id="{A51E7253-0749-4B73-A9F8-70145257EEDA}"/>
              </a:ext>
            </a:extLst>
          </p:cNvPr>
          <p:cNvSpPr>
            <a:spLocks xmlns:a="http://schemas.openxmlformats.org/drawingml/2006/main" noGrp="1"/>
          </p:cNvSpPr>
          <p:nvPr/>
        </p:nvSpPr>
        <p:spPr>
          <a:xfrm xmlns:a="http://schemas.openxmlformats.org/drawingml/2006/main">
            <a:off x="8533448" y="3564456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81.6 ± 0.3</a:t>
            </a:r>
          </a:p>
        </p:txBody>
      </p:sp>
      <p:sp>
        <p:nvSpPr>
          <p:cNvPr id="250" name="CPU checked measurement 1">
            <a:extLst xmlns:a="http://schemas.openxmlformats.org/drawingml/2006/main">
              <a:ext uri="{FF2B5EF4-FFF2-40B4-BE49-F238E27FC236}">
                <a16:creationId xmlns:a16="http://schemas.microsoft.com/office/drawing/2014/main" id="{F14E496B-1646-4B7F-BBBD-873524835E62}"/>
              </a:ext>
            </a:extLst>
          </p:cNvPr>
          <p:cNvSpPr>
            <a:spLocks xmlns:a="http://schemas.openxmlformats.org/drawingml/2006/main" noGrp="1"/>
          </p:cNvSpPr>
          <p:nvPr/>
        </p:nvSpPr>
        <p:spPr>
          <a:xfrm xmlns:a="http://schemas.openxmlformats.org/drawingml/2006/main">
            <a:off x="8533448" y="35172222"/>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97.9 ± 1.2</a:t>
            </a:r>
          </a:p>
        </p:txBody>
      </p:sp>
      <p:sp>
        <p:nvSpPr>
          <p:cNvPr id="251" name="CPU unchecked measurement 1">
            <a:extLst xmlns:a="http://schemas.openxmlformats.org/drawingml/2006/main">
              <a:ext uri="{FF2B5EF4-FFF2-40B4-BE49-F238E27FC236}">
                <a16:creationId xmlns:a16="http://schemas.microsoft.com/office/drawing/2014/main" id="{41100234-803F-432A-AEB4-CE094ECE5DE6}"/>
              </a:ext>
            </a:extLst>
          </p:cNvPr>
          <p:cNvSpPr>
            <a:spLocks xmlns:a="http://schemas.openxmlformats.org/drawingml/2006/main" noGrp="1"/>
          </p:cNvSpPr>
          <p:nvPr/>
        </p:nvSpPr>
        <p:spPr>
          <a:xfrm xmlns:a="http://schemas.openxmlformats.org/drawingml/2006/main">
            <a:off x="8533448" y="3486748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149.9 ± 1.4</a:t>
            </a:r>
          </a:p>
        </p:txBody>
      </p:sp>
      <p:sp>
        <p:nvSpPr>
          <p:cNvPr id="252" name="CPU checked measurement 2">
            <a:extLst xmlns:a="http://schemas.openxmlformats.org/drawingml/2006/main">
              <a:ext uri="{FF2B5EF4-FFF2-40B4-BE49-F238E27FC236}">
                <a16:creationId xmlns:a16="http://schemas.microsoft.com/office/drawing/2014/main" id="{9EBE011A-80D1-4375-80EF-316A2EFDCE8C}"/>
              </a:ext>
            </a:extLst>
          </p:cNvPr>
          <p:cNvSpPr>
            <a:spLocks xmlns:a="http://schemas.openxmlformats.org/drawingml/2006/main" noGrp="1"/>
          </p:cNvSpPr>
          <p:nvPr/>
        </p:nvSpPr>
        <p:spPr>
          <a:xfrm xmlns:a="http://schemas.openxmlformats.org/drawingml/2006/main">
            <a:off x="8533448" y="3439514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129.0 ± 2.8</a:t>
            </a:r>
          </a:p>
        </p:txBody>
      </p:sp>
      <p:sp>
        <p:nvSpPr>
          <p:cNvPr id="253" name="CPU unchecked measurement 2">
            <a:extLst xmlns:a="http://schemas.openxmlformats.org/drawingml/2006/main">
              <a:ext uri="{FF2B5EF4-FFF2-40B4-BE49-F238E27FC236}">
                <a16:creationId xmlns:a16="http://schemas.microsoft.com/office/drawing/2014/main" id="{59F641A4-6D69-4776-9CF0-6AA63C0FC741}"/>
              </a:ext>
            </a:extLst>
          </p:cNvPr>
          <p:cNvSpPr>
            <a:spLocks xmlns:a="http://schemas.openxmlformats.org/drawingml/2006/main" noGrp="1"/>
          </p:cNvSpPr>
          <p:nvPr/>
        </p:nvSpPr>
        <p:spPr>
          <a:xfrm xmlns:a="http://schemas.openxmlformats.org/drawingml/2006/main">
            <a:off x="8533448" y="34090403"/>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136.4 ± 1.1</a:t>
            </a:r>
          </a:p>
        </p:txBody>
      </p:sp>
      <p:sp>
        <p:nvSpPr>
          <p:cNvPr id="254" name="CPU checked measurement 3">
            <a:extLst xmlns:a="http://schemas.openxmlformats.org/drawingml/2006/main">
              <a:ext uri="{FF2B5EF4-FFF2-40B4-BE49-F238E27FC236}">
                <a16:creationId xmlns:a16="http://schemas.microsoft.com/office/drawing/2014/main" id="{0E483EB7-396D-4F8E-A8E7-EC330ACC1AF6}"/>
              </a:ext>
            </a:extLst>
          </p:cNvPr>
          <p:cNvSpPr>
            <a:spLocks xmlns:a="http://schemas.openxmlformats.org/drawingml/2006/main" noGrp="1"/>
          </p:cNvSpPr>
          <p:nvPr/>
        </p:nvSpPr>
        <p:spPr>
          <a:xfrm xmlns:a="http://schemas.openxmlformats.org/drawingml/2006/main">
            <a:off x="8533448" y="3361805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119.3 ± 0.4</a:t>
            </a:r>
          </a:p>
        </p:txBody>
      </p:sp>
      <p:sp>
        <p:nvSpPr>
          <p:cNvPr id="255" name="CPU unchecked measurement 3">
            <a:extLst xmlns:a="http://schemas.openxmlformats.org/drawingml/2006/main">
              <a:ext uri="{FF2B5EF4-FFF2-40B4-BE49-F238E27FC236}">
                <a16:creationId xmlns:a16="http://schemas.microsoft.com/office/drawing/2014/main" id="{D86C587E-766C-4874-B500-217F37904680}"/>
              </a:ext>
            </a:extLst>
          </p:cNvPr>
          <p:cNvSpPr>
            <a:spLocks xmlns:a="http://schemas.openxmlformats.org/drawingml/2006/main" noGrp="1"/>
          </p:cNvSpPr>
          <p:nvPr/>
        </p:nvSpPr>
        <p:spPr>
          <a:xfrm xmlns:a="http://schemas.openxmlformats.org/drawingml/2006/main">
            <a:off x="8533448" y="33313322"/>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128.2 ± 0.2</a:t>
            </a:r>
          </a:p>
        </p:txBody>
      </p:sp>
      <p:sp>
        <p:nvSpPr>
          <p:cNvPr id="256" name="CPU checked measurement 4">
            <a:extLst xmlns:a="http://schemas.openxmlformats.org/drawingml/2006/main">
              <a:ext uri="{FF2B5EF4-FFF2-40B4-BE49-F238E27FC236}">
                <a16:creationId xmlns:a16="http://schemas.microsoft.com/office/drawing/2014/main" id="{E2868D99-3190-4D73-9DF7-249672172F92}"/>
              </a:ext>
            </a:extLst>
          </p:cNvPr>
          <p:cNvSpPr>
            <a:spLocks xmlns:a="http://schemas.openxmlformats.org/drawingml/2006/main" noGrp="1"/>
          </p:cNvSpPr>
          <p:nvPr/>
        </p:nvSpPr>
        <p:spPr>
          <a:xfrm xmlns:a="http://schemas.openxmlformats.org/drawingml/2006/main">
            <a:off x="8533448" y="32840978"/>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149.9 ± 2.5</a:t>
            </a:r>
          </a:p>
        </p:txBody>
      </p:sp>
      <p:sp>
        <p:nvSpPr>
          <p:cNvPr id="257" name="CPU unchecked measurement 4">
            <a:extLst xmlns:a="http://schemas.openxmlformats.org/drawingml/2006/main">
              <a:ext uri="{FF2B5EF4-FFF2-40B4-BE49-F238E27FC236}">
                <a16:creationId xmlns:a16="http://schemas.microsoft.com/office/drawing/2014/main" id="{933EE398-4B39-4E55-AF5F-2B2696F62D69}"/>
              </a:ext>
            </a:extLst>
          </p:cNvPr>
          <p:cNvSpPr>
            <a:spLocks xmlns:a="http://schemas.openxmlformats.org/drawingml/2006/main" noGrp="1"/>
          </p:cNvSpPr>
          <p:nvPr/>
        </p:nvSpPr>
        <p:spPr>
          <a:xfrm xmlns:a="http://schemas.openxmlformats.org/drawingml/2006/main">
            <a:off x="8533448" y="3253624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170.5 ± 1.7</a:t>
            </a:r>
          </a:p>
        </p:txBody>
      </p:sp>
      <p:sp>
        <p:nvSpPr>
          <p:cNvPr id="258" name="CPU checked measurement 5">
            <a:extLst xmlns:a="http://schemas.openxmlformats.org/drawingml/2006/main">
              <a:ext uri="{FF2B5EF4-FFF2-40B4-BE49-F238E27FC236}">
                <a16:creationId xmlns:a16="http://schemas.microsoft.com/office/drawing/2014/main" id="{998B86EC-EBCF-4263-BBA7-495D087FEE8E}"/>
              </a:ext>
            </a:extLst>
          </p:cNvPr>
          <p:cNvSpPr>
            <a:spLocks xmlns:a="http://schemas.openxmlformats.org/drawingml/2006/main" noGrp="1"/>
          </p:cNvSpPr>
          <p:nvPr/>
        </p:nvSpPr>
        <p:spPr>
          <a:xfrm xmlns:a="http://schemas.openxmlformats.org/drawingml/2006/main">
            <a:off x="8533448" y="32063897"/>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151.3 ± 2.6</a:t>
            </a:r>
          </a:p>
        </p:txBody>
      </p:sp>
      <p:sp>
        <p:nvSpPr>
          <p:cNvPr id="259" name="CPU unchecked measurement 5">
            <a:extLst xmlns:a="http://schemas.openxmlformats.org/drawingml/2006/main">
              <a:ext uri="{FF2B5EF4-FFF2-40B4-BE49-F238E27FC236}">
                <a16:creationId xmlns:a16="http://schemas.microsoft.com/office/drawing/2014/main" id="{67FEBAD6-3CE6-40BE-B691-78F04EBE64AC}"/>
              </a:ext>
            </a:extLst>
          </p:cNvPr>
          <p:cNvSpPr>
            <a:spLocks xmlns:a="http://schemas.openxmlformats.org/drawingml/2006/main" noGrp="1"/>
          </p:cNvSpPr>
          <p:nvPr/>
        </p:nvSpPr>
        <p:spPr>
          <a:xfrm xmlns:a="http://schemas.openxmlformats.org/drawingml/2006/main">
            <a:off x="8533448" y="3175915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184.1 ± 8.1</a:t>
            </a:r>
          </a:p>
        </p:txBody>
      </p:sp>
      <p:sp>
        <p:nvSpPr>
          <p:cNvPr id="260" name="Backend checked measurement 0">
            <a:extLst xmlns:a="http://schemas.openxmlformats.org/drawingml/2006/main">
              <a:ext uri="{FF2B5EF4-FFF2-40B4-BE49-F238E27FC236}">
                <a16:creationId xmlns:a16="http://schemas.microsoft.com/office/drawing/2014/main" id="{9F1B0D10-3791-4464-98CA-7C7B04E10AEF}"/>
              </a:ext>
            </a:extLst>
          </p:cNvPr>
          <p:cNvSpPr>
            <a:spLocks xmlns:a="http://schemas.openxmlformats.org/drawingml/2006/main" noGrp="1"/>
          </p:cNvSpPr>
          <p:nvPr/>
        </p:nvSpPr>
        <p:spPr>
          <a:xfrm xmlns:a="http://schemas.openxmlformats.org/drawingml/2006/main">
            <a:off x="19296698" y="3590206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0.695 ± 0.001</a:t>
            </a:r>
          </a:p>
        </p:txBody>
      </p:sp>
      <p:sp>
        <p:nvSpPr>
          <p:cNvPr id="261" name="Backend unchecked measurement 0">
            <a:extLst xmlns:a="http://schemas.openxmlformats.org/drawingml/2006/main">
              <a:ext uri="{FF2B5EF4-FFF2-40B4-BE49-F238E27FC236}">
                <a16:creationId xmlns:a16="http://schemas.microsoft.com/office/drawing/2014/main" id="{DE452D36-2EBC-45C7-B86F-8735B06CFDC4}"/>
              </a:ext>
            </a:extLst>
          </p:cNvPr>
          <p:cNvSpPr>
            <a:spLocks xmlns:a="http://schemas.openxmlformats.org/drawingml/2006/main" noGrp="1"/>
          </p:cNvSpPr>
          <p:nvPr/>
        </p:nvSpPr>
        <p:spPr>
          <a:xfrm xmlns:a="http://schemas.openxmlformats.org/drawingml/2006/main">
            <a:off x="19296698" y="3553638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0.828 ± 0.001</a:t>
            </a:r>
          </a:p>
        </p:txBody>
      </p:sp>
      <p:sp>
        <p:nvSpPr>
          <p:cNvPr id="262" name="Backend checked measurement 1">
            <a:extLst xmlns:a="http://schemas.openxmlformats.org/drawingml/2006/main">
              <a:ext uri="{FF2B5EF4-FFF2-40B4-BE49-F238E27FC236}">
                <a16:creationId xmlns:a16="http://schemas.microsoft.com/office/drawing/2014/main" id="{70F9F04E-A9E0-493F-B3A2-14289FBF30DD}"/>
              </a:ext>
            </a:extLst>
          </p:cNvPr>
          <p:cNvSpPr>
            <a:spLocks xmlns:a="http://schemas.openxmlformats.org/drawingml/2006/main" noGrp="1"/>
          </p:cNvSpPr>
          <p:nvPr/>
        </p:nvSpPr>
        <p:spPr>
          <a:xfrm xmlns:a="http://schemas.openxmlformats.org/drawingml/2006/main">
            <a:off x="19296698" y="3496957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13.22 ± 0.01</a:t>
            </a:r>
          </a:p>
        </p:txBody>
      </p:sp>
      <p:sp>
        <p:nvSpPr>
          <p:cNvPr id="263" name="Backend unchecked measurement 1">
            <a:extLst xmlns:a="http://schemas.openxmlformats.org/drawingml/2006/main">
              <a:ext uri="{FF2B5EF4-FFF2-40B4-BE49-F238E27FC236}">
                <a16:creationId xmlns:a16="http://schemas.microsoft.com/office/drawing/2014/main" id="{9E81A90D-10F0-40D1-944B-CA01E9A459B8}"/>
              </a:ext>
            </a:extLst>
          </p:cNvPr>
          <p:cNvSpPr>
            <a:spLocks xmlns:a="http://schemas.openxmlformats.org/drawingml/2006/main" noGrp="1"/>
          </p:cNvSpPr>
          <p:nvPr/>
        </p:nvSpPr>
        <p:spPr>
          <a:xfrm xmlns:a="http://schemas.openxmlformats.org/drawingml/2006/main">
            <a:off x="19296698" y="3460388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15.95 ± 0.03</a:t>
            </a:r>
          </a:p>
        </p:txBody>
      </p:sp>
      <p:sp>
        <p:nvSpPr>
          <p:cNvPr id="264" name="Backend checked measurement 2">
            <a:extLst xmlns:a="http://schemas.openxmlformats.org/drawingml/2006/main">
              <a:ext uri="{FF2B5EF4-FFF2-40B4-BE49-F238E27FC236}">
                <a16:creationId xmlns:a16="http://schemas.microsoft.com/office/drawing/2014/main" id="{D4E5B6D7-3586-44F7-B345-C50C548BAF08}"/>
              </a:ext>
            </a:extLst>
          </p:cNvPr>
          <p:cNvSpPr>
            <a:spLocks xmlns:a="http://schemas.openxmlformats.org/drawingml/2006/main" noGrp="1"/>
          </p:cNvSpPr>
          <p:nvPr/>
        </p:nvSpPr>
        <p:spPr>
          <a:xfrm xmlns:a="http://schemas.openxmlformats.org/drawingml/2006/main">
            <a:off x="19296698" y="3403707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34.62 ± 0.01</a:t>
            </a:r>
          </a:p>
        </p:txBody>
      </p:sp>
      <p:sp>
        <p:nvSpPr>
          <p:cNvPr id="265" name="Backend unchecked measurement 2">
            <a:extLst xmlns:a="http://schemas.openxmlformats.org/drawingml/2006/main">
              <a:ext uri="{FF2B5EF4-FFF2-40B4-BE49-F238E27FC236}">
                <a16:creationId xmlns:a16="http://schemas.microsoft.com/office/drawing/2014/main" id="{D90CBB14-2B23-4D4F-AC92-03B39E7C7C7D}"/>
              </a:ext>
            </a:extLst>
          </p:cNvPr>
          <p:cNvSpPr>
            <a:spLocks xmlns:a="http://schemas.openxmlformats.org/drawingml/2006/main" noGrp="1"/>
          </p:cNvSpPr>
          <p:nvPr/>
        </p:nvSpPr>
        <p:spPr>
          <a:xfrm xmlns:a="http://schemas.openxmlformats.org/drawingml/2006/main">
            <a:off x="19296698" y="3367138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37.06 ± 0.08</a:t>
            </a:r>
          </a:p>
        </p:txBody>
      </p:sp>
      <p:sp>
        <p:nvSpPr>
          <p:cNvPr id="266" name="Backend checked measurement 3">
            <a:extLst xmlns:a="http://schemas.openxmlformats.org/drawingml/2006/main">
              <a:ext uri="{FF2B5EF4-FFF2-40B4-BE49-F238E27FC236}">
                <a16:creationId xmlns:a16="http://schemas.microsoft.com/office/drawing/2014/main" id="{BF90568D-BC09-4EEF-BE7B-903620718973}"/>
              </a:ext>
            </a:extLst>
          </p:cNvPr>
          <p:cNvSpPr>
            <a:spLocks xmlns:a="http://schemas.openxmlformats.org/drawingml/2006/main" noGrp="1"/>
          </p:cNvSpPr>
          <p:nvPr/>
        </p:nvSpPr>
        <p:spPr>
          <a:xfrm xmlns:a="http://schemas.openxmlformats.org/drawingml/2006/main">
            <a:off x="19296698" y="3310457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121.07 ± 0.53</a:t>
            </a:r>
          </a:p>
        </p:txBody>
      </p:sp>
      <p:sp>
        <p:nvSpPr>
          <p:cNvPr id="267" name="Backend unchecked measurement 3">
            <a:extLst xmlns:a="http://schemas.openxmlformats.org/drawingml/2006/main">
              <a:ext uri="{FF2B5EF4-FFF2-40B4-BE49-F238E27FC236}">
                <a16:creationId xmlns:a16="http://schemas.microsoft.com/office/drawing/2014/main" id="{E7A03418-898B-4E1D-A563-2EDA27EC60DA}"/>
              </a:ext>
            </a:extLst>
          </p:cNvPr>
          <p:cNvSpPr>
            <a:spLocks xmlns:a="http://schemas.openxmlformats.org/drawingml/2006/main" noGrp="1"/>
          </p:cNvSpPr>
          <p:nvPr/>
        </p:nvSpPr>
        <p:spPr>
          <a:xfrm xmlns:a="http://schemas.openxmlformats.org/drawingml/2006/main">
            <a:off x="19296698" y="3273889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141.65 ± 0.83</a:t>
            </a:r>
          </a:p>
        </p:txBody>
      </p:sp>
      <p:sp>
        <p:nvSpPr>
          <p:cNvPr id="268" name="Backend checked measurement 4">
            <a:extLst xmlns:a="http://schemas.openxmlformats.org/drawingml/2006/main">
              <a:ext uri="{FF2B5EF4-FFF2-40B4-BE49-F238E27FC236}">
                <a16:creationId xmlns:a16="http://schemas.microsoft.com/office/drawing/2014/main" id="{39FA75B1-6DE1-4603-9678-C07AE96EA50C}"/>
              </a:ext>
            </a:extLst>
          </p:cNvPr>
          <p:cNvSpPr>
            <a:spLocks xmlns:a="http://schemas.openxmlformats.org/drawingml/2006/main" noGrp="1"/>
          </p:cNvSpPr>
          <p:nvPr/>
        </p:nvSpPr>
        <p:spPr>
          <a:xfrm xmlns:a="http://schemas.openxmlformats.org/drawingml/2006/main">
            <a:off x="19296698" y="3217207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420.90 ± 2.29</a:t>
            </a:r>
          </a:p>
        </p:txBody>
      </p:sp>
      <p:sp>
        <p:nvSpPr>
          <p:cNvPr id="269" name="Backend unchecked measurement 4">
            <a:extLst xmlns:a="http://schemas.openxmlformats.org/drawingml/2006/main">
              <a:ext uri="{FF2B5EF4-FFF2-40B4-BE49-F238E27FC236}">
                <a16:creationId xmlns:a16="http://schemas.microsoft.com/office/drawing/2014/main" id="{8953C972-FDF4-408E-8074-4AD9043AFC7F}"/>
              </a:ext>
            </a:extLst>
          </p:cNvPr>
          <p:cNvSpPr>
            <a:spLocks xmlns:a="http://schemas.openxmlformats.org/drawingml/2006/main" noGrp="1"/>
          </p:cNvSpPr>
          <p:nvPr/>
        </p:nvSpPr>
        <p:spPr>
          <a:xfrm xmlns:a="http://schemas.openxmlformats.org/drawingml/2006/main">
            <a:off x="19296698" y="3180639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420.75 ± 2.28</a:t>
            </a:r>
          </a:p>
        </p:txBody>
      </p:sp>
      <p:sp>
        <p:nvSpPr>
          <p:cNvPr id="270" name="Worker abbreviation">
            <a:extLst xmlns:a="http://schemas.openxmlformats.org/drawingml/2006/main">
              <a:ext uri="{FF2B5EF4-FFF2-40B4-BE49-F238E27FC236}">
                <a16:creationId xmlns:a16="http://schemas.microsoft.com/office/drawing/2014/main" id="{5CA0B819-C9C8-4F50-97AA-8B5F26BEA544}"/>
              </a:ext>
            </a:extLst>
          </p:cNvPr>
          <p:cNvSpPr>
            <a:spLocks xmlns:a="http://schemas.openxmlformats.org/drawingml/2006/main" noGrp="1"/>
          </p:cNvSpPr>
          <p:nvPr/>
        </p:nvSpPr>
        <p:spPr>
          <a:xfrm xmlns:a="http://schemas.openxmlformats.org/drawingml/2006/main">
            <a:off x="11715750" y="36909375"/>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1" name="Future work">
            <a:extLst xmlns:a="http://schemas.openxmlformats.org/drawingml/2006/main">
              <a:ext uri="{FF2B5EF4-FFF2-40B4-BE49-F238E27FC236}">
                <a16:creationId xmlns:a16="http://schemas.microsoft.com/office/drawing/2014/main" id="{D130C5A7-F428-495E-A5FF-511358A97CEE}"/>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2" name="Release status">
            <a:extLst xmlns:a="http://schemas.openxmlformats.org/drawingml/2006/main">
              <a:ext uri="{FF2B5EF4-FFF2-40B4-BE49-F238E27FC236}">
                <a16:creationId xmlns:a16="http://schemas.microsoft.com/office/drawing/2014/main" id="{A6BC2E8A-9D4C-4F61-BB59-21380A0EE3CF}"/>
              </a:ext>
            </a:extLst>
          </p:cNvPr>
          <p:cNvSpPr>
            <a:spLocks xmlns:a="http://schemas.openxmlformats.org/drawingml/2006/main" noGrp="1"/>
          </p:cNvSpPr>
          <p:nvPr/>
        </p:nvSpPr>
        <p:spPr>
          <a:xfrm xmlns:a="http://schemas.openxmlformats.org/drawingml/2006/main">
            <a:off x="952500" y="38719125"/>
            <a:ext cx="20716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73" name="Timeline segment 0">
            <a:extLst xmlns:a="http://schemas.openxmlformats.org/drawingml/2006/main">
              <a:ext uri="{FF2B5EF4-FFF2-40B4-BE49-F238E27FC236}">
                <a16:creationId xmlns:a16="http://schemas.microsoft.com/office/drawing/2014/main" id="{49B78BB1-DF92-4E11-8E62-FA70A3610CC1}"/>
              </a:ext>
            </a:extLst>
          </p:cNvPr>
          <p:cNvSpPr>
            <a:spLocks xmlns:a="http://schemas.openxmlformats.org/drawingml/2006/main" noGrp="1"/>
          </p:cNvSpPr>
          <p:nvPr/>
        </p:nvSpPr>
        <p:spPr>
          <a:xfrm xmlns:a="http://schemas.openxmlformats.org/drawingml/2006/main">
            <a:off x="2247305" y="401002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4" name="Timeline segment 1">
            <a:extLst xmlns:a="http://schemas.openxmlformats.org/drawingml/2006/main">
              <a:ext uri="{FF2B5EF4-FFF2-40B4-BE49-F238E27FC236}">
                <a16:creationId xmlns:a16="http://schemas.microsoft.com/office/drawing/2014/main" id="{01DAD033-0531-4E05-966A-E5A0AB7A26C9}"/>
              </a:ext>
            </a:extLst>
          </p:cNvPr>
          <p:cNvSpPr>
            <a:spLocks xmlns:a="http://schemas.openxmlformats.org/drawingml/2006/main" noGrp="1"/>
          </p:cNvSpPr>
          <p:nvPr/>
        </p:nvSpPr>
        <p:spPr>
          <a:xfrm xmlns:a="http://schemas.openxmlformats.org/drawingml/2006/main">
            <a:off x="4836914" y="401002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5" name="Timeline segment 2">
            <a:extLst xmlns:a="http://schemas.openxmlformats.org/drawingml/2006/main">
              <a:ext uri="{FF2B5EF4-FFF2-40B4-BE49-F238E27FC236}">
                <a16:creationId xmlns:a16="http://schemas.microsoft.com/office/drawing/2014/main" id="{88D09120-A384-467C-BD09-98F595448F42}"/>
              </a:ext>
            </a:extLst>
          </p:cNvPr>
          <p:cNvSpPr>
            <a:spLocks xmlns:a="http://schemas.openxmlformats.org/drawingml/2006/main" noGrp="1"/>
          </p:cNvSpPr>
          <p:nvPr/>
        </p:nvSpPr>
        <p:spPr>
          <a:xfrm xmlns:a="http://schemas.openxmlformats.org/drawingml/2006/main">
            <a:off x="7426523" y="401002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3">
            <a:extLst xmlns:a="http://schemas.openxmlformats.org/drawingml/2006/main">
              <a:ext uri="{FF2B5EF4-FFF2-40B4-BE49-F238E27FC236}">
                <a16:creationId xmlns:a16="http://schemas.microsoft.com/office/drawing/2014/main" id="{CBED6521-754F-4F68-ADEC-B65003A67A7B}"/>
              </a:ext>
            </a:extLst>
          </p:cNvPr>
          <p:cNvSpPr>
            <a:spLocks xmlns:a="http://schemas.openxmlformats.org/drawingml/2006/main" noGrp="1"/>
          </p:cNvSpPr>
          <p:nvPr/>
        </p:nvSpPr>
        <p:spPr>
          <a:xfrm xmlns:a="http://schemas.openxmlformats.org/drawingml/2006/main">
            <a:off x="10016133" y="401002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7" name="Timeline segment 4">
            <a:extLst xmlns:a="http://schemas.openxmlformats.org/drawingml/2006/main">
              <a:ext uri="{FF2B5EF4-FFF2-40B4-BE49-F238E27FC236}">
                <a16:creationId xmlns:a16="http://schemas.microsoft.com/office/drawing/2014/main" id="{EAC5CE16-BD52-451B-A1FC-662E657BAFEF}"/>
              </a:ext>
            </a:extLst>
          </p:cNvPr>
          <p:cNvSpPr>
            <a:spLocks xmlns:a="http://schemas.openxmlformats.org/drawingml/2006/main" noGrp="1"/>
          </p:cNvSpPr>
          <p:nvPr/>
        </p:nvSpPr>
        <p:spPr>
          <a:xfrm xmlns:a="http://schemas.openxmlformats.org/drawingml/2006/main">
            <a:off x="12605742" y="4010025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78" name="Timeline segment 5">
            <a:extLst xmlns:a="http://schemas.openxmlformats.org/drawingml/2006/main">
              <a:ext uri="{FF2B5EF4-FFF2-40B4-BE49-F238E27FC236}">
                <a16:creationId xmlns:a16="http://schemas.microsoft.com/office/drawing/2014/main" id="{7F72E627-1B7B-4DA9-8444-84092DA710CD}"/>
              </a:ext>
            </a:extLst>
          </p:cNvPr>
          <p:cNvSpPr>
            <a:spLocks xmlns:a="http://schemas.openxmlformats.org/drawingml/2006/main" noGrp="1"/>
          </p:cNvSpPr>
          <p:nvPr/>
        </p:nvSpPr>
        <p:spPr>
          <a:xfrm xmlns:a="http://schemas.openxmlformats.org/drawingml/2006/main">
            <a:off x="15195352" y="401002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79" name="Timeline segment 6">
            <a:extLst xmlns:a="http://schemas.openxmlformats.org/drawingml/2006/main">
              <a:ext uri="{FF2B5EF4-FFF2-40B4-BE49-F238E27FC236}">
                <a16:creationId xmlns:a16="http://schemas.microsoft.com/office/drawing/2014/main" id="{8EE56018-2DE8-4D41-8999-930F3E486898}"/>
              </a:ext>
            </a:extLst>
          </p:cNvPr>
          <p:cNvSpPr>
            <a:spLocks xmlns:a="http://schemas.openxmlformats.org/drawingml/2006/main" noGrp="1"/>
          </p:cNvSpPr>
          <p:nvPr/>
        </p:nvSpPr>
        <p:spPr>
          <a:xfrm xmlns:a="http://schemas.openxmlformats.org/drawingml/2006/main">
            <a:off x="17784961" y="401002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80" name="Timeline milestone 0">
            <a:extLst xmlns:a="http://schemas.openxmlformats.org/drawingml/2006/main">
              <a:ext uri="{FF2B5EF4-FFF2-40B4-BE49-F238E27FC236}">
                <a16:creationId xmlns:a16="http://schemas.microsoft.com/office/drawing/2014/main" id="{78D4BE79-99A0-4C8A-BFF5-519D7A44889E}"/>
              </a:ext>
            </a:extLst>
          </p:cNvPr>
          <p:cNvSpPr>
            <a:spLocks xmlns:a="http://schemas.openxmlformats.org/drawingml/2006/main" noGrp="1"/>
          </p:cNvSpPr>
          <p:nvPr/>
        </p:nvSpPr>
        <p:spPr>
          <a:xfrm xmlns:a="http://schemas.openxmlformats.org/drawingml/2006/main">
            <a:off x="2075855"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1" name="Timeline version 0">
            <a:extLst xmlns:a="http://schemas.openxmlformats.org/drawingml/2006/main">
              <a:ext uri="{FF2B5EF4-FFF2-40B4-BE49-F238E27FC236}">
                <a16:creationId xmlns:a16="http://schemas.microsoft.com/office/drawing/2014/main" id="{FE008C41-1471-4273-892B-DCA4F236A2D2}"/>
              </a:ext>
            </a:extLst>
          </p:cNvPr>
          <p:cNvSpPr>
            <a:spLocks xmlns:a="http://schemas.openxmlformats.org/drawingml/2006/main" noGrp="1"/>
          </p:cNvSpPr>
          <p:nvPr/>
        </p:nvSpPr>
        <p:spPr>
          <a:xfrm xmlns:a="http://schemas.openxmlformats.org/drawingml/2006/main">
            <a:off x="1028700"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2" name="Timeline description 0">
            <a:extLst xmlns:a="http://schemas.openxmlformats.org/drawingml/2006/main">
              <a:ext uri="{FF2B5EF4-FFF2-40B4-BE49-F238E27FC236}">
                <a16:creationId xmlns:a16="http://schemas.microsoft.com/office/drawing/2014/main" id="{F815D55B-7309-44F3-814D-F903B63C0CDE}"/>
              </a:ext>
            </a:extLst>
          </p:cNvPr>
          <p:cNvSpPr>
            <a:spLocks xmlns:a="http://schemas.openxmlformats.org/drawingml/2006/main" noGrp="1"/>
          </p:cNvSpPr>
          <p:nvPr/>
        </p:nvSpPr>
        <p:spPr>
          <a:xfrm xmlns:a="http://schemas.openxmlformats.org/drawingml/2006/main">
            <a:off x="1028700"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3" name="Timeline date 0">
            <a:extLst xmlns:a="http://schemas.openxmlformats.org/drawingml/2006/main">
              <a:ext uri="{FF2B5EF4-FFF2-40B4-BE49-F238E27FC236}">
                <a16:creationId xmlns:a16="http://schemas.microsoft.com/office/drawing/2014/main" id="{9C4E38E0-E4F8-40EC-82A9-1436D3AEC456}"/>
              </a:ext>
            </a:extLst>
          </p:cNvPr>
          <p:cNvSpPr>
            <a:spLocks xmlns:a="http://schemas.openxmlformats.org/drawingml/2006/main" noGrp="1"/>
          </p:cNvSpPr>
          <p:nvPr/>
        </p:nvSpPr>
        <p:spPr>
          <a:xfrm xmlns:a="http://schemas.openxmlformats.org/drawingml/2006/main">
            <a:off x="1028700"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4" name="Timeline milestone 1">
            <a:extLst xmlns:a="http://schemas.openxmlformats.org/drawingml/2006/main">
              <a:ext uri="{FF2B5EF4-FFF2-40B4-BE49-F238E27FC236}">
                <a16:creationId xmlns:a16="http://schemas.microsoft.com/office/drawing/2014/main" id="{42C8CEDF-5F36-4FF2-AB5B-B9F34A79D594}"/>
              </a:ext>
            </a:extLst>
          </p:cNvPr>
          <p:cNvSpPr>
            <a:spLocks xmlns:a="http://schemas.openxmlformats.org/drawingml/2006/main" noGrp="1"/>
          </p:cNvSpPr>
          <p:nvPr/>
        </p:nvSpPr>
        <p:spPr>
          <a:xfrm xmlns:a="http://schemas.openxmlformats.org/drawingml/2006/main">
            <a:off x="4665464"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5" name="Timeline version 1">
            <a:extLst xmlns:a="http://schemas.openxmlformats.org/drawingml/2006/main">
              <a:ext uri="{FF2B5EF4-FFF2-40B4-BE49-F238E27FC236}">
                <a16:creationId xmlns:a16="http://schemas.microsoft.com/office/drawing/2014/main" id="{702CE0AB-F668-4D93-A23C-FCC99F8A38CC}"/>
              </a:ext>
            </a:extLst>
          </p:cNvPr>
          <p:cNvSpPr>
            <a:spLocks xmlns:a="http://schemas.openxmlformats.org/drawingml/2006/main" noGrp="1"/>
          </p:cNvSpPr>
          <p:nvPr/>
        </p:nvSpPr>
        <p:spPr>
          <a:xfrm xmlns:a="http://schemas.openxmlformats.org/drawingml/2006/main">
            <a:off x="3618309"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6" name="Timeline description 1">
            <a:extLst xmlns:a="http://schemas.openxmlformats.org/drawingml/2006/main">
              <a:ext uri="{FF2B5EF4-FFF2-40B4-BE49-F238E27FC236}">
                <a16:creationId xmlns:a16="http://schemas.microsoft.com/office/drawing/2014/main" id="{CBE9ADBE-5CAE-4A09-8B6E-4B0ED4F3FDDF}"/>
              </a:ext>
            </a:extLst>
          </p:cNvPr>
          <p:cNvSpPr>
            <a:spLocks xmlns:a="http://schemas.openxmlformats.org/drawingml/2006/main" noGrp="1"/>
          </p:cNvSpPr>
          <p:nvPr/>
        </p:nvSpPr>
        <p:spPr>
          <a:xfrm xmlns:a="http://schemas.openxmlformats.org/drawingml/2006/main">
            <a:off x="3618309"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7" name="Timeline date 1">
            <a:extLst xmlns:a="http://schemas.openxmlformats.org/drawingml/2006/main">
              <a:ext uri="{FF2B5EF4-FFF2-40B4-BE49-F238E27FC236}">
                <a16:creationId xmlns:a16="http://schemas.microsoft.com/office/drawing/2014/main" id="{32541C36-09F6-42A3-A4BB-D24BBAE72CD1}"/>
              </a:ext>
            </a:extLst>
          </p:cNvPr>
          <p:cNvSpPr>
            <a:spLocks xmlns:a="http://schemas.openxmlformats.org/drawingml/2006/main" noGrp="1"/>
          </p:cNvSpPr>
          <p:nvPr/>
        </p:nvSpPr>
        <p:spPr>
          <a:xfrm xmlns:a="http://schemas.openxmlformats.org/drawingml/2006/main">
            <a:off x="3618309"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88" name="Timeline milestone 2">
            <a:extLst xmlns:a="http://schemas.openxmlformats.org/drawingml/2006/main">
              <a:ext uri="{FF2B5EF4-FFF2-40B4-BE49-F238E27FC236}">
                <a16:creationId xmlns:a16="http://schemas.microsoft.com/office/drawing/2014/main" id="{A064226E-84E8-4C75-9D49-9D862E998A64}"/>
              </a:ext>
            </a:extLst>
          </p:cNvPr>
          <p:cNvSpPr>
            <a:spLocks xmlns:a="http://schemas.openxmlformats.org/drawingml/2006/main" noGrp="1"/>
          </p:cNvSpPr>
          <p:nvPr/>
        </p:nvSpPr>
        <p:spPr>
          <a:xfrm xmlns:a="http://schemas.openxmlformats.org/drawingml/2006/main">
            <a:off x="7255073"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9" name="Timeline version 2">
            <a:extLst xmlns:a="http://schemas.openxmlformats.org/drawingml/2006/main">
              <a:ext uri="{FF2B5EF4-FFF2-40B4-BE49-F238E27FC236}">
                <a16:creationId xmlns:a16="http://schemas.microsoft.com/office/drawing/2014/main" id="{EE874469-CE6B-4049-A595-5ADA4003AB5E}"/>
              </a:ext>
            </a:extLst>
          </p:cNvPr>
          <p:cNvSpPr>
            <a:spLocks xmlns:a="http://schemas.openxmlformats.org/drawingml/2006/main" noGrp="1"/>
          </p:cNvSpPr>
          <p:nvPr/>
        </p:nvSpPr>
        <p:spPr>
          <a:xfrm xmlns:a="http://schemas.openxmlformats.org/drawingml/2006/main">
            <a:off x="6207919"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90" name="Timeline description 2">
            <a:extLst xmlns:a="http://schemas.openxmlformats.org/drawingml/2006/main">
              <a:ext uri="{FF2B5EF4-FFF2-40B4-BE49-F238E27FC236}">
                <a16:creationId xmlns:a16="http://schemas.microsoft.com/office/drawing/2014/main" id="{AE9AD3E2-3A96-4268-8816-B8C8B08A051C}"/>
              </a:ext>
            </a:extLst>
          </p:cNvPr>
          <p:cNvSpPr>
            <a:spLocks xmlns:a="http://schemas.openxmlformats.org/drawingml/2006/main" noGrp="1"/>
          </p:cNvSpPr>
          <p:nvPr/>
        </p:nvSpPr>
        <p:spPr>
          <a:xfrm xmlns:a="http://schemas.openxmlformats.org/drawingml/2006/main">
            <a:off x="6207919"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1" name="Timeline date 2">
            <a:extLst xmlns:a="http://schemas.openxmlformats.org/drawingml/2006/main">
              <a:ext uri="{FF2B5EF4-FFF2-40B4-BE49-F238E27FC236}">
                <a16:creationId xmlns:a16="http://schemas.microsoft.com/office/drawing/2014/main" id="{D52671F8-A7E7-4566-9D71-388101BAADB4}"/>
              </a:ext>
            </a:extLst>
          </p:cNvPr>
          <p:cNvSpPr>
            <a:spLocks xmlns:a="http://schemas.openxmlformats.org/drawingml/2006/main" noGrp="1"/>
          </p:cNvSpPr>
          <p:nvPr/>
        </p:nvSpPr>
        <p:spPr>
          <a:xfrm xmlns:a="http://schemas.openxmlformats.org/drawingml/2006/main">
            <a:off x="6207919"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2" name="Timeline milestone 3">
            <a:extLst xmlns:a="http://schemas.openxmlformats.org/drawingml/2006/main">
              <a:ext uri="{FF2B5EF4-FFF2-40B4-BE49-F238E27FC236}">
                <a16:creationId xmlns:a16="http://schemas.microsoft.com/office/drawing/2014/main" id="{8E2E8303-DB04-4013-8DD3-254F41A93ABC}"/>
              </a:ext>
            </a:extLst>
          </p:cNvPr>
          <p:cNvSpPr>
            <a:spLocks xmlns:a="http://schemas.openxmlformats.org/drawingml/2006/main" noGrp="1"/>
          </p:cNvSpPr>
          <p:nvPr/>
        </p:nvSpPr>
        <p:spPr>
          <a:xfrm xmlns:a="http://schemas.openxmlformats.org/drawingml/2006/main">
            <a:off x="9844683"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3" name="Timeline version 3">
            <a:extLst xmlns:a="http://schemas.openxmlformats.org/drawingml/2006/main">
              <a:ext uri="{FF2B5EF4-FFF2-40B4-BE49-F238E27FC236}">
                <a16:creationId xmlns:a16="http://schemas.microsoft.com/office/drawing/2014/main" id="{4C3FE22A-A21C-4D22-B1E9-14920221E220}"/>
              </a:ext>
            </a:extLst>
          </p:cNvPr>
          <p:cNvSpPr>
            <a:spLocks xmlns:a="http://schemas.openxmlformats.org/drawingml/2006/main" noGrp="1"/>
          </p:cNvSpPr>
          <p:nvPr/>
        </p:nvSpPr>
        <p:spPr>
          <a:xfrm xmlns:a="http://schemas.openxmlformats.org/drawingml/2006/main">
            <a:off x="8797528"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4" name="Timeline description 3">
            <a:extLst xmlns:a="http://schemas.openxmlformats.org/drawingml/2006/main">
              <a:ext uri="{FF2B5EF4-FFF2-40B4-BE49-F238E27FC236}">
                <a16:creationId xmlns:a16="http://schemas.microsoft.com/office/drawing/2014/main" id="{91D414A4-AA32-40A8-A143-1DBCD5A220FF}"/>
              </a:ext>
            </a:extLst>
          </p:cNvPr>
          <p:cNvSpPr>
            <a:spLocks xmlns:a="http://schemas.openxmlformats.org/drawingml/2006/main" noGrp="1"/>
          </p:cNvSpPr>
          <p:nvPr/>
        </p:nvSpPr>
        <p:spPr>
          <a:xfrm xmlns:a="http://schemas.openxmlformats.org/drawingml/2006/main">
            <a:off x="8797528"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5" name="Timeline date 3">
            <a:extLst xmlns:a="http://schemas.openxmlformats.org/drawingml/2006/main">
              <a:ext uri="{FF2B5EF4-FFF2-40B4-BE49-F238E27FC236}">
                <a16:creationId xmlns:a16="http://schemas.microsoft.com/office/drawing/2014/main" id="{90EF0678-5875-4167-B8EC-1E4525CE7DA5}"/>
              </a:ext>
            </a:extLst>
          </p:cNvPr>
          <p:cNvSpPr>
            <a:spLocks xmlns:a="http://schemas.openxmlformats.org/drawingml/2006/main" noGrp="1"/>
          </p:cNvSpPr>
          <p:nvPr/>
        </p:nvSpPr>
        <p:spPr>
          <a:xfrm xmlns:a="http://schemas.openxmlformats.org/drawingml/2006/main">
            <a:off x="8797528"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6" name="Timeline milestone 4">
            <a:extLst xmlns:a="http://schemas.openxmlformats.org/drawingml/2006/main">
              <a:ext uri="{FF2B5EF4-FFF2-40B4-BE49-F238E27FC236}">
                <a16:creationId xmlns:a16="http://schemas.microsoft.com/office/drawing/2014/main" id="{E7FEEEB4-9101-4BB5-A691-F61D01C7593E}"/>
              </a:ext>
            </a:extLst>
          </p:cNvPr>
          <p:cNvSpPr>
            <a:spLocks xmlns:a="http://schemas.openxmlformats.org/drawingml/2006/main" noGrp="1"/>
          </p:cNvSpPr>
          <p:nvPr/>
        </p:nvSpPr>
        <p:spPr>
          <a:xfrm xmlns:a="http://schemas.openxmlformats.org/drawingml/2006/main">
            <a:off x="12434292"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7" name="Timeline version 4">
            <a:extLst xmlns:a="http://schemas.openxmlformats.org/drawingml/2006/main">
              <a:ext uri="{FF2B5EF4-FFF2-40B4-BE49-F238E27FC236}">
                <a16:creationId xmlns:a16="http://schemas.microsoft.com/office/drawing/2014/main" id="{882275DB-91EA-4B03-84C0-891D5A4A4850}"/>
              </a:ext>
            </a:extLst>
          </p:cNvPr>
          <p:cNvSpPr>
            <a:spLocks xmlns:a="http://schemas.openxmlformats.org/drawingml/2006/main" noGrp="1"/>
          </p:cNvSpPr>
          <p:nvPr/>
        </p:nvSpPr>
        <p:spPr>
          <a:xfrm xmlns:a="http://schemas.openxmlformats.org/drawingml/2006/main">
            <a:off x="11387138"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298" name="Timeline description 4">
            <a:extLst xmlns:a="http://schemas.openxmlformats.org/drawingml/2006/main">
              <a:ext uri="{FF2B5EF4-FFF2-40B4-BE49-F238E27FC236}">
                <a16:creationId xmlns:a16="http://schemas.microsoft.com/office/drawing/2014/main" id="{4FE703C9-6DC9-4F4C-8144-EC469EA9ADC5}"/>
              </a:ext>
            </a:extLst>
          </p:cNvPr>
          <p:cNvSpPr>
            <a:spLocks xmlns:a="http://schemas.openxmlformats.org/drawingml/2006/main" noGrp="1"/>
          </p:cNvSpPr>
          <p:nvPr/>
        </p:nvSpPr>
        <p:spPr>
          <a:xfrm xmlns:a="http://schemas.openxmlformats.org/drawingml/2006/main">
            <a:off x="11387138"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9" name="Timeline date 4">
            <a:extLst xmlns:a="http://schemas.openxmlformats.org/drawingml/2006/main">
              <a:ext uri="{FF2B5EF4-FFF2-40B4-BE49-F238E27FC236}">
                <a16:creationId xmlns:a16="http://schemas.microsoft.com/office/drawing/2014/main" id="{77BABF64-CA70-4E55-A10C-EE78BE180C92}"/>
              </a:ext>
            </a:extLst>
          </p:cNvPr>
          <p:cNvSpPr>
            <a:spLocks xmlns:a="http://schemas.openxmlformats.org/drawingml/2006/main" noGrp="1"/>
          </p:cNvSpPr>
          <p:nvPr/>
        </p:nvSpPr>
        <p:spPr>
          <a:xfrm xmlns:a="http://schemas.openxmlformats.org/drawingml/2006/main">
            <a:off x="11387138"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300" name="Timeline milestone 5">
            <a:extLst xmlns:a="http://schemas.openxmlformats.org/drawingml/2006/main">
              <a:ext uri="{FF2B5EF4-FFF2-40B4-BE49-F238E27FC236}">
                <a16:creationId xmlns:a16="http://schemas.microsoft.com/office/drawing/2014/main" id="{6341963E-A3EB-4324-93F6-F0C99450AB4B}"/>
              </a:ext>
            </a:extLst>
          </p:cNvPr>
          <p:cNvSpPr>
            <a:spLocks xmlns:a="http://schemas.openxmlformats.org/drawingml/2006/main" noGrp="1"/>
          </p:cNvSpPr>
          <p:nvPr/>
        </p:nvSpPr>
        <p:spPr>
          <a:xfrm xmlns:a="http://schemas.openxmlformats.org/drawingml/2006/main">
            <a:off x="15023902" y="399288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1" name="Current runtime milestone">
            <a:extLst xmlns:a="http://schemas.openxmlformats.org/drawingml/2006/main">
              <a:ext uri="{FF2B5EF4-FFF2-40B4-BE49-F238E27FC236}">
                <a16:creationId xmlns:a16="http://schemas.microsoft.com/office/drawing/2014/main" id="{0D0EC3C2-F5ED-4585-BE55-BB05582107E1}"/>
              </a:ext>
            </a:extLst>
          </p:cNvPr>
          <p:cNvSpPr>
            <a:spLocks xmlns:a="http://schemas.openxmlformats.org/drawingml/2006/main" noGrp="1"/>
          </p:cNvSpPr>
          <p:nvPr/>
        </p:nvSpPr>
        <p:spPr>
          <a:xfrm xmlns:a="http://schemas.openxmlformats.org/drawingml/2006/main">
            <a:off x="15138202" y="4004310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2" name="Timeline version 5">
            <a:extLst xmlns:a="http://schemas.openxmlformats.org/drawingml/2006/main">
              <a:ext uri="{FF2B5EF4-FFF2-40B4-BE49-F238E27FC236}">
                <a16:creationId xmlns:a16="http://schemas.microsoft.com/office/drawing/2014/main" id="{522F03D7-8801-4710-B2A5-DDF6F3031442}"/>
              </a:ext>
            </a:extLst>
          </p:cNvPr>
          <p:cNvSpPr>
            <a:spLocks xmlns:a="http://schemas.openxmlformats.org/drawingml/2006/main" noGrp="1"/>
          </p:cNvSpPr>
          <p:nvPr/>
        </p:nvSpPr>
        <p:spPr>
          <a:xfrm xmlns:a="http://schemas.openxmlformats.org/drawingml/2006/main">
            <a:off x="13976747"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3" name="Timeline description 5">
            <a:extLst xmlns:a="http://schemas.openxmlformats.org/drawingml/2006/main">
              <a:ext uri="{FF2B5EF4-FFF2-40B4-BE49-F238E27FC236}">
                <a16:creationId xmlns:a16="http://schemas.microsoft.com/office/drawing/2014/main" id="{30650694-E2FA-4134-B4E1-A91250044E5C}"/>
              </a:ext>
            </a:extLst>
          </p:cNvPr>
          <p:cNvSpPr>
            <a:spLocks xmlns:a="http://schemas.openxmlformats.org/drawingml/2006/main" noGrp="1"/>
          </p:cNvSpPr>
          <p:nvPr/>
        </p:nvSpPr>
        <p:spPr>
          <a:xfrm xmlns:a="http://schemas.openxmlformats.org/drawingml/2006/main">
            <a:off x="13976747"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4" name="Timeline date 5">
            <a:extLst xmlns:a="http://schemas.openxmlformats.org/drawingml/2006/main">
              <a:ext uri="{FF2B5EF4-FFF2-40B4-BE49-F238E27FC236}">
                <a16:creationId xmlns:a16="http://schemas.microsoft.com/office/drawing/2014/main" id="{7F20EF27-6557-47E5-A3D9-4D4A0789FFC6}"/>
              </a:ext>
            </a:extLst>
          </p:cNvPr>
          <p:cNvSpPr>
            <a:spLocks xmlns:a="http://schemas.openxmlformats.org/drawingml/2006/main" noGrp="1"/>
          </p:cNvSpPr>
          <p:nvPr/>
        </p:nvSpPr>
        <p:spPr>
          <a:xfrm xmlns:a="http://schemas.openxmlformats.org/drawingml/2006/main">
            <a:off x="13976747"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5" name="Timeline milestone 6">
            <a:extLst xmlns:a="http://schemas.openxmlformats.org/drawingml/2006/main">
              <a:ext uri="{FF2B5EF4-FFF2-40B4-BE49-F238E27FC236}">
                <a16:creationId xmlns:a16="http://schemas.microsoft.com/office/drawing/2014/main" id="{BF941454-512E-4C7C-B4C5-4705604E4571}"/>
              </a:ext>
            </a:extLst>
          </p:cNvPr>
          <p:cNvSpPr>
            <a:spLocks xmlns:a="http://schemas.openxmlformats.org/drawingml/2006/main" noGrp="1"/>
          </p:cNvSpPr>
          <p:nvPr/>
        </p:nvSpPr>
        <p:spPr>
          <a:xfrm xmlns:a="http://schemas.openxmlformats.org/drawingml/2006/main">
            <a:off x="17613511" y="399288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6" name="Timeline version 6">
            <a:extLst xmlns:a="http://schemas.openxmlformats.org/drawingml/2006/main">
              <a:ext uri="{FF2B5EF4-FFF2-40B4-BE49-F238E27FC236}">
                <a16:creationId xmlns:a16="http://schemas.microsoft.com/office/drawing/2014/main" id="{BA8464D8-1A02-457E-AD4A-3385D267BE07}"/>
              </a:ext>
            </a:extLst>
          </p:cNvPr>
          <p:cNvSpPr>
            <a:spLocks xmlns:a="http://schemas.openxmlformats.org/drawingml/2006/main" noGrp="1"/>
          </p:cNvSpPr>
          <p:nvPr/>
        </p:nvSpPr>
        <p:spPr>
          <a:xfrm xmlns:a="http://schemas.openxmlformats.org/drawingml/2006/main">
            <a:off x="16566356"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7" name="Timeline description 6">
            <a:extLst xmlns:a="http://schemas.openxmlformats.org/drawingml/2006/main">
              <a:ext uri="{FF2B5EF4-FFF2-40B4-BE49-F238E27FC236}">
                <a16:creationId xmlns:a16="http://schemas.microsoft.com/office/drawing/2014/main" id="{FA58D30B-3C9F-4D5A-9D91-DD5651163E4E}"/>
              </a:ext>
            </a:extLst>
          </p:cNvPr>
          <p:cNvSpPr>
            <a:spLocks xmlns:a="http://schemas.openxmlformats.org/drawingml/2006/main" noGrp="1"/>
          </p:cNvSpPr>
          <p:nvPr/>
        </p:nvSpPr>
        <p:spPr>
          <a:xfrm xmlns:a="http://schemas.openxmlformats.org/drawingml/2006/main">
            <a:off x="16566356"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08" name="Timeline date 6">
            <a:extLst xmlns:a="http://schemas.openxmlformats.org/drawingml/2006/main">
              <a:ext uri="{FF2B5EF4-FFF2-40B4-BE49-F238E27FC236}">
                <a16:creationId xmlns:a16="http://schemas.microsoft.com/office/drawing/2014/main" id="{E22E3891-0005-4BCB-9578-3C8021F6325A}"/>
              </a:ext>
            </a:extLst>
          </p:cNvPr>
          <p:cNvSpPr>
            <a:spLocks xmlns:a="http://schemas.openxmlformats.org/drawingml/2006/main" noGrp="1"/>
          </p:cNvSpPr>
          <p:nvPr/>
        </p:nvSpPr>
        <p:spPr>
          <a:xfrm xmlns:a="http://schemas.openxmlformats.org/drawingml/2006/main">
            <a:off x="16566356"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09" name="Timeline milestone 7">
            <a:extLst xmlns:a="http://schemas.openxmlformats.org/drawingml/2006/main">
              <a:ext uri="{FF2B5EF4-FFF2-40B4-BE49-F238E27FC236}">
                <a16:creationId xmlns:a16="http://schemas.microsoft.com/office/drawing/2014/main" id="{1115AD4C-44D2-4256-918F-BB71840EF9BF}"/>
              </a:ext>
            </a:extLst>
          </p:cNvPr>
          <p:cNvSpPr>
            <a:spLocks xmlns:a="http://schemas.openxmlformats.org/drawingml/2006/main" noGrp="1"/>
          </p:cNvSpPr>
          <p:nvPr/>
        </p:nvSpPr>
        <p:spPr>
          <a:xfrm xmlns:a="http://schemas.openxmlformats.org/drawingml/2006/main">
            <a:off x="20203120" y="399288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10" name="Timeline version 7">
            <a:extLst xmlns:a="http://schemas.openxmlformats.org/drawingml/2006/main">
              <a:ext uri="{FF2B5EF4-FFF2-40B4-BE49-F238E27FC236}">
                <a16:creationId xmlns:a16="http://schemas.microsoft.com/office/drawing/2014/main" id="{BB518CE6-21A9-4034-B768-F9767089A8CE}"/>
              </a:ext>
            </a:extLst>
          </p:cNvPr>
          <p:cNvSpPr>
            <a:spLocks xmlns:a="http://schemas.openxmlformats.org/drawingml/2006/main" noGrp="1"/>
          </p:cNvSpPr>
          <p:nvPr/>
        </p:nvSpPr>
        <p:spPr>
          <a:xfrm xmlns:a="http://schemas.openxmlformats.org/drawingml/2006/main">
            <a:off x="19155966"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1" name="Timeline description 7">
            <a:extLst xmlns:a="http://schemas.openxmlformats.org/drawingml/2006/main">
              <a:ext uri="{FF2B5EF4-FFF2-40B4-BE49-F238E27FC236}">
                <a16:creationId xmlns:a16="http://schemas.microsoft.com/office/drawing/2014/main" id="{FAC9BD85-855C-4709-BA77-A38AD2240029}"/>
              </a:ext>
            </a:extLst>
          </p:cNvPr>
          <p:cNvSpPr>
            <a:spLocks xmlns:a="http://schemas.openxmlformats.org/drawingml/2006/main" noGrp="1"/>
          </p:cNvSpPr>
          <p:nvPr/>
        </p:nvSpPr>
        <p:spPr>
          <a:xfrm xmlns:a="http://schemas.openxmlformats.org/drawingml/2006/main">
            <a:off x="19155966"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2" name="Timeline date 7">
            <a:extLst xmlns:a="http://schemas.openxmlformats.org/drawingml/2006/main">
              <a:ext uri="{FF2B5EF4-FFF2-40B4-BE49-F238E27FC236}">
                <a16:creationId xmlns:a16="http://schemas.microsoft.com/office/drawing/2014/main" id="{A1E02BB4-97D8-48CF-BA44-49117F45409E}"/>
              </a:ext>
            </a:extLst>
          </p:cNvPr>
          <p:cNvSpPr>
            <a:spLocks xmlns:a="http://schemas.openxmlformats.org/drawingml/2006/main" noGrp="1"/>
          </p:cNvSpPr>
          <p:nvPr/>
        </p:nvSpPr>
        <p:spPr>
          <a:xfrm xmlns:a="http://schemas.openxmlformats.org/drawingml/2006/main">
            <a:off x="19155966"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3" name="QR caption">
            <a:extLst xmlns:a="http://schemas.openxmlformats.org/drawingml/2006/main">
              <a:ext uri="{FF2B5EF4-FFF2-40B4-BE49-F238E27FC236}">
                <a16:creationId xmlns:a16="http://schemas.microsoft.com/office/drawing/2014/main" id="{34B75D83-A07C-4CA7-B3C7-09F617A5A7AC}"/>
              </a:ext>
            </a:extLst>
          </p:cNvPr>
          <p:cNvSpPr>
            <a:spLocks xmlns:a="http://schemas.openxmlformats.org/drawingml/2006/main" noGrp="1"/>
          </p:cNvSpPr>
          <p:nvPr/>
        </p:nvSpPr>
        <p:spPr>
          <a:xfrm xmlns:a="http://schemas.openxmlformats.org/drawingml/2006/main">
            <a:off x="3333750" y="42291000"/>
            <a:ext cx="17145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0">
                <a:solidFill>
                  <a:srgbClr val="E8EDF0"/>
                </a:solidFill>
                <a:latin typeface="Segoe UI"/>
                <a:ea typeface="Segoe UI"/>
                <a:cs typeface="Segoe UI"/>
              </a:defRPr>
            </a:pPr>
            <a:r>
              <a:rPr sz="2250" b="0">
                <a:solidFill>
                  <a:srgbClr val="E8EDF0"/>
                </a:solidFill>
                <a:latin typeface="Segoe UI"/>
                <a:ea typeface="Segoe UI"/>
                <a:cs typeface="Segoe UI"/>
              </a:rPr>
              <a:t>Experience this poster as a live reactive program</a:t>
            </a:r>
          </a:p>
          <a:p xmlns:a="http://schemas.openxmlformats.org/drawingml/2006/main">
            <a:pPr algn="l">
              <a:lnSpc>
                <a:spcPct val="108000"/>
              </a:lnSpc>
              <a:buNone/>
              <a:defRPr sz="2250" b="0">
                <a:solidFill>
                  <a:srgbClr val="E8EDF0"/>
                </a:solidFill>
                <a:latin typeface="Segoe UI"/>
                <a:ea typeface="Segoe UI"/>
                <a:cs typeface="Segoe UI"/>
              </a:defRPr>
            </a:pPr>
            <a:r>
              <a:rPr sz="2250" b="0">
                <a:solidFill>
                  <a:srgbClr val="E8EDF0"/>
                </a:solidFill>
                <a:latin typeface="Segoe UI"/>
                <a:ea typeface="Segoe UI"/>
                <a:cs typeface="Segoe UI"/>
              </a:rPr>
              <a:t>Mech’s runtime compiles to WebAssembly for browser execution.</a:t>
            </a:r>
          </a:p>
          <a:p xmlns:a="http://schemas.openxmlformats.org/drawingml/2006/main">
            <a:pPr algn="l">
              <a:lnSpc>
                <a:spcPct val="108000"/>
              </a:lnSpc>
              <a:buNone/>
              <a:defRPr sz="2250" b="0">
                <a:solidFill>
                  <a:srgbClr val="E8EDF0"/>
                </a:solidFill>
                <a:latin typeface="Segoe UI"/>
                <a:ea typeface="Segoe UI"/>
                <a:cs typeface="Segoe UI"/>
              </a:defRPr>
            </a:pPr>
            <a:r>
              <a:rPr sz="2250" b="0">
                <a:solidFill>
                  <a:srgbClr val="E8EDF0"/>
                </a:solidFill>
                <a:latin typeface="Segoe UI"/>
                <a:ea typeface="Segoe UI"/>
                <a:cs typeface="Segoe UI"/>
              </a:rPr>
              <a:t>Compare CPU and WGPU backends online.</a:t>
            </a:r>
          </a:p>
        </p:txBody>
      </p:sp>
      <p:sp>
        <p:nvSpPr>
          <p:cNvPr id="314" name="QR arrow start">
            <a:extLst xmlns:a="http://schemas.openxmlformats.org/drawingml/2006/main">
              <a:ext uri="{FF2B5EF4-FFF2-40B4-BE49-F238E27FC236}">
                <a16:creationId xmlns:a16="http://schemas.microsoft.com/office/drawing/2014/main" id="{32DD7C49-37FB-4493-8365-B6E48FA9C1D0}"/>
              </a:ext>
            </a:extLst>
          </p:cNvPr>
          <p:cNvSpPr>
            <a:spLocks xmlns:a="http://schemas.openxmlformats.org/drawingml/2006/main" noGrp="1"/>
          </p:cNvSpPr>
          <p:nvPr/>
        </p:nvSpPr>
        <p:spPr>
          <a:xfrm xmlns:a="http://schemas.openxmlformats.org/drawingml/2006/main">
            <a:off x="3143250" y="42957750"/>
            <a:ext cx="9525" cy="9525"/>
          </a:xfrm>
          <a:prstGeom xmlns:a="http://schemas.openxmlformats.org/drawingml/2006/main" prst="rect">
            <a:avLst/>
          </a:prstGeom>
          <a:noFill xmlns:a="http://schemas.openxmlformats.org/drawingml/2006/main"/>
          <a:ln xmlns:a="http://schemas.openxmlformats.org/drawingml/2006/main" w="0">
            <a:noFill/>
          </a:ln>
        </p:spPr>
      </p:sp>
      <p:sp>
        <p:nvSpPr>
          <p:cNvPr id="315" name="QR arrow end">
            <a:extLst xmlns:a="http://schemas.openxmlformats.org/drawingml/2006/main">
              <a:ext uri="{FF2B5EF4-FFF2-40B4-BE49-F238E27FC236}">
                <a16:creationId xmlns:a16="http://schemas.microsoft.com/office/drawing/2014/main" id="{A71E8660-1C79-498F-B4D9-C6E4C99DC6D1}"/>
              </a:ext>
            </a:extLst>
          </p:cNvPr>
          <p:cNvSpPr>
            <a:spLocks xmlns:a="http://schemas.openxmlformats.org/drawingml/2006/main" noGrp="1"/>
          </p:cNvSpPr>
          <p:nvPr/>
        </p:nvSpPr>
        <p:spPr>
          <a:xfrm xmlns:a="http://schemas.openxmlformats.org/drawingml/2006/main">
            <a:off x="2638425" y="429577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30" name=""/>
          <p:cNvCxnSpPr>
            <a:stCxn xmlns:a="http://schemas.openxmlformats.org/drawingml/2006/main" id="314" idx="1"/>
            <a:endCxn xmlns:a="http://schemas.openxmlformats.org/drawingml/2006/main" id="315" idx="3"/>
          </p:cNvCxnSpPr>
          <p:nvPr/>
        </p:nvCxnSpPr>
        <p:spPr>
          <a:xfrm xmlns:a="http://schemas.openxmlformats.org/drawingml/2006/main" flipH="1">
            <a:off x="2647950" y="42962513"/>
            <a:ext cx="495300" cy="0"/>
          </a:xfrm>
          <a:prstGeom xmlns:a="http://schemas.openxmlformats.org/drawingml/2006/main" prst="straightConnector1">
            <a:avLst/>
          </a:prstGeom>
          <a:ln xmlns:a="http://schemas.openxmlformats.org/drawingml/2006/main" w="28575">
            <a:solidFill>
              <a:srgbClr val="F6C04E"/>
            </a:solidFill>
            <a:tailEnd type="triangle" w="med" len="med"/>
          </a:ln>
        </p:spPr>
      </p:cxnSp>
      <p:sp>
        <p:nvSpPr>
          <p:cNvPr id="317" name="Benchmark setup title">
            <a:extLst xmlns:a="http://schemas.openxmlformats.org/drawingml/2006/main">
              <a:ext uri="{FF2B5EF4-FFF2-40B4-BE49-F238E27FC236}">
                <a16:creationId xmlns:a16="http://schemas.microsoft.com/office/drawing/2014/main" id="{C8BE5BB7-C954-47C1-846C-41B56E802809}"/>
              </a:ext>
            </a:extLst>
          </p:cNvPr>
          <p:cNvSpPr>
            <a:spLocks xmlns:a="http://schemas.openxmlformats.org/drawingml/2006/main" noGrp="1"/>
          </p:cNvSpPr>
          <p:nvPr/>
        </p:nvSpPr>
        <p:spPr>
          <a:xfrm xmlns:a="http://schemas.openxmlformats.org/drawingml/2006/main">
            <a:off x="22764750" y="394335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A4BAC8"/>
                </a:solidFill>
                <a:latin typeface="Fira Code"/>
                <a:ea typeface="Fira Code"/>
                <a:cs typeface="Fira Code"/>
              </a:defRPr>
            </a:pPr>
            <a:r>
              <a:rPr sz="2100" b="1">
                <a:solidFill>
                  <a:srgbClr val="A4BAC8"/>
                </a:solidFill>
                <a:latin typeface="Fira Code"/>
                <a:ea typeface="Fira Code"/>
                <a:cs typeface="Fira Code"/>
              </a:rPr>
              <a:t>Benchmark setup</a:t>
            </a:r>
          </a:p>
        </p:txBody>
      </p:sp>
      <p:sp>
        <p:nvSpPr>
          <p:cNvPr id="318" name="Benchmark methods">
            <a:extLst xmlns:a="http://schemas.openxmlformats.org/drawingml/2006/main">
              <a:ext uri="{FF2B5EF4-FFF2-40B4-BE49-F238E27FC236}">
                <a16:creationId xmlns:a16="http://schemas.microsoft.com/office/drawing/2014/main" id="{20508DA9-3573-440C-8A96-745B9561D543}"/>
              </a:ext>
            </a:extLst>
          </p:cNvPr>
          <p:cNvSpPr>
            <a:spLocks xmlns:a="http://schemas.openxmlformats.org/drawingml/2006/main" noGrp="1"/>
          </p:cNvSpPr>
          <p:nvPr/>
        </p:nvSpPr>
        <p:spPr>
          <a:xfrm xmlns:a="http://schemas.openxmlformats.org/drawingml/2006/main">
            <a:off x="22764750" y="39890700"/>
            <a:ext cx="9525000" cy="2066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Charts: f32, 500,000 filters × 40 turns, n=10. Median ± MAD.</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iros-workshop-benchmarks, benchmarks/iros-2026.</a:t>
            </a:r>
          </a:p>
        </p:txBody>
      </p:sp>
      <p:sp>
        <p:nvSpPr>
          <p:cNvPr id="319" name="EKF reference">
            <a:extLst xmlns:a="http://schemas.openxmlformats.org/drawingml/2006/main">
              <a:ext uri="{FF2B5EF4-FFF2-40B4-BE49-F238E27FC236}">
                <a16:creationId xmlns:a16="http://schemas.microsoft.com/office/drawing/2014/main" id="{FE38DA6D-04A5-45D7-84FD-7F6229E9BE4F}"/>
              </a:ext>
            </a:extLst>
          </p:cNvPr>
          <p:cNvSpPr>
            <a:spLocks xmlns:a="http://schemas.openxmlformats.org/drawingml/2006/main" noGrp="1"/>
          </p:cNvSpPr>
          <p:nvPr/>
        </p:nvSpPr>
        <p:spPr>
          <a:xfrm xmlns:a="http://schemas.openxmlformats.org/drawingml/2006/main">
            <a:off x="22764750" y="421005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[1] Thrun, Burgard &amp; Fox. Probabilistic Robotics. MIT Press, 2005. §7.4.2, Table 7.2 (adapted).</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2026-09-25T15:09:47.0800000Z</dcterms:created>
  <dcterms:modified xsi:type="dcterms:W3CDTF">2026-09-25T15:09:47.0800000Z</dcterms:modified>
</coreProperties>
</file>