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0f6c12cb7a452f" /><Relationship Type="http://schemas.openxmlformats.org/officeDocument/2006/relationships/extended-properties" Target="/docProps/app.xml" Id="R239210dfa33f43ff" /><Relationship Type="http://schemas.openxmlformats.org/officeDocument/2006/relationships/officeDocument" Target="/ppt/presentation.xml" Id="R82bc25c6992849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eae2fa9fd184233"/>
  </p:sldMasterIdLst>
  <p:notesMasterIdLst>
    <p:notesMasterId xmlns:r="http://schemas.openxmlformats.org/officeDocument/2006/relationships" r:id="Rad8b4f75be594aff"/>
  </p:notesMasterIdLst>
  <p:sldIdLst>
    <p:sldId xmlns:r="http://schemas.openxmlformats.org/officeDocument/2006/relationships" id="256" r:id="R20e20ded849147ca"/>
  </p:sldIdLst>
  <p:sldSz cx="32918400" cy="43891200"/>
  <p:notesSz cx="6858000" cy="9144000"/>
  <p:embeddedFontLst>
    <p:embeddedFont>
      <p:font typeface="Fira Code"/>
      <p:regular xmlns:r="http://schemas.openxmlformats.org/officeDocument/2006/relationships" r:id="R46daa1e720a74919"/>
      <p:bold xmlns:r="http://schemas.openxmlformats.org/officeDocument/2006/relationships" r:id="R78a6ab24acff48c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d1a5ee32d9435e" /><Relationship Type="http://schemas.openxmlformats.org/officeDocument/2006/relationships/slideMaster" Target="/ppt/slideMasters/slideMaster1.xml" Id="Rfeae2fa9fd184233" /><Relationship Type="http://schemas.openxmlformats.org/officeDocument/2006/relationships/notesMaster" Target="/ppt/notesMasters/notesMaster1.xml" Id="Rad8b4f75be594aff" /><Relationship Type="http://schemas.openxmlformats.org/officeDocument/2006/relationships/presProps" Target="/ppt/presProps.xml" Id="Rd3dfb6cb5b0a46a2" /><Relationship Type="http://schemas.openxmlformats.org/officeDocument/2006/relationships/viewProps" Target="/ppt/viewProps.xml" Id="Rfd2356f4e3774c5b" /><Relationship Type="http://schemas.openxmlformats.org/officeDocument/2006/relationships/tableStyles" Target="/ppt/tableStyles.xml" Id="R2c30c58b389b4a29" /><Relationship Type="http://schemas.openxmlformats.org/officeDocument/2006/relationships/font" Target="/ppt/fonts/font.dat" Id="R46daa1e720a74919" /><Relationship Type="http://schemas.openxmlformats.org/officeDocument/2006/relationships/font" Target="/ppt/fonts/font2.dat" Id="R78a6ab24acff48ce" /><Relationship Type="http://schemas.openxmlformats.org/officeDocument/2006/relationships/slide" Target="/ppt/slides/slide1.xml" Id="R20e20ded849147ca" /></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1bbd866eb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4483b08adf4598" /><Relationship Type="http://schemas.openxmlformats.org/officeDocument/2006/relationships/notesMaster" Target="/ppt/notesMasters/notesMaster1.xml" Id="R035c2a1397634587"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a:p xmlns:a="http://schemas.openxmlformats.org/drawingml/2006/main">
            <a:r>
              <a:t/>
            </a:r>
          </a:p>
          <a:p xmlns:a="http://schemas.openxmlformats.org/drawingml/2006/main">
            <a:r>
              <a:t>Chart display precision: data values and bar lengths retain the existing evidence. Labels use one decimal at or above one million filter-turns per second, and two decimals below one. MAD uses the same resolution, with a less-than threshold when rounding would display zero. MAD describes observed run-to-run variability, not measurement accuracy or a confidence interval. Both native horizontal value-axis titles state throughput units and the linear or logarithmic scale.</a:t>
            </a:r>
          </a:p>
          <a:p xmlns:a="http://schemas.openxmlformats.org/drawingml/2006/main">
            <a:r>
              <a:t/>
            </a:r>
          </a:p>
          <a:p>
            <a:r>
              <a:t>Reactive output example: turn 40 of the bearing-only EKF, using dt=0.1, v=1, omega=0.015, bearing=-0.54 and R=0.25 on every turn. Initial mean [55,25,0.4], covariance diag[100,100,0.15]. Values were obtained by executing the existing checked Rust control dylib for the same equations and input fixture, and cross-checked against independent NumPy f32 matrix evaluation. No fresh Mech execution is claimed. Mean [58.6274566650,26.1227283478,0.4107450843]. Covariance [[100.3498458862,-0.3860919476,-0.1933054328],[-0.3860922456,84.9956665039,-0.9534116983],[-0.1933054030,-0.9534116983,0.0176380202]]. The SVG uses the same mean heading and a 2-sigma positional covariance ellipse with semiaxes 20.0359225716 and 18.4375664410, screen rotation +1.4395315601 degrees. The scene is a local view centered on the estimated position. Synthetic repeated inputs are an illustrative state, not a physical robot trajectory. Visual conventions follow examples/ekf/localization.mec. Rust logo © Rust Foundation, CC BY 4.0, recolored white. Source: https://github.com/rust-lang/rust-artwork/blob/main/logo/rust-logo-single-path.svg . License: https://creativecommons.org/licenses/by/4.0/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36589ec674b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6888b2938b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525188fa334b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bd5ba44da04f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7cdfa90bbb4e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73c86510a74b2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ac9231de9649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00aeb8ddc314c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64e7a2496547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6885203ac34f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cd9e43a73f4b6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69E76-8CB0-43FD-848E-0E9F21319AAC}"/>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F8A0FF5-04B7-4635-8C0F-74E20E8DD640}"/>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17DC7E1-9B2D-4AEA-BEC1-95D503AD2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B252262-4FA3-417D-A6D6-677F82F68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D2C183-DCD4-48A5-9ECD-E710F8967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B8504-6FDF-43C6-8438-099459E0A2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50771F-13EA-4CAA-B7BD-F1B50C24BB9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879ABD-EE65-413C-B080-BB726D986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450E30B-3285-490C-9DD0-7D2366AA3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E3579D-DFED-428A-A387-007776219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FEC4ED-5CF6-4AF9-AC77-B5B74FC9EEBC}"/>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740661D-2DAD-4FF8-9375-F3C6A44BEF3C}"/>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FE8264-C24A-42B3-AD60-A56D8A4B5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82A827B-4A1A-4F14-8EF4-838FC1D7C5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D8DDBC-8220-4276-A212-7BE92916F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0B113-C8F0-453E-B241-B0D63E6BA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3049833-DE65-4579-B2EB-22DD4409DB7F}"/>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DC52527-B04A-4E33-8A6E-2327B6422A5D}"/>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0DE60A6-D85B-46E6-A9D3-AA1CC81450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92640C8-EB7A-4B9E-8E6E-4667C7C6F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49ED25-0BA4-4068-A367-6654D2C632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4BF697-B594-4EDF-BAE2-C966D63EF4DF}"/>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79CB4B-AE88-45F4-85A1-A074DFF31C77}"/>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82FD19-F539-402A-A23C-1A1783A726F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A201461-79C7-47E0-B14C-39C90F7BF143}"/>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0EF49A-61F7-47F2-9A80-E1AB3122364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53564C-F9E1-4B42-BE99-BA65D8B3F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5F99F1E9-CB5E-4DE3-B68B-47514C4CDA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B8DD8C-F945-4F22-935F-23EC9E7816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9A10E-022F-430C-8039-78DCED0139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F0C6E0C-86ED-4A6B-B768-A4E0040A7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892150B3-EC64-44D4-A278-E813B014A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51121E6-01F9-4A2F-8F8C-2A918E4BB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C37D893-6C60-409D-8C8D-D4F344901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9FD18EA2-DFC1-4BD8-8E79-3EBDA080A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275153-3706-41A0-811D-33891A3645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C85A5-742F-4273-BED1-B37CEE9288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FF7318-F199-407B-9A7B-F0D03F7C8D7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0D99941-18D3-4C62-ABD4-2884EC17DCA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833CB9D-86F7-4C5B-A6F9-74E2CF12B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3E7649-CBAE-481D-95D1-1A7658306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B3FD3E-64F3-4549-8E74-F34759B0BF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A567A-DA40-44AD-8603-803DC01E4DF3}"/>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5160C11-CCD7-4EFD-A09F-92AE840F399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52AEE534-629D-4955-85C7-60ACA33CDF97}"/>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B8F4EEE-FC50-42A3-8DFD-856D7421B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8E5C33A3-DBE4-4247-A006-09B563DC57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7A191DB-E906-453A-86C9-3ECA5C234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2B997D-57DD-421F-880F-0D4770465B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C600A4-BA38-4DD9-9C1F-072F30EBF97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08AA97-757D-4D4E-94C8-52A6286D3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13C9EDB-5629-4AA7-988C-56E68F8AA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930DD5-61B5-4766-94C9-1F3DD6CE6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00E8E3-732C-4351-9888-2D58D72F1A03}"/>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E468DD-33B8-432D-8949-7AB9DCACF98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4B3F60-211B-4878-8124-FDD7EBB9E3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3A3C7B8-9E45-481E-A1AB-1E78766CA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0E8CD9-A5B4-40CA-8C15-38A76A4EAD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b63a77a7d4eb0" /><Relationship Type="http://schemas.openxmlformats.org/officeDocument/2006/relationships/slideLayout" Target="/ppt/slideLayouts/slideLayout1.xml" Id="Re8441b25be57431d" /><Relationship Type="http://schemas.openxmlformats.org/officeDocument/2006/relationships/slideLayout" Target="/ppt/slideLayouts/slideLayout2.xml" Id="R5f7ff82592df4417" /><Relationship Type="http://schemas.openxmlformats.org/officeDocument/2006/relationships/slideLayout" Target="/ppt/slideLayouts/slideLayout3.xml" Id="Rd28945967e884191" /><Relationship Type="http://schemas.openxmlformats.org/officeDocument/2006/relationships/slideLayout" Target="/ppt/slideLayouts/slideLayout4.xml" Id="R1893651ac5de4da1" /><Relationship Type="http://schemas.openxmlformats.org/officeDocument/2006/relationships/slideLayout" Target="/ppt/slideLayouts/slideLayout5.xml" Id="Rd5e4a120be014d77" /><Relationship Type="http://schemas.openxmlformats.org/officeDocument/2006/relationships/slideLayout" Target="/ppt/slideLayouts/slideLayout6.xml" Id="R4c52a1a4801b4b6c" /><Relationship Type="http://schemas.openxmlformats.org/officeDocument/2006/relationships/slideLayout" Target="/ppt/slideLayouts/slideLayout7.xml" Id="Ra1b67f3a0a4f4ced" /><Relationship Type="http://schemas.openxmlformats.org/officeDocument/2006/relationships/slideLayout" Target="/ppt/slideLayouts/slideLayout8.xml" Id="R6bcd435dbdb944d5" /><Relationship Type="http://schemas.openxmlformats.org/officeDocument/2006/relationships/slideLayout" Target="/ppt/slideLayouts/slideLayout9.xml" Id="Rbd9b9562e8c049db" /><Relationship Type="http://schemas.openxmlformats.org/officeDocument/2006/relationships/slideLayout" Target="/ppt/slideLayouts/slideLayout10.xml" Id="R2e7b0e28df004b64" /><Relationship Type="http://schemas.openxmlformats.org/officeDocument/2006/relationships/slideLayout" Target="/ppt/slideLayouts/slideLayout11.xml" Id="R92572661a29b46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B1CC53-8A24-42D1-A471-CE5239ABE98B}"/>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FED960-FB91-4209-80F0-3E75CAE15372}"/>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3DC96AD-D5DA-41FD-AA5D-8AA9203545EA}"/>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A5CEE75-9089-4E5A-AD9A-77A72F2B2B0A}"/>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50FE8E-09ED-4F2A-BB3C-EAF6149662D9}"/>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41b25be57431d"/>
    <p:sldLayoutId xmlns:r="http://schemas.openxmlformats.org/officeDocument/2006/relationships" id="2147483650" r:id="R5f7ff82592df4417"/>
    <p:sldLayoutId xmlns:r="http://schemas.openxmlformats.org/officeDocument/2006/relationships" id="2147483651" r:id="Rd28945967e884191"/>
    <p:sldLayoutId xmlns:r="http://schemas.openxmlformats.org/officeDocument/2006/relationships" id="2147483652" r:id="R1893651ac5de4da1"/>
    <p:sldLayoutId xmlns:r="http://schemas.openxmlformats.org/officeDocument/2006/relationships" id="2147483653" r:id="Rd5e4a120be014d77"/>
    <p:sldLayoutId xmlns:r="http://schemas.openxmlformats.org/officeDocument/2006/relationships" id="2147483654" r:id="R4c52a1a4801b4b6c"/>
    <p:sldLayoutId xmlns:r="http://schemas.openxmlformats.org/officeDocument/2006/relationships" id="2147483655" r:id="Ra1b67f3a0a4f4ced"/>
    <p:sldLayoutId xmlns:r="http://schemas.openxmlformats.org/officeDocument/2006/relationships" id="2147483656" r:id="R6bcd435dbdb944d5"/>
    <p:sldLayoutId xmlns:r="http://schemas.openxmlformats.org/officeDocument/2006/relationships" id="2147483657" r:id="Rbd9b9562e8c049db"/>
    <p:sldLayoutId xmlns:r="http://schemas.openxmlformats.org/officeDocument/2006/relationships" id="2147483658" r:id="R2e7b0e28df004b64"/>
    <p:sldLayoutId xmlns:r="http://schemas.openxmlformats.org/officeDocument/2006/relationships" id="2147483659" r:id="R92572661a29b4656"/>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0f6c527d4bb845b7"/><Relationship Type="http://schemas.openxmlformats.org/officeDocument/2006/relationships/image" Target="/ppt/media/image.png" Id="R62d1fdb73ec24b6f"/><Relationship Type="http://schemas.openxmlformats.org/officeDocument/2006/relationships/image" Target="/ppt/media/image.svg" Id="Ra4e8406e62434cb3"/><Relationship Type="http://schemas.openxmlformats.org/officeDocument/2006/relationships/image" Target="/ppt/media/image2.png" Id="R4e3d5f9419fb421f"/><Relationship Type="http://schemas.openxmlformats.org/officeDocument/2006/relationships/chart" Target="/ppt/slides/charts/chart1.xml" Id="Rca1ac46396b840f1"/><Relationship Type="http://schemas.openxmlformats.org/officeDocument/2006/relationships/chart" Target="/ppt/slides/charts/chart2.xml" Id="R47fedaccb9b14b88"/><Relationship Type="http://schemas.openxmlformats.org/officeDocument/2006/relationships/notesSlide" Target="/ppt/notesSlides/notesSlide1.xml" Id="Rbe9344e5789740f8"/><Relationship Type="http://schemas.openxmlformats.org/officeDocument/2006/relationships/image" Target="../media/reactive-polish-1.png" Id="rIdReactive1"/><Relationship Type="http://schemas.openxmlformats.org/officeDocument/2006/relationships/image" Target="../media/reactive-polish-2.svg" Id="rIdReactive2"/><Relationship Type="http://schemas.openxmlformats.org/officeDocument/2006/relationships/image" Target="../media/reactive-polish-3.png" Id="rIdReactive3"/><Relationship Type="http://schemas.openxmlformats.org/officeDocument/2006/relationships/image" Target="../media/reactive-polish-4.svg" Id="rIdReactive4"/></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layout>
        <c:manualLayout>
          <c:layoutTarget val="inner"/>
          <c:xMode val="edge"/>
          <c:yMode val="edge"/>
          <c:wMode val="factor"/>
          <c:hMode val="factor"/>
          <c:x val="0.12"/>
          <c:y val="0.02773109243697479"/>
          <c:w val="0.86"/>
          <c:h val="0.8226890756302521"/>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FF7A1A">
                  <a:alpha val="45000"/>
                </a:srgbClr>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linear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wMode val="factor"/>
          <c:hMode val="factor"/>
          <c:x val="0.2"/>
          <c:y val="0.02773109243697479"/>
          <c:w val="0.68"/>
          <c:h val="0.8226890756302521"/>
        </c:manualLayout>
      </c:layout>
      <c:barChart>
        <c:barDir val="bar"/>
        <c:grouping val="clustered"/>
        <c:varyColors val="0"/>
        <c:ser>
          <c:idx val="0"/>
          <c:order val="0"/>
          <c:tx>
            <c:v>Checked</c:v>
          </c:tx>
          <c:spPr>
            <a:solidFill xmlns:a="http://schemas.openxmlformats.org/drawingml/2006/main">
              <a:srgbClr val="F6C04E"/>
            </a:solidFill>
          </c:spPr>
          <c:invertIfNegative val="0"/>
          <c:dPt>
            <c:idx val="0"/>
            <c:invertIfNegative val="0"/>
            <c:spPr>
              <a:solidFill>
                <a:srgbClr val="F6C04E"/>
              </a:solidFill>
              <a:ln w="0">
                <a:noFill/>
              </a:ln>
            </c:spPr>
          </c:dPt>
          <c:dPt>
            <c:idx val="4"/>
            <c:invertIfNegative val="0"/>
            <c:spPr>
              <a:pattFill xmlns:a="http://schemas.openxmlformats.org/drawingml/2006/main" prst="upDiag">
                <a:fgClr>
                  <a:srgbClr val="D9A637"/>
                </a:fgClr>
                <a:bgClr>
                  <a:srgbClr val="F6C04E"/>
                </a:bgClr>
              </a:pattFill>
            </c:spPr>
          </c:dPt>
          <c:cat>
            <c:strRef>
              <c:f>'Chart Data'!$A$2:$A$6</c:f>
              <c:strCache>
                <c:ptCount val="5"/>
                <c:pt idx="0">
                  <c:v>Evaluator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invertIfNegative val="0"/>
          <c:dPt>
            <c:idx val="0"/>
            <c:invertIfNegative val="0"/>
            <c:spPr>
              <a:solidFill>
                <a:srgbClr val="996900"/>
              </a:solidFill>
              <a:ln w="0">
                <a:noFill/>
              </a:ln>
            </c:spPr>
          </c:dPt>
          <c:dPt>
            <c:idx val="4"/>
            <c:invertIfNegative val="0"/>
            <c:spPr>
              <a:pattFill xmlns:a="http://schemas.openxmlformats.org/drawingml/2006/main" prst="upDiag">
                <a:fgClr>
                  <a:srgbClr val="6B4A00"/>
                </a:fgClr>
                <a:bgClr>
                  <a:srgbClr val="996900"/>
                </a:bgClr>
              </a:pattFill>
            </c:spPr>
          </c:dPt>
          <c:cat>
            <c:strRef>
              <c:f>'Chart Data'!$C$2:$C$6</c:f>
              <c:strCache>
                <c:ptCount val="5"/>
                <c:pt idx="0">
                  <c:v>Evaluator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rosses val="min"/>
      </c:catAx>
      <c:valAx>
        <c:axId val="48672768"/>
        <c:scaling>
          <c:logBase val="10"/>
          <c:orientation val="minMax"/>
          <c:max val="1000"/>
          <c:min val="0.1"/>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logarithmic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General" sourceLinked="0"/>
        <c:majorTickMark val="none"/>
        <c:minorTickMark val="none"/>
        <c:tickLblPos val="low"/>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esAt val="0.1"/>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xmlns:a="http://schemas.openxmlformats.org/drawing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A Rust-Native </a:t>
            </a:r>
            <a:r>
              <a:rPr sz="7600">
                <a:solidFill>
                  <a:srgbClr val="3DA98C"/>
                </a:solidFill>
                <a:latin typeface="Fira Code"/>
                <a:ea typeface="Fira Code"/>
                <a:cs typeface="Fira Code"/>
              </a:rPr>
              <a:t>Embeddable</a:t>
            </a:r>
            <a:r>
              <a:rPr sz="7600">
                <a:solidFill>
                  <a:srgbClr val="FFFFFF"/>
                </a:solidFill>
                <a:latin typeface="Fira Code"/>
                <a:ea typeface="Fira Code"/>
                <a:cs typeface="Fira Code"/>
              </a:rPr>
              <a:t/>
            </a:r>
            <a:r>
              <a:rPr sz="7600">
                <a:solidFill>
                  <a:srgbClr val="D18FC8"/>
                </a:solidFill>
                <a:latin typeface="Fira Code"/>
                <a:ea typeface="Fira Code"/>
                <a:cs typeface="Fira Code"/>
              </a:rPr>
              <a:t>Reactive </a:t>
            </a:r>
          </a:p>
          <a:p xmlns:a="http://schemas.openxmlformats.org/drawingml/2006/main">
            <a:r>
              <a:rPr sz="7600">
                <a:solidFill>
                  <a:srgbClr val="80C8FF"/>
                </a:solidFill>
                <a:latin typeface="Fira Code"/>
                <a:ea typeface="Fira Code"/>
                <a:cs typeface="Fira Code"/>
              </a:rPr>
              <a:t>Numerical</a:t>
            </a:r>
            <a:r>
              <a:rPr sz="7600">
                <a:solidFill>
                  <a:srgbClr val="FFFFFF"/>
                </a:solidFill>
                <a:latin typeface="Fira Code"/>
                <a:ea typeface="Fira Code"/>
                <a:cs typeface="Fira Code"/>
              </a:rPr>
              <a:t> Language for </a:t>
            </a:r>
          </a:p>
          <a:p xmlns:a="http://schemas.openxmlformats.org/drawingml/2006/main">
            <a:r>
              <a:rPr sz="7600">
                <a:solidFill>
                  <a:srgbClr val="F8D07B"/>
                </a:solidFill>
                <a:latin typeface="Fira Code"/>
                <a:ea typeface="Fira Code"/>
                <a:cs typeface="Fira Code"/>
              </a:rPr>
              <a:t>Heterogeneous</a:t>
            </a:r>
            <a:r>
              <a:rPr sz="7600">
                <a:solidFill>
                  <a:schemeClr val="accent2">
                    <a:lumMod val="20000"/>
                    <a:lumOff val="80000"/>
                  </a:schemeClr>
                </a:solidFill>
                <a:latin typeface="Fira Code"/>
                <a:ea typeface="Fira Code"/>
                <a:cs typeface="Fira Code"/>
              </a:rPr>
              <a:t/>
            </a:r>
            <a:r>
              <a:rPr sz="7600">
                <a:solidFill>
                  <a:srgbClr val="FFFFFF"/>
                </a:solidFill>
                <a:latin typeface="Fira Code"/>
                <a:ea typeface="Fira Code"/>
                <a:cs typeface="Fira Code"/>
              </a:rPr>
              <a:t>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10A5946-7E25-4877-B687-3E996D149A87}"/>
              </a:ext>
            </a:extLst>
          </p:cNvPr>
          <p:cNvSpPr>
            <a:spLocks xmlns:a="http://schemas.openxmlformats.org/drawingml/2006/main" noGrp="1"/>
          </p:cNvSpPr>
          <p:nvPr/>
        </p:nvSpPr>
        <p:spPr>
          <a:xfrm xmlns:a="http://schemas.openxmlformats.org/drawingml/2006/main" flipV="1">
            <a:off x="9346823" y="899707"/>
            <a:ext cx="0" cy="4824586"/>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546" name="Picture 12"/>
          <p:cNvPicPr>
            <a:picLocks xmlns:a="http://schemas.openxmlformats.org/drawingml/2006/main" noChangeAspect="1"/>
          </p:cNvPicPr>
          <p:nvPr/>
        </p:nvPicPr>
        <p:blipFill>
          <a:blip xmlns:r="http://schemas.openxmlformats.org/officeDocument/2006/relationships" xmlns:a="http://schemas.openxmlformats.org/drawingml/2006/main" r:embed="R62d1fdb73ec24b6f"/>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8" y="3367480"/>
            <a:ext cx="7403344" cy="1363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200000"/>
              </a:lnSpc>
              <a:buNone/>
            </a:pPr>
            <a:r>
              <a:rPr sz="4800">
                <a:solidFill>
                  <a:srgbClr val="9EB3C2"/>
                </a:solidFill>
                <a:latin typeface="Fira Code"/>
                <a:ea typeface="Fira Code"/>
                <a:cs typeface="Fira Code"/>
              </a:rPr>
              <a:t>www.mech-lang.org</a:t>
            </a:r>
          </a:p>
        </p:txBody>
      </p:sp>
      <p:pic>
        <p:nvPicPr>
          <p:cNvPr id="548" name="Graphic 67"/>
          <p:cNvPicPr>
            <a:picLocks xmlns:a="http://schemas.openxmlformats.org/drawingml/2006/main" noChangeAspect="1"/>
          </p:cNvPicPr>
          <p:nvPr/>
        </p:nvPicPr>
        <p:blipFill>
          <a:blip xmlns:r="http://schemas.openxmlformats.org/officeDocument/2006/relationships" xmlns:a="http://schemas.openxmlformats.org/drawingml/2006/main" r:embed="R62d1fdb73ec24b6f">
            <a:extLst>
              <a:ext uri="{96DAC541-7B7A-43D3-8B79-37D633B846F1}">
                <asvg:svgBlip xmlns:asvg="http://schemas.microsoft.com/office/drawing/2016/SVG/main" r:embed="Ra4e8406e62434cb3"/>
              </a:ext>
            </a:extLst>
          </a:blip>
          <a:stretch xmlns:a="http://schemas.openxmlformats.org/drawingml/2006/main">
            <a:fillRect l="0" t="0" r="0" b="0"/>
          </a:stretch>
        </p:blipFill>
        <p:spPr>
          <a:xfrm xmlns:a="http://schemas.openxmlformats.org/drawingml/2006/main">
            <a:off x="27342275" y="42672000"/>
            <a:ext cx="4720781" cy="986600"/>
          </a:xfrm>
          <a:prstGeom xmlns:a="http://schemas.openxmlformats.org/drawingml/2006/main" prst="rect">
            <a:avLst/>
          </a:prstGeom>
        </p:spPr>
      </p:pic>
      <p:pic>
        <p:nvPicPr>
          <p:cNvPr id="549" name="Picture 104"/>
          <p:cNvPicPr>
            <a:picLocks xmlns:a="http://schemas.openxmlformats.org/drawingml/2006/main" noChangeAspect="1"/>
          </p:cNvPicPr>
          <p:nvPr/>
        </p:nvPicPr>
        <p:blipFill>
          <a:blip xmlns:r="http://schemas.openxmlformats.org/officeDocument/2006/relationships" xmlns:a="http://schemas.openxmlformats.org/drawingml/2006/main" r:embed="R4e3d5f9419fb421f">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2100500"/>
            <a:ext cx="1666875" cy="16668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40ED343-6FC6-4D28-8F37-6F366889AC4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4" name="Motivation bullets">
            <a:extLst xmlns:a="http://schemas.openxmlformats.org/drawingml/2006/main">
              <a:ext uri="{FF2B5EF4-FFF2-40B4-BE49-F238E27FC236}">
                <a16:creationId xmlns:a16="http://schemas.microsoft.com/office/drawing/2014/main" id="{C00E2DC1-455A-4ECF-BE66-20176529DC0B}"/>
              </a:ext>
            </a:extLst>
          </p:cNvPr>
          <p:cNvSpPr>
            <a:spLocks xmlns:a="http://schemas.openxmlformats.org/drawingml/2006/main" noGrp="1"/>
          </p:cNvSpPr>
          <p:nvPr/>
        </p:nvSpPr>
        <p:spPr>
          <a:xfrm xmlns:a="http://schemas.openxmlformats.org/drawingml/2006/main">
            <a:off x="952500" y="7620000"/>
            <a:ext cx="20526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698500" indent="-508000" algn="l">
              <a:spcAft>
                <a:spcPts val="1800"/>
              </a:spcAft>
              <a:buChar char="•"/>
              <a:defRPr sz="2850" b="0">
                <a:solidFill>
                  <a:srgbClr val="E8EDF0"/>
                </a:solidFill>
                <a:latin typeface="Segoe UI"/>
                <a:ea typeface="Segoe UI"/>
                <a:cs typeface="Segoe UI"/>
              </a:defRPr>
            </a:pPr>
            <a:r>
              <a:t>Rust’s memory safety and systems-level control are useful in robotics. Numerical kernels can still become lengthy and hard to check against the original equations, especially when each backend requires specialized code.</a:t>
            </a:r>
          </a:p>
          <a:p xmlns:a="http://schemas.openxmlformats.org/drawingml/2006/main">
            <a:pPr marL="698500" indent="-508000" algn="l">
              <a:spcAft>
                <a:spcPts val="1800"/>
              </a:spcAft>
              <a:buChar char="•"/>
              <a:defRPr sz="2850" b="0">
                <a:solidFill>
                  <a:srgbClr val="E8EDF0"/>
                </a:solidFill>
                <a:latin typeface="Segoe UI"/>
                <a:ea typeface="Segoe UI"/>
                <a:cs typeface="Segoe UI"/>
              </a:defRPr>
            </a:pPr>
            <a:r>
              <a:t>Mech complements Rust by letting programmers express kernels as typed matrix equations. Its compiler handles backend specialization, and its reactive runtime supports successive sensor updates. We examine these features using a bearing-only extended Kalman filter (EKF).</a:t>
            </a:r>
          </a:p>
        </p:txBody>
      </p:sp>
      <p:sp>
        <p:nvSpPr>
          <p:cNvPr id="115" name="Numerical">
            <a:extLst xmlns:a="http://schemas.openxmlformats.org/drawingml/2006/main">
              <a:ext uri="{FF2B5EF4-FFF2-40B4-BE49-F238E27FC236}">
                <a16:creationId xmlns:a16="http://schemas.microsoft.com/office/drawing/2014/main" id="{F0DE9116-6D29-4497-9797-2FDFA03E7749}"/>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DCD0FE0B-47A5-43D9-98A3-AD1A01D93438}"/>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3701BD8B-A8D1-4328-8C4E-FE68FC3B0F60}"/>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Extended Kalman Filter</a:t>
            </a:r>
          </a:p>
        </p:txBody>
      </p:sp>
      <p:sp>
        <p:nvSpPr>
          <p:cNvPr id="118" name="EKF source line 01">
            <a:extLst xmlns:a="http://schemas.openxmlformats.org/drawingml/2006/main">
              <a:ext uri="{FF2B5EF4-FFF2-40B4-BE49-F238E27FC236}">
                <a16:creationId xmlns:a16="http://schemas.microsoft.com/office/drawing/2014/main" id="{830C04EA-DE9B-44CC-B4F7-DF158580E3F9}"/>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19" name="EKF source line 02">
            <a:extLst xmlns:a="http://schemas.openxmlformats.org/drawingml/2006/main">
              <a:ext uri="{FF2B5EF4-FFF2-40B4-BE49-F238E27FC236}">
                <a16:creationId xmlns:a16="http://schemas.microsoft.com/office/drawing/2014/main" id="{6A0C6DCD-8CF7-4483-9A27-679F739FA89A}"/>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9CCA4"/>
                </a:solidFill>
                <a:latin typeface="Fira Code"/>
                <a:ea typeface="Fira Code"/>
                <a:cs typeface="Fira Code"/>
              </a:rPr>
              <a:t>+&gt;</a:t>
            </a:r>
            <a:r>
              <a:rPr sz="2800">
                <a:solidFill>
                  <a:srgbClr val="EDDAF1"/>
                </a:solidFill>
                <a:latin typeface="Fira Code"/>
                <a:ea typeface="Fira Code"/>
                <a:cs typeface="Fira Code"/>
              </a:rPr>
              <a:t/>
            </a:r>
            <a:r>
              <a:rPr sz="2800">
                <a:solidFill>
                  <a:srgbClr val="BBDDC2"/>
                </a:solidFill>
                <a:latin typeface="Fira Code"/>
                <a:ea typeface="Fira Code"/>
                <a:cs typeface="Fira Code"/>
              </a:rPr>
              <a:t>math</a:t>
            </a:r>
            <a:r>
              <a:rPr sz="2800">
                <a:solidFill>
                  <a:srgbClr val="99CCA4"/>
                </a:solidFill>
                <a:latin typeface="Fira Code"/>
                <a:ea typeface="Fira Code"/>
                <a:cs typeface="Fira Code"/>
              </a:rPr>
              <a:t>/</a:t>
            </a:r>
            <a:r>
              <a:rPr sz="2800">
                <a:solidFill>
                  <a:srgbClr val="BBDDC2"/>
                </a:solidFill>
                <a:latin typeface="Fira Code"/>
                <a:ea typeface="Fira Code"/>
                <a:cs typeface="Fira Code"/>
              </a:rPr>
              <a:t>*            </a:t>
            </a:r>
          </a:p>
        </p:txBody>
      </p:sp>
      <p:sp>
        <p:nvSpPr>
          <p:cNvPr id="120" name="EKF source line 03">
            <a:extLst xmlns:a="http://schemas.openxmlformats.org/drawingml/2006/main">
              <a:ext uri="{FF2B5EF4-FFF2-40B4-BE49-F238E27FC236}">
                <a16:creationId xmlns:a16="http://schemas.microsoft.com/office/drawing/2014/main" id="{0EC829B6-40CE-4092-858F-E65647E37A7D}"/>
              </a:ext>
            </a:extLst>
          </p:cNvPr>
          <p:cNvSpPr>
            <a:spLocks xmlns:a="http://schemas.openxmlformats.org/drawingml/2006/main" noGrp="1"/>
          </p:cNvSpPr>
          <p:nvPr/>
        </p:nvSpPr>
        <p:spPr>
          <a:xfrm xmlns:a="http://schemas.openxmlformats.org/drawingml/2006/main">
            <a:off x="22812375" y="1438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9BC7F3"/>
                </a:solidFill>
                <a:latin typeface="Fira Code"/>
                <a:ea typeface="Fira Code"/>
                <a:cs typeface="Fira Code"/>
              </a:rPr>
              <a:t>0.1</a:t>
            </a:r>
          </a:p>
        </p:txBody>
      </p:sp>
      <p:sp>
        <p:nvSpPr>
          <p:cNvPr id="121" name="EKF source line 04">
            <a:extLst xmlns:a="http://schemas.openxmlformats.org/drawingml/2006/main">
              <a:ext uri="{FF2B5EF4-FFF2-40B4-BE49-F238E27FC236}">
                <a16:creationId xmlns:a16="http://schemas.microsoft.com/office/drawing/2014/main" id="{5124C5F6-CBC9-4DAE-8F12-73F7482EC4C9}"/>
              </a:ext>
            </a:extLst>
          </p:cNvPr>
          <p:cNvSpPr>
            <a:spLocks xmlns:a="http://schemas.openxmlformats.org/drawingml/2006/main" noGrp="1"/>
          </p:cNvSpPr>
          <p:nvPr/>
        </p:nvSpPr>
        <p:spPr>
          <a:xfrm xmlns:a="http://schemas.openxmlformats.org/drawingml/2006/main">
            <a:off x="22812375" y="1476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m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9BC7F3"/>
                </a:solidFill>
                <a:latin typeface="Fira Code"/>
                <a:ea typeface="Fira Code"/>
                <a:cs typeface="Fira Code"/>
              </a:rPr>
              <a:t>140 12</a:t>
            </a:r>
            <a:r>
              <a:rPr sz="2800">
                <a:solidFill>
                  <a:srgbClr val="AB7AB8"/>
                </a:solidFill>
                <a:latin typeface="Fira Code"/>
                <a:ea typeface="Fira Code"/>
                <a:cs typeface="Fira Code"/>
              </a:rPr>
              <a:t>]'</a:t>
            </a:r>
          </a:p>
        </p:txBody>
      </p:sp>
      <p:sp>
        <p:nvSpPr>
          <p:cNvPr id="122" name="EKF source line 05">
            <a:extLst xmlns:a="http://schemas.openxmlformats.org/drawingml/2006/main">
              <a:ext uri="{FF2B5EF4-FFF2-40B4-BE49-F238E27FC236}">
                <a16:creationId xmlns:a16="http://schemas.microsoft.com/office/drawing/2014/main" id="{AFBC6F66-EF2B-4CEF-B19B-CAF1414EE42C}"/>
              </a:ext>
            </a:extLst>
          </p:cNvPr>
          <p:cNvSpPr>
            <a:spLocks xmlns:a="http://schemas.openxmlformats.org/drawingml/2006/main" noGrp="1"/>
          </p:cNvSpPr>
          <p:nvPr/>
        </p:nvSpPr>
        <p:spPr>
          <a:xfrm xmlns:a="http://schemas.openxmlformats.org/drawingml/2006/main">
            <a:off x="22812375" y="1514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9BC7F3"/>
                </a:solidFill>
                <a:latin typeface="Fira Code"/>
                <a:ea typeface="Fira Code"/>
                <a:cs typeface="Fira Code"/>
              </a:rPr>
              <a:t>0.01 0</a:t>
            </a:r>
          </a:p>
        </p:txBody>
      </p:sp>
      <p:sp>
        <p:nvSpPr>
          <p:cNvPr id="123" name="EKF source line 06">
            <a:extLst xmlns:a="http://schemas.openxmlformats.org/drawingml/2006/main">
              <a:ext uri="{FF2B5EF4-FFF2-40B4-BE49-F238E27FC236}">
                <a16:creationId xmlns:a16="http://schemas.microsoft.com/office/drawing/2014/main" id="{4C007C38-AFA8-4451-A617-CDA9C7B6B1A8}"/>
              </a:ext>
            </a:extLst>
          </p:cNvPr>
          <p:cNvSpPr>
            <a:spLocks xmlns:a="http://schemas.openxmlformats.org/drawingml/2006/main" noGrp="1"/>
          </p:cNvSpPr>
          <p:nvPr/>
        </p:nvSpPr>
        <p:spPr>
          <a:xfrm xmlns:a="http://schemas.openxmlformats.org/drawingml/2006/main">
            <a:off x="22812375" y="1552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0    0.0025</a:t>
            </a:r>
            <a:r>
              <a:rPr sz="2800">
                <a:solidFill>
                  <a:srgbClr val="AB7AB8"/>
                </a:solidFill>
                <a:latin typeface="Fira Code"/>
                <a:ea typeface="Fira Code"/>
                <a:cs typeface="Fira Code"/>
              </a:rPr>
              <a:t>]</a:t>
            </a:r>
          </a:p>
        </p:txBody>
      </p:sp>
      <p:sp>
        <p:nvSpPr>
          <p:cNvPr id="124" name="EKF source line 07">
            <a:extLst xmlns:a="http://schemas.openxmlformats.org/drawingml/2006/main">
              <a:ext uri="{FF2B5EF4-FFF2-40B4-BE49-F238E27FC236}">
                <a16:creationId xmlns:a16="http://schemas.microsoft.com/office/drawing/2014/main" id="{DAE35FFF-4C2D-481A-B3C3-7538984D9D3E}"/>
              </a:ext>
            </a:extLst>
          </p:cNvPr>
          <p:cNvSpPr>
            <a:spLocks xmlns:a="http://schemas.openxmlformats.org/drawingml/2006/main" noGrp="1"/>
          </p:cNvSpPr>
          <p:nvPr/>
        </p:nvSpPr>
        <p:spPr>
          <a:xfrm xmlns:a="http://schemas.openxmlformats.org/drawingml/2006/main">
            <a:off x="22812375" y="1590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R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9BC7F3"/>
                </a:solidFill>
                <a:latin typeface="Fira Code"/>
                <a:ea typeface="Fira Code"/>
                <a:cs typeface="Fira Code"/>
              </a:rPr>
              <a:t>0.25</a:t>
            </a:r>
          </a:p>
        </p:txBody>
      </p:sp>
      <p:sp>
        <p:nvSpPr>
          <p:cNvPr id="125" name="EKF source line 08">
            <a:extLst xmlns:a="http://schemas.openxmlformats.org/drawingml/2006/main">
              <a:ext uri="{FF2B5EF4-FFF2-40B4-BE49-F238E27FC236}">
                <a16:creationId xmlns:a16="http://schemas.microsoft.com/office/drawing/2014/main" id="{A2DA91BA-CDD7-4A04-ACCF-D5D773BD6A76}"/>
              </a:ext>
            </a:extLst>
          </p:cNvPr>
          <p:cNvSpPr>
            <a:spLocks xmlns:a="http://schemas.openxmlformats.org/drawingml/2006/main" noGrp="1"/>
          </p:cNvSpPr>
          <p:nvPr/>
        </p:nvSpPr>
        <p:spPr>
          <a:xfrm xmlns:a="http://schemas.openxmlformats.org/drawingml/2006/main">
            <a:off x="22812375" y="1628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I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9BC7F3"/>
                </a:solidFill>
                <a:latin typeface="Fira Code"/>
                <a:ea typeface="Fira Code"/>
                <a:cs typeface="Fira Code"/>
              </a:rPr>
              <a:t>1 0 0</a:t>
            </a:r>
          </a:p>
        </p:txBody>
      </p:sp>
      <p:sp>
        <p:nvSpPr>
          <p:cNvPr id="126" name="EKF source line 09">
            <a:extLst xmlns:a="http://schemas.openxmlformats.org/drawingml/2006/main">
              <a:ext uri="{FF2B5EF4-FFF2-40B4-BE49-F238E27FC236}">
                <a16:creationId xmlns:a16="http://schemas.microsoft.com/office/drawing/2014/main" id="{16E890F6-C0C7-427D-836B-EABEF8694376}"/>
              </a:ext>
            </a:extLst>
          </p:cNvPr>
          <p:cNvSpPr>
            <a:spLocks xmlns:a="http://schemas.openxmlformats.org/drawingml/2006/main" noGrp="1"/>
          </p:cNvSpPr>
          <p:nvPr/>
        </p:nvSpPr>
        <p:spPr>
          <a:xfrm xmlns:a="http://schemas.openxmlformats.org/drawingml/2006/main">
            <a:off x="22812375" y="1666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0 1 0</a:t>
            </a:r>
          </a:p>
        </p:txBody>
      </p:sp>
      <p:sp>
        <p:nvSpPr>
          <p:cNvPr id="127" name="EKF source line 10">
            <a:extLst xmlns:a="http://schemas.openxmlformats.org/drawingml/2006/main">
              <a:ext uri="{FF2B5EF4-FFF2-40B4-BE49-F238E27FC236}">
                <a16:creationId xmlns:a16="http://schemas.microsoft.com/office/drawing/2014/main" id="{354B8B44-BE4A-466F-944D-237675850B06}"/>
              </a:ext>
            </a:extLst>
          </p:cNvPr>
          <p:cNvSpPr>
            <a:spLocks xmlns:a="http://schemas.openxmlformats.org/drawingml/2006/main" noGrp="1"/>
          </p:cNvSpPr>
          <p:nvPr/>
        </p:nvSpPr>
        <p:spPr>
          <a:xfrm xmlns:a="http://schemas.openxmlformats.org/drawingml/2006/main">
            <a:off x="22812375" y="1704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0 0 1</a:t>
            </a:r>
            <a:r>
              <a:rPr sz="2800">
                <a:solidFill>
                  <a:srgbClr val="AB7AB8"/>
                </a:solidFill>
                <a:latin typeface="Fira Code"/>
                <a:ea typeface="Fira Code"/>
                <a:cs typeface="Fira Code"/>
              </a:rPr>
              <a:t>]</a:t>
            </a:r>
          </a:p>
        </p:txBody>
      </p:sp>
      <p:sp>
        <p:nvSpPr>
          <p:cNvPr id="128" name="EKF source line 11">
            <a:extLst xmlns:a="http://schemas.openxmlformats.org/drawingml/2006/main">
              <a:ext uri="{FF2B5EF4-FFF2-40B4-BE49-F238E27FC236}">
                <a16:creationId xmlns:a16="http://schemas.microsoft.com/office/drawing/2014/main" id="{EEF8AB47-A5AA-436B-9D63-A997B9040EAB}"/>
              </a:ext>
            </a:extLst>
          </p:cNvPr>
          <p:cNvSpPr>
            <a:spLocks xmlns:a="http://schemas.openxmlformats.org/drawingml/2006/main" noGrp="1"/>
          </p:cNvSpPr>
          <p:nvPr/>
        </p:nvSpPr>
        <p:spPr>
          <a:xfrm xmlns:a="http://schemas.openxmlformats.org/drawingml/2006/main">
            <a:off x="22812375" y="1743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a:t>
            </a:r>
            <a:r>
              <a:rPr sz="2800">
                <a:solidFill>
                  <a:srgbClr val="EDDAF1"/>
                </a:solidFill>
                <a:latin typeface="Fira Code"/>
                <a:ea typeface="Fira Code"/>
                <a:cs typeface="Fira Code"/>
              </a:rPr>
              <a:t>μ </a:t>
            </a:r>
            <a:r>
              <a:rPr sz="2800">
                <a:solidFill>
                  <a:srgbClr val="AB7AB8"/>
                </a:solidFill>
                <a:latin typeface="Fira Code"/>
                <a:ea typeface="Fira Code"/>
                <a:cs typeface="Fira Code"/>
              </a:rPr>
              <a:t>:= [</a:t>
            </a:r>
            <a:r>
              <a:rPr sz="2800">
                <a:solidFill>
                  <a:srgbClr val="9BC7F3"/>
                </a:solidFill>
                <a:latin typeface="Fira Code"/>
                <a:ea typeface="Fira Code"/>
                <a:cs typeface="Fira Code"/>
              </a:rPr>
              <a:t>55 25 0.4</a:t>
            </a:r>
            <a:r>
              <a:rPr sz="2800">
                <a:solidFill>
                  <a:srgbClr val="AB7AB8"/>
                </a:solidFill>
                <a:latin typeface="Fira Code"/>
                <a:ea typeface="Fira Code"/>
                <a:cs typeface="Fira Code"/>
              </a:rPr>
              <a:t>]’</a:t>
            </a:r>
          </a:p>
        </p:txBody>
      </p:sp>
      <p:sp>
        <p:nvSpPr>
          <p:cNvPr id="129" name="EKF source line 12">
            <a:extLst xmlns:a="http://schemas.openxmlformats.org/drawingml/2006/main">
              <a:ext uri="{FF2B5EF4-FFF2-40B4-BE49-F238E27FC236}">
                <a16:creationId xmlns:a16="http://schemas.microsoft.com/office/drawing/2014/main" id="{D4863194-506B-4CA3-80BC-50BA992444B5}"/>
              </a:ext>
            </a:extLst>
          </p:cNvPr>
          <p:cNvSpPr>
            <a:spLocks xmlns:a="http://schemas.openxmlformats.org/drawingml/2006/main" noGrp="1"/>
          </p:cNvSpPr>
          <p:nvPr/>
        </p:nvSpPr>
        <p:spPr>
          <a:xfrm xmlns:a="http://schemas.openxmlformats.org/drawingml/2006/main">
            <a:off x="22812375" y="1781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a:t>
            </a:r>
            <a:r>
              <a:rPr sz="2800">
                <a:solidFill>
                  <a:srgbClr val="EDDAF1"/>
                </a:solidFill>
                <a:latin typeface="Fira Code"/>
                <a:ea typeface="Fira Code"/>
                <a:cs typeface="Fira Code"/>
              </a:rPr>
              <a:t>Σ </a:t>
            </a:r>
            <a:r>
              <a:rPr sz="2800">
                <a:solidFill>
                  <a:srgbClr val="AB7AB8"/>
                </a:solidFill>
                <a:latin typeface="Fira Code"/>
                <a:ea typeface="Fira Code"/>
                <a:cs typeface="Fira Code"/>
              </a:rPr>
              <a:t>:= [</a:t>
            </a:r>
            <a:r>
              <a:rPr sz="2800">
                <a:solidFill>
                  <a:srgbClr val="9BC7F3"/>
                </a:solidFill>
                <a:latin typeface="Fira Code"/>
                <a:ea typeface="Fira Code"/>
                <a:cs typeface="Fira Code"/>
              </a:rPr>
              <a:t>100 0   0</a:t>
            </a:r>
            <a:r>
              <a:rPr sz="2800">
                <a:solidFill>
                  <a:srgbClr val="9BC7F3"/>
                </a:solidFill>
                <a:latin typeface="Fira Code"/>
                <a:ea typeface="Fira Code"/>
                <a:cs typeface="Fira Code"/>
              </a:rPr>
              <a:t/>
            </a:r>
          </a:p>
        </p:txBody>
      </p:sp>
      <p:sp>
        <p:nvSpPr>
          <p:cNvPr id="130" name="EKF source line 13">
            <a:extLst xmlns:a="http://schemas.openxmlformats.org/drawingml/2006/main">
              <a:ext uri="{FF2B5EF4-FFF2-40B4-BE49-F238E27FC236}">
                <a16:creationId xmlns:a16="http://schemas.microsoft.com/office/drawing/2014/main" id="{3F2FF928-4F55-492A-854A-C5557902244A}"/>
              </a:ext>
            </a:extLst>
          </p:cNvPr>
          <p:cNvSpPr>
            <a:spLocks xmlns:a="http://schemas.openxmlformats.org/drawingml/2006/main" noGrp="1"/>
          </p:cNvSpPr>
          <p:nvPr/>
        </p:nvSpPr>
        <p:spPr>
          <a:xfrm xmlns:a="http://schemas.openxmlformats.org/drawingml/2006/main">
            <a:off x="22812375" y="1819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0   100 0</a:t>
            </a:r>
          </a:p>
        </p:txBody>
      </p:sp>
      <p:sp>
        <p:nvSpPr>
          <p:cNvPr id="131" name="EKF source line 14">
            <a:extLst xmlns:a="http://schemas.openxmlformats.org/drawingml/2006/main">
              <a:ext uri="{FF2B5EF4-FFF2-40B4-BE49-F238E27FC236}">
                <a16:creationId xmlns:a16="http://schemas.microsoft.com/office/drawing/2014/main" id="{C671F9FA-80F5-492C-9EF5-ADDF8D19EFAE}"/>
              </a:ext>
            </a:extLst>
          </p:cNvPr>
          <p:cNvSpPr>
            <a:spLocks xmlns:a="http://schemas.openxmlformats.org/drawingml/2006/main" noGrp="1"/>
          </p:cNvSpPr>
          <p:nvPr/>
        </p:nvSpPr>
        <p:spPr>
          <a:xfrm xmlns:a="http://schemas.openxmlformats.org/drawingml/2006/main">
            <a:off x="22812375" y="1857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0   0   0.15</a:t>
            </a:r>
            <a:r>
              <a:rPr sz="2800">
                <a:solidFill>
                  <a:srgbClr val="AB7AB8"/>
                </a:solidFill>
                <a:latin typeface="Fira Code"/>
                <a:ea typeface="Fira Code"/>
                <a:cs typeface="Fira Code"/>
              </a:rPr>
              <a:t>]</a:t>
            </a:r>
          </a:p>
        </p:txBody>
      </p:sp>
      <p:sp>
        <p:nvSpPr>
          <p:cNvPr id="132" name="EKF source line 15">
            <a:extLst xmlns:a="http://schemas.openxmlformats.org/drawingml/2006/main">
              <a:ext uri="{FF2B5EF4-FFF2-40B4-BE49-F238E27FC236}">
                <a16:creationId xmlns:a16="http://schemas.microsoft.com/office/drawing/2014/main" id="{96DD4E68-F593-49BF-A276-588D8C28C6B2}"/>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DCD06C0C-41A1-42B2-886B-98621C0D4F55}"/>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Time Update</a:t>
            </a:r>
          </a:p>
        </p:txBody>
      </p:sp>
      <p:sp>
        <p:nvSpPr>
          <p:cNvPr id="134" name="EKF source line 17">
            <a:extLst xmlns:a="http://schemas.openxmlformats.org/drawingml/2006/main">
              <a:ext uri="{FF2B5EF4-FFF2-40B4-BE49-F238E27FC236}">
                <a16:creationId xmlns:a16="http://schemas.microsoft.com/office/drawing/2014/main" id="{21C694B5-7E81-46DD-8DBB-DB99252C7D9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35" name="EKF source line 18">
            <a:extLst xmlns:a="http://schemas.openxmlformats.org/drawingml/2006/main">
              <a:ext uri="{FF2B5EF4-FFF2-40B4-BE49-F238E27FC236}">
                <a16:creationId xmlns:a16="http://schemas.microsoft.com/office/drawing/2014/main" id="{C9227122-6EC0-48A0-BC42-EF3A99C47B41}"/>
              </a:ext>
            </a:extLst>
          </p:cNvPr>
          <p:cNvSpPr>
            <a:spLocks xmlns:a="http://schemas.openxmlformats.org/drawingml/2006/main" noGrp="1"/>
          </p:cNvSpPr>
          <p:nvPr/>
        </p:nvSpPr>
        <p:spPr>
          <a:xfrm xmlns:a="http://schemas.openxmlformats.org/drawingml/2006/main">
            <a:off x="22812375" y="2009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θ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a:t>
            </a:r>
            <a:r>
              <a:rPr sz="2800">
                <a:solidFill>
                  <a:srgbClr val="AB7AB8"/>
                </a:solidFill>
                <a:latin typeface="Fira Code"/>
                <a:ea typeface="Fira Code"/>
                <a:cs typeface="Fira Code"/>
              </a:rPr>
              <a:t>[</a:t>
            </a:r>
            <a:r>
              <a:rPr sz="2800">
                <a:solidFill>
                  <a:srgbClr val="9BC7F3"/>
                </a:solidFill>
                <a:latin typeface="Fira Code"/>
                <a:ea typeface="Fira Code"/>
                <a:cs typeface="Fira Code"/>
              </a:rPr>
              <a:t>3</a:t>
            </a:r>
            <a:r>
              <a:rPr sz="2800">
                <a:solidFill>
                  <a:srgbClr val="AB7AB8"/>
                </a:solidFill>
                <a:latin typeface="Fira Code"/>
                <a:ea typeface="Fira Code"/>
                <a:cs typeface="Fira Code"/>
              </a:rPr>
              <a:t>]</a:t>
            </a:r>
          </a:p>
        </p:txBody>
      </p:sp>
      <p:sp>
        <p:nvSpPr>
          <p:cNvPr id="136" name="EKF source line 19">
            <a:extLst xmlns:a="http://schemas.openxmlformats.org/drawingml/2006/main">
              <a:ext uri="{FF2B5EF4-FFF2-40B4-BE49-F238E27FC236}">
                <a16:creationId xmlns:a16="http://schemas.microsoft.com/office/drawing/2014/main" id="{B2CF385F-D21E-4B7E-92E2-CA79BC93147A}"/>
              </a:ext>
            </a:extLst>
          </p:cNvPr>
          <p:cNvSpPr>
            <a:spLocks xmlns:a="http://schemas.openxmlformats.org/drawingml/2006/main" noGrp="1"/>
          </p:cNvSpPr>
          <p:nvPr/>
        </p:nvSpPr>
        <p:spPr>
          <a:xfrm xmlns:a="http://schemas.openxmlformats.org/drawingml/2006/main">
            <a:off x="22812375" y="2047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v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EDDAF1"/>
                </a:solidFill>
                <a:latin typeface="Fira Code"/>
                <a:ea typeface="Fira Code"/>
                <a:cs typeface="Fira Code"/>
              </a:rPr>
              <a:t>t</a:t>
            </a:r>
          </a:p>
        </p:txBody>
      </p:sp>
      <p:sp>
        <p:nvSpPr>
          <p:cNvPr id="137" name="EKF source line 20">
            <a:extLst xmlns:a="http://schemas.openxmlformats.org/drawingml/2006/main">
              <a:ext uri="{FF2B5EF4-FFF2-40B4-BE49-F238E27FC236}">
                <a16:creationId xmlns:a16="http://schemas.microsoft.com/office/drawing/2014/main" id="{47A7B0DB-703D-4383-B02E-F66D8FF358CB}"/>
              </a:ext>
            </a:extLst>
          </p:cNvPr>
          <p:cNvSpPr>
            <a:spLocks xmlns:a="http://schemas.openxmlformats.org/drawingml/2006/main" noGrp="1"/>
          </p:cNvSpPr>
          <p:nvPr/>
        </p:nvSpPr>
        <p:spPr>
          <a:xfrm xmlns:a="http://schemas.openxmlformats.org/drawingml/2006/main">
            <a:off x="22812375" y="2085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G </a:t>
            </a:r>
            <a:r>
              <a:rPr sz="2800">
                <a:solidFill>
                  <a:srgbClr val="AB7AB8"/>
                </a:solidFill>
                <a:latin typeface="Fira Code"/>
                <a:ea typeface="Fira Code"/>
                <a:cs typeface="Fira Code"/>
              </a:rPr>
              <a:t>:= [</a:t>
            </a:r>
            <a:r>
              <a:rPr sz="2800">
                <a:solidFill>
                  <a:srgbClr val="9BC7F3"/>
                </a:solidFill>
                <a:latin typeface="Fira Code"/>
                <a:ea typeface="Fira Code"/>
                <a:cs typeface="Fira Code"/>
              </a:rPr>
              <a:t>1 0</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9BC7F3"/>
                </a:solidFill>
                <a:latin typeface="Fira Code"/>
                <a:ea typeface="Fira Code"/>
                <a:cs typeface="Fira Code"/>
              </a:rPr>
              <a:t>0</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AB7AB8"/>
                </a:solidFill>
                <a:latin typeface="Fira Code"/>
                <a:ea typeface="Fira Code"/>
                <a:cs typeface="Fira Code"/>
              </a:rPr>
              <a:t>)</a:t>
            </a:r>
          </a:p>
        </p:txBody>
      </p:sp>
      <p:sp>
        <p:nvSpPr>
          <p:cNvPr id="138" name="EKF source line 21">
            <a:extLst xmlns:a="http://schemas.openxmlformats.org/drawingml/2006/main">
              <a:ext uri="{FF2B5EF4-FFF2-40B4-BE49-F238E27FC236}">
                <a16:creationId xmlns:a16="http://schemas.microsoft.com/office/drawing/2014/main" id="{F16E1787-1F36-4727-84C7-8B558E98B909}"/>
              </a:ext>
            </a:extLst>
          </p:cNvPr>
          <p:cNvSpPr>
            <a:spLocks xmlns:a="http://schemas.openxmlformats.org/drawingml/2006/main" noGrp="1"/>
          </p:cNvSpPr>
          <p:nvPr/>
        </p:nvSpPr>
        <p:spPr>
          <a:xfrm xmlns:a="http://schemas.openxmlformats.org/drawingml/2006/main">
            <a:off x="22812375" y="2124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r>
            <a:r>
              <a:rPr sz="2800">
                <a:solidFill>
                  <a:srgbClr val="9BC7F3"/>
                </a:solidFill>
                <a:latin typeface="Fira Code"/>
                <a:ea typeface="Fira Code"/>
                <a:cs typeface="Fira Code"/>
              </a:rPr>
              <a:t>0 1</a:t>
            </a:r>
            <a:r>
              <a:rPr sz="2800">
                <a:solidFill>
                  <a:srgbClr val="EDDAF1"/>
                </a:solidFill>
                <a:latin typeface="Fira Code"/>
                <a:ea typeface="Fira Code"/>
                <a:cs typeface="Fira Code"/>
              </a:rPr>
              <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39" name="EKF source line 22">
            <a:extLst xmlns:a="http://schemas.openxmlformats.org/drawingml/2006/main">
              <a:ext uri="{FF2B5EF4-FFF2-40B4-BE49-F238E27FC236}">
                <a16:creationId xmlns:a16="http://schemas.microsoft.com/office/drawing/2014/main" id="{BC0DB53D-B8F5-41FF-8475-E19A4D1E9935}"/>
              </a:ext>
            </a:extLst>
          </p:cNvPr>
          <p:cNvSpPr>
            <a:spLocks xmlns:a="http://schemas.openxmlformats.org/drawingml/2006/main" noGrp="1"/>
          </p:cNvSpPr>
          <p:nvPr/>
        </p:nvSpPr>
        <p:spPr>
          <a:xfrm xmlns:a="http://schemas.openxmlformats.org/drawingml/2006/main">
            <a:off x="22812375" y="2162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r>
            <a:r>
              <a:rPr sz="2800">
                <a:solidFill>
                  <a:srgbClr val="9BC7F3"/>
                </a:solidFill>
                <a:latin typeface="Fira Code"/>
                <a:ea typeface="Fira Code"/>
                <a:cs typeface="Fira Code"/>
              </a:rPr>
              <a:t>0 0 1</a:t>
            </a:r>
            <a:r>
              <a:rPr sz="2800">
                <a:solidFill>
                  <a:srgbClr val="AB7AB8"/>
                </a:solidFill>
                <a:latin typeface="Fira Code"/>
                <a:ea typeface="Fira Code"/>
                <a:cs typeface="Fira Code"/>
              </a:rPr>
              <a:t>]</a:t>
            </a:r>
          </a:p>
        </p:txBody>
      </p:sp>
      <p:sp>
        <p:nvSpPr>
          <p:cNvPr id="140" name="EKF source line 23">
            <a:extLst xmlns:a="http://schemas.openxmlformats.org/drawingml/2006/main">
              <a:ext uri="{FF2B5EF4-FFF2-40B4-BE49-F238E27FC236}">
                <a16:creationId xmlns:a16="http://schemas.microsoft.com/office/drawing/2014/main" id="{A680D009-09B0-4B1F-98B3-0AC62011490B}"/>
              </a:ext>
            </a:extLst>
          </p:cNvPr>
          <p:cNvSpPr>
            <a:spLocks xmlns:a="http://schemas.openxmlformats.org/drawingml/2006/main" noGrp="1"/>
          </p:cNvSpPr>
          <p:nvPr/>
        </p:nvSpPr>
        <p:spPr>
          <a:xfrm xmlns:a="http://schemas.openxmlformats.org/drawingml/2006/main">
            <a:off x="22812375" y="2200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V </a:t>
            </a:r>
            <a:r>
              <a:rPr sz="2800">
                <a:solidFill>
                  <a:srgbClr val="AB7AB8"/>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 </a:t>
            </a:r>
            <a:r>
              <a:rPr sz="2800">
                <a:solidFill>
                  <a:srgbClr val="9BC7F3"/>
                </a:solidFill>
                <a:latin typeface="Fira Code"/>
                <a:ea typeface="Fira Code"/>
                <a:cs typeface="Fira Code"/>
              </a:rPr>
              <a:t>0</a:t>
            </a:r>
          </a:p>
        </p:txBody>
      </p:sp>
      <p:sp>
        <p:nvSpPr>
          <p:cNvPr id="141" name="EKF source line 24">
            <a:extLst xmlns:a="http://schemas.openxmlformats.org/drawingml/2006/main">
              <a:ext uri="{FF2B5EF4-FFF2-40B4-BE49-F238E27FC236}">
                <a16:creationId xmlns:a16="http://schemas.microsoft.com/office/drawing/2014/main" id="{F0BFE3A3-BF8A-44FE-BD3F-4A2BA9446B55}"/>
              </a:ext>
            </a:extLst>
          </p:cNvPr>
          <p:cNvSpPr>
            <a:spLocks xmlns:a="http://schemas.openxmlformats.org/drawingml/2006/main" noGrp="1"/>
          </p:cNvSpPr>
          <p:nvPr/>
        </p:nvSpPr>
        <p:spPr>
          <a:xfrm xmlns:a="http://schemas.openxmlformats.org/drawingml/2006/main">
            <a:off x="22812375" y="2238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 </a:t>
            </a:r>
            <a:r>
              <a:rPr sz="2800">
                <a:solidFill>
                  <a:srgbClr val="9BC7F3"/>
                </a:solidFill>
                <a:latin typeface="Fira Code"/>
                <a:ea typeface="Fira Code"/>
                <a:cs typeface="Fira Code"/>
              </a:rPr>
              <a:t>0</a:t>
            </a:r>
          </a:p>
        </p:txBody>
      </p:sp>
      <p:sp>
        <p:nvSpPr>
          <p:cNvPr id="142" name="EKF source line 25">
            <a:extLst xmlns:a="http://schemas.openxmlformats.org/drawingml/2006/main">
              <a:ext uri="{FF2B5EF4-FFF2-40B4-BE49-F238E27FC236}">
                <a16:creationId xmlns:a16="http://schemas.microsoft.com/office/drawing/2014/main" id="{3A5BDBBD-451E-4F58-91D2-9D4B46B98451}"/>
              </a:ext>
            </a:extLst>
          </p:cNvPr>
          <p:cNvSpPr>
            <a:spLocks xmlns:a="http://schemas.openxmlformats.org/drawingml/2006/main" noGrp="1"/>
          </p:cNvSpPr>
          <p:nvPr/>
        </p:nvSpPr>
        <p:spPr>
          <a:xfrm xmlns:a="http://schemas.openxmlformats.org/drawingml/2006/main">
            <a:off x="22812375" y="2276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r>
            <a:r>
              <a:rPr sz="2800">
                <a:solidFill>
                  <a:srgbClr val="9BC7F3"/>
                </a:solidFill>
                <a:latin typeface="Fira Code"/>
                <a:ea typeface="Fira Code"/>
                <a:cs typeface="Fira Code"/>
              </a:rPr>
              <a:t>0</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EDDAF1"/>
                </a:solidFill>
                <a:latin typeface="Fira Code"/>
                <a:ea typeface="Fira Code"/>
                <a:cs typeface="Fira Code"/>
              </a:rPr>
              <a:t>t</a:t>
            </a:r>
            <a:r>
              <a:rPr sz="2800">
                <a:solidFill>
                  <a:srgbClr val="AB7AB8"/>
                </a:solidFill>
                <a:latin typeface="Fira Code"/>
                <a:ea typeface="Fira Code"/>
                <a:cs typeface="Fira Code"/>
              </a:rPr>
              <a:t>]</a:t>
            </a:r>
          </a:p>
        </p:txBody>
      </p:sp>
      <p:sp>
        <p:nvSpPr>
          <p:cNvPr id="143" name="EKF source line 26">
            <a:extLst xmlns:a="http://schemas.openxmlformats.org/drawingml/2006/main">
              <a:ext uri="{FF2B5EF4-FFF2-40B4-BE49-F238E27FC236}">
                <a16:creationId xmlns:a16="http://schemas.microsoft.com/office/drawing/2014/main" id="{71E0E359-6822-4770-8AA1-9BE1DB5A9059}"/>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E2930AF0-864B-4BE1-8215-8025174F1A64}"/>
              </a:ext>
            </a:extLst>
          </p:cNvPr>
          <p:cNvSpPr>
            <a:spLocks xmlns:a="http://schemas.openxmlformats.org/drawingml/2006/main" noGrp="1"/>
          </p:cNvSpPr>
          <p:nvPr/>
        </p:nvSpPr>
        <p:spPr>
          <a:xfrm xmlns:a="http://schemas.openxmlformats.org/drawingml/2006/main">
            <a:off x="22812375" y="2352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45" name="EKF source line 28">
            <a:extLst xmlns:a="http://schemas.openxmlformats.org/drawingml/2006/main">
              <a:ext uri="{FF2B5EF4-FFF2-40B4-BE49-F238E27FC236}">
                <a16:creationId xmlns:a16="http://schemas.microsoft.com/office/drawing/2014/main" id="{7EDC4FAB-C827-4BFB-9C27-26FA9BC2E9B6}"/>
              </a:ext>
            </a:extLst>
          </p:cNvPr>
          <p:cNvSpPr>
            <a:spLocks xmlns:a="http://schemas.openxmlformats.org/drawingml/2006/main" noGrp="1"/>
          </p:cNvSpPr>
          <p:nvPr/>
        </p:nvSpPr>
        <p:spPr>
          <a:xfrm xmlns:a="http://schemas.openxmlformats.org/drawingml/2006/main">
            <a:off x="22812375" y="2390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46" name="EKF source line 29">
            <a:extLst xmlns:a="http://schemas.openxmlformats.org/drawingml/2006/main">
              <a:ext uri="{FF2B5EF4-FFF2-40B4-BE49-F238E27FC236}">
                <a16:creationId xmlns:a16="http://schemas.microsoft.com/office/drawing/2014/main" id="{2F59D6CD-85D7-42BC-89AB-B03985662B64}"/>
              </a:ext>
            </a:extLst>
          </p:cNvPr>
          <p:cNvSpPr>
            <a:spLocks xmlns:a="http://schemas.openxmlformats.org/drawingml/2006/main" noGrp="1"/>
          </p:cNvSpPr>
          <p:nvPr/>
        </p:nvSpPr>
        <p:spPr>
          <a:xfrm xmlns:a="http://schemas.openxmlformats.org/drawingml/2006/main">
            <a:off x="22812375" y="2428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ω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a:t>
            </a:r>
            <a:r>
              <a:rPr sz="2800">
                <a:solidFill>
                  <a:srgbClr val="AB7AB8"/>
                </a:solidFill>
                <a:latin typeface="Fira Code"/>
                <a:ea typeface="Fira Code"/>
                <a:cs typeface="Fira Code"/>
              </a:rPr>
              <a:t>]</a:t>
            </a:r>
          </a:p>
        </p:txBody>
      </p:sp>
      <p:sp>
        <p:nvSpPr>
          <p:cNvPr id="147" name="EKF source line 30">
            <a:extLst xmlns:a="http://schemas.openxmlformats.org/drawingml/2006/main">
              <a:ext uri="{FF2B5EF4-FFF2-40B4-BE49-F238E27FC236}">
                <a16:creationId xmlns:a16="http://schemas.microsoft.com/office/drawing/2014/main" id="{46DEC10A-0A37-4704-914D-087B5F5E7274}"/>
              </a:ext>
            </a:extLst>
          </p:cNvPr>
          <p:cNvSpPr>
            <a:spLocks xmlns:a="http://schemas.openxmlformats.org/drawingml/2006/main" noGrp="1"/>
          </p:cNvSpPr>
          <p:nvPr/>
        </p:nvSpPr>
        <p:spPr>
          <a:xfrm xmlns:a="http://schemas.openxmlformats.org/drawingml/2006/main">
            <a:off x="22812375" y="2466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G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G' </a:t>
            </a:r>
            <a:r>
              <a:rPr sz="2800">
                <a:solidFill>
                  <a:srgbClr val="AB7AB8"/>
                </a:solidFill>
                <a:latin typeface="Fira Code"/>
                <a:ea typeface="Fira Code"/>
                <a:cs typeface="Fira Code"/>
              </a:rPr>
              <a:t>+</a:t>
            </a:r>
            <a:r>
              <a:rPr sz="2800">
                <a:solidFill>
                  <a:srgbClr val="EDDAF1"/>
                </a:solidFill>
                <a:latin typeface="Fira Code"/>
                <a:ea typeface="Fira Code"/>
                <a:cs typeface="Fira Code"/>
              </a:rPr>
              <a:t> V </a:t>
            </a:r>
            <a:r>
              <a:rPr sz="2800">
                <a:solidFill>
                  <a:srgbClr val="AB7AB8"/>
                </a:solidFill>
                <a:latin typeface="Fira Code"/>
                <a:ea typeface="Fira Code"/>
                <a:cs typeface="Fira Code"/>
              </a:rPr>
              <a:t>** </a:t>
            </a: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V</a:t>
            </a:r>
            <a:r>
              <a:rPr sz="2800">
                <a:solidFill>
                  <a:srgbClr val="AB7AB8"/>
                </a:solidFill>
                <a:latin typeface="Fira Code"/>
                <a:ea typeface="Fira Code"/>
                <a:cs typeface="Fira Code"/>
              </a:rPr>
              <a:t>'</a:t>
            </a:r>
          </a:p>
        </p:txBody>
      </p:sp>
      <p:sp>
        <p:nvSpPr>
          <p:cNvPr id="148" name="EKF source line 31">
            <a:extLst xmlns:a="http://schemas.openxmlformats.org/drawingml/2006/main">
              <a:ext uri="{FF2B5EF4-FFF2-40B4-BE49-F238E27FC236}">
                <a16:creationId xmlns:a16="http://schemas.microsoft.com/office/drawing/2014/main" id="{12D4C66E-BE6D-4602-B528-6AE20B82BFD9}"/>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277DF30-EF71-4C32-9ED2-060F99F4BD49}"/>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Measurement Update</a:t>
            </a:r>
          </a:p>
        </p:txBody>
      </p:sp>
      <p:sp>
        <p:nvSpPr>
          <p:cNvPr id="150" name="EKF source line 33">
            <a:extLst xmlns:a="http://schemas.openxmlformats.org/drawingml/2006/main">
              <a:ext uri="{FF2B5EF4-FFF2-40B4-BE49-F238E27FC236}">
                <a16:creationId xmlns:a16="http://schemas.microsoft.com/office/drawing/2014/main" id="{4E14CEAE-D750-4B7A-A77C-6C852AD903CC}"/>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51" name="EKF source line 34">
            <a:extLst xmlns:a="http://schemas.openxmlformats.org/drawingml/2006/main">
              <a:ext uri="{FF2B5EF4-FFF2-40B4-BE49-F238E27FC236}">
                <a16:creationId xmlns:a16="http://schemas.microsoft.com/office/drawing/2014/main" id="{C9B3DD33-0F6B-4D20-BBA0-8B8F5DEE0422}"/>
              </a:ext>
            </a:extLst>
          </p:cNvPr>
          <p:cNvSpPr>
            <a:spLocks xmlns:a="http://schemas.openxmlformats.org/drawingml/2006/main" noGrp="1"/>
          </p:cNvSpPr>
          <p:nvPr/>
        </p:nvSpPr>
        <p:spPr>
          <a:xfrm xmlns:a="http://schemas.openxmlformats.org/drawingml/2006/main">
            <a:off x="22812375" y="2619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m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μ̄</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r>
              <a:rPr sz="2800">
                <a:solidFill>
                  <a:srgbClr val="9BC7F3"/>
                </a:solidFill>
                <a:latin typeface="Fira Code"/>
                <a:ea typeface="Fira Code"/>
                <a:cs typeface="Fira Code"/>
              </a:rPr>
              <a:t>2</a:t>
            </a:r>
            <a:r>
              <a:rPr sz="2800">
                <a:solidFill>
                  <a:srgbClr val="AB7AB8"/>
                </a:solidFill>
                <a:latin typeface="Fira Code"/>
                <a:ea typeface="Fira Code"/>
                <a:cs typeface="Fira Code"/>
              </a:rPr>
              <a:t>]</a:t>
            </a:r>
          </a:p>
        </p:txBody>
      </p:sp>
      <p:sp>
        <p:nvSpPr>
          <p:cNvPr id="152" name="EKF source line 35">
            <a:extLst xmlns:a="http://schemas.openxmlformats.org/drawingml/2006/main">
              <a:ext uri="{FF2B5EF4-FFF2-40B4-BE49-F238E27FC236}">
                <a16:creationId xmlns:a16="http://schemas.microsoft.com/office/drawing/2014/main" id="{A3C6AB26-FD2D-4CBE-98F7-9028C28C82EC}"/>
              </a:ext>
            </a:extLst>
          </p:cNvPr>
          <p:cNvSpPr>
            <a:spLocks xmlns:a="http://schemas.openxmlformats.org/drawingml/2006/main" noGrp="1"/>
          </p:cNvSpPr>
          <p:nvPr/>
        </p:nvSpPr>
        <p:spPr>
          <a:xfrm xmlns:a="http://schemas.openxmlformats.org/drawingml/2006/main">
            <a:off x="22812375" y="2657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x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53" name="EKF source line 36">
            <a:extLst xmlns:a="http://schemas.openxmlformats.org/drawingml/2006/main">
              <a:ext uri="{FF2B5EF4-FFF2-40B4-BE49-F238E27FC236}">
                <a16:creationId xmlns:a16="http://schemas.microsoft.com/office/drawing/2014/main" id="{5D3351FC-7922-4340-AAE6-E03A1A7CF714}"/>
              </a:ext>
            </a:extLst>
          </p:cNvPr>
          <p:cNvSpPr>
            <a:spLocks xmlns:a="http://schemas.openxmlformats.org/drawingml/2006/main" noGrp="1"/>
          </p:cNvSpPr>
          <p:nvPr/>
        </p:nvSpPr>
        <p:spPr>
          <a:xfrm xmlns:a="http://schemas.openxmlformats.org/drawingml/2006/main">
            <a:off x="22812375" y="2695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AB7AB8"/>
                </a:solidFill>
                <a:latin typeface="Fira Code"/>
                <a:ea typeface="Fira Code"/>
                <a:cs typeface="Fira Code"/>
              </a:rPr>
              <a:t>[</a:t>
            </a:r>
            <a:r>
              <a:rPr sz="2800">
                <a:solidFill>
                  <a:srgbClr val="9BC7F3"/>
                </a:solidFill>
                <a:latin typeface="Fira Code"/>
                <a:ea typeface="Fira Code"/>
                <a:cs typeface="Fira Code"/>
              </a:rPr>
              <a:t>2</a:t>
            </a:r>
            <a:r>
              <a:rPr sz="2800">
                <a:solidFill>
                  <a:srgbClr val="AB7AB8"/>
                </a:solidFill>
                <a:latin typeface="Fira Code"/>
                <a:ea typeface="Fira Code"/>
                <a:cs typeface="Fira Code"/>
              </a:rPr>
              <a:t>]</a:t>
            </a:r>
          </a:p>
        </p:txBody>
      </p:sp>
      <p:sp>
        <p:nvSpPr>
          <p:cNvPr id="154" name="EKF source line 37">
            <a:extLst xmlns:a="http://schemas.openxmlformats.org/drawingml/2006/main">
              <a:ext uri="{FF2B5EF4-FFF2-40B4-BE49-F238E27FC236}">
                <a16:creationId xmlns:a16="http://schemas.microsoft.com/office/drawing/2014/main" id="{E6D63696-2E8C-47FE-B170-E937A386E8F4}"/>
              </a:ext>
            </a:extLst>
          </p:cNvPr>
          <p:cNvSpPr>
            <a:spLocks xmlns:a="http://schemas.openxmlformats.org/drawingml/2006/main" noGrp="1"/>
          </p:cNvSpPr>
          <p:nvPr/>
        </p:nvSpPr>
        <p:spPr>
          <a:xfrm xmlns:a="http://schemas.openxmlformats.org/drawingml/2006/main">
            <a:off x="22812375" y="2733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9BC7F3"/>
                </a:solidFill>
                <a:latin typeface="Fira Code"/>
                <a:ea typeface="Fira Code"/>
                <a:cs typeface="Fira Code"/>
              </a:rPr>
              <a:t>2</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9BC7F3"/>
                </a:solidFill>
                <a:latin typeface="Fira Code"/>
                <a:ea typeface="Fira Code"/>
                <a:cs typeface="Fira Code"/>
              </a:rPr>
              <a:t>2</a:t>
            </a:r>
          </a:p>
        </p:txBody>
      </p:sp>
      <p:sp>
        <p:nvSpPr>
          <p:cNvPr id="155" name="EKF source line 38">
            <a:extLst xmlns:a="http://schemas.openxmlformats.org/drawingml/2006/main">
              <a:ext uri="{FF2B5EF4-FFF2-40B4-BE49-F238E27FC236}">
                <a16:creationId xmlns:a16="http://schemas.microsoft.com/office/drawing/2014/main" id="{295A7E20-78AB-45E4-89FD-ECCBEE04C3B9}"/>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1AA5FF90-941E-4BB7-871C-BF76E95253FC}"/>
              </a:ext>
            </a:extLst>
          </p:cNvPr>
          <p:cNvSpPr>
            <a:spLocks xmlns:a="http://schemas.openxmlformats.org/drawingml/2006/main" noGrp="1"/>
          </p:cNvSpPr>
          <p:nvPr/>
        </p:nvSpPr>
        <p:spPr>
          <a:xfrm xmlns:a="http://schemas.openxmlformats.org/drawingml/2006/main">
            <a:off x="22812375" y="2809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ẑ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atan2</a:t>
            </a:r>
            <a:r>
              <a:rPr sz="2800">
                <a:solidFill>
                  <a:srgbClr val="99CCA4"/>
                </a:solidFill>
                <a:latin typeface="Fira Code"/>
                <a:ea typeface="Fira Code"/>
                <a:cs typeface="Fira Code"/>
              </a:rPr>
              <a:t>(</a:t>
            </a:r>
            <a:r>
              <a:rPr sz="2800">
                <a:solidFill>
                  <a:srgbClr val="EDDAF1"/>
                </a:solidFill>
                <a:latin typeface="Fira Code"/>
                <a:ea typeface="Fira Code"/>
                <a:cs typeface="Fira Code"/>
              </a:rPr>
              <a:t>δ</a:t>
            </a:r>
            <a:r>
              <a:rPr sz="2800">
                <a:solidFill>
                  <a:srgbClr val="EDDAF1"/>
                </a:solidFill>
                <a:latin typeface="Fira Code"/>
                <a:ea typeface="Fira Code"/>
                <a:cs typeface="Fira Code"/>
              </a:rPr>
              <a:t>y</a:t>
            </a:r>
            <a:r>
              <a:rPr sz="2800">
                <a:solidFill>
                  <a:srgbClr val="99CCA4"/>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a:t>
            </a:r>
            <a:r>
              <a:rPr sz="2800">
                <a:solidFill>
                  <a:srgbClr val="99CCA4"/>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μ̄</a:t>
            </a:r>
            <a:r>
              <a:rPr sz="2800">
                <a:solidFill>
                  <a:srgbClr val="AB7AB8"/>
                </a:solidFill>
                <a:latin typeface="Fira Code"/>
                <a:ea typeface="Fira Code"/>
                <a:cs typeface="Fira Code"/>
              </a:rPr>
              <a:t>[</a:t>
            </a:r>
            <a:r>
              <a:rPr sz="2800">
                <a:solidFill>
                  <a:srgbClr val="9BC7F3"/>
                </a:solidFill>
                <a:latin typeface="Fira Code"/>
                <a:ea typeface="Fira Code"/>
                <a:cs typeface="Fira Code"/>
              </a:rPr>
              <a:t>3</a:t>
            </a:r>
            <a:r>
              <a:rPr sz="2800">
                <a:solidFill>
                  <a:srgbClr val="AB7AB8"/>
                </a:solidFill>
                <a:latin typeface="Fira Code"/>
                <a:ea typeface="Fira Code"/>
                <a:cs typeface="Fira Code"/>
              </a:rPr>
              <a:t>]</a:t>
            </a:r>
          </a:p>
        </p:txBody>
      </p:sp>
      <p:sp>
        <p:nvSpPr>
          <p:cNvPr id="157" name="EKF source line 40">
            <a:extLst xmlns:a="http://schemas.openxmlformats.org/drawingml/2006/main">
              <a:ext uri="{FF2B5EF4-FFF2-40B4-BE49-F238E27FC236}">
                <a16:creationId xmlns:a16="http://schemas.microsoft.com/office/drawing/2014/main" id="{41BFEEF2-3F02-4A8A-BC39-4DEDA95AD95D}"/>
              </a:ext>
            </a:extLst>
          </p:cNvPr>
          <p:cNvSpPr>
            <a:spLocks xmlns:a="http://schemas.openxmlformats.org/drawingml/2006/main" noGrp="1"/>
          </p:cNvSpPr>
          <p:nvPr/>
        </p:nvSpPr>
        <p:spPr>
          <a:xfrm xmlns:a="http://schemas.openxmlformats.org/drawingml/2006/main">
            <a:off x="22812375" y="2847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r </a:t>
            </a:r>
            <a:r>
              <a:rPr sz="2800">
                <a:solidFill>
                  <a:srgbClr val="AB7AB8"/>
                </a:solidFill>
                <a:latin typeface="Fira Code"/>
                <a:ea typeface="Fira Code"/>
                <a:cs typeface="Fira Code"/>
              </a:rPr>
              <a:t>:=</a:t>
            </a:r>
            <a:r>
              <a:rPr sz="2800">
                <a:solidFill>
                  <a:srgbClr val="EDDAF1"/>
                </a:solidFill>
                <a:latin typeface="Fira Code"/>
                <a:ea typeface="Fira Code"/>
                <a:cs typeface="Fira Code"/>
              </a:rPr>
              <a:t> z </a:t>
            </a:r>
            <a:r>
              <a:rPr sz="2800">
                <a:solidFill>
                  <a:srgbClr val="AB7AB8"/>
                </a:solidFill>
                <a:latin typeface="Fira Code"/>
                <a:ea typeface="Fira Code"/>
                <a:cs typeface="Fira Code"/>
              </a:rPr>
              <a:t>-</a:t>
            </a:r>
            <a:r>
              <a:rPr sz="2800">
                <a:solidFill>
                  <a:srgbClr val="EDDAF1"/>
                </a:solidFill>
                <a:latin typeface="Fira Code"/>
                <a:ea typeface="Fira Code"/>
                <a:cs typeface="Fira Code"/>
              </a:rPr>
              <a:t> ẑ</a:t>
            </a:r>
          </a:p>
        </p:txBody>
      </p:sp>
      <p:sp>
        <p:nvSpPr>
          <p:cNvPr id="158" name="EKF source line 41">
            <a:extLst xmlns:a="http://schemas.openxmlformats.org/drawingml/2006/main">
              <a:ext uri="{FF2B5EF4-FFF2-40B4-BE49-F238E27FC236}">
                <a16:creationId xmlns:a16="http://schemas.microsoft.com/office/drawing/2014/main" id="{08F2D7A2-D295-40D0-A5BA-22D37991067D}"/>
              </a:ext>
            </a:extLst>
          </p:cNvPr>
          <p:cNvSpPr>
            <a:spLocks xmlns:a="http://schemas.openxmlformats.org/drawingml/2006/main" noGrp="1"/>
          </p:cNvSpPr>
          <p:nvPr/>
        </p:nvSpPr>
        <p:spPr>
          <a:xfrm xmlns:a="http://schemas.openxmlformats.org/drawingml/2006/main">
            <a:off x="22812375" y="2886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ν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atan2</a:t>
            </a:r>
            <a:r>
              <a:rPr sz="2800">
                <a:solidFill>
                  <a:srgbClr val="99CCA4"/>
                </a:solidFill>
                <a:latin typeface="Fira Code"/>
                <a:ea typeface="Fira Code"/>
                <a:cs typeface="Fira Code"/>
              </a:rPr>
              <a:t>(</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r</a:t>
            </a:r>
            <a:r>
              <a:rPr sz="2800">
                <a:solidFill>
                  <a:srgbClr val="99CCA4"/>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r</a:t>
            </a:r>
            <a:r>
              <a:rPr sz="2800">
                <a:solidFill>
                  <a:srgbClr val="99CCA4"/>
                </a:solidFill>
                <a:latin typeface="Fira Code"/>
                <a:ea typeface="Fira Code"/>
                <a:cs typeface="Fira Code"/>
              </a:rPr>
              <a:t>))</a:t>
            </a:r>
          </a:p>
        </p:txBody>
      </p:sp>
      <p:sp>
        <p:nvSpPr>
          <p:cNvPr id="159" name="EKF source line 42">
            <a:extLst xmlns:a="http://schemas.openxmlformats.org/drawingml/2006/main">
              <a:ext uri="{FF2B5EF4-FFF2-40B4-BE49-F238E27FC236}">
                <a16:creationId xmlns:a16="http://schemas.microsoft.com/office/drawing/2014/main" id="{FDEDCC0F-4649-4CA6-AE22-1F38BE9BF0D7}"/>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711F5776-54EA-44E9-96A0-816F05D70D4E}"/>
              </a:ext>
            </a:extLst>
          </p:cNvPr>
          <p:cNvSpPr>
            <a:spLocks xmlns:a="http://schemas.openxmlformats.org/drawingml/2006/main" noGrp="1"/>
          </p:cNvSpPr>
          <p:nvPr/>
        </p:nvSpPr>
        <p:spPr>
          <a:xfrm xmlns:a="http://schemas.openxmlformats.org/drawingml/2006/main">
            <a:off x="22812375" y="2962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H </a:t>
            </a:r>
            <a:r>
              <a:rPr sz="2800">
                <a:solidFill>
                  <a:srgbClr val="AB7AB8"/>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q</a:t>
            </a:r>
            <a:r>
              <a:rPr sz="2800">
                <a:solidFill>
                  <a:srgbClr val="AB7AB8"/>
                </a:solidFill>
                <a:latin typeface="Fira Code"/>
                <a:ea typeface="Fira Code"/>
                <a:cs typeface="Fira Code"/>
              </a:rPr>
              <a:t>, (</a:t>
            </a:r>
            <a:r>
              <a:rPr sz="2800">
                <a:solidFill>
                  <a:srgbClr val="9BC7F3"/>
                </a:solidFill>
                <a:latin typeface="Fira Code"/>
                <a:ea typeface="Fira Code"/>
                <a:cs typeface="Fira Code"/>
              </a:rPr>
              <a:t>0</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a:t>
            </a:r>
            <a:r>
              <a:rPr sz="2800">
                <a:solidFill>
                  <a:srgbClr val="AB7AB8"/>
                </a:solidFill>
                <a:latin typeface="Fira Code"/>
                <a:ea typeface="Fira Code"/>
                <a:cs typeface="Fira Code"/>
              </a:rPr>
              <a:t>) /</a:t>
            </a:r>
            <a:r>
              <a:rPr sz="2800">
                <a:solidFill>
                  <a:srgbClr val="EDDAF1"/>
                </a:solidFill>
                <a:latin typeface="Fira Code"/>
                <a:ea typeface="Fira Code"/>
                <a:cs typeface="Fira Code"/>
              </a:rPr>
              <a:t> q</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61" name="EKF source line 44">
            <a:extLst xmlns:a="http://schemas.openxmlformats.org/drawingml/2006/main">
              <a:ext uri="{FF2B5EF4-FFF2-40B4-BE49-F238E27FC236}">
                <a16:creationId xmlns:a16="http://schemas.microsoft.com/office/drawing/2014/main" id="{7780713A-3786-4498-9674-E23934CBAE71}"/>
              </a:ext>
            </a:extLst>
          </p:cNvPr>
          <p:cNvSpPr>
            <a:spLocks xmlns:a="http://schemas.openxmlformats.org/drawingml/2006/main" noGrp="1"/>
          </p:cNvSpPr>
          <p:nvPr/>
        </p:nvSpPr>
        <p:spPr>
          <a:xfrm xmlns:a="http://schemas.openxmlformats.org/drawingml/2006/main">
            <a:off x="22812375" y="3000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S </a:t>
            </a:r>
            <a:r>
              <a:rPr sz="2800">
                <a:solidFill>
                  <a:srgbClr val="AB7AB8"/>
                </a:solidFill>
                <a:latin typeface="Fira Code"/>
                <a:ea typeface="Fira Code"/>
                <a:cs typeface="Fira Code"/>
              </a:rPr>
              <a:t>:=</a:t>
            </a:r>
            <a:r>
              <a:rPr sz="2800">
                <a:solidFill>
                  <a:srgbClr val="EDDAF1"/>
                </a:solidFill>
                <a:latin typeface="Fira Code"/>
                <a:ea typeface="Fira Code"/>
                <a:cs typeface="Fira Code"/>
              </a:rPr>
              <a:t> H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H</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R</a:t>
            </a:r>
          </a:p>
        </p:txBody>
      </p:sp>
      <p:sp>
        <p:nvSpPr>
          <p:cNvPr id="162" name="EKF source line 45">
            <a:extLst xmlns:a="http://schemas.openxmlformats.org/drawingml/2006/main">
              <a:ext uri="{FF2B5EF4-FFF2-40B4-BE49-F238E27FC236}">
                <a16:creationId xmlns:a16="http://schemas.microsoft.com/office/drawing/2014/main" id="{BFC6B488-26F8-4602-BBBE-050608F47083}"/>
              </a:ext>
            </a:extLst>
          </p:cNvPr>
          <p:cNvSpPr>
            <a:spLocks xmlns:a="http://schemas.openxmlformats.org/drawingml/2006/main" noGrp="1"/>
          </p:cNvSpPr>
          <p:nvPr/>
        </p:nvSpPr>
        <p:spPr>
          <a:xfrm xmlns:a="http://schemas.openxmlformats.org/drawingml/2006/main">
            <a:off x="22812375" y="3038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K </a:t>
            </a:r>
            <a:r>
              <a:rPr sz="2800">
                <a:solidFill>
                  <a:srgbClr val="AB7AB8"/>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H</a:t>
            </a:r>
            <a:r>
              <a:rPr sz="2800">
                <a:solidFill>
                  <a:srgbClr val="AB7AB8"/>
                </a:solidFill>
                <a:latin typeface="Fira Code"/>
                <a:ea typeface="Fira Code"/>
                <a:cs typeface="Fira Code"/>
              </a:rPr>
              <a:t>') /</a:t>
            </a:r>
            <a:r>
              <a:rPr sz="2800">
                <a:solidFill>
                  <a:srgbClr val="EDDAF1"/>
                </a:solidFill>
                <a:latin typeface="Fira Code"/>
                <a:ea typeface="Fira Code"/>
                <a:cs typeface="Fira Code"/>
              </a:rPr>
              <a:t> S</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63" name="EKF source line 46">
            <a:extLst xmlns:a="http://schemas.openxmlformats.org/drawingml/2006/main">
              <a:ext uri="{FF2B5EF4-FFF2-40B4-BE49-F238E27FC236}">
                <a16:creationId xmlns:a16="http://schemas.microsoft.com/office/drawing/2014/main" id="{C77FDA86-7F0E-4749-88D6-795579136443}"/>
              </a:ext>
            </a:extLst>
          </p:cNvPr>
          <p:cNvSpPr>
            <a:spLocks xmlns:a="http://schemas.openxmlformats.org/drawingml/2006/main" noGrp="1"/>
          </p:cNvSpPr>
          <p:nvPr/>
        </p:nvSpPr>
        <p:spPr>
          <a:xfrm xmlns:a="http://schemas.openxmlformats.org/drawingml/2006/main">
            <a:off x="22812375" y="3076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A </a:t>
            </a:r>
            <a:r>
              <a:rPr sz="2800">
                <a:solidFill>
                  <a:srgbClr val="AB7AB8"/>
                </a:solidFill>
                <a:latin typeface="Fira Code"/>
                <a:ea typeface="Fira Code"/>
                <a:cs typeface="Fira Code"/>
              </a:rPr>
              <a:t>:=</a:t>
            </a:r>
            <a:r>
              <a:rPr sz="2800">
                <a:solidFill>
                  <a:srgbClr val="EDDAF1"/>
                </a:solidFill>
                <a:latin typeface="Fira Code"/>
                <a:ea typeface="Fira Code"/>
                <a:cs typeface="Fira Code"/>
              </a:rPr>
              <a:t> I </a:t>
            </a:r>
            <a:r>
              <a:rPr sz="2800">
                <a:solidFill>
                  <a:srgbClr val="AB7AB8"/>
                </a:solidFill>
                <a:latin typeface="Fira Code"/>
                <a:ea typeface="Fira Code"/>
                <a:cs typeface="Fira Code"/>
              </a:rPr>
              <a:t>-</a:t>
            </a:r>
            <a:r>
              <a:rPr sz="2800">
                <a:solidFill>
                  <a:srgbClr val="EDDAF1"/>
                </a:solidFill>
                <a:latin typeface="Fira Code"/>
                <a:ea typeface="Fira Code"/>
                <a:cs typeface="Fira Code"/>
              </a:rPr>
              <a:t> K </a:t>
            </a:r>
            <a:r>
              <a:rPr sz="2800">
                <a:solidFill>
                  <a:srgbClr val="AB7AB8"/>
                </a:solidFill>
                <a:latin typeface="Fira Code"/>
                <a:ea typeface="Fira Code"/>
                <a:cs typeface="Fira Code"/>
              </a:rPr>
              <a:t>**</a:t>
            </a:r>
            <a:r>
              <a:rPr sz="2800">
                <a:solidFill>
                  <a:srgbClr val="EDDAF1"/>
                </a:solidFill>
                <a:latin typeface="Fira Code"/>
                <a:ea typeface="Fira Code"/>
                <a:cs typeface="Fira Code"/>
              </a:rPr>
              <a:t> H</a:t>
            </a:r>
          </a:p>
        </p:txBody>
      </p:sp>
      <p:sp>
        <p:nvSpPr>
          <p:cNvPr id="164" name="EKF source line 47">
            <a:extLst xmlns:a="http://schemas.openxmlformats.org/drawingml/2006/main">
              <a:ext uri="{FF2B5EF4-FFF2-40B4-BE49-F238E27FC236}">
                <a16:creationId xmlns:a16="http://schemas.microsoft.com/office/drawing/2014/main" id="{DBCD0DC1-431B-4772-B5BB-D2CDFAE1AD8B}"/>
              </a:ext>
            </a:extLst>
          </p:cNvPr>
          <p:cNvSpPr>
            <a:spLocks xmlns:a="http://schemas.openxmlformats.org/drawingml/2006/main" noGrp="1"/>
          </p:cNvSpPr>
          <p:nvPr/>
        </p:nvSpPr>
        <p:spPr>
          <a:xfrm xmlns:a="http://schemas.openxmlformats.org/drawingml/2006/main">
            <a:off x="22812375" y="3114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CDF37565-8E98-4F45-9993-529CE5738C33}"/>
              </a:ext>
            </a:extLst>
          </p:cNvPr>
          <p:cNvSpPr>
            <a:spLocks xmlns:a="http://schemas.openxmlformats.org/drawingml/2006/main" noGrp="1"/>
          </p:cNvSpPr>
          <p:nvPr/>
        </p:nvSpPr>
        <p:spPr>
          <a:xfrm xmlns:a="http://schemas.openxmlformats.org/drawingml/2006/main">
            <a:off x="22812375" y="3152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K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ν</a:t>
            </a:r>
          </a:p>
        </p:txBody>
      </p:sp>
      <p:sp>
        <p:nvSpPr>
          <p:cNvPr id="166" name="EKF source line 49">
            <a:extLst xmlns:a="http://schemas.openxmlformats.org/drawingml/2006/main">
              <a:ext uri="{FF2B5EF4-FFF2-40B4-BE49-F238E27FC236}">
                <a16:creationId xmlns:a16="http://schemas.microsoft.com/office/drawing/2014/main" id="{2B44EEB7-5FD7-4E30-BCE3-DE2292B7BFAD}"/>
              </a:ext>
            </a:extLst>
          </p:cNvPr>
          <p:cNvSpPr>
            <a:spLocks xmlns:a="http://schemas.openxmlformats.org/drawingml/2006/main" noGrp="1"/>
          </p:cNvSpPr>
          <p:nvPr/>
        </p:nvSpPr>
        <p:spPr>
          <a:xfrm xmlns:a="http://schemas.openxmlformats.org/drawingml/2006/main">
            <a:off x="22812375" y="3190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A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Σ̄</a:t>
            </a:r>
            <a:r>
              <a:rPr sz="2800">
                <a:solidFill>
                  <a:srgbClr val="AB7AB8"/>
                </a:solidFill>
                <a:latin typeface="Fira Code"/>
                <a:ea typeface="Fira Code"/>
                <a:cs typeface="Fira Code"/>
              </a:rPr>
              <a:t> ** </a:t>
            </a:r>
            <a:r>
              <a:rPr sz="2800">
                <a:solidFill>
                  <a:srgbClr val="EDDAF1"/>
                </a:solidFill>
                <a:latin typeface="Fira Code"/>
                <a:ea typeface="Fira Code"/>
                <a:cs typeface="Fira Code"/>
              </a:rPr>
              <a:t>A</a:t>
            </a:r>
            <a:r>
              <a:rPr sz="2800">
                <a:solidFill>
                  <a:srgbClr val="AB7AB8"/>
                </a:solidFill>
                <a:latin typeface="Fira Code"/>
                <a:ea typeface="Fira Code"/>
                <a:cs typeface="Fira Code"/>
              </a:rPr>
              <a:t>' + (</a:t>
            </a:r>
            <a:r>
              <a:rPr sz="2800">
                <a:solidFill>
                  <a:srgbClr val="EDDAF1"/>
                </a:solidFill>
                <a:latin typeface="Fira Code"/>
                <a:ea typeface="Fira Code"/>
                <a:cs typeface="Fira Code"/>
              </a:rPr>
              <a:t>K </a:t>
            </a:r>
            <a:r>
              <a:rPr sz="2800">
                <a:solidFill>
                  <a:srgbClr val="AB7AB8"/>
                </a:solidFill>
                <a:latin typeface="Fira Code"/>
                <a:ea typeface="Fira Code"/>
                <a:cs typeface="Fira Code"/>
              </a:rPr>
              <a:t>**</a:t>
            </a:r>
            <a:r>
              <a:rPr sz="2800">
                <a:solidFill>
                  <a:srgbClr val="EDDAF1"/>
                </a:solidFill>
                <a:latin typeface="Fira Code"/>
                <a:ea typeface="Fira Code"/>
                <a:cs typeface="Fira Code"/>
              </a:rPr>
              <a:t> K</a:t>
            </a:r>
            <a:r>
              <a:rPr sz="2800">
                <a:solidFill>
                  <a:srgbClr val="AB7AB8"/>
                </a:solidFill>
                <a:latin typeface="Fira Code"/>
                <a:ea typeface="Fira Code"/>
                <a:cs typeface="Fira Code"/>
              </a:rPr>
              <a:t>') *</a:t>
            </a:r>
            <a:r>
              <a:rPr sz="2800">
                <a:solidFill>
                  <a:srgbClr val="EDDAF1"/>
                </a:solidFill>
                <a:latin typeface="Fira Code"/>
                <a:ea typeface="Fira Code"/>
                <a:cs typeface="Fira Code"/>
              </a:rPr>
              <a:t> R</a:t>
            </a:r>
          </a:p>
        </p:txBody>
      </p:sp>
      <p:sp>
        <p:nvSpPr>
          <p:cNvPr id="167" name="EKF source line 50">
            <a:extLst xmlns:a="http://schemas.openxmlformats.org/drawingml/2006/main">
              <a:ext uri="{FF2B5EF4-FFF2-40B4-BE49-F238E27FC236}">
                <a16:creationId xmlns:a16="http://schemas.microsoft.com/office/drawing/2014/main" id="{06D0471E-50BB-49D9-9011-903571E56129}"/>
              </a:ext>
            </a:extLst>
          </p:cNvPr>
          <p:cNvSpPr>
            <a:spLocks xmlns:a="http://schemas.openxmlformats.org/drawingml/2006/main" noGrp="1"/>
          </p:cNvSpPr>
          <p:nvPr/>
        </p:nvSpPr>
        <p:spPr>
          <a:xfrm xmlns:a="http://schemas.openxmlformats.org/drawingml/2006/main">
            <a:off x="22812375" y="3228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1014345A-BDAC-4F53-A062-B61FEDF243C1}"/>
              </a:ext>
            </a:extLst>
          </p:cNvPr>
          <p:cNvSpPr>
            <a:spLocks xmlns:a="http://schemas.openxmlformats.org/drawingml/2006/main" noGrp="1"/>
          </p:cNvSpPr>
          <p:nvPr/>
        </p:nvSpPr>
        <p:spPr>
          <a:xfrm xmlns:a="http://schemas.openxmlformats.org/drawingml/2006/main">
            <a:off x="22812375" y="3267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a:t>
            </a:r>
          </a:p>
        </p:txBody>
      </p:sp>
      <p:sp>
        <p:nvSpPr>
          <p:cNvPr id="169" name="EKF source line 52">
            <a:extLst xmlns:a="http://schemas.openxmlformats.org/drawingml/2006/main">
              <a:ext uri="{FF2B5EF4-FFF2-40B4-BE49-F238E27FC236}">
                <a16:creationId xmlns:a16="http://schemas.microsoft.com/office/drawing/2014/main" id="{2991F0FF-4875-4E6B-B7F5-16F051C1843F}"/>
              </a:ext>
            </a:extLst>
          </p:cNvPr>
          <p:cNvSpPr>
            <a:spLocks xmlns:a="http://schemas.openxmlformats.org/drawingml/2006/main" noGrp="1"/>
          </p:cNvSpPr>
          <p:nvPr/>
        </p:nvSpPr>
        <p:spPr>
          <a:xfrm xmlns:a="http://schemas.openxmlformats.org/drawingml/2006/main">
            <a:off x="22812375" y="3305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Σ₊</a:t>
            </a:r>
          </a:p>
        </p:txBody>
      </p:sp>
      <p:sp>
        <p:nvSpPr>
          <p:cNvPr id="170" name="Numerical narrative equations">
            <a:extLst xmlns:a="http://schemas.openxmlformats.org/drawingml/2006/main">
              <a:ext uri="{FF2B5EF4-FFF2-40B4-BE49-F238E27FC236}">
                <a16:creationId xmlns:a16="http://schemas.microsoft.com/office/drawing/2014/main" id="{2333558C-64FD-45CA-B9AD-FB2B44858414}"/>
              </a:ext>
            </a:extLst>
          </p:cNvPr>
          <p:cNvSpPr>
            <a:spLocks xmlns:a="http://schemas.openxmlformats.org/drawingml/2006/main" noGrp="1"/>
          </p:cNvSpPr>
          <p:nvPr/>
        </p:nvSpPr>
        <p:spPr>
          <a:xfrm xmlns:a="http://schemas.openxmlformats.org/drawingml/2006/main">
            <a:off x="22764750" y="7715250"/>
            <a:ext cx="952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Mech offers a concrete syntax that expresses numerical algorithms as typed matrix equations. The EKF below is comparable in scale to the textbook pseudocode [1], retaining its matrix-level notation.</a:t>
            </a:r>
          </a:p>
        </p:txBody>
      </p:sp>
      <p:sp>
        <p:nvSpPr>
          <p:cNvPr id="171" name="Numerical narrative graph">
            <a:extLst xmlns:a="http://schemas.openxmlformats.org/drawingml/2006/main">
              <a:ext uri="{FF2B5EF4-FFF2-40B4-BE49-F238E27FC236}">
                <a16:creationId xmlns:a16="http://schemas.microsoft.com/office/drawing/2014/main" id="{0280F243-5855-4FCE-A9E6-214AF2D171A0}"/>
              </a:ext>
            </a:extLst>
          </p:cNvPr>
          <p:cNvSpPr>
            <a:spLocks xmlns:a="http://schemas.openxmlformats.org/drawingml/2006/main" noGrp="1"/>
          </p:cNvSpPr>
          <p:nvPr/>
        </p:nvSpPr>
        <p:spPr>
          <a:xfrm xmlns:a="http://schemas.openxmlformats.org/drawingml/2006/main">
            <a:off x="22764750" y="962025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SIMD Rust uses almost five times as many normalized source characters here, mainly for SIMD and batch support. Reusing the Mech source across backends reduces the specialized implementations to maintain.</a:t>
            </a:r>
          </a:p>
        </p:txBody>
      </p:sp>
      <p:sp>
        <p:nvSpPr>
          <p:cNvPr id="172" name="Numerical narrative algebra">
            <a:extLst xmlns:a="http://schemas.openxmlformats.org/drawingml/2006/main">
              <a:ext uri="{FF2B5EF4-FFF2-40B4-BE49-F238E27FC236}">
                <a16:creationId xmlns:a16="http://schemas.microsoft.com/office/drawing/2014/main" id="{624A4A7A-FF31-49EA-B41E-50C0C323125A}"/>
              </a:ext>
            </a:extLst>
          </p:cNvPr>
          <p:cNvSpPr>
            <a:spLocks xmlns:a="http://schemas.openxmlformats.org/drawingml/2006/main" noGrp="1"/>
          </p:cNvSpPr>
          <p:nvPr/>
        </p:nvSpPr>
        <p:spPr>
          <a:xfrm xmlns:a="http://schemas.openxmlformats.org/drawingml/2006/main">
            <a:off x="22764750" y="115252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625" b="0">
                <a:solidFill>
                  <a:srgbClr val="E8EDF0"/>
                </a:solidFill>
                <a:latin typeface="Segoe UI"/>
                <a:ea typeface="Segoe UI"/>
                <a:cs typeface="Segoe UI"/>
              </a:defRPr>
            </a:pPr>
            <a:r>
              <a:rPr sz="2625" b="0">
                <a:solidFill>
                  <a:srgbClr val="E8EDF0"/>
                </a:solidFill>
                <a:latin typeface="Segoe UI"/>
                <a:ea typeface="Segoe UI"/>
                <a:cs typeface="Segoe UI"/>
              </a:rPr>
              <a:t>Compilation produces a typed dataflow artifact. Matrix operations use nalgebra in the ordinary backend; specialized backends compile the graph directly.</a:t>
            </a:r>
          </a:p>
        </p:txBody>
      </p:sp>
      <p:sp>
        <p:nvSpPr>
          <p:cNvPr id="173" name="Source comparison title">
            <a:extLst xmlns:a="http://schemas.openxmlformats.org/drawingml/2006/main">
              <a:ext uri="{FF2B5EF4-FFF2-40B4-BE49-F238E27FC236}">
                <a16:creationId xmlns:a16="http://schemas.microsoft.com/office/drawing/2014/main" id="{C5195136-649E-48C7-BD32-7C53B8FD3F30}"/>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 source characters</a:t>
            </a:r>
          </a:p>
        </p:txBody>
      </p:sp>
      <p:graphicFrame>
        <p:nvGraphicFramePr>
          <p:cNvPr id="611"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buNone/>
                      </a:pPr>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8DBE240-85A2-45AD-AD3B-4EE4CD88C937}"/>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SIMD Rust uses almost five times as many normalized source characters as Mech in this example, mainly for SIMD and batch support.</a:t>
            </a:r>
          </a:p>
        </p:txBody>
      </p:sp>
      <p:sp>
        <p:nvSpPr>
          <p:cNvPr id="176" name="Numerical interpretation equations">
            <a:extLst xmlns:a="http://schemas.openxmlformats.org/drawingml/2006/main">
              <a:ext uri="{FF2B5EF4-FFF2-40B4-BE49-F238E27FC236}">
                <a16:creationId xmlns:a16="http://schemas.microsoft.com/office/drawing/2014/main" id="{735F5ED8-6FE7-430A-8899-9E4DAECC1356}"/>
              </a:ext>
            </a:extLst>
          </p:cNvPr>
          <p:cNvSpPr>
            <a:spLocks xmlns:a="http://schemas.openxmlformats.org/drawingml/2006/main" noGrp="1"/>
          </p:cNvSpPr>
          <p:nvPr/>
        </p:nvSpPr>
        <p:spPr>
          <a:xfrm xmlns:a="http://schemas.openxmlformats.org/drawingml/2006/main">
            <a:off x="22764750" y="3867150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The time and measurement updates remain explicit matrix equations. Backend code handles vector layout and batching, so the same numerical source can serve scalar and SIMD execution.</a:t>
            </a:r>
          </a:p>
        </p:txBody>
      </p:sp>
      <p:sp>
        <p:nvSpPr>
          <p:cNvPr id="177" name="Numerical interpretation support">
            <a:extLst xmlns:a="http://schemas.openxmlformats.org/drawingml/2006/main">
              <a:ext uri="{FF2B5EF4-FFF2-40B4-BE49-F238E27FC236}">
                <a16:creationId xmlns:a16="http://schemas.microsoft.com/office/drawing/2014/main" id="{C9318AB2-12C6-4A60-89C1-21030F31E51C}"/>
              </a:ext>
            </a:extLst>
          </p:cNvPr>
          <p:cNvSpPr>
            <a:spLocks xmlns:a="http://schemas.openxmlformats.org/drawingml/2006/main" noGrp="1"/>
          </p:cNvSpPr>
          <p:nvPr/>
        </p:nvSpPr>
        <p:spPr>
          <a:xfrm xmlns:a="http://schemas.openxmlformats.org/drawingml/2006/main">
            <a:off x="22764750" y="40005000"/>
            <a:ext cx="9525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Rust’s selected SIMD implementation includes vector adapters and a batch dispatcher with rollback. Mech delegates these operations to reusable compiler and runtime components, which explains its zero entries for helpers and SIMD support.</a:t>
            </a:r>
          </a:p>
        </p:txBody>
      </p:sp>
      <p:sp>
        <p:nvSpPr>
          <p:cNvPr id="178" name="Source size scope">
            <a:extLst xmlns:a="http://schemas.openxmlformats.org/drawingml/2006/main">
              <a:ext uri="{FF2B5EF4-FFF2-40B4-BE49-F238E27FC236}">
                <a16:creationId xmlns:a16="http://schemas.microsoft.com/office/drawing/2014/main" id="{83D7EEF8-3241-498D-990B-1CD645DF6C0B}"/>
              </a:ext>
            </a:extLst>
          </p:cNvPr>
          <p:cNvSpPr>
            <a:spLocks xmlns:a="http://schemas.openxmlformats.org/drawingml/2006/main" noGrp="1"/>
          </p:cNvSpPr>
          <p:nvPr/>
        </p:nvSpPr>
        <p:spPr>
          <a:xfrm xmlns:a="http://schemas.openxmlformats.org/drawingml/2006/main">
            <a:off x="22764750" y="4162425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Programmer-chosen names count as one character per occurrence. Comments and nonliteral whitespace are removed. General library, compiler and runtime internals are excluded.</a:t>
            </a:r>
          </a:p>
        </p:txBody>
      </p:sp>
      <p:sp>
        <p:nvSpPr>
          <p:cNvPr id="179" name="Embeddable">
            <a:extLst xmlns:a="http://schemas.openxmlformats.org/drawingml/2006/main">
              <a:ext uri="{FF2B5EF4-FFF2-40B4-BE49-F238E27FC236}">
                <a16:creationId xmlns:a16="http://schemas.microsoft.com/office/drawing/2014/main" id="{C3E7FE6E-D47B-4C6B-9F94-F91232705C60}"/>
              </a:ext>
            </a:extLst>
          </p:cNvPr>
          <p:cNvSpPr>
            <a:spLocks xmlns:a="http://schemas.openxmlformats.org/drawingml/2006/main" noGrp="1"/>
          </p:cNvSpPr>
          <p:nvPr/>
        </p:nvSpPr>
        <p:spPr>
          <a:xfrm xmlns:a="http://schemas.openxmlformats.org/drawingml/2006/main">
            <a:off x="762000" y="10572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0" name="AOT deployment">
            <a:extLst xmlns:a="http://schemas.openxmlformats.org/drawingml/2006/main">
              <a:ext uri="{FF2B5EF4-FFF2-40B4-BE49-F238E27FC236}">
                <a16:creationId xmlns:a16="http://schemas.microsoft.com/office/drawing/2014/main" id="{2B1BEAE0-824F-44B6-909C-243EB2F574B8}"/>
              </a:ext>
            </a:extLst>
          </p:cNvPr>
          <p:cNvSpPr>
            <a:spLocks xmlns:a="http://schemas.openxmlformats.org/drawingml/2006/main" noGrp="1"/>
          </p:cNvSpPr>
          <p:nvPr/>
        </p:nvSpPr>
        <p:spPr>
          <a:xfrm xmlns:a="http://schemas.openxmlformats.org/drawingml/2006/main">
            <a:off x="952500" y="11620500"/>
            <a:ext cx="2071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Rust applications can link Mech’s runtime to load source or bytecode, or use a compiled numerical kernel. The interface below compiles the EKF, binds live measurements and exposes persistent state by name. Rust functions and input drivers connect it to the surrounding application.</a:t>
            </a:r>
          </a:p>
        </p:txBody>
      </p:sp>
      <p:sp>
        <p:nvSpPr>
          <p:cNvPr id="181" name="Rust caller title">
            <a:extLst xmlns:a="http://schemas.openxmlformats.org/drawingml/2006/main">
              <a:ext uri="{FF2B5EF4-FFF2-40B4-BE49-F238E27FC236}">
                <a16:creationId xmlns:a16="http://schemas.microsoft.com/office/drawing/2014/main" id="{E057F711-C00E-4930-A2EA-7D9AAEF93697}"/>
              </a:ext>
            </a:extLst>
          </p:cNvPr>
          <p:cNvSpPr>
            <a:spLocks xmlns:a="http://schemas.openxmlformats.org/drawingml/2006/main" noGrp="1"/>
          </p:cNvSpPr>
          <p:nvPr/>
        </p:nvSpPr>
        <p:spPr>
          <a:xfrm xmlns:a="http://schemas.openxmlformats.org/drawingml/2006/main">
            <a:off x="952500" y="130492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AOT kernel from Rust</a:t>
            </a:r>
          </a:p>
        </p:txBody>
      </p:sp>
      <p:sp>
        <p:nvSpPr>
          <p:cNvPr id="182" name="Rust caller panel">
            <a:extLst xmlns:a="http://schemas.openxmlformats.org/drawingml/2006/main">
              <a:ext uri="{FF2B5EF4-FFF2-40B4-BE49-F238E27FC236}">
                <a16:creationId xmlns:a16="http://schemas.microsoft.com/office/drawing/2014/main" id="{09FA6E6A-F01B-4BD6-92EE-8E7EDDDD5BE7}"/>
              </a:ext>
            </a:extLst>
          </p:cNvPr>
          <p:cNvSpPr>
            <a:spLocks xmlns:a="http://schemas.openxmlformats.org/drawingml/2006/main" noGrp="1"/>
          </p:cNvSpPr>
          <p:nvPr/>
        </p:nvSpPr>
        <p:spPr>
          <a:xfrm xmlns:a="http://schemas.openxmlformats.org/drawingml/2006/main">
            <a:off x="762000" y="13716000"/>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3" name="Rust caller">
            <a:extLst xmlns:a="http://schemas.openxmlformats.org/drawingml/2006/main">
              <a:ext uri="{FF2B5EF4-FFF2-40B4-BE49-F238E27FC236}">
                <a16:creationId xmlns:a16="http://schemas.microsoft.com/office/drawing/2014/main" id="{D57702A5-40A7-48E6-B233-60334798F991}"/>
              </a:ext>
            </a:extLst>
          </p:cNvPr>
          <p:cNvSpPr>
            <a:spLocks xmlns:a="http://schemas.openxmlformats.org/drawingml/2006/main" noGrp="1"/>
          </p:cNvSpPr>
          <p:nvPr/>
        </p:nvSpPr>
        <p:spPr>
          <a:xfrm xmlns:a="http://schemas.openxmlformats.org/drawingml/2006/main">
            <a:off x="1000125" y="13906500"/>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use</a:t>
            </a:r>
            <a:r>
              <a:rPr sz="2500">
                <a:solidFill>
                  <a:srgbClr val="EDDAF1"/>
                </a:solidFill>
                <a:latin typeface="Fira Code"/>
                <a:ea typeface="Fira Code"/>
                <a:cs typeface="Fira Code"/>
              </a:rPr>
              <a:t/>
            </a:r>
            <a:r>
              <a:rPr sz="2500">
                <a:solidFill>
                  <a:srgbClr val="EDDAF1"/>
                </a:solidFill>
                <a:latin typeface="Fira Code"/>
                <a:ea typeface="Fira Code"/>
                <a:cs typeface="Fira Code"/>
              </a:rPr>
              <a:t>mech</a:t>
            </a:r>
            <a:r>
              <a:rPr sz="2500">
                <a:solidFill>
                  <a:srgbClr val="AB7AB8"/>
                </a:solidFill>
                <a:latin typeface="Fira Code"/>
                <a:ea typeface="Fira Code"/>
                <a:cs typeface="Fira Code"/>
              </a:rPr>
              <a:t>::</a:t>
            </a:r>
            <a:r>
              <a:rPr sz="2500">
                <a:solidFill>
                  <a:srgbClr val="EDDAF1"/>
                </a:solidFill>
                <a:latin typeface="Fira Code"/>
                <a:ea typeface="Fira Code"/>
                <a:cs typeface="Fira Code"/>
              </a:rPr>
              <a:t>kernel</a:t>
            </a:r>
            <a:r>
              <a:rPr sz="2500">
                <a:solidFill>
                  <a:srgbClr val="AB7AB8"/>
                </a:solidFill>
                <a:latin typeface="Fira Code"/>
                <a:ea typeface="Fira Code"/>
                <a:cs typeface="Fira Code"/>
              </a:rPr>
              <a:t>::</a:t>
            </a:r>
            <a:r>
              <a:rPr sz="2500">
                <a:solidFill>
                  <a:srgbClr val="EDDAF1"/>
                </a:solidFill>
                <a:latin typeface="Fira Code"/>
                <a:ea typeface="Fira Code"/>
                <a:cs typeface="Fira Code"/>
              </a:rPr>
              <a:t>{</a:t>
            </a:r>
            <a:r>
              <a:rPr sz="2500">
                <a:solidFill>
                  <a:srgbClr val="BBDDC2"/>
                </a:solidFill>
                <a:latin typeface="Fira Code"/>
                <a:ea typeface="Fira Code"/>
                <a:cs typeface="Fira Code"/>
              </a:rPr>
              <a:t>Backend</a:t>
            </a:r>
            <a:r>
              <a:rPr sz="2500">
                <a:solidFill>
                  <a:srgbClr val="99CCA4"/>
                </a:solidFill>
                <a:latin typeface="Fira Code"/>
                <a:ea typeface="Fira Code"/>
                <a:cs typeface="Fira Code"/>
              </a:rPr>
              <a:t>,</a:t>
            </a:r>
            <a:r>
              <a:rPr sz="2500">
                <a:solidFill>
                  <a:srgbClr val="EDDAF1"/>
                </a:solidFill>
                <a:latin typeface="Fira Code"/>
                <a:ea typeface="Fira Code"/>
                <a:cs typeface="Fira Code"/>
              </a:rPr>
              <a:t/>
            </a:r>
            <a:r>
              <a:rPr sz="2500">
                <a:solidFill>
                  <a:srgbClr val="BBDDC2"/>
                </a:solidFill>
                <a:latin typeface="Fira Code"/>
                <a:ea typeface="Fira Code"/>
                <a:cs typeface="Fira Code"/>
              </a:rPr>
              <a:t>Kernel</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r>
            <a:r>
              <a:rPr sz="2500">
                <a:solidFill>
                  <a:srgbClr val="EDDAF1"/>
                </a:solidFill>
                <a:latin typeface="Fira Code"/>
                <a:ea typeface="Fira Code"/>
                <a:cs typeface="Fira Code"/>
              </a:rPr>
              <a:t>source</a:t>
            </a: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EDDAF1"/>
                </a:solidFill>
                <a:latin typeface="Fira Code"/>
                <a:ea typeface="Fira Code"/>
                <a:cs typeface="Fira Code"/>
              </a:rPr>
              <a:t/>
            </a:r>
            <a:r>
              <a:rPr sz="2500">
                <a:solidFill>
                  <a:srgbClr val="BBDDC2"/>
                </a:solidFill>
                <a:latin typeface="Fira Code"/>
                <a:ea typeface="Fira Code"/>
                <a:cs typeface="Fira Code"/>
              </a:rPr>
              <a:t>include_str!</a:t>
            </a:r>
            <a:r>
              <a:rPr sz="2500">
                <a:solidFill>
                  <a:srgbClr val="99CCA4"/>
                </a:solidFill>
                <a:latin typeface="Fira Code"/>
                <a:ea typeface="Fira Code"/>
                <a:cs typeface="Fira Code"/>
              </a:rPr>
              <a:t>(</a:t>
            </a:r>
            <a:r>
              <a:rPr sz="2500">
                <a:solidFill>
                  <a:srgbClr val="9BC7F3"/>
                </a:solidFill>
                <a:latin typeface="Fira Code"/>
                <a:ea typeface="Fira Code"/>
                <a:cs typeface="Fira Code"/>
              </a:rPr>
              <a:t>"ekf.mec"</a:t>
            </a:r>
            <a:r>
              <a:rPr sz="2500">
                <a:solidFill>
                  <a:srgbClr val="99CCA4"/>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r>
            <a:r>
              <a:rPr sz="2500">
                <a:solidFill>
                  <a:srgbClr val="EDDAF1"/>
                </a:solidFill>
                <a:latin typeface="Fira Code"/>
                <a:ea typeface="Fira Code"/>
                <a:cs typeface="Fira Code"/>
              </a:rPr>
              <a:t>kernel</a:t>
            </a: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EDDAF1"/>
                </a:solidFill>
                <a:latin typeface="Fira Code"/>
                <a:ea typeface="Fira Code"/>
                <a:cs typeface="Fira Code"/>
              </a:rPr>
              <a:t/>
            </a:r>
            <a:r>
              <a:rPr sz="2500">
                <a:solidFill>
                  <a:srgbClr val="BBDDC2"/>
                </a:solidFill>
                <a:latin typeface="Fira Code"/>
                <a:ea typeface="Fira Code"/>
                <a:cs typeface="Fira Code"/>
              </a:rPr>
              <a:t>Kernel</a:t>
            </a:r>
            <a:r>
              <a:rPr sz="2500">
                <a:solidFill>
                  <a:srgbClr val="AB7AB8"/>
                </a:solidFill>
                <a:latin typeface="Fira Code"/>
                <a:ea typeface="Fira Code"/>
                <a:cs typeface="Fira Code"/>
              </a:rPr>
              <a:t>::</a:t>
            </a:r>
            <a:r>
              <a:rPr sz="2500">
                <a:solidFill>
                  <a:srgbClr val="BBDDC2"/>
                </a:solidFill>
                <a:latin typeface="Fira Code"/>
                <a:ea typeface="Fira Code"/>
                <a:cs typeface="Fira Code"/>
              </a:rPr>
              <a:t>from_source</a:t>
            </a:r>
            <a:r>
              <a:rPr sz="2500">
                <a:solidFill>
                  <a:srgbClr val="99CCA4"/>
                </a:solidFill>
                <a:latin typeface="Fira Code"/>
                <a:ea typeface="Fira Code"/>
                <a:cs typeface="Fira Code"/>
              </a:rPr>
              <a:t>(</a:t>
            </a:r>
            <a:r>
              <a:rPr sz="2500">
                <a:solidFill>
                  <a:srgbClr val="EDDAF1"/>
                </a:solidFill>
                <a:latin typeface="Fira Code"/>
                <a:ea typeface="Fira Code"/>
                <a:cs typeface="Fira Code"/>
              </a:rPr>
              <a:t>source</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BBDDC2"/>
                </a:solidFill>
                <a:latin typeface="Fira Code"/>
                <a:ea typeface="Fira Code"/>
                <a:cs typeface="Fira Code"/>
              </a:rPr>
              <a:t>input</a:t>
            </a:r>
            <a:r>
              <a:rPr sz="2500">
                <a:solidFill>
                  <a:srgbClr val="99CCA4"/>
                </a:solidFill>
                <a:latin typeface="Fira Code"/>
                <a:ea typeface="Fira Code"/>
                <a:cs typeface="Fira Code"/>
              </a:rPr>
              <a:t>(</a:t>
            </a:r>
            <a:r>
              <a:rPr sz="2500">
                <a:solidFill>
                  <a:srgbClr val="9BC7F3"/>
                </a:solidFill>
                <a:latin typeface="Fira Code"/>
                <a:ea typeface="Fira Code"/>
                <a:cs typeface="Fira Code"/>
              </a:rPr>
              <a:t>"bearing"</a:t>
            </a:r>
            <a:r>
              <a:rPr sz="2500">
                <a:solidFill>
                  <a:srgbClr val="99CCA4"/>
                </a:solidFill>
                <a:latin typeface="Fira Code"/>
                <a:ea typeface="Fira Code"/>
                <a:cs typeface="Fira Code"/>
              </a:rPr>
              <a:t>,</a:t>
            </a:r>
            <a:r>
              <a:rPr sz="2500">
                <a:solidFill>
                  <a:srgbClr val="EDDAF1"/>
                </a:solidFill>
                <a:latin typeface="Fira Code"/>
                <a:ea typeface="Fira Code"/>
                <a:cs typeface="Fira Code"/>
              </a:rPr>
              <a:t/>
            </a:r>
            <a:r>
              <a:rPr sz="2500">
                <a:solidFill>
                  <a:srgbClr val="EDDAF1"/>
                </a:solidFill>
                <a:latin typeface="Fira Code"/>
                <a:ea typeface="Fira Code"/>
                <a:cs typeface="Fira Code"/>
              </a:rPr>
              <a:t>[</a:t>
            </a:r>
            <a:r>
              <a:rPr sz="2500">
                <a:solidFill>
                  <a:srgbClr val="EDDAF1"/>
                </a:solidFill>
                <a:latin typeface="Fira Code"/>
                <a:ea typeface="Fira Code"/>
                <a:cs typeface="Fira Code"/>
              </a:rPr>
              <a:t>-</a:t>
            </a:r>
            <a:r>
              <a:rPr sz="2500">
                <a:solidFill>
                  <a:srgbClr val="9BC7F3"/>
                </a:solidFill>
                <a:latin typeface="Fira Code"/>
                <a:ea typeface="Fira Code"/>
                <a:cs typeface="Fira Code"/>
              </a:rPr>
              <a:t>0.55</a:t>
            </a:r>
            <a:r>
              <a:rPr sz="2500">
                <a:solidFill>
                  <a:srgbClr val="99CCA4"/>
                </a:solidFill>
                <a:latin typeface="Fira Code"/>
                <a:ea typeface="Fira Code"/>
                <a:cs typeface="Fira Code"/>
              </a:rPr>
              <a:t>;</a:t>
            </a:r>
            <a:r>
              <a:rPr sz="2500">
                <a:solidFill>
                  <a:srgbClr val="EDDAF1"/>
                </a:solidFill>
                <a:latin typeface="Fira Code"/>
                <a:ea typeface="Fira Code"/>
                <a:cs typeface="Fira Code"/>
              </a:rPr>
              <a:t/>
            </a:r>
            <a:r>
              <a:rPr sz="2500">
                <a:solidFill>
                  <a:srgbClr val="9BC7F3"/>
                </a:solidFill>
                <a:latin typeface="Fira Code"/>
                <a:ea typeface="Fira Code"/>
                <a:cs typeface="Fira Code"/>
              </a:rPr>
              <a:t>4</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BBDDC2"/>
                </a:solidFill>
                <a:latin typeface="Fira Code"/>
                <a:ea typeface="Fira Code"/>
                <a:cs typeface="Fira Code"/>
              </a:rPr>
              <a:t>export</a:t>
            </a:r>
            <a:r>
              <a:rPr sz="2500">
                <a:solidFill>
                  <a:srgbClr val="99CCA4"/>
                </a:solidFill>
                <a:latin typeface="Fira Code"/>
                <a:ea typeface="Fira Code"/>
                <a:cs typeface="Fira Code"/>
              </a:rPr>
              <a:t>(</a:t>
            </a:r>
            <a:r>
              <a:rPr sz="2500">
                <a:solidFill>
                  <a:srgbClr val="9BC7F3"/>
                </a:solidFill>
                <a:latin typeface="Fira Code"/>
                <a:ea typeface="Fira Code"/>
                <a:cs typeface="Fira Code"/>
              </a:rPr>
              <a:t>"state"</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BBDDC2"/>
                </a:solidFill>
                <a:latin typeface="Fira Code"/>
                <a:ea typeface="Fira Code"/>
                <a:cs typeface="Fira Code"/>
              </a:rPr>
              <a:t>compile</a:t>
            </a:r>
            <a:r>
              <a:rPr sz="2500">
                <a:solidFill>
                  <a:srgbClr val="99CCA4"/>
                </a:solidFill>
                <a:latin typeface="Fira Code"/>
                <a:ea typeface="Fira Code"/>
                <a:cs typeface="Fira Code"/>
              </a:rPr>
              <a:t>(</a:t>
            </a:r>
            <a:r>
              <a:rPr sz="2500">
                <a:solidFill>
                  <a:srgbClr val="BBDDC2"/>
                </a:solidFill>
                <a:latin typeface="Fira Code"/>
                <a:ea typeface="Fira Code"/>
                <a:cs typeface="Fira Code"/>
              </a:rPr>
              <a:t>Backend</a:t>
            </a:r>
            <a:r>
              <a:rPr sz="2500">
                <a:solidFill>
                  <a:srgbClr val="AB7AB8"/>
                </a:solidFill>
                <a:latin typeface="Fira Code"/>
                <a:ea typeface="Fira Code"/>
                <a:cs typeface="Fira Code"/>
              </a:rPr>
              <a:t>::</a:t>
            </a:r>
            <a:r>
              <a:rPr sz="2500">
                <a:solidFill>
                  <a:srgbClr val="BBDDC2"/>
                </a:solidFill>
                <a:latin typeface="Fira Code"/>
                <a:ea typeface="Fira Code"/>
                <a:cs typeface="Fira Code"/>
              </a:rPr>
              <a:t>AotSimd</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r>
            <a:r>
              <a:rPr sz="2500">
                <a:solidFill>
                  <a:srgbClr val="AB7AB8"/>
                </a:solidFill>
                <a:latin typeface="Fira Code"/>
                <a:ea typeface="Fira Code"/>
                <a:cs typeface="Fira Code"/>
              </a:rPr>
              <a:t>mut</a:t>
            </a:r>
            <a:r>
              <a:rPr sz="2500">
                <a:solidFill>
                  <a:srgbClr val="EDDAF1"/>
                </a:solidFill>
                <a:latin typeface="Fira Code"/>
                <a:ea typeface="Fira Code"/>
                <a:cs typeface="Fira Code"/>
              </a:rPr>
              <a:t/>
            </a:r>
            <a:r>
              <a:rPr sz="2500">
                <a:solidFill>
                  <a:srgbClr val="EDDAF1"/>
                </a:solidFill>
                <a:latin typeface="Fira Code"/>
                <a:ea typeface="Fira Code"/>
                <a:cs typeface="Fira Code"/>
              </a:rPr>
              <a:t>ekf</a:t>
            </a: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EDDAF1"/>
                </a:solidFill>
                <a:latin typeface="Fira Code"/>
                <a:ea typeface="Fira Code"/>
                <a:cs typeface="Fira Code"/>
              </a:rPr>
              <a:t/>
            </a:r>
            <a:r>
              <a:rPr sz="2500">
                <a:solidFill>
                  <a:srgbClr val="EDDAF1"/>
                </a:solidFill>
                <a:latin typeface="Fira Code"/>
                <a:ea typeface="Fira Code"/>
                <a:cs typeface="Fira Code"/>
              </a:rPr>
              <a:t>kernel</a:t>
            </a:r>
            <a:r>
              <a:rPr sz="2500">
                <a:solidFill>
                  <a:srgbClr val="AB7AB8"/>
                </a:solidFill>
                <a:latin typeface="Fira Code"/>
                <a:ea typeface="Fira Code"/>
                <a:cs typeface="Fira Code"/>
              </a:rPr>
              <a:t>.</a:t>
            </a:r>
            <a:r>
              <a:rPr sz="2500">
                <a:solidFill>
                  <a:srgbClr val="BBDDC2"/>
                </a:solidFill>
                <a:latin typeface="Fira Code"/>
                <a:ea typeface="Fira Code"/>
                <a:cs typeface="Fira Code"/>
              </a:rPr>
              <a:t>start</a:t>
            </a:r>
            <a:r>
              <a:rPr sz="2500">
                <a:solidFill>
                  <a:srgbClr val="99CCA4"/>
                </a:solidFill>
                <a:latin typeface="Fira Code"/>
                <a:ea typeface="Fira Code"/>
                <a:cs typeface="Fira Code"/>
              </a:rPr>
              <a:t>(</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ekf</a:t>
            </a:r>
            <a:r>
              <a:rPr sz="2500">
                <a:solidFill>
                  <a:srgbClr val="AB7AB8"/>
                </a:solidFill>
                <a:latin typeface="Fira Code"/>
                <a:ea typeface="Fira Code"/>
                <a:cs typeface="Fira Code"/>
              </a:rPr>
              <a:t>.</a:t>
            </a:r>
            <a:r>
              <a:rPr sz="2500">
                <a:solidFill>
                  <a:srgbClr val="BBDDC2"/>
                </a:solidFill>
                <a:latin typeface="Fira Code"/>
                <a:ea typeface="Fira Code"/>
                <a:cs typeface="Fira Code"/>
              </a:rPr>
              <a:t>turn</a:t>
            </a:r>
            <a:r>
              <a:rPr sz="2500">
                <a:solidFill>
                  <a:srgbClr val="99CCA4"/>
                </a:solidFill>
                <a:latin typeface="Fira Code"/>
                <a:ea typeface="Fira Code"/>
                <a:cs typeface="Fira Code"/>
              </a:rPr>
              <a:t>(</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9BC7F3"/>
                </a:solidFill>
                <a:latin typeface="Fira Code"/>
                <a:ea typeface="Fira Code"/>
                <a:cs typeface="Fira Code"/>
              </a:rPr>
              <a:t>"bearing"</a:t>
            </a:r>
            <a:r>
              <a:rPr sz="2500">
                <a:solidFill>
                  <a:srgbClr val="99CCA4"/>
                </a:solidFill>
                <a:latin typeface="Fira Code"/>
                <a:ea typeface="Fira Code"/>
                <a:cs typeface="Fira Code"/>
              </a:rPr>
              <a:t>,</a:t>
            </a:r>
            <a:r>
              <a:rPr sz="2500">
                <a:solidFill>
                  <a:srgbClr val="EDDAF1"/>
                </a:solidFill>
                <a:latin typeface="Fira Code"/>
                <a:ea typeface="Fira Code"/>
                <a:cs typeface="Fira Code"/>
              </a:rPr>
              <a:t/>
            </a:r>
            <a:r>
              <a:rPr sz="2500">
                <a:solidFill>
                  <a:srgbClr val="EDDAF1"/>
                </a:solidFill>
                <a:latin typeface="Fira Code"/>
                <a:ea typeface="Fira Code"/>
                <a:cs typeface="Fira Code"/>
              </a:rPr>
              <a:t>[</a:t>
            </a:r>
            <a:r>
              <a:rPr sz="2500">
                <a:solidFill>
                  <a:srgbClr val="EDDAF1"/>
                </a:solidFill>
                <a:latin typeface="Fira Code"/>
                <a:ea typeface="Fira Code"/>
                <a:cs typeface="Fira Code"/>
              </a:rPr>
              <a:t>-</a:t>
            </a:r>
            <a:r>
              <a:rPr sz="2500">
                <a:solidFill>
                  <a:srgbClr val="9BC7F3"/>
                </a:solidFill>
                <a:latin typeface="Fira Code"/>
                <a:ea typeface="Fira Code"/>
                <a:cs typeface="Fira Code"/>
              </a:rPr>
              <a:t>0.54</a:t>
            </a:r>
            <a:r>
              <a:rPr sz="2500">
                <a:solidFill>
                  <a:srgbClr val="99CCA4"/>
                </a:solidFill>
                <a:latin typeface="Fira Code"/>
                <a:ea typeface="Fira Code"/>
                <a:cs typeface="Fira Code"/>
              </a:rPr>
              <a:t>;</a:t>
            </a:r>
            <a:r>
              <a:rPr sz="2500">
                <a:solidFill>
                  <a:srgbClr val="EDDAF1"/>
                </a:solidFill>
                <a:latin typeface="Fira Code"/>
                <a:ea typeface="Fira Code"/>
                <a:cs typeface="Fira Code"/>
              </a:rPr>
              <a:t/>
            </a:r>
            <a:r>
              <a:rPr sz="2500">
                <a:solidFill>
                  <a:srgbClr val="9BC7F3"/>
                </a:solidFill>
                <a:latin typeface="Fira Code"/>
                <a:ea typeface="Fira Code"/>
                <a:cs typeface="Fira Code"/>
              </a:rPr>
              <a:t>4</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r>
            <a:r>
              <a:rPr sz="2500">
                <a:solidFill>
                  <a:srgbClr val="EDDAF1"/>
                </a:solidFill>
                <a:latin typeface="Fira Code"/>
                <a:ea typeface="Fira Code"/>
                <a:cs typeface="Fira Code"/>
              </a:rPr>
              <a:t>state</a:t>
            </a: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EDDAF1"/>
                </a:solidFill>
                <a:latin typeface="Fira Code"/>
                <a:ea typeface="Fira Code"/>
                <a:cs typeface="Fira Code"/>
              </a:rPr>
              <a:t/>
            </a:r>
            <a:r>
              <a:rPr sz="2500">
                <a:solidFill>
                  <a:srgbClr val="EDDAF1"/>
                </a:solidFill>
                <a:latin typeface="Fira Code"/>
                <a:ea typeface="Fira Code"/>
                <a:cs typeface="Fira Code"/>
              </a:rPr>
              <a:t>ekf</a:t>
            </a:r>
            <a:r>
              <a:rPr sz="2500">
                <a:solidFill>
                  <a:srgbClr val="AB7AB8"/>
                </a:solidFill>
                <a:latin typeface="Fira Code"/>
                <a:ea typeface="Fira Code"/>
                <a:cs typeface="Fira Code"/>
              </a:rPr>
              <a:t>.</a:t>
            </a:r>
            <a:r>
              <a:rPr sz="2500">
                <a:solidFill>
                  <a:srgbClr val="BBDDC2"/>
                </a:solidFill>
                <a:latin typeface="Fira Code"/>
                <a:ea typeface="Fira Code"/>
                <a:cs typeface="Fira Code"/>
              </a:rPr>
              <a:t>state</a:t>
            </a:r>
            <a:r>
              <a:rPr sz="2500">
                <a:solidFill>
                  <a:srgbClr val="99CCA4"/>
                </a:solidFill>
                <a:latin typeface="Fira Code"/>
                <a:ea typeface="Fira Code"/>
                <a:cs typeface="Fira Code"/>
              </a:rPr>
              <a:t>(</a:t>
            </a:r>
            <a:r>
              <a:rPr sz="2500">
                <a:solidFill>
                  <a:srgbClr val="9BC7F3"/>
                </a:solidFill>
                <a:latin typeface="Fira Code"/>
                <a:ea typeface="Fira Code"/>
                <a:cs typeface="Fira Code"/>
              </a:rPr>
              <a:t>"state"</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p:txBody>
      </p:sp>
      <p:sp>
        <p:nvSpPr>
          <p:cNvPr id="184" name="Rust caller explanation">
            <a:extLst xmlns:a="http://schemas.openxmlformats.org/drawingml/2006/main">
              <a:ext uri="{FF2B5EF4-FFF2-40B4-BE49-F238E27FC236}">
                <a16:creationId xmlns:a16="http://schemas.microsoft.com/office/drawing/2014/main" id="{A907D9C8-A2A9-4F91-B620-084C2789937F}"/>
              </a:ext>
            </a:extLst>
          </p:cNvPr>
          <p:cNvSpPr>
            <a:spLocks xmlns:a="http://schemas.openxmlformats.org/drawingml/2006/main" noGrp="1"/>
          </p:cNvSpPr>
          <p:nvPr/>
        </p:nvSpPr>
        <p:spPr>
          <a:xfrm xmlns:a="http://schemas.openxmlformats.org/drawingml/2006/main">
            <a:off x="952500" y="17907000"/>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Feature kernel-aot. compile emits the dylib, start creates a session, and turn applies one checked update to four filters. state borrows the accepted result. ekf.mec uses the f32 benchmark equations.</a:t>
            </a:r>
          </a:p>
        </p:txBody>
      </p:sp>
      <p:sp>
        <p:nvSpPr>
          <p:cNvPr id="185" name="AOT benchmark title">
            <a:extLst xmlns:a="http://schemas.openxmlformats.org/drawingml/2006/main">
              <a:ext uri="{FF2B5EF4-FFF2-40B4-BE49-F238E27FC236}">
                <a16:creationId xmlns:a16="http://schemas.microsoft.com/office/drawing/2014/main" id="{FC18D46D-D7BA-4F29-9F39-000579AC3127}"/>
              </a:ext>
            </a:extLst>
          </p:cNvPr>
          <p:cNvSpPr>
            <a:spLocks xmlns:a="http://schemas.openxmlformats.org/drawingml/2006/main" noGrp="1"/>
          </p:cNvSpPr>
          <p:nvPr/>
        </p:nvSpPr>
        <p:spPr>
          <a:xfrm xmlns:a="http://schemas.openxmlformats.org/drawingml/2006/main">
            <a:off x="11525250" y="13049250"/>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550" b="1">
                <a:solidFill>
                  <a:srgbClr val="33AB94"/>
                </a:solidFill>
                <a:latin typeface="Fira Code"/>
                <a:ea typeface="Fira Code"/>
                <a:cs typeface="Fira Code"/>
              </a:rPr>
              <a:t>Checked dylibs</a:t>
            </a:r>
          </a:p>
        </p:txBody>
      </p:sp>
      <p:graphicFrame>
        <p:nvGraphicFramePr>
          <p:cNvPr id="623" name=""/>
          <p:cNvGraphicFramePr/>
          <p:nvPr/>
        </p:nvGraphicFramePr>
        <p:xfrm>
          <a:off xmlns:a="http://schemas.openxmlformats.org/drawingml/2006/main" x="11525250" y="13716000"/>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buNone/>
                      </a:pPr>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7" name="AOT interpretation">
            <a:extLst xmlns:a="http://schemas.openxmlformats.org/drawingml/2006/main">
              <a:ext uri="{FF2B5EF4-FFF2-40B4-BE49-F238E27FC236}">
                <a16:creationId xmlns:a16="http://schemas.microsoft.com/office/drawing/2014/main" id="{9C5BF8B1-B15E-4610-89A7-2F24755D11B9}"/>
              </a:ext>
            </a:extLst>
          </p:cNvPr>
          <p:cNvSpPr>
            <a:spLocks xmlns:a="http://schemas.openxmlformats.org/drawingml/2006/main" noGrp="1"/>
          </p:cNvSpPr>
          <p:nvPr/>
        </p:nvSpPr>
        <p:spPr>
          <a:xfrm xmlns:a="http://schemas.openxmlformats.org/drawingml/2006/main">
            <a:off x="11525250" y="16144875"/>
            <a:ext cx="10144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Mech’s smaller files primarily reflect linker and segment layout. Rust’s specialized scalar loop is faster than scalar Mech. Mech SIMD-4 packs four filters per vector and reaches higher throughput.</a:t>
            </a:r>
          </a:p>
        </p:txBody>
      </p:sp>
      <p:sp>
        <p:nvSpPr>
          <p:cNvPr id="188" name="AOT scope">
            <a:extLst xmlns:a="http://schemas.openxmlformats.org/drawingml/2006/main">
              <a:ext uri="{FF2B5EF4-FFF2-40B4-BE49-F238E27FC236}">
                <a16:creationId xmlns:a16="http://schemas.microsoft.com/office/drawing/2014/main" id="{14D68524-F49B-480E-BBC6-607D510BF3A6}"/>
              </a:ext>
            </a:extLst>
          </p:cNvPr>
          <p:cNvSpPr>
            <a:spLocks xmlns:a="http://schemas.openxmlformats.org/drawingml/2006/main" noGrp="1"/>
          </p:cNvSpPr>
          <p:nvPr/>
        </p:nvSpPr>
        <p:spPr>
          <a:xfrm xmlns:a="http://schemas.openxmlformats.org/drawingml/2006/main">
            <a:off x="11525250" y="17621250"/>
            <a:ext cx="10144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1 thread, 10,000 filters × 200 turns, n=7. Median ± MAD. RSS covers the whole loader process. Compile/load/warmup excluded.</a:t>
            </a:r>
          </a:p>
        </p:txBody>
      </p:sp>
      <p:sp>
        <p:nvSpPr>
          <p:cNvPr id="189" name="Reactive">
            <a:extLst xmlns:a="http://schemas.openxmlformats.org/drawingml/2006/main">
              <a:ext uri="{FF2B5EF4-FFF2-40B4-BE49-F238E27FC236}">
                <a16:creationId xmlns:a16="http://schemas.microsoft.com/office/drawing/2014/main" id="{9E6ACAF7-2FCF-4E44-9325-1841CE2BE59B}"/>
              </a:ext>
            </a:extLst>
          </p:cNvPr>
          <p:cNvSpPr>
            <a:spLocks xmlns:a="http://schemas.openxmlformats.org/drawingml/2006/main" noGrp="1"/>
          </p:cNvSpPr>
          <p:nvPr/>
        </p:nvSpPr>
        <p:spPr>
          <a:xfrm xmlns:a="http://schemas.openxmlformats.org/drawingml/2006/main">
            <a:off x="762000" y="19145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0" name="Reactive thesis">
            <a:extLst xmlns:a="http://schemas.openxmlformats.org/drawingml/2006/main">
              <a:ext uri="{FF2B5EF4-FFF2-40B4-BE49-F238E27FC236}">
                <a16:creationId xmlns:a16="http://schemas.microsoft.com/office/drawing/2014/main" id="{045E56C3-95F1-432C-AF61-E71140A78CBB}"/>
              </a:ext>
            </a:extLst>
          </p:cNvPr>
          <p:cNvSpPr>
            <a:spLocks xmlns:a="http://schemas.openxmlformats.org/drawingml/2006/main" noGrp="1"/>
          </p:cNvSpPr>
          <p:nvPr/>
        </p:nvSpPr>
        <p:spPr>
          <a:xfrm xmlns:a="http://schemas.openxmlformats.org/drawingml/2006/main">
            <a:off x="952500" y="20193000"/>
            <a:ext cx="20716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Robotics applications must incorporate new sensor data while retaining estimator state. Rust host drivers submit updates to the resident Mech graph, directly or through ROS adapters. A turn computes candidate state and validates it before publication. Rejection retains the previous state.</a:t>
            </a:r>
          </a:p>
        </p:txBody>
      </p:sp>
      <p:sp>
        <p:nvSpPr>
          <p:cNvPr id="191" name="Build phase">
            <a:extLst xmlns:a="http://schemas.openxmlformats.org/drawingml/2006/main">
              <a:ext uri="{FF2B5EF4-FFF2-40B4-BE49-F238E27FC236}">
                <a16:creationId xmlns:a16="http://schemas.microsoft.com/office/drawing/2014/main" id="{88696A30-21E3-4122-857A-A471879E5F42}"/>
              </a:ext>
            </a:extLst>
          </p:cNvPr>
          <p:cNvSpPr>
            <a:spLocks xmlns:a="http://schemas.openxmlformats.org/drawingml/2006/main" noGrp="1"/>
          </p:cNvSpPr>
          <p:nvPr/>
        </p:nvSpPr>
        <p:spPr>
          <a:xfrm xmlns:a="http://schemas.openxmlformats.org/drawingml/2006/main">
            <a:off x="952500" y="21717000"/>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2" name="Artifact serialization group">
            <a:extLst xmlns:a="http://schemas.openxmlformats.org/drawingml/2006/main">
              <a:ext uri="{FF2B5EF4-FFF2-40B4-BE49-F238E27FC236}">
                <a16:creationId xmlns:a16="http://schemas.microsoft.com/office/drawing/2014/main" id="{1221F940-3C85-4A2A-8C3C-52F8B386BD5B}"/>
              </a:ext>
            </a:extLst>
          </p:cNvPr>
          <p:cNvSpPr>
            <a:spLocks xmlns:a="http://schemas.openxmlformats.org/drawingml/2006/main" noGrp="1"/>
          </p:cNvSpPr>
          <p:nvPr/>
        </p:nvSpPr>
        <p:spPr>
          <a:xfrm xmlns:a="http://schemas.openxmlformats.org/drawingml/2006/main">
            <a:off x="7667625" y="21478875"/>
            <a:ext cx="5143500" cy="2571750"/>
          </a:xfrm>
          <a:prstGeom xmlns:a="http://schemas.openxmlformats.org/drawingml/2006/main" prst="rect">
            <a:avLst/>
          </a:prstGeom>
          <a:noFill xmlns:a="http://schemas.openxmlformats.org/drawingml/2006/main"/>
          <a:ln xmlns:a="http://schemas.openxmlformats.org/drawingml/2006/main" w="28575">
            <a:solidFill>
              <a:srgbClr val="7FC7FF"/>
            </a:solidFill>
            <a:prstDash val="dot"/>
          </a:ln>
        </p:spPr>
      </p:sp>
      <p:sp>
        <p:nvSpPr>
          <p:cNvPr id="194" name="Runtime configuration">
            <a:extLst xmlns:a="http://schemas.openxmlformats.org/drawingml/2006/main">
              <a:ext uri="{FF2B5EF4-FFF2-40B4-BE49-F238E27FC236}">
                <a16:creationId xmlns:a16="http://schemas.microsoft.com/office/drawing/2014/main" id="{8F619773-FE7E-45D5-BF26-EBCF91136C86}"/>
              </a:ext>
            </a:extLst>
          </p:cNvPr>
          <p:cNvSpPr>
            <a:spLocks xmlns:a="http://schemas.openxmlformats.org/drawingml/2006/main" noGrp="1"/>
          </p:cNvSpPr>
          <p:nvPr/>
        </p:nvSpPr>
        <p:spPr>
          <a:xfrm xmlns:a="http://schemas.openxmlformats.org/drawingml/2006/main">
            <a:off x="13335000" y="2166937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5" name="Configuration explanation">
            <a:extLst xmlns:a="http://schemas.openxmlformats.org/drawingml/2006/main">
              <a:ext uri="{FF2B5EF4-FFF2-40B4-BE49-F238E27FC236}">
                <a16:creationId xmlns:a16="http://schemas.microsoft.com/office/drawing/2014/main" id="{5F8055B3-E4A4-4E54-A819-CF5E91B629F0}"/>
              </a:ext>
            </a:extLst>
          </p:cNvPr>
          <p:cNvSpPr>
            <a:spLocks xmlns:a="http://schemas.openxmlformats.org/drawingml/2006/main" noGrp="1"/>
          </p:cNvSpPr>
          <p:nvPr/>
        </p:nvSpPr>
        <p:spPr>
          <a:xfrm xmlns:a="http://schemas.openxmlformats.org/drawingml/2006/main">
            <a:off x="17716500" y="21669375"/>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Hosts, grants, runtime policy, compute target</a:t>
            </a:r>
          </a:p>
        </p:txBody>
      </p:sp>
      <p:sp>
        <p:nvSpPr>
          <p:cNvPr id="208" name="AOT preparation">
            <a:extLst xmlns:a="http://schemas.openxmlformats.org/drawingml/2006/main">
              <a:ext uri="{FF2B5EF4-FFF2-40B4-BE49-F238E27FC236}">
                <a16:creationId xmlns:a16="http://schemas.microsoft.com/office/drawing/2014/main" id="{FE0F5B9A-7DDA-4D62-AEB6-567E2870044A}"/>
              </a:ext>
            </a:extLst>
          </p:cNvPr>
          <p:cNvSpPr>
            <a:spLocks xmlns:a="http://schemas.openxmlformats.org/drawingml/2006/main" noGrp="1"/>
          </p:cNvSpPr>
          <p:nvPr/>
        </p:nvSpPr>
        <p:spPr>
          <a:xfrm xmlns:a="http://schemas.openxmlformats.org/drawingml/2006/main">
            <a:off x="12858750" y="23812500"/>
            <a:ext cx="52387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025">
                <a:solidFill>
                  <a:srgbClr val="E8EDF0"/>
                </a:solidFill>
                <a:latin typeface="Segoe UI"/>
                <a:ea typeface="Segoe UI"/>
                <a:cs typeface="Segoe UI"/>
              </a:rPr>
              <a:t>Fixed-shape lowering + AOT</a:t>
            </a:r>
          </a:p>
        </p:txBody>
      </p:sp>
      <p:sp>
        <p:nvSpPr>
          <p:cNvPr id="209" name="AOT dylib">
            <a:extLst xmlns:a="http://schemas.openxmlformats.org/drawingml/2006/main">
              <a:ext uri="{FF2B5EF4-FFF2-40B4-BE49-F238E27FC236}">
                <a16:creationId xmlns:a16="http://schemas.microsoft.com/office/drawing/2014/main" id="{0DA607F7-88D4-4352-B7FE-70F75706D3B9}"/>
              </a:ext>
            </a:extLst>
          </p:cNvPr>
          <p:cNvSpPr>
            <a:spLocks xmlns:a="http://schemas.openxmlformats.org/drawingml/2006/main" noGrp="1"/>
          </p:cNvSpPr>
          <p:nvPr/>
        </p:nvSpPr>
        <p:spPr>
          <a:xfrm xmlns:a="http://schemas.openxmlformats.org/drawingml/2006/main">
            <a:off x="18764250" y="23812500"/>
            <a:ext cx="2905125"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025">
                <a:solidFill>
                  <a:srgbClr val="E8EDF0"/>
                </a:solidFill>
                <a:latin typeface="Segoe UI"/>
                <a:ea typeface="Segoe UI"/>
                <a:cs typeface="Segoe UI"/>
              </a:rPr>
              <a:t>Native dylib</a:t>
            </a:r>
          </a:p>
        </p:txBody>
      </p:sp>
      <p:sp>
        <p:nvSpPr>
          <p:cNvPr id="237" name="Heterogeneous">
            <a:extLst xmlns:a="http://schemas.openxmlformats.org/drawingml/2006/main">
              <a:ext uri="{FF2B5EF4-FFF2-40B4-BE49-F238E27FC236}">
                <a16:creationId xmlns:a16="http://schemas.microsoft.com/office/drawing/2014/main" id="{1451E012-FCF2-4EF2-A003-BCAA5D1E5ECC}"/>
              </a:ext>
            </a:extLst>
          </p:cNvPr>
          <p:cNvSpPr>
            <a:spLocks xmlns:a="http://schemas.openxmlformats.org/drawingml/2006/main" noGrp="1"/>
          </p:cNvSpPr>
          <p:nvPr/>
        </p:nvSpPr>
        <p:spPr>
          <a:xfrm xmlns:a="http://schemas.openxmlformats.org/drawingml/2006/main">
            <a:off x="762000" y="27717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8" name="Heterogeneous narrative">
            <a:extLst xmlns:a="http://schemas.openxmlformats.org/drawingml/2006/main">
              <a:ext uri="{FF2B5EF4-FFF2-40B4-BE49-F238E27FC236}">
                <a16:creationId xmlns:a16="http://schemas.microsoft.com/office/drawing/2014/main" id="{48D61149-D642-4AD4-BF60-0DF108C14F6D}"/>
              </a:ext>
            </a:extLst>
          </p:cNvPr>
          <p:cNvSpPr>
            <a:spLocks xmlns:a="http://schemas.openxmlformats.org/drawingml/2006/main" noGrp="1"/>
          </p:cNvSpPr>
          <p:nvPr/>
        </p:nvSpPr>
        <p:spPr>
          <a:xfrm xmlns:a="http://schemas.openxmlformats.org/drawingml/2006/main">
            <a:off x="952500" y="28765500"/>
            <a:ext cx="20716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E8EDF0"/>
                </a:solidFill>
                <a:latin typeface="Segoe UI"/>
                <a:ea typeface="Segoe UI"/>
                <a:cs typeface="Segoe UI"/>
              </a:defRPr>
            </a:pPr>
            <a:r>
              <a:rPr sz="2400" b="0">
                <a:solidFill>
                  <a:srgbClr val="E8EDF0"/>
                </a:solidFill>
                <a:latin typeface="Segoe UI"/>
                <a:ea typeface="Segoe UI"/>
                <a:cs typeface="Segoe UI"/>
              </a:rPr>
              <a:t>All Mech backend measurements use one f32 source version of the EKF shown at right.</a:t>
            </a:r>
          </a:p>
        </p:txBody>
      </p:sp>
      <p:sp>
        <p:nvSpPr>
          <p:cNvPr id="239" name="JIT AOT explanation">
            <a:extLst xmlns:a="http://schemas.openxmlformats.org/drawingml/2006/main">
              <a:ext uri="{FF2B5EF4-FFF2-40B4-BE49-F238E27FC236}">
                <a16:creationId xmlns:a16="http://schemas.microsoft.com/office/drawing/2014/main" id="{81D7AE81-DB5D-49AA-BCBA-B6456383EEFD}"/>
              </a:ext>
            </a:extLst>
          </p:cNvPr>
          <p:cNvSpPr>
            <a:spLocks xmlns:a="http://schemas.openxmlformats.org/drawingml/2006/main" noGrp="1"/>
          </p:cNvSpPr>
          <p:nvPr/>
        </p:nvSpPr>
        <p:spPr>
          <a:xfrm xmlns:a="http://schemas.openxmlformats.org/drawingml/2006/main">
            <a:off x="952500" y="29289375"/>
            <a:ext cx="20716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SIMD JIT and AOT share the numerical graph and Cranelift code generator. JIT compiles on demand. AOT emits a native library before deployment, allowing the host to omit the compiler.</a:t>
            </a:r>
          </a:p>
        </p:txBody>
      </p:sp>
      <p:sp>
        <p:nvSpPr>
          <p:cNvPr id="240" name="Cross CPU title">
            <a:extLst xmlns:a="http://schemas.openxmlformats.org/drawingml/2006/main">
              <a:ext uri="{FF2B5EF4-FFF2-40B4-BE49-F238E27FC236}">
                <a16:creationId xmlns:a16="http://schemas.microsoft.com/office/drawing/2014/main" id="{0892A7C5-CE90-49EA-A966-D424D1E207F2}"/>
              </a:ext>
            </a:extLst>
          </p:cNvPr>
          <p:cNvSpPr>
            <a:spLocks xmlns:a="http://schemas.openxmlformats.org/drawingml/2006/main" noGrp="1"/>
          </p:cNvSpPr>
          <p:nvPr/>
        </p:nvSpPr>
        <p:spPr>
          <a:xfrm xmlns:a="http://schemas.openxmlformats.org/drawingml/2006/main">
            <a:off x="952500" y="30099000"/>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41" name="Backend chart title">
            <a:extLst xmlns:a="http://schemas.openxmlformats.org/drawingml/2006/main">
              <a:ext uri="{FF2B5EF4-FFF2-40B4-BE49-F238E27FC236}">
                <a16:creationId xmlns:a16="http://schemas.microsoft.com/office/drawing/2014/main" id="{49D684CB-2196-4905-9D97-89863007CB20}"/>
              </a:ext>
            </a:extLst>
          </p:cNvPr>
          <p:cNvSpPr>
            <a:spLocks xmlns:a="http://schemas.openxmlformats.org/drawingml/2006/main" noGrp="1"/>
          </p:cNvSpPr>
          <p:nvPr/>
        </p:nvSpPr>
        <p:spPr>
          <a:xfrm xmlns:a="http://schemas.openxmlformats.org/drawingml/2006/main">
            <a:off x="11715750" y="30099000"/>
            <a:ext cx="995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2" name="CPU chart unit">
            <a:extLst xmlns:a="http://schemas.openxmlformats.org/drawingml/2006/main">
              <a:ext uri="{FF2B5EF4-FFF2-40B4-BE49-F238E27FC236}">
                <a16:creationId xmlns:a16="http://schemas.microsoft.com/office/drawing/2014/main" id="{F55295EB-C467-4C1F-9B01-0A789FA2849D}"/>
              </a:ext>
            </a:extLst>
          </p:cNvPr>
          <p:cNvSpPr>
            <a:spLocks xmlns:a="http://schemas.openxmlformats.org/drawingml/2006/main" noGrp="1"/>
          </p:cNvSpPr>
          <p:nvPr/>
        </p:nvSpPr>
        <p:spPr>
          <a:xfrm xmlns:a="http://schemas.openxmlformats.org/drawingml/2006/main">
            <a:off x="952500" y="30670500"/>
            <a:ext cx="990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8 workers, fused execution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Median ± MAD</a:t>
            </a:r>
          </a:p>
        </p:txBody>
      </p:sp>
      <p:sp>
        <p:nvSpPr>
          <p:cNvPr id="243" name="Backend chart unit">
            <a:extLst xmlns:a="http://schemas.openxmlformats.org/drawingml/2006/main">
              <a:ext uri="{FF2B5EF4-FFF2-40B4-BE49-F238E27FC236}">
                <a16:creationId xmlns:a16="http://schemas.microsoft.com/office/drawing/2014/main" id="{7DACAC4A-B946-435A-BE29-6ADAFBC46A50}"/>
              </a:ext>
            </a:extLst>
          </p:cNvPr>
          <p:cNvSpPr>
            <a:spLocks xmlns:a="http://schemas.openxmlformats.org/drawingml/2006/main" noGrp="1"/>
          </p:cNvSpPr>
          <p:nvPr/>
        </p:nvSpPr>
        <p:spPr>
          <a:xfrm xmlns:a="http://schemas.openxmlformats.org/drawingml/2006/main">
            <a:off x="11715750" y="30670500"/>
            <a:ext cx="9953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Per-turn publication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Median ± MAD</a:t>
            </a:r>
          </a:p>
        </p:txBody>
      </p:sp>
      <p:graphicFrame>
        <p:nvGraphicFramePr>
          <p:cNvPr id="681" name="Chart"/>
          <p:cNvGraphicFramePr/>
          <p:nvPr/>
        </p:nvGraphicFramePr>
        <p:xfrm>
          <a:off xmlns:a="http://schemas.openxmlformats.org/drawingml/2006/main" x="80962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ca1ac46396b840f1"/>
          </a:graphicData>
        </a:graphic>
      </p:graphicFrame>
      <p:sp>
        <p:nvSpPr>
          <p:cNvPr id="245" name="Unchecked legend">
            <a:extLst xmlns:a="http://schemas.openxmlformats.org/drawingml/2006/main">
              <a:ext uri="{FF2B5EF4-FFF2-40B4-BE49-F238E27FC236}">
                <a16:creationId xmlns:a16="http://schemas.microsoft.com/office/drawing/2014/main" id="{77ED0666-7151-43EE-8F0B-640FB337B676}"/>
              </a:ext>
            </a:extLst>
          </p:cNvPr>
          <p:cNvSpPr>
            <a:spLocks xmlns:a="http://schemas.openxmlformats.org/drawingml/2006/main" noGrp="1"/>
          </p:cNvSpPr>
          <p:nvPr/>
        </p:nvSpPr>
        <p:spPr>
          <a:xfrm xmlns:a="http://schemas.openxmlformats.org/drawingml/2006/main">
            <a:off x="1009650" y="37385625"/>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6" name="Unchecked legend label">
            <a:extLst xmlns:a="http://schemas.openxmlformats.org/drawingml/2006/main">
              <a:ext uri="{FF2B5EF4-FFF2-40B4-BE49-F238E27FC236}">
                <a16:creationId xmlns:a16="http://schemas.microsoft.com/office/drawing/2014/main" id="{42FC1001-87AF-4B52-9B0F-313F1297BF48}"/>
              </a:ext>
            </a:extLst>
          </p:cNvPr>
          <p:cNvSpPr>
            <a:spLocks xmlns:a="http://schemas.openxmlformats.org/drawingml/2006/main" noGrp="1"/>
          </p:cNvSpPr>
          <p:nvPr/>
        </p:nvSpPr>
        <p:spPr>
          <a:xfrm xmlns:a="http://schemas.openxmlformats.org/drawingml/2006/main">
            <a:off x="1600200" y="372808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unchecked (top)</a:t>
            </a:r>
          </a:p>
        </p:txBody>
      </p:sp>
      <p:sp>
        <p:nvSpPr>
          <p:cNvPr id="247" name="Checked legend">
            <a:extLst xmlns:a="http://schemas.openxmlformats.org/drawingml/2006/main">
              <a:ext uri="{FF2B5EF4-FFF2-40B4-BE49-F238E27FC236}">
                <a16:creationId xmlns:a16="http://schemas.microsoft.com/office/drawing/2014/main" id="{5DD3D87B-9A3C-428E-AFFD-E07D55A49644}"/>
              </a:ext>
            </a:extLst>
          </p:cNvPr>
          <p:cNvSpPr>
            <a:spLocks xmlns:a="http://schemas.openxmlformats.org/drawingml/2006/main" noGrp="1"/>
          </p:cNvSpPr>
          <p:nvPr/>
        </p:nvSpPr>
        <p:spPr>
          <a:xfrm xmlns:a="http://schemas.openxmlformats.org/drawingml/2006/main">
            <a:off x="5334000" y="37385625"/>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8" name="Checked legend label">
            <a:extLst xmlns:a="http://schemas.openxmlformats.org/drawingml/2006/main">
              <a:ext uri="{FF2B5EF4-FFF2-40B4-BE49-F238E27FC236}">
                <a16:creationId xmlns:a16="http://schemas.microsoft.com/office/drawing/2014/main" id="{56B99EA4-2267-48F2-9009-E2682F498439}"/>
              </a:ext>
            </a:extLst>
          </p:cNvPr>
          <p:cNvSpPr>
            <a:spLocks xmlns:a="http://schemas.openxmlformats.org/drawingml/2006/main" noGrp="1"/>
          </p:cNvSpPr>
          <p:nvPr/>
        </p:nvSpPr>
        <p:spPr>
          <a:xfrm xmlns:a="http://schemas.openxmlformats.org/drawingml/2006/main">
            <a:off x="5924550" y="372808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checked (bottom)</a:t>
            </a:r>
          </a:p>
        </p:txBody>
      </p:sp>
      <p:graphicFrame>
        <p:nvGraphicFramePr>
          <p:cNvPr id="686" name="Chart"/>
          <p:cNvGraphicFramePr/>
          <p:nvPr/>
        </p:nvGraphicFramePr>
        <p:xfrm>
          <a:off xmlns:a="http://schemas.openxmlformats.org/drawingml/2006/main" x="1157287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47fedaccb9b14b88"/>
          </a:graphicData>
        </a:graphic>
      </p:graphicFrame>
      <p:sp>
        <p:nvSpPr>
          <p:cNvPr id="250" name="CPU checked measurement 0">
            <a:extLst xmlns:a="http://schemas.openxmlformats.org/drawingml/2006/main">
              <a:ext uri="{FF2B5EF4-FFF2-40B4-BE49-F238E27FC236}">
                <a16:creationId xmlns:a16="http://schemas.microsoft.com/office/drawing/2014/main" id="{7C5A0B66-C205-4613-90F5-803814D12150}"/>
              </a:ext>
            </a:extLst>
          </p:cNvPr>
          <p:cNvSpPr>
            <a:spLocks xmlns:a="http://schemas.openxmlformats.org/drawingml/2006/main" noGrp="1"/>
          </p:cNvSpPr>
          <p:nvPr/>
        </p:nvSpPr>
        <p:spPr>
          <a:xfrm xmlns:a="http://schemas.openxmlformats.org/drawingml/2006/main">
            <a:off x="8533448" y="359778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79.4 ± 0.6</a:t>
            </a:r>
          </a:p>
        </p:txBody>
      </p:sp>
      <p:sp>
        <p:nvSpPr>
          <p:cNvPr id="251" name="CPU unchecked measurement 0">
            <a:extLst xmlns:a="http://schemas.openxmlformats.org/drawingml/2006/main">
              <a:ext uri="{FF2B5EF4-FFF2-40B4-BE49-F238E27FC236}">
                <a16:creationId xmlns:a16="http://schemas.microsoft.com/office/drawing/2014/main" id="{8FEC0E81-69F3-46BE-99B1-3BCD53492293}"/>
              </a:ext>
            </a:extLst>
          </p:cNvPr>
          <p:cNvSpPr>
            <a:spLocks xmlns:a="http://schemas.openxmlformats.org/drawingml/2006/main" noGrp="1"/>
          </p:cNvSpPr>
          <p:nvPr/>
        </p:nvSpPr>
        <p:spPr>
          <a:xfrm xmlns:a="http://schemas.openxmlformats.org/drawingml/2006/main">
            <a:off x="8533448" y="3567314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81.6 ± 0.3</a:t>
            </a:r>
          </a:p>
        </p:txBody>
      </p:sp>
      <p:sp>
        <p:nvSpPr>
          <p:cNvPr id="252" name="CPU checked measurement 1">
            <a:extLst xmlns:a="http://schemas.openxmlformats.org/drawingml/2006/main">
              <a:ext uri="{FF2B5EF4-FFF2-40B4-BE49-F238E27FC236}">
                <a16:creationId xmlns:a16="http://schemas.microsoft.com/office/drawing/2014/main" id="{72BAC42E-BD1B-4000-BFF9-45180649A0E3}"/>
              </a:ext>
            </a:extLst>
          </p:cNvPr>
          <p:cNvSpPr>
            <a:spLocks xmlns:a="http://schemas.openxmlformats.org/drawingml/2006/main" noGrp="1"/>
          </p:cNvSpPr>
          <p:nvPr/>
        </p:nvSpPr>
        <p:spPr>
          <a:xfrm xmlns:a="http://schemas.openxmlformats.org/drawingml/2006/main">
            <a:off x="8533448" y="352007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97.9 ± 1.2</a:t>
            </a:r>
          </a:p>
        </p:txBody>
      </p:sp>
      <p:sp>
        <p:nvSpPr>
          <p:cNvPr id="253" name="CPU unchecked measurement 1">
            <a:extLst xmlns:a="http://schemas.openxmlformats.org/drawingml/2006/main">
              <a:ext uri="{FF2B5EF4-FFF2-40B4-BE49-F238E27FC236}">
                <a16:creationId xmlns:a16="http://schemas.microsoft.com/office/drawing/2014/main" id="{01DE15D7-8C98-48F3-88E4-7B1F474D8B6F}"/>
              </a:ext>
            </a:extLst>
          </p:cNvPr>
          <p:cNvSpPr>
            <a:spLocks xmlns:a="http://schemas.openxmlformats.org/drawingml/2006/main" noGrp="1"/>
          </p:cNvSpPr>
          <p:nvPr/>
        </p:nvSpPr>
        <p:spPr>
          <a:xfrm xmlns:a="http://schemas.openxmlformats.org/drawingml/2006/main">
            <a:off x="8533448" y="3489605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1.4</a:t>
            </a:r>
          </a:p>
        </p:txBody>
      </p:sp>
      <p:sp>
        <p:nvSpPr>
          <p:cNvPr id="254" name="CPU checked measurement 2">
            <a:extLst xmlns:a="http://schemas.openxmlformats.org/drawingml/2006/main">
              <a:ext uri="{FF2B5EF4-FFF2-40B4-BE49-F238E27FC236}">
                <a16:creationId xmlns:a16="http://schemas.microsoft.com/office/drawing/2014/main" id="{C3414F57-35EA-4F4D-BBDB-5EE12B0E1F47}"/>
              </a:ext>
            </a:extLst>
          </p:cNvPr>
          <p:cNvSpPr>
            <a:spLocks xmlns:a="http://schemas.openxmlformats.org/drawingml/2006/main" noGrp="1"/>
          </p:cNvSpPr>
          <p:nvPr/>
        </p:nvSpPr>
        <p:spPr>
          <a:xfrm xmlns:a="http://schemas.openxmlformats.org/drawingml/2006/main">
            <a:off x="8533448" y="344237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129.0 ± 2.8</a:t>
            </a:r>
          </a:p>
        </p:txBody>
      </p:sp>
      <p:sp>
        <p:nvSpPr>
          <p:cNvPr id="255" name="CPU unchecked measurement 2">
            <a:extLst xmlns:a="http://schemas.openxmlformats.org/drawingml/2006/main">
              <a:ext uri="{FF2B5EF4-FFF2-40B4-BE49-F238E27FC236}">
                <a16:creationId xmlns:a16="http://schemas.microsoft.com/office/drawing/2014/main" id="{7D4C7FDA-F714-4EC4-B786-01514FF1D335}"/>
              </a:ext>
            </a:extLst>
          </p:cNvPr>
          <p:cNvSpPr>
            <a:spLocks xmlns:a="http://schemas.openxmlformats.org/drawingml/2006/main" noGrp="1"/>
          </p:cNvSpPr>
          <p:nvPr/>
        </p:nvSpPr>
        <p:spPr>
          <a:xfrm xmlns:a="http://schemas.openxmlformats.org/drawingml/2006/main">
            <a:off x="8533448" y="341189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136.4 ± 1.1</a:t>
            </a:r>
          </a:p>
        </p:txBody>
      </p:sp>
      <p:sp>
        <p:nvSpPr>
          <p:cNvPr id="256" name="CPU checked measurement 3">
            <a:extLst xmlns:a="http://schemas.openxmlformats.org/drawingml/2006/main">
              <a:ext uri="{FF2B5EF4-FFF2-40B4-BE49-F238E27FC236}">
                <a16:creationId xmlns:a16="http://schemas.microsoft.com/office/drawing/2014/main" id="{BB8B389E-ECE9-4DE8-BFDF-C6A9F1621A6E}"/>
              </a:ext>
            </a:extLst>
          </p:cNvPr>
          <p:cNvSpPr>
            <a:spLocks xmlns:a="http://schemas.openxmlformats.org/drawingml/2006/main" noGrp="1"/>
          </p:cNvSpPr>
          <p:nvPr/>
        </p:nvSpPr>
        <p:spPr>
          <a:xfrm xmlns:a="http://schemas.openxmlformats.org/drawingml/2006/main">
            <a:off x="8533448" y="336466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119.3 ± 0.4</a:t>
            </a:r>
          </a:p>
        </p:txBody>
      </p:sp>
      <p:sp>
        <p:nvSpPr>
          <p:cNvPr id="257" name="CPU unchecked measurement 3">
            <a:extLst xmlns:a="http://schemas.openxmlformats.org/drawingml/2006/main">
              <a:ext uri="{FF2B5EF4-FFF2-40B4-BE49-F238E27FC236}">
                <a16:creationId xmlns:a16="http://schemas.microsoft.com/office/drawing/2014/main" id="{D5300D0D-46F3-41AE-A533-E9EBC248C474}"/>
              </a:ext>
            </a:extLst>
          </p:cNvPr>
          <p:cNvSpPr>
            <a:spLocks xmlns:a="http://schemas.openxmlformats.org/drawingml/2006/main" noGrp="1"/>
          </p:cNvSpPr>
          <p:nvPr/>
        </p:nvSpPr>
        <p:spPr>
          <a:xfrm xmlns:a="http://schemas.openxmlformats.org/drawingml/2006/main">
            <a:off x="8533448" y="333418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128.2 ± 0.2</a:t>
            </a:r>
          </a:p>
        </p:txBody>
      </p:sp>
      <p:sp>
        <p:nvSpPr>
          <p:cNvPr id="258" name="CPU checked measurement 4">
            <a:extLst xmlns:a="http://schemas.openxmlformats.org/drawingml/2006/main">
              <a:ext uri="{FF2B5EF4-FFF2-40B4-BE49-F238E27FC236}">
                <a16:creationId xmlns:a16="http://schemas.microsoft.com/office/drawing/2014/main" id="{BF81C6D7-F18B-43F9-8487-E6758DE14733}"/>
              </a:ext>
            </a:extLst>
          </p:cNvPr>
          <p:cNvSpPr>
            <a:spLocks xmlns:a="http://schemas.openxmlformats.org/drawingml/2006/main" noGrp="1"/>
          </p:cNvSpPr>
          <p:nvPr/>
        </p:nvSpPr>
        <p:spPr>
          <a:xfrm xmlns:a="http://schemas.openxmlformats.org/drawingml/2006/main">
            <a:off x="8533448" y="32869553"/>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2.5</a:t>
            </a:r>
          </a:p>
        </p:txBody>
      </p:sp>
      <p:sp>
        <p:nvSpPr>
          <p:cNvPr id="259" name="CPU unchecked measurement 4">
            <a:extLst xmlns:a="http://schemas.openxmlformats.org/drawingml/2006/main">
              <a:ext uri="{FF2B5EF4-FFF2-40B4-BE49-F238E27FC236}">
                <a16:creationId xmlns:a16="http://schemas.microsoft.com/office/drawing/2014/main" id="{4DC45127-0C60-459C-ACC5-FAF774962705}"/>
              </a:ext>
            </a:extLst>
          </p:cNvPr>
          <p:cNvSpPr>
            <a:spLocks xmlns:a="http://schemas.openxmlformats.org/drawingml/2006/main" noGrp="1"/>
          </p:cNvSpPr>
          <p:nvPr/>
        </p:nvSpPr>
        <p:spPr>
          <a:xfrm xmlns:a="http://schemas.openxmlformats.org/drawingml/2006/main">
            <a:off x="8533448" y="325648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170.5 ± 1.7</a:t>
            </a:r>
          </a:p>
        </p:txBody>
      </p:sp>
      <p:sp>
        <p:nvSpPr>
          <p:cNvPr id="260" name="CPU checked measurement 5">
            <a:extLst xmlns:a="http://schemas.openxmlformats.org/drawingml/2006/main">
              <a:ext uri="{FF2B5EF4-FFF2-40B4-BE49-F238E27FC236}">
                <a16:creationId xmlns:a16="http://schemas.microsoft.com/office/drawing/2014/main" id="{0E6B4432-9AE3-41C4-A86E-E2144605A163}"/>
              </a:ext>
            </a:extLst>
          </p:cNvPr>
          <p:cNvSpPr>
            <a:spLocks xmlns:a="http://schemas.openxmlformats.org/drawingml/2006/main" noGrp="1"/>
          </p:cNvSpPr>
          <p:nvPr/>
        </p:nvSpPr>
        <p:spPr>
          <a:xfrm xmlns:a="http://schemas.openxmlformats.org/drawingml/2006/main">
            <a:off x="8533448" y="3209247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151.3 ± 2.6</a:t>
            </a:r>
          </a:p>
        </p:txBody>
      </p:sp>
      <p:sp>
        <p:nvSpPr>
          <p:cNvPr id="261" name="CPU unchecked measurement 5">
            <a:extLst xmlns:a="http://schemas.openxmlformats.org/drawingml/2006/main">
              <a:ext uri="{FF2B5EF4-FFF2-40B4-BE49-F238E27FC236}">
                <a16:creationId xmlns:a16="http://schemas.microsoft.com/office/drawing/2014/main" id="{8B4427E5-986F-4D84-8521-1861F381EB2E}"/>
              </a:ext>
            </a:extLst>
          </p:cNvPr>
          <p:cNvSpPr>
            <a:spLocks xmlns:a="http://schemas.openxmlformats.org/drawingml/2006/main" noGrp="1"/>
          </p:cNvSpPr>
          <p:nvPr/>
        </p:nvSpPr>
        <p:spPr>
          <a:xfrm xmlns:a="http://schemas.openxmlformats.org/drawingml/2006/main">
            <a:off x="8533448" y="317877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184.1 ± 8.1</a:t>
            </a:r>
          </a:p>
        </p:txBody>
      </p:sp>
      <p:sp>
        <p:nvSpPr>
          <p:cNvPr id="262" name="Backend checked measurement 0">
            <a:extLst xmlns:a="http://schemas.openxmlformats.org/drawingml/2006/main">
              <a:ext uri="{FF2B5EF4-FFF2-40B4-BE49-F238E27FC236}">
                <a16:creationId xmlns:a16="http://schemas.microsoft.com/office/drawing/2014/main" id="{35CB1C9F-901F-46EF-A79E-D3BF9474C538}"/>
              </a:ext>
            </a:extLst>
          </p:cNvPr>
          <p:cNvSpPr>
            <a:spLocks xmlns:a="http://schemas.openxmlformats.org/drawingml/2006/main" noGrp="1"/>
          </p:cNvSpPr>
          <p:nvPr/>
        </p:nvSpPr>
        <p:spPr>
          <a:xfrm xmlns:a="http://schemas.openxmlformats.org/drawingml/2006/main">
            <a:off x="19296698" y="3593064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0.70 ± &lt;0.01</a:t>
            </a:r>
          </a:p>
        </p:txBody>
      </p:sp>
      <p:sp>
        <p:nvSpPr>
          <p:cNvPr id="263" name="Backend unchecked measurement 0">
            <a:extLst xmlns:a="http://schemas.openxmlformats.org/drawingml/2006/main">
              <a:ext uri="{FF2B5EF4-FFF2-40B4-BE49-F238E27FC236}">
                <a16:creationId xmlns:a16="http://schemas.microsoft.com/office/drawing/2014/main" id="{245E7C0A-13EA-43AE-A547-4D8CBDB9CCCE}"/>
              </a:ext>
            </a:extLst>
          </p:cNvPr>
          <p:cNvSpPr>
            <a:spLocks xmlns:a="http://schemas.openxmlformats.org/drawingml/2006/main" noGrp="1"/>
          </p:cNvSpPr>
          <p:nvPr/>
        </p:nvSpPr>
        <p:spPr>
          <a:xfrm xmlns:a="http://schemas.openxmlformats.org/drawingml/2006/main">
            <a:off x="19296698" y="3556495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0.83 ± &lt;0.01</a:t>
            </a:r>
          </a:p>
        </p:txBody>
      </p:sp>
      <p:sp>
        <p:nvSpPr>
          <p:cNvPr id="264" name="Backend checked measurement 1">
            <a:extLst xmlns:a="http://schemas.openxmlformats.org/drawingml/2006/main">
              <a:ext uri="{FF2B5EF4-FFF2-40B4-BE49-F238E27FC236}">
                <a16:creationId xmlns:a16="http://schemas.microsoft.com/office/drawing/2014/main" id="{D013987A-76B1-42A5-93EE-FD1FEA117F74}"/>
              </a:ext>
            </a:extLst>
          </p:cNvPr>
          <p:cNvSpPr>
            <a:spLocks xmlns:a="http://schemas.openxmlformats.org/drawingml/2006/main" noGrp="1"/>
          </p:cNvSpPr>
          <p:nvPr/>
        </p:nvSpPr>
        <p:spPr>
          <a:xfrm xmlns:a="http://schemas.openxmlformats.org/drawingml/2006/main">
            <a:off x="19296698" y="3499814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13.2 ± &lt;0.1</a:t>
            </a:r>
          </a:p>
        </p:txBody>
      </p:sp>
      <p:sp>
        <p:nvSpPr>
          <p:cNvPr id="265" name="Backend unchecked measurement 1">
            <a:extLst xmlns:a="http://schemas.openxmlformats.org/drawingml/2006/main">
              <a:ext uri="{FF2B5EF4-FFF2-40B4-BE49-F238E27FC236}">
                <a16:creationId xmlns:a16="http://schemas.microsoft.com/office/drawing/2014/main" id="{F91FE1D5-6A0A-4E06-8EE7-7331094592E8}"/>
              </a:ext>
            </a:extLst>
          </p:cNvPr>
          <p:cNvSpPr>
            <a:spLocks xmlns:a="http://schemas.openxmlformats.org/drawingml/2006/main" noGrp="1"/>
          </p:cNvSpPr>
          <p:nvPr/>
        </p:nvSpPr>
        <p:spPr>
          <a:xfrm xmlns:a="http://schemas.openxmlformats.org/drawingml/2006/main">
            <a:off x="19296698" y="3463246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15.9 ± &lt;0.1</a:t>
            </a:r>
          </a:p>
        </p:txBody>
      </p:sp>
      <p:sp>
        <p:nvSpPr>
          <p:cNvPr id="266" name="Backend checked measurement 2">
            <a:extLst xmlns:a="http://schemas.openxmlformats.org/drawingml/2006/main">
              <a:ext uri="{FF2B5EF4-FFF2-40B4-BE49-F238E27FC236}">
                <a16:creationId xmlns:a16="http://schemas.microsoft.com/office/drawing/2014/main" id="{43E8033F-1116-473F-90FC-4AEA5E0D1AE4}"/>
              </a:ext>
            </a:extLst>
          </p:cNvPr>
          <p:cNvSpPr>
            <a:spLocks xmlns:a="http://schemas.openxmlformats.org/drawingml/2006/main" noGrp="1"/>
          </p:cNvSpPr>
          <p:nvPr/>
        </p:nvSpPr>
        <p:spPr>
          <a:xfrm xmlns:a="http://schemas.openxmlformats.org/drawingml/2006/main">
            <a:off x="19296698" y="3406564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34.6 ± &lt;0.1</a:t>
            </a:r>
          </a:p>
        </p:txBody>
      </p:sp>
      <p:sp>
        <p:nvSpPr>
          <p:cNvPr id="267" name="Backend unchecked measurement 2">
            <a:extLst xmlns:a="http://schemas.openxmlformats.org/drawingml/2006/main">
              <a:ext uri="{FF2B5EF4-FFF2-40B4-BE49-F238E27FC236}">
                <a16:creationId xmlns:a16="http://schemas.microsoft.com/office/drawing/2014/main" id="{5EC9895D-807A-42AA-A0F6-ED91D6E93E26}"/>
              </a:ext>
            </a:extLst>
          </p:cNvPr>
          <p:cNvSpPr>
            <a:spLocks xmlns:a="http://schemas.openxmlformats.org/drawingml/2006/main" noGrp="1"/>
          </p:cNvSpPr>
          <p:nvPr/>
        </p:nvSpPr>
        <p:spPr>
          <a:xfrm xmlns:a="http://schemas.openxmlformats.org/drawingml/2006/main">
            <a:off x="19296698" y="3369996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37.1 ± 0.1</a:t>
            </a:r>
          </a:p>
        </p:txBody>
      </p:sp>
      <p:sp>
        <p:nvSpPr>
          <p:cNvPr id="268" name="Backend checked measurement 3">
            <a:extLst xmlns:a="http://schemas.openxmlformats.org/drawingml/2006/main">
              <a:ext uri="{FF2B5EF4-FFF2-40B4-BE49-F238E27FC236}">
                <a16:creationId xmlns:a16="http://schemas.microsoft.com/office/drawing/2014/main" id="{E5C871AB-9640-4788-8C61-4EEE84550C6C}"/>
              </a:ext>
            </a:extLst>
          </p:cNvPr>
          <p:cNvSpPr>
            <a:spLocks xmlns:a="http://schemas.openxmlformats.org/drawingml/2006/main" noGrp="1"/>
          </p:cNvSpPr>
          <p:nvPr/>
        </p:nvSpPr>
        <p:spPr>
          <a:xfrm xmlns:a="http://schemas.openxmlformats.org/drawingml/2006/main">
            <a:off x="19296698" y="3313315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121.1 ± 0.5</a:t>
            </a:r>
          </a:p>
        </p:txBody>
      </p:sp>
      <p:sp>
        <p:nvSpPr>
          <p:cNvPr id="269" name="Backend unchecked measurement 3">
            <a:extLst xmlns:a="http://schemas.openxmlformats.org/drawingml/2006/main">
              <a:ext uri="{FF2B5EF4-FFF2-40B4-BE49-F238E27FC236}">
                <a16:creationId xmlns:a16="http://schemas.microsoft.com/office/drawing/2014/main" id="{2924A930-9A69-40AE-BA8D-B4237726F717}"/>
              </a:ext>
            </a:extLst>
          </p:cNvPr>
          <p:cNvSpPr>
            <a:spLocks xmlns:a="http://schemas.openxmlformats.org/drawingml/2006/main" noGrp="1"/>
          </p:cNvSpPr>
          <p:nvPr/>
        </p:nvSpPr>
        <p:spPr>
          <a:xfrm xmlns:a="http://schemas.openxmlformats.org/drawingml/2006/main">
            <a:off x="19296698" y="3276746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141.6 ± 0.8</a:t>
            </a:r>
          </a:p>
        </p:txBody>
      </p:sp>
      <p:sp>
        <p:nvSpPr>
          <p:cNvPr id="270" name="Backend checked measurement 4">
            <a:extLst xmlns:a="http://schemas.openxmlformats.org/drawingml/2006/main">
              <a:ext uri="{FF2B5EF4-FFF2-40B4-BE49-F238E27FC236}">
                <a16:creationId xmlns:a16="http://schemas.microsoft.com/office/drawing/2014/main" id="{A71DC5E9-110B-4EC6-A43B-5B404A12D4E7}"/>
              </a:ext>
            </a:extLst>
          </p:cNvPr>
          <p:cNvSpPr>
            <a:spLocks xmlns:a="http://schemas.openxmlformats.org/drawingml/2006/main" noGrp="1"/>
          </p:cNvSpPr>
          <p:nvPr/>
        </p:nvSpPr>
        <p:spPr>
          <a:xfrm xmlns:a="http://schemas.openxmlformats.org/drawingml/2006/main">
            <a:off x="19296698" y="3220065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420.9 ± 2.3</a:t>
            </a:r>
          </a:p>
        </p:txBody>
      </p:sp>
      <p:sp>
        <p:nvSpPr>
          <p:cNvPr id="271" name="Backend unchecked measurement 4">
            <a:extLst xmlns:a="http://schemas.openxmlformats.org/drawingml/2006/main">
              <a:ext uri="{FF2B5EF4-FFF2-40B4-BE49-F238E27FC236}">
                <a16:creationId xmlns:a16="http://schemas.microsoft.com/office/drawing/2014/main" id="{8AC99082-F5F9-4F4E-BEC8-31D77BE7D651}"/>
              </a:ext>
            </a:extLst>
          </p:cNvPr>
          <p:cNvSpPr>
            <a:spLocks xmlns:a="http://schemas.openxmlformats.org/drawingml/2006/main" noGrp="1"/>
          </p:cNvSpPr>
          <p:nvPr/>
        </p:nvSpPr>
        <p:spPr>
          <a:xfrm xmlns:a="http://schemas.openxmlformats.org/drawingml/2006/main">
            <a:off x="19296698" y="3183496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420.7 ± 2.3</a:t>
            </a:r>
          </a:p>
        </p:txBody>
      </p:sp>
      <p:sp>
        <p:nvSpPr>
          <p:cNvPr id="272" name="Worker abbreviation">
            <a:extLst xmlns:a="http://schemas.openxmlformats.org/drawingml/2006/main">
              <a:ext uri="{FF2B5EF4-FFF2-40B4-BE49-F238E27FC236}">
                <a16:creationId xmlns:a16="http://schemas.microsoft.com/office/drawing/2014/main" id="{427CE7DF-1F82-45CF-B2DB-5B12C748C9AA}"/>
              </a:ext>
            </a:extLst>
          </p:cNvPr>
          <p:cNvSpPr>
            <a:spLocks xmlns:a="http://schemas.openxmlformats.org/drawingml/2006/main" noGrp="1"/>
          </p:cNvSpPr>
          <p:nvPr/>
        </p:nvSpPr>
        <p:spPr>
          <a:xfrm xmlns:a="http://schemas.openxmlformats.org/drawingml/2006/main">
            <a:off x="11715750" y="37338000"/>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1w / 8w: one / eight CPU workers</a:t>
            </a:r>
          </a:p>
        </p:txBody>
      </p:sp>
      <p:sp>
        <p:nvSpPr>
          <p:cNvPr id="273" name="Future work">
            <a:extLst xmlns:a="http://schemas.openxmlformats.org/drawingml/2006/main">
              <a:ext uri="{FF2B5EF4-FFF2-40B4-BE49-F238E27FC236}">
                <a16:creationId xmlns:a16="http://schemas.microsoft.com/office/drawing/2014/main" id="{D2FE87C9-460A-491D-B676-22B1F90DDF1F}"/>
              </a:ext>
            </a:extLst>
          </p:cNvPr>
          <p:cNvSpPr>
            <a:spLocks xmlns:a="http://schemas.openxmlformats.org/drawingml/2006/main" noGrp="1"/>
          </p:cNvSpPr>
          <p:nvPr/>
        </p:nvSpPr>
        <p:spPr>
          <a:xfrm xmlns:a="http://schemas.openxmlformats.org/drawingml/2006/main">
            <a:off x="762000" y="37814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4" name="Release status">
            <a:extLst xmlns:a="http://schemas.openxmlformats.org/drawingml/2006/main">
              <a:ext uri="{FF2B5EF4-FFF2-40B4-BE49-F238E27FC236}">
                <a16:creationId xmlns:a16="http://schemas.microsoft.com/office/drawing/2014/main" id="{F46B0EF4-8999-434B-8EE2-6F28947BA58D}"/>
              </a:ext>
            </a:extLst>
          </p:cNvPr>
          <p:cNvSpPr>
            <a:spLocks xmlns:a="http://schemas.openxmlformats.org/drawingml/2006/main" noGrp="1"/>
          </p:cNvSpPr>
          <p:nvPr/>
        </p:nvSpPr>
        <p:spPr>
          <a:xfrm xmlns:a="http://schemas.openxmlformats.org/drawingml/2006/main">
            <a:off x="952500" y="38719125"/>
            <a:ext cx="2071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Mech is in beta. The EKF results show that shorter numerical code can achieve performance comparable to specialized Rust.</a:t>
            </a:r>
          </a:p>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Stable embedding APIs and tests across more numerical workloads are needed as the runtime and backend support develop.</a:t>
            </a:r>
          </a:p>
        </p:txBody>
      </p:sp>
      <p:sp>
        <p:nvSpPr>
          <p:cNvPr id="275" name="Timeline segment 0">
            <a:extLst xmlns:a="http://schemas.openxmlformats.org/drawingml/2006/main">
              <a:ext uri="{FF2B5EF4-FFF2-40B4-BE49-F238E27FC236}">
                <a16:creationId xmlns:a16="http://schemas.microsoft.com/office/drawing/2014/main" id="{B8F0CE7D-49FF-4D19-8130-73024346EE18}"/>
              </a:ext>
            </a:extLst>
          </p:cNvPr>
          <p:cNvSpPr>
            <a:spLocks xmlns:a="http://schemas.openxmlformats.org/drawingml/2006/main" noGrp="1"/>
          </p:cNvSpPr>
          <p:nvPr/>
        </p:nvSpPr>
        <p:spPr>
          <a:xfrm xmlns:a="http://schemas.openxmlformats.org/drawingml/2006/main">
            <a:off x="2247305"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1">
            <a:extLst xmlns:a="http://schemas.openxmlformats.org/drawingml/2006/main">
              <a:ext uri="{FF2B5EF4-FFF2-40B4-BE49-F238E27FC236}">
                <a16:creationId xmlns:a16="http://schemas.microsoft.com/office/drawing/2014/main" id="{BE00BDB6-3C25-452D-A4A9-A81F8F252D3E}"/>
              </a:ext>
            </a:extLst>
          </p:cNvPr>
          <p:cNvSpPr>
            <a:spLocks xmlns:a="http://schemas.openxmlformats.org/drawingml/2006/main" noGrp="1"/>
          </p:cNvSpPr>
          <p:nvPr/>
        </p:nvSpPr>
        <p:spPr>
          <a:xfrm xmlns:a="http://schemas.openxmlformats.org/drawingml/2006/main">
            <a:off x="4836914"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2">
            <a:extLst xmlns:a="http://schemas.openxmlformats.org/drawingml/2006/main">
              <a:ext uri="{FF2B5EF4-FFF2-40B4-BE49-F238E27FC236}">
                <a16:creationId xmlns:a16="http://schemas.microsoft.com/office/drawing/2014/main" id="{ABD9AFE5-9F80-4540-AE3D-A749130E534D}"/>
              </a:ext>
            </a:extLst>
          </p:cNvPr>
          <p:cNvSpPr>
            <a:spLocks xmlns:a="http://schemas.openxmlformats.org/drawingml/2006/main" noGrp="1"/>
          </p:cNvSpPr>
          <p:nvPr/>
        </p:nvSpPr>
        <p:spPr>
          <a:xfrm xmlns:a="http://schemas.openxmlformats.org/drawingml/2006/main">
            <a:off x="7426523"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8" name="Timeline segment 3">
            <a:extLst xmlns:a="http://schemas.openxmlformats.org/drawingml/2006/main">
              <a:ext uri="{FF2B5EF4-FFF2-40B4-BE49-F238E27FC236}">
                <a16:creationId xmlns:a16="http://schemas.microsoft.com/office/drawing/2014/main" id="{97121695-53D2-4557-B866-2E17710CC867}"/>
              </a:ext>
            </a:extLst>
          </p:cNvPr>
          <p:cNvSpPr>
            <a:spLocks xmlns:a="http://schemas.openxmlformats.org/drawingml/2006/main" noGrp="1"/>
          </p:cNvSpPr>
          <p:nvPr/>
        </p:nvSpPr>
        <p:spPr>
          <a:xfrm xmlns:a="http://schemas.openxmlformats.org/drawingml/2006/main">
            <a:off x="10016133"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9" name="Timeline segment 4">
            <a:extLst xmlns:a="http://schemas.openxmlformats.org/drawingml/2006/main">
              <a:ext uri="{FF2B5EF4-FFF2-40B4-BE49-F238E27FC236}">
                <a16:creationId xmlns:a16="http://schemas.microsoft.com/office/drawing/2014/main" id="{8C10085A-F7DA-49DC-9384-705E6AE87400}"/>
              </a:ext>
            </a:extLst>
          </p:cNvPr>
          <p:cNvSpPr>
            <a:spLocks xmlns:a="http://schemas.openxmlformats.org/drawingml/2006/main" noGrp="1"/>
          </p:cNvSpPr>
          <p:nvPr/>
        </p:nvSpPr>
        <p:spPr>
          <a:xfrm xmlns:a="http://schemas.openxmlformats.org/drawingml/2006/main">
            <a:off x="12605742" y="3981450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80" name="Timeline segment 5">
            <a:extLst xmlns:a="http://schemas.openxmlformats.org/drawingml/2006/main">
              <a:ext uri="{FF2B5EF4-FFF2-40B4-BE49-F238E27FC236}">
                <a16:creationId xmlns:a16="http://schemas.microsoft.com/office/drawing/2014/main" id="{1AA0BF27-3367-414B-BB0A-95F1F06BAC51}"/>
              </a:ext>
            </a:extLst>
          </p:cNvPr>
          <p:cNvSpPr>
            <a:spLocks xmlns:a="http://schemas.openxmlformats.org/drawingml/2006/main" noGrp="1"/>
          </p:cNvSpPr>
          <p:nvPr/>
        </p:nvSpPr>
        <p:spPr>
          <a:xfrm xmlns:a="http://schemas.openxmlformats.org/drawingml/2006/main">
            <a:off x="15195352" y="398145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1" name="Timeline segment 6">
            <a:extLst xmlns:a="http://schemas.openxmlformats.org/drawingml/2006/main">
              <a:ext uri="{FF2B5EF4-FFF2-40B4-BE49-F238E27FC236}">
                <a16:creationId xmlns:a16="http://schemas.microsoft.com/office/drawing/2014/main" id="{9D56D5F1-E0B9-43C8-81E5-DFB404FA28A8}"/>
              </a:ext>
            </a:extLst>
          </p:cNvPr>
          <p:cNvSpPr>
            <a:spLocks xmlns:a="http://schemas.openxmlformats.org/drawingml/2006/main" noGrp="1"/>
          </p:cNvSpPr>
          <p:nvPr/>
        </p:nvSpPr>
        <p:spPr>
          <a:xfrm xmlns:a="http://schemas.openxmlformats.org/drawingml/2006/main">
            <a:off x="17784961" y="398145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2" name="Timeline milestone 0">
            <a:extLst xmlns:a="http://schemas.openxmlformats.org/drawingml/2006/main">
              <a:ext uri="{FF2B5EF4-FFF2-40B4-BE49-F238E27FC236}">
                <a16:creationId xmlns:a16="http://schemas.microsoft.com/office/drawing/2014/main" id="{1920BF25-1577-443E-87B5-4F72DB9D0CE7}"/>
              </a:ext>
            </a:extLst>
          </p:cNvPr>
          <p:cNvSpPr>
            <a:spLocks xmlns:a="http://schemas.openxmlformats.org/drawingml/2006/main" noGrp="1"/>
          </p:cNvSpPr>
          <p:nvPr/>
        </p:nvSpPr>
        <p:spPr>
          <a:xfrm xmlns:a="http://schemas.openxmlformats.org/drawingml/2006/main">
            <a:off x="2075855"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3" name="Timeline version 0">
            <a:extLst xmlns:a="http://schemas.openxmlformats.org/drawingml/2006/main">
              <a:ext uri="{FF2B5EF4-FFF2-40B4-BE49-F238E27FC236}">
                <a16:creationId xmlns:a16="http://schemas.microsoft.com/office/drawing/2014/main" id="{D8B80862-19F6-4BED-A1F2-02F990A42AB1}"/>
              </a:ext>
            </a:extLst>
          </p:cNvPr>
          <p:cNvSpPr>
            <a:spLocks xmlns:a="http://schemas.openxmlformats.org/drawingml/2006/main" noGrp="1"/>
          </p:cNvSpPr>
          <p:nvPr/>
        </p:nvSpPr>
        <p:spPr>
          <a:xfrm xmlns:a="http://schemas.openxmlformats.org/drawingml/2006/main">
            <a:off x="1028700"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4" name="Timeline description 0">
            <a:extLst xmlns:a="http://schemas.openxmlformats.org/drawingml/2006/main">
              <a:ext uri="{FF2B5EF4-FFF2-40B4-BE49-F238E27FC236}">
                <a16:creationId xmlns:a16="http://schemas.microsoft.com/office/drawing/2014/main" id="{F33F46E6-18EA-4B4B-AB3F-8EBDF1050108}"/>
              </a:ext>
            </a:extLst>
          </p:cNvPr>
          <p:cNvSpPr>
            <a:spLocks xmlns:a="http://schemas.openxmlformats.org/drawingml/2006/main" noGrp="1"/>
          </p:cNvSpPr>
          <p:nvPr/>
        </p:nvSpPr>
        <p:spPr>
          <a:xfrm xmlns:a="http://schemas.openxmlformats.org/drawingml/2006/main">
            <a:off x="1028700"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5" name="Timeline date 0">
            <a:extLst xmlns:a="http://schemas.openxmlformats.org/drawingml/2006/main">
              <a:ext uri="{FF2B5EF4-FFF2-40B4-BE49-F238E27FC236}">
                <a16:creationId xmlns:a16="http://schemas.microsoft.com/office/drawing/2014/main" id="{7ABCC779-D627-4A85-AE5E-41DA5FA542E0}"/>
              </a:ext>
            </a:extLst>
          </p:cNvPr>
          <p:cNvSpPr>
            <a:spLocks xmlns:a="http://schemas.openxmlformats.org/drawingml/2006/main" noGrp="1"/>
          </p:cNvSpPr>
          <p:nvPr/>
        </p:nvSpPr>
        <p:spPr>
          <a:xfrm xmlns:a="http://schemas.openxmlformats.org/drawingml/2006/main">
            <a:off x="1028700"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2018</a:t>
            </a:r>
          </a:p>
        </p:txBody>
      </p:sp>
      <p:sp>
        <p:nvSpPr>
          <p:cNvPr id="286" name="Timeline milestone 1">
            <a:extLst xmlns:a="http://schemas.openxmlformats.org/drawingml/2006/main">
              <a:ext uri="{FF2B5EF4-FFF2-40B4-BE49-F238E27FC236}">
                <a16:creationId xmlns:a16="http://schemas.microsoft.com/office/drawing/2014/main" id="{8EE590BB-9B4A-49B1-9578-C68A2F01FE0E}"/>
              </a:ext>
            </a:extLst>
          </p:cNvPr>
          <p:cNvSpPr>
            <a:spLocks xmlns:a="http://schemas.openxmlformats.org/drawingml/2006/main" noGrp="1"/>
          </p:cNvSpPr>
          <p:nvPr/>
        </p:nvSpPr>
        <p:spPr>
          <a:xfrm xmlns:a="http://schemas.openxmlformats.org/drawingml/2006/main">
            <a:off x="4665464"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7" name="Timeline version 1">
            <a:extLst xmlns:a="http://schemas.openxmlformats.org/drawingml/2006/main">
              <a:ext uri="{FF2B5EF4-FFF2-40B4-BE49-F238E27FC236}">
                <a16:creationId xmlns:a16="http://schemas.microsoft.com/office/drawing/2014/main" id="{9C204EB8-1D91-422F-AC7E-CAB61CCC8BCC}"/>
              </a:ext>
            </a:extLst>
          </p:cNvPr>
          <p:cNvSpPr>
            <a:spLocks xmlns:a="http://schemas.openxmlformats.org/drawingml/2006/main" noGrp="1"/>
          </p:cNvSpPr>
          <p:nvPr/>
        </p:nvSpPr>
        <p:spPr>
          <a:xfrm xmlns:a="http://schemas.openxmlformats.org/drawingml/2006/main">
            <a:off x="3618309"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8" name="Timeline description 1">
            <a:extLst xmlns:a="http://schemas.openxmlformats.org/drawingml/2006/main">
              <a:ext uri="{FF2B5EF4-FFF2-40B4-BE49-F238E27FC236}">
                <a16:creationId xmlns:a16="http://schemas.microsoft.com/office/drawing/2014/main" id="{666401A4-777C-4E4B-A5C3-83E685504D0F}"/>
              </a:ext>
            </a:extLst>
          </p:cNvPr>
          <p:cNvSpPr>
            <a:spLocks xmlns:a="http://schemas.openxmlformats.org/drawingml/2006/main" noGrp="1"/>
          </p:cNvSpPr>
          <p:nvPr/>
        </p:nvSpPr>
        <p:spPr>
          <a:xfrm xmlns:a="http://schemas.openxmlformats.org/drawingml/2006/main">
            <a:off x="3618309"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9" name="Timeline date 1">
            <a:extLst xmlns:a="http://schemas.openxmlformats.org/drawingml/2006/main">
              <a:ext uri="{FF2B5EF4-FFF2-40B4-BE49-F238E27FC236}">
                <a16:creationId xmlns:a16="http://schemas.microsoft.com/office/drawing/2014/main" id="{E64172EB-5FA1-4E71-91EC-C483E7D4AD4B}"/>
              </a:ext>
            </a:extLst>
          </p:cNvPr>
          <p:cNvSpPr>
            <a:spLocks xmlns:a="http://schemas.openxmlformats.org/drawingml/2006/main" noGrp="1"/>
          </p:cNvSpPr>
          <p:nvPr/>
        </p:nvSpPr>
        <p:spPr>
          <a:xfrm xmlns:a="http://schemas.openxmlformats.org/drawingml/2006/main">
            <a:off x="3618309"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2019</a:t>
            </a:r>
          </a:p>
        </p:txBody>
      </p:sp>
      <p:sp>
        <p:nvSpPr>
          <p:cNvPr id="290" name="Timeline milestone 2">
            <a:extLst xmlns:a="http://schemas.openxmlformats.org/drawingml/2006/main">
              <a:ext uri="{FF2B5EF4-FFF2-40B4-BE49-F238E27FC236}">
                <a16:creationId xmlns:a16="http://schemas.microsoft.com/office/drawing/2014/main" id="{6053AB31-1541-4A47-B465-EBFC6CF544B1}"/>
              </a:ext>
            </a:extLst>
          </p:cNvPr>
          <p:cNvSpPr>
            <a:spLocks xmlns:a="http://schemas.openxmlformats.org/drawingml/2006/main" noGrp="1"/>
          </p:cNvSpPr>
          <p:nvPr/>
        </p:nvSpPr>
        <p:spPr>
          <a:xfrm xmlns:a="http://schemas.openxmlformats.org/drawingml/2006/main">
            <a:off x="7255073"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1" name="Timeline version 2">
            <a:extLst xmlns:a="http://schemas.openxmlformats.org/drawingml/2006/main">
              <a:ext uri="{FF2B5EF4-FFF2-40B4-BE49-F238E27FC236}">
                <a16:creationId xmlns:a16="http://schemas.microsoft.com/office/drawing/2014/main" id="{00C17099-D99D-4C10-9890-39ABCBA41C31}"/>
              </a:ext>
            </a:extLst>
          </p:cNvPr>
          <p:cNvSpPr>
            <a:spLocks xmlns:a="http://schemas.openxmlformats.org/drawingml/2006/main" noGrp="1"/>
          </p:cNvSpPr>
          <p:nvPr/>
        </p:nvSpPr>
        <p:spPr>
          <a:xfrm xmlns:a="http://schemas.openxmlformats.org/drawingml/2006/main">
            <a:off x="6207919"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2" name="Timeline description 2">
            <a:extLst xmlns:a="http://schemas.openxmlformats.org/drawingml/2006/main">
              <a:ext uri="{FF2B5EF4-FFF2-40B4-BE49-F238E27FC236}">
                <a16:creationId xmlns:a16="http://schemas.microsoft.com/office/drawing/2014/main" id="{960C9852-C035-4C21-901F-C3D48500F798}"/>
              </a:ext>
            </a:extLst>
          </p:cNvPr>
          <p:cNvSpPr>
            <a:spLocks xmlns:a="http://schemas.openxmlformats.org/drawingml/2006/main" noGrp="1"/>
          </p:cNvSpPr>
          <p:nvPr/>
        </p:nvSpPr>
        <p:spPr>
          <a:xfrm xmlns:a="http://schemas.openxmlformats.org/drawingml/2006/main">
            <a:off x="6207919"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3" name="Timeline date 2">
            <a:extLst xmlns:a="http://schemas.openxmlformats.org/drawingml/2006/main">
              <a:ext uri="{FF2B5EF4-FFF2-40B4-BE49-F238E27FC236}">
                <a16:creationId xmlns:a16="http://schemas.microsoft.com/office/drawing/2014/main" id="{AF75E4FA-616D-46BF-AA26-7D96C316EA06}"/>
              </a:ext>
            </a:extLst>
          </p:cNvPr>
          <p:cNvSpPr>
            <a:spLocks xmlns:a="http://schemas.openxmlformats.org/drawingml/2006/main" noGrp="1"/>
          </p:cNvSpPr>
          <p:nvPr/>
        </p:nvSpPr>
        <p:spPr>
          <a:xfrm xmlns:a="http://schemas.openxmlformats.org/drawingml/2006/main">
            <a:off x="6207919"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2023</a:t>
            </a:r>
          </a:p>
        </p:txBody>
      </p:sp>
      <p:sp>
        <p:nvSpPr>
          <p:cNvPr id="294" name="Timeline milestone 3">
            <a:extLst xmlns:a="http://schemas.openxmlformats.org/drawingml/2006/main">
              <a:ext uri="{FF2B5EF4-FFF2-40B4-BE49-F238E27FC236}">
                <a16:creationId xmlns:a16="http://schemas.microsoft.com/office/drawing/2014/main" id="{5CD24779-5FD4-46DF-9F71-002556DA68FD}"/>
              </a:ext>
            </a:extLst>
          </p:cNvPr>
          <p:cNvSpPr>
            <a:spLocks xmlns:a="http://schemas.openxmlformats.org/drawingml/2006/main" noGrp="1"/>
          </p:cNvSpPr>
          <p:nvPr/>
        </p:nvSpPr>
        <p:spPr>
          <a:xfrm xmlns:a="http://schemas.openxmlformats.org/drawingml/2006/main">
            <a:off x="9844683"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5" name="Timeline version 3">
            <a:extLst xmlns:a="http://schemas.openxmlformats.org/drawingml/2006/main">
              <a:ext uri="{FF2B5EF4-FFF2-40B4-BE49-F238E27FC236}">
                <a16:creationId xmlns:a16="http://schemas.microsoft.com/office/drawing/2014/main" id="{DA1186C7-2DCA-4B3F-BE97-722AFBF24D7C}"/>
              </a:ext>
            </a:extLst>
          </p:cNvPr>
          <p:cNvSpPr>
            <a:spLocks xmlns:a="http://schemas.openxmlformats.org/drawingml/2006/main" noGrp="1"/>
          </p:cNvSpPr>
          <p:nvPr/>
        </p:nvSpPr>
        <p:spPr>
          <a:xfrm xmlns:a="http://schemas.openxmlformats.org/drawingml/2006/main">
            <a:off x="8797528"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6" name="Timeline description 3">
            <a:extLst xmlns:a="http://schemas.openxmlformats.org/drawingml/2006/main">
              <a:ext uri="{FF2B5EF4-FFF2-40B4-BE49-F238E27FC236}">
                <a16:creationId xmlns:a16="http://schemas.microsoft.com/office/drawing/2014/main" id="{57B4D29A-AC28-4344-B576-8318143EEC1A}"/>
              </a:ext>
            </a:extLst>
          </p:cNvPr>
          <p:cNvSpPr>
            <a:spLocks xmlns:a="http://schemas.openxmlformats.org/drawingml/2006/main" noGrp="1"/>
          </p:cNvSpPr>
          <p:nvPr/>
        </p:nvSpPr>
        <p:spPr>
          <a:xfrm xmlns:a="http://schemas.openxmlformats.org/drawingml/2006/main">
            <a:off x="8797528"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7" name="Timeline date 3">
            <a:extLst xmlns:a="http://schemas.openxmlformats.org/drawingml/2006/main">
              <a:ext uri="{FF2B5EF4-FFF2-40B4-BE49-F238E27FC236}">
                <a16:creationId xmlns:a16="http://schemas.microsoft.com/office/drawing/2014/main" id="{20CB6332-6351-4003-83BB-51A90FA94348}"/>
              </a:ext>
            </a:extLst>
          </p:cNvPr>
          <p:cNvSpPr>
            <a:spLocks xmlns:a="http://schemas.openxmlformats.org/drawingml/2006/main" noGrp="1"/>
          </p:cNvSpPr>
          <p:nvPr/>
        </p:nvSpPr>
        <p:spPr>
          <a:xfrm xmlns:a="http://schemas.openxmlformats.org/drawingml/2006/main">
            <a:off x="8797528"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2025</a:t>
            </a:r>
          </a:p>
        </p:txBody>
      </p:sp>
      <p:sp>
        <p:nvSpPr>
          <p:cNvPr id="298" name="Timeline milestone 4">
            <a:extLst xmlns:a="http://schemas.openxmlformats.org/drawingml/2006/main">
              <a:ext uri="{FF2B5EF4-FFF2-40B4-BE49-F238E27FC236}">
                <a16:creationId xmlns:a16="http://schemas.microsoft.com/office/drawing/2014/main" id="{492897D4-D261-4355-9D89-B27E7C3DDFB8}"/>
              </a:ext>
            </a:extLst>
          </p:cNvPr>
          <p:cNvSpPr>
            <a:spLocks xmlns:a="http://schemas.openxmlformats.org/drawingml/2006/main" noGrp="1"/>
          </p:cNvSpPr>
          <p:nvPr/>
        </p:nvSpPr>
        <p:spPr>
          <a:xfrm xmlns:a="http://schemas.openxmlformats.org/drawingml/2006/main">
            <a:off x="12434292"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9" name="Timeline version 4">
            <a:extLst xmlns:a="http://schemas.openxmlformats.org/drawingml/2006/main">
              <a:ext uri="{FF2B5EF4-FFF2-40B4-BE49-F238E27FC236}">
                <a16:creationId xmlns:a16="http://schemas.microsoft.com/office/drawing/2014/main" id="{29E473A0-B7B3-4214-B8C7-EED8D5A238D5}"/>
              </a:ext>
            </a:extLst>
          </p:cNvPr>
          <p:cNvSpPr>
            <a:spLocks xmlns:a="http://schemas.openxmlformats.org/drawingml/2006/main" noGrp="1"/>
          </p:cNvSpPr>
          <p:nvPr/>
        </p:nvSpPr>
        <p:spPr>
          <a:xfrm xmlns:a="http://schemas.openxmlformats.org/drawingml/2006/main">
            <a:off x="11387138"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0" name="Timeline description 4">
            <a:extLst xmlns:a="http://schemas.openxmlformats.org/drawingml/2006/main">
              <a:ext uri="{FF2B5EF4-FFF2-40B4-BE49-F238E27FC236}">
                <a16:creationId xmlns:a16="http://schemas.microsoft.com/office/drawing/2014/main" id="{B7763738-7BD7-480A-A72B-E11C6279709C}"/>
              </a:ext>
            </a:extLst>
          </p:cNvPr>
          <p:cNvSpPr>
            <a:spLocks xmlns:a="http://schemas.openxmlformats.org/drawingml/2006/main" noGrp="1"/>
          </p:cNvSpPr>
          <p:nvPr/>
        </p:nvSpPr>
        <p:spPr>
          <a:xfrm xmlns:a="http://schemas.openxmlformats.org/drawingml/2006/main">
            <a:off x="11387138"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1" name="Timeline date 4">
            <a:extLst xmlns:a="http://schemas.openxmlformats.org/drawingml/2006/main">
              <a:ext uri="{FF2B5EF4-FFF2-40B4-BE49-F238E27FC236}">
                <a16:creationId xmlns:a16="http://schemas.microsoft.com/office/drawing/2014/main" id="{3500FEEF-05D6-415C-A4F5-617D2824A108}"/>
              </a:ext>
            </a:extLst>
          </p:cNvPr>
          <p:cNvSpPr>
            <a:spLocks xmlns:a="http://schemas.openxmlformats.org/drawingml/2006/main" noGrp="1"/>
          </p:cNvSpPr>
          <p:nvPr/>
        </p:nvSpPr>
        <p:spPr>
          <a:xfrm xmlns:a="http://schemas.openxmlformats.org/drawingml/2006/main">
            <a:off x="11387138"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2026</a:t>
            </a:r>
          </a:p>
        </p:txBody>
      </p:sp>
      <p:sp>
        <p:nvSpPr>
          <p:cNvPr id="302" name="Timeline milestone 5">
            <a:extLst xmlns:a="http://schemas.openxmlformats.org/drawingml/2006/main">
              <a:ext uri="{FF2B5EF4-FFF2-40B4-BE49-F238E27FC236}">
                <a16:creationId xmlns:a16="http://schemas.microsoft.com/office/drawing/2014/main" id="{B82A275E-52CE-400B-BB67-41E8B5376704}"/>
              </a:ext>
            </a:extLst>
          </p:cNvPr>
          <p:cNvSpPr>
            <a:spLocks xmlns:a="http://schemas.openxmlformats.org/drawingml/2006/main" noGrp="1"/>
          </p:cNvSpPr>
          <p:nvPr/>
        </p:nvSpPr>
        <p:spPr>
          <a:xfrm xmlns:a="http://schemas.openxmlformats.org/drawingml/2006/main">
            <a:off x="15023902" y="39643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3" name="Current runtime milestone">
            <a:extLst xmlns:a="http://schemas.openxmlformats.org/drawingml/2006/main">
              <a:ext uri="{FF2B5EF4-FFF2-40B4-BE49-F238E27FC236}">
                <a16:creationId xmlns:a16="http://schemas.microsoft.com/office/drawing/2014/main" id="{992D6658-EDB7-47A1-BB4B-3389640EEDD7}"/>
              </a:ext>
            </a:extLst>
          </p:cNvPr>
          <p:cNvSpPr>
            <a:spLocks xmlns:a="http://schemas.openxmlformats.org/drawingml/2006/main" noGrp="1"/>
          </p:cNvSpPr>
          <p:nvPr/>
        </p:nvSpPr>
        <p:spPr>
          <a:xfrm xmlns:a="http://schemas.openxmlformats.org/drawingml/2006/main">
            <a:off x="15138202" y="3975735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4" name="Timeline version 5">
            <a:extLst xmlns:a="http://schemas.openxmlformats.org/drawingml/2006/main">
              <a:ext uri="{FF2B5EF4-FFF2-40B4-BE49-F238E27FC236}">
                <a16:creationId xmlns:a16="http://schemas.microsoft.com/office/drawing/2014/main" id="{A655F4AC-2D9D-424F-A5CA-75A669D5C679}"/>
              </a:ext>
            </a:extLst>
          </p:cNvPr>
          <p:cNvSpPr>
            <a:spLocks xmlns:a="http://schemas.openxmlformats.org/drawingml/2006/main" noGrp="1"/>
          </p:cNvSpPr>
          <p:nvPr/>
        </p:nvSpPr>
        <p:spPr>
          <a:xfrm xmlns:a="http://schemas.openxmlformats.org/drawingml/2006/main">
            <a:off x="13976747"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5" name="Timeline description 5">
            <a:extLst xmlns:a="http://schemas.openxmlformats.org/drawingml/2006/main">
              <a:ext uri="{FF2B5EF4-FFF2-40B4-BE49-F238E27FC236}">
                <a16:creationId xmlns:a16="http://schemas.microsoft.com/office/drawing/2014/main" id="{2B6FE9CA-DF66-444C-9158-04D7C5EA1D65}"/>
              </a:ext>
            </a:extLst>
          </p:cNvPr>
          <p:cNvSpPr>
            <a:spLocks xmlns:a="http://schemas.openxmlformats.org/drawingml/2006/main" noGrp="1"/>
          </p:cNvSpPr>
          <p:nvPr/>
        </p:nvSpPr>
        <p:spPr>
          <a:xfrm xmlns:a="http://schemas.openxmlformats.org/drawingml/2006/main">
            <a:off x="13976747"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6" name="Timeline date 5">
            <a:extLst xmlns:a="http://schemas.openxmlformats.org/drawingml/2006/main">
              <a:ext uri="{FF2B5EF4-FFF2-40B4-BE49-F238E27FC236}">
                <a16:creationId xmlns:a16="http://schemas.microsoft.com/office/drawing/2014/main" id="{AE0ED9BA-0A45-4CDC-8994-99B49411C62D}"/>
              </a:ext>
            </a:extLst>
          </p:cNvPr>
          <p:cNvSpPr>
            <a:spLocks xmlns:a="http://schemas.openxmlformats.org/drawingml/2006/main" noGrp="1"/>
          </p:cNvSpPr>
          <p:nvPr/>
        </p:nvSpPr>
        <p:spPr>
          <a:xfrm xmlns:a="http://schemas.openxmlformats.org/drawingml/2006/main">
            <a:off x="13976747"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75" b="0">
                <a:solidFill>
                  <a:srgbClr val="F6C04E"/>
                </a:solidFill>
                <a:latin typeface="Segoe UI"/>
                <a:ea typeface="Segoe UI"/>
                <a:cs typeface="Segoe UI"/>
              </a:rPr>
              <a:t>In progress</a:t>
            </a:r>
          </a:p>
        </p:txBody>
      </p:sp>
      <p:sp>
        <p:nvSpPr>
          <p:cNvPr id="307" name="Timeline milestone 6">
            <a:extLst xmlns:a="http://schemas.openxmlformats.org/drawingml/2006/main">
              <a:ext uri="{FF2B5EF4-FFF2-40B4-BE49-F238E27FC236}">
                <a16:creationId xmlns:a16="http://schemas.microsoft.com/office/drawing/2014/main" id="{A702EFC7-3CAB-4F39-AB2E-FDF879F29ADF}"/>
              </a:ext>
            </a:extLst>
          </p:cNvPr>
          <p:cNvSpPr>
            <a:spLocks xmlns:a="http://schemas.openxmlformats.org/drawingml/2006/main" noGrp="1"/>
          </p:cNvSpPr>
          <p:nvPr/>
        </p:nvSpPr>
        <p:spPr>
          <a:xfrm xmlns:a="http://schemas.openxmlformats.org/drawingml/2006/main">
            <a:off x="17613511" y="39643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8" name="Timeline version 6">
            <a:extLst xmlns:a="http://schemas.openxmlformats.org/drawingml/2006/main">
              <a:ext uri="{FF2B5EF4-FFF2-40B4-BE49-F238E27FC236}">
                <a16:creationId xmlns:a16="http://schemas.microsoft.com/office/drawing/2014/main" id="{857EC814-B5F4-4ED3-A510-6FD6A8A2A56E}"/>
              </a:ext>
            </a:extLst>
          </p:cNvPr>
          <p:cNvSpPr>
            <a:spLocks xmlns:a="http://schemas.openxmlformats.org/drawingml/2006/main" noGrp="1"/>
          </p:cNvSpPr>
          <p:nvPr/>
        </p:nvSpPr>
        <p:spPr>
          <a:xfrm xmlns:a="http://schemas.openxmlformats.org/drawingml/2006/main">
            <a:off x="16566356"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9" name="Timeline description 6">
            <a:extLst xmlns:a="http://schemas.openxmlformats.org/drawingml/2006/main">
              <a:ext uri="{FF2B5EF4-FFF2-40B4-BE49-F238E27FC236}">
                <a16:creationId xmlns:a16="http://schemas.microsoft.com/office/drawing/2014/main" id="{BF908E2B-EECC-4382-9A0B-F0729BB16E22}"/>
              </a:ext>
            </a:extLst>
          </p:cNvPr>
          <p:cNvSpPr>
            <a:spLocks xmlns:a="http://schemas.openxmlformats.org/drawingml/2006/main" noGrp="1"/>
          </p:cNvSpPr>
          <p:nvPr/>
        </p:nvSpPr>
        <p:spPr>
          <a:xfrm xmlns:a="http://schemas.openxmlformats.org/drawingml/2006/main">
            <a:off x="16566356"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0" name="Timeline date 6">
            <a:extLst xmlns:a="http://schemas.openxmlformats.org/drawingml/2006/main">
              <a:ext uri="{FF2B5EF4-FFF2-40B4-BE49-F238E27FC236}">
                <a16:creationId xmlns:a16="http://schemas.microsoft.com/office/drawing/2014/main" id="{7D4F6989-576A-4E86-9D08-47F3073EA918}"/>
              </a:ext>
            </a:extLst>
          </p:cNvPr>
          <p:cNvSpPr>
            <a:spLocks xmlns:a="http://schemas.openxmlformats.org/drawingml/2006/main" noGrp="1"/>
          </p:cNvSpPr>
          <p:nvPr/>
        </p:nvSpPr>
        <p:spPr>
          <a:xfrm xmlns:a="http://schemas.openxmlformats.org/drawingml/2006/main">
            <a:off x="16566356"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2027 (planned)</a:t>
            </a:r>
          </a:p>
        </p:txBody>
      </p:sp>
      <p:sp>
        <p:nvSpPr>
          <p:cNvPr id="311" name="Timeline milestone 7">
            <a:extLst xmlns:a="http://schemas.openxmlformats.org/drawingml/2006/main">
              <a:ext uri="{FF2B5EF4-FFF2-40B4-BE49-F238E27FC236}">
                <a16:creationId xmlns:a16="http://schemas.microsoft.com/office/drawing/2014/main" id="{744130B2-B41D-4A62-9D99-AD16D4FBB2D3}"/>
              </a:ext>
            </a:extLst>
          </p:cNvPr>
          <p:cNvSpPr>
            <a:spLocks xmlns:a="http://schemas.openxmlformats.org/drawingml/2006/main" noGrp="1"/>
          </p:cNvSpPr>
          <p:nvPr/>
        </p:nvSpPr>
        <p:spPr>
          <a:xfrm xmlns:a="http://schemas.openxmlformats.org/drawingml/2006/main">
            <a:off x="20203120" y="39643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2" name="Timeline version 7">
            <a:extLst xmlns:a="http://schemas.openxmlformats.org/drawingml/2006/main">
              <a:ext uri="{FF2B5EF4-FFF2-40B4-BE49-F238E27FC236}">
                <a16:creationId xmlns:a16="http://schemas.microsoft.com/office/drawing/2014/main" id="{39A3C5CB-D151-4501-A2CF-94645651F0B7}"/>
              </a:ext>
            </a:extLst>
          </p:cNvPr>
          <p:cNvSpPr>
            <a:spLocks xmlns:a="http://schemas.openxmlformats.org/drawingml/2006/main" noGrp="1"/>
          </p:cNvSpPr>
          <p:nvPr/>
        </p:nvSpPr>
        <p:spPr>
          <a:xfrm xmlns:a="http://schemas.openxmlformats.org/drawingml/2006/main">
            <a:off x="19155966"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3" name="Timeline description 7">
            <a:extLst xmlns:a="http://schemas.openxmlformats.org/drawingml/2006/main">
              <a:ext uri="{FF2B5EF4-FFF2-40B4-BE49-F238E27FC236}">
                <a16:creationId xmlns:a16="http://schemas.microsoft.com/office/drawing/2014/main" id="{1DC100E7-E398-4A72-8D3C-568C9922E089}"/>
              </a:ext>
            </a:extLst>
          </p:cNvPr>
          <p:cNvSpPr>
            <a:spLocks xmlns:a="http://schemas.openxmlformats.org/drawingml/2006/main" noGrp="1"/>
          </p:cNvSpPr>
          <p:nvPr/>
        </p:nvSpPr>
        <p:spPr>
          <a:xfrm xmlns:a="http://schemas.openxmlformats.org/drawingml/2006/main">
            <a:off x="19155966"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Stable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platform</a:t>
            </a:r>
          </a:p>
        </p:txBody>
      </p:sp>
      <p:sp>
        <p:nvSpPr>
          <p:cNvPr id="314" name="Timeline date 7">
            <a:extLst xmlns:a="http://schemas.openxmlformats.org/drawingml/2006/main">
              <a:ext uri="{FF2B5EF4-FFF2-40B4-BE49-F238E27FC236}">
                <a16:creationId xmlns:a16="http://schemas.microsoft.com/office/drawing/2014/main" id="{E3B7E2F3-7F55-45C5-94DF-1785CD682F6B}"/>
              </a:ext>
            </a:extLst>
          </p:cNvPr>
          <p:cNvSpPr>
            <a:spLocks xmlns:a="http://schemas.openxmlformats.org/drawingml/2006/main" noGrp="1"/>
          </p:cNvSpPr>
          <p:nvPr/>
        </p:nvSpPr>
        <p:spPr>
          <a:xfrm xmlns:a="http://schemas.openxmlformats.org/drawingml/2006/main">
            <a:off x="19155966"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2028 (planned)</a:t>
            </a:r>
          </a:p>
        </p:txBody>
      </p:sp>
      <p:sp>
        <p:nvSpPr>
          <p:cNvPr id="315" name="QR caption">
            <a:extLst xmlns:a="http://schemas.openxmlformats.org/drawingml/2006/main">
              <a:ext uri="{FF2B5EF4-FFF2-40B4-BE49-F238E27FC236}">
                <a16:creationId xmlns:a16="http://schemas.microsoft.com/office/drawing/2014/main" id="{44151A15-563D-4496-B43D-6DD885D9C23B}"/>
              </a:ext>
            </a:extLst>
          </p:cNvPr>
          <p:cNvSpPr>
            <a:spLocks xmlns:a="http://schemas.openxmlformats.org/drawingml/2006/main" noGrp="1"/>
          </p:cNvSpPr>
          <p:nvPr/>
        </p:nvSpPr>
        <p:spPr>
          <a:xfrm xmlns:a="http://schemas.openxmlformats.org/drawingml/2006/main">
            <a:off x="952500" y="41719500"/>
            <a:ext cx="20716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Experience this poster as a live reactive program. Mech’s WebAssembly runtime supports the CPU and WGPU comparison online.</a:t>
            </a:r>
          </a:p>
        </p:txBody>
      </p:sp>
      <p:sp>
        <p:nvSpPr>
          <p:cNvPr id="319" name="Benchmark setup title">
            <a:extLst xmlns:a="http://schemas.openxmlformats.org/drawingml/2006/main">
              <a:ext uri="{FF2B5EF4-FFF2-40B4-BE49-F238E27FC236}">
                <a16:creationId xmlns:a16="http://schemas.microsoft.com/office/drawing/2014/main" id="{827A2F15-BF96-48B0-A5A2-6EEDB9ED9C23}"/>
              </a:ext>
            </a:extLst>
          </p:cNvPr>
          <p:cNvSpPr>
            <a:spLocks xmlns:a="http://schemas.openxmlformats.org/drawingml/2006/main" noGrp="1"/>
          </p:cNvSpPr>
          <p:nvPr/>
        </p:nvSpPr>
        <p:spPr>
          <a:xfrm xmlns:a="http://schemas.openxmlformats.org/drawingml/2006/main">
            <a:off x="3333750" y="421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A4BAC8"/>
                </a:solidFill>
                <a:latin typeface="Fira Code"/>
                <a:ea typeface="Fira Code"/>
                <a:cs typeface="Fira Code"/>
              </a:defRPr>
            </a:pPr>
            <a:r>
              <a:rPr sz="1950" b="1">
                <a:solidFill>
                  <a:srgbClr val="A4BAC8"/>
                </a:solidFill>
                <a:latin typeface="Fira Code"/>
                <a:ea typeface="Fira Code"/>
                <a:cs typeface="Fira Code"/>
              </a:rPr>
              <a:t>Benchmark setup</a:t>
            </a:r>
          </a:p>
        </p:txBody>
      </p:sp>
      <p:sp>
        <p:nvSpPr>
          <p:cNvPr id="320" name="Benchmark machine line">
            <a:extLst xmlns:a="http://schemas.openxmlformats.org/drawingml/2006/main">
              <a:ext uri="{FF2B5EF4-FFF2-40B4-BE49-F238E27FC236}">
                <a16:creationId xmlns:a16="http://schemas.microsoft.com/office/drawing/2014/main" id="{4EDBDB1B-3996-419A-A8DC-6AB5FF3EC34B}"/>
              </a:ext>
            </a:extLst>
          </p:cNvPr>
          <p:cNvSpPr>
            <a:spLocks xmlns:a="http://schemas.openxmlformats.org/drawingml/2006/main" noGrp="1"/>
          </p:cNvSpPr>
          <p:nvPr/>
        </p:nvSpPr>
        <p:spPr>
          <a:xfrm xmlns:a="http://schemas.openxmlformats.org/drawingml/2006/main">
            <a:off x="6572250" y="42195750"/>
            <a:ext cx="2019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Apple M1: 4P + 4E CPU, 8-core GPU, 8 GB, macOS 15.6.1. Charts: f32, 500,000 filters × 40 turns, n=10. Median ± MAD.</a:t>
            </a:r>
          </a:p>
        </p:txBody>
      </p:sp>
      <p:sp>
        <p:nvSpPr>
          <p:cNvPr id="321" name="Benchmark methods">
            <a:extLst xmlns:a="http://schemas.openxmlformats.org/drawingml/2006/main">
              <a:ext uri="{FF2B5EF4-FFF2-40B4-BE49-F238E27FC236}">
                <a16:creationId xmlns:a16="http://schemas.microsoft.com/office/drawing/2014/main" id="{422E08C7-5DA8-4CC4-9994-55137A1A0981}"/>
              </a:ext>
            </a:extLst>
          </p:cNvPr>
          <p:cNvSpPr>
            <a:spLocks xmlns:a="http://schemas.openxmlformats.org/drawingml/2006/main" noGrp="1"/>
          </p:cNvSpPr>
          <p:nvPr/>
        </p:nvSpPr>
        <p:spPr>
          <a:xfrm xmlns:a="http://schemas.openxmlformats.org/drawingml/2006/main">
            <a:off x="3333750" y="42567225"/>
            <a:ext cx="2343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Rust 1.96.0-nightly ec818fda3 / LLVM 22.1.0, Cranelift 0.131.3. Julia 1.12.6. Mojo 1.1.0 / MAX 26.6.0. Futhark 0.27.1 / ISPC 1.31.0 / LLVM 22.1.8. Python 3.12.14 / NumPy 2.2.6 / Numba 0.61.2. Apple clang 17.0.0.</a:t>
            </a:r>
          </a:p>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Mech v0.4 development (package 0.3.6). Backend pairs f4b69052c, CPU eedc1c75b, dylibs dab98af1d. iros-workshop-benchmarks, benchmarks/iros-2026.</a:t>
            </a:r>
          </a:p>
        </p:txBody>
      </p:sp>
      <p:sp>
        <p:nvSpPr>
          <p:cNvPr id="322" name="EKF reference">
            <a:extLst xmlns:a="http://schemas.openxmlformats.org/drawingml/2006/main">
              <a:ext uri="{FF2B5EF4-FFF2-40B4-BE49-F238E27FC236}">
                <a16:creationId xmlns:a16="http://schemas.microsoft.com/office/drawing/2014/main" id="{940591A9-EF6F-45A6-AF8E-2F11A214ED58}"/>
              </a:ext>
            </a:extLst>
          </p:cNvPr>
          <p:cNvSpPr>
            <a:spLocks xmlns:a="http://schemas.openxmlformats.org/drawingml/2006/main" noGrp="1"/>
          </p:cNvSpPr>
          <p:nvPr/>
        </p:nvSpPr>
        <p:spPr>
          <a:xfrm xmlns:a="http://schemas.openxmlformats.org/drawingml/2006/main">
            <a:off x="3333750" y="43462575"/>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[1] Thrun, Burgard &amp; Fox. Probabilistic Robotics. MIT Press, 2005. §7.4.2, Table 7.2 (adapted).</a:t>
            </a:r>
          </a:p>
        </p:txBody>
      </p:sp>
      <p:sp>
        <p:nvSpPr>
          <p:cNvPr id="215" name="Resident computation">
            <a:extLst xmlns:a="http://schemas.openxmlformats.org/drawingml/2006/main">
              <a:ext uri="{FF2B5EF4-FFF2-40B4-BE49-F238E27FC236}">
                <a16:creationId xmlns:a16="http://schemas.microsoft.com/office/drawing/2014/main" id="{414F868C-C761-458D-B319-1D57894EFCEF}"/>
              </a:ext>
            </a:extLst>
          </p:cNvPr>
          <p:cNvSpPr>
            <a:spLocks xmlns:a="http://schemas.openxmlformats.org/drawingml/2006/main" noGrp="1"/>
          </p:cNvSpPr>
          <p:nvPr/>
        </p:nvSpPr>
        <p:spPr>
          <a:xfrm xmlns:a="http://schemas.openxmlformats.org/drawingml/2006/main">
            <a:off x="4810125" y="24669750"/>
            <a:ext cx="5810250" cy="25241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cxnSp>
        <p:nvCxnSpPr>
          <p:cNvPr id="756" name="Build source to compiler"/>
          <p:cNvCxnSpPr>
            <a:stCxn xmlns:a="http://schemas.openxmlformats.org/drawingml/2006/main" id="196" idx="3"/>
            <a:endCxn xmlns:a="http://schemas.openxmlformats.org/drawingml/2006/main" id="197" idx="1"/>
          </p:cNvCxnSpPr>
          <p:nvPr/>
        </p:nvCxnSpPr>
        <p:spPr>
          <a:xfrm xmlns:a="http://schemas.openxmlformats.org/drawingml/2006/main">
            <a:off x="3619500" y="23217188"/>
            <a:ext cx="666750" cy="0"/>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7" name="Compiler to program artifact"/>
          <p:cNvCxnSpPr>
            <a:stCxn xmlns:a="http://schemas.openxmlformats.org/drawingml/2006/main" id="197" idx="3"/>
            <a:endCxn xmlns:a="http://schemas.openxmlformats.org/drawingml/2006/main" id="198" idx="1"/>
          </p:cNvCxnSpPr>
          <p:nvPr/>
        </p:nvCxnSpPr>
        <p:spPr>
          <a:xfrm xmlns:a="http://schemas.openxmlformats.org/drawingml/2006/main">
            <a:off x="7524750" y="23217188"/>
            <a:ext cx="381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8" name="Artifact to activation"/>
          <p:cNvCxnSpPr>
            <a:stCxn xmlns:a="http://schemas.openxmlformats.org/drawingml/2006/main" id="198" idx="3"/>
            <a:endCxn xmlns:a="http://schemas.openxmlformats.org/drawingml/2006/main" id="199" idx="1"/>
          </p:cNvCxnSpPr>
          <p:nvPr/>
        </p:nvCxnSpPr>
        <p:spPr>
          <a:xfrm xmlns:a="http://schemas.openxmlformats.org/drawingml/2006/main" flipV="1">
            <a:off x="12382500" y="23217188"/>
            <a:ext cx="9525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9" name="Activation to resident instance"/>
          <p:cNvCxnSpPr>
            <a:stCxn xmlns:a="http://schemas.openxmlformats.org/drawingml/2006/main" id="199" idx="3"/>
            <a:endCxn xmlns:a="http://schemas.openxmlformats.org/drawingml/2006/main" id="200" idx="1"/>
          </p:cNvCxnSpPr>
          <p:nvPr/>
        </p:nvCxnSpPr>
        <p:spPr>
          <a:xfrm xmlns:a="http://schemas.openxmlformats.org/drawingml/2006/main">
            <a:off x="17335500" y="23217188"/>
            <a:ext cx="666750" cy="0"/>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60" name="Artifact encode and decode"/>
          <p:cNvCxnSpPr>
            <a:stCxn xmlns:a="http://schemas.openxmlformats.org/drawingml/2006/main" id="193" idx="2"/>
            <a:endCxn xmlns:a="http://schemas.openxmlformats.org/drawingml/2006/main" id="198" idx="0"/>
          </p:cNvCxnSpPr>
          <p:nvPr/>
        </p:nvCxnSpPr>
        <p:spPr>
          <a:xfrm xmlns:a="http://schemas.openxmlformats.org/drawingml/2006/main">
            <a:off x="10144125" y="22240875"/>
            <a:ext cx="0" cy="357188"/>
          </a:xfrm>
          <a:prstGeom xmlns:a="http://schemas.openxmlformats.org/drawingml/2006/main" prst="straightConnector1">
            <a:avLst/>
          </a:prstGeom>
          <a:ln xmlns:a="http://schemas.openxmlformats.org/drawingml/2006/main" w="28575">
            <a:solidFill>
              <a:srgbClr val="7FC7FF"/>
            </a:solidFill>
            <a:headEnd type="triangle" w="med" len="med"/>
            <a:tailEnd type="triangle" w="med" len="med"/>
          </a:ln>
        </p:spPr>
      </p:cxnSp>
      <p:cxnSp>
        <p:nvCxnSpPr>
          <p:cNvPr id="761" name="Configuration to activation"/>
          <p:cNvCxnSpPr>
            <a:stCxn xmlns:a="http://schemas.openxmlformats.org/drawingml/2006/main" id="194" idx="2"/>
            <a:endCxn xmlns:a="http://schemas.openxmlformats.org/drawingml/2006/main" id="199" idx="0"/>
          </p:cNvCxnSpPr>
          <p:nvPr/>
        </p:nvCxnSpPr>
        <p:spPr>
          <a:xfrm xmlns:a="http://schemas.openxmlformats.org/drawingml/2006/main">
            <a:off x="15335250" y="22240875"/>
            <a:ext cx="0" cy="571500"/>
          </a:xfrm>
          <a:prstGeom xmlns:a="http://schemas.openxmlformats.org/drawingml/2006/main" prst="straightConnector1">
            <a:avLst/>
          </a:prstGeom>
          <a:ln xmlns:a="http://schemas.openxmlformats.org/drawingml/2006/main" w="28575">
            <a:solidFill>
              <a:srgbClr val="7FC7FF"/>
            </a:solidFill>
            <a:tailEnd type="triangle" w="med" len="med"/>
          </a:ln>
        </p:spPr>
      </p:cxnSp>
      <p:cxnSp>
        <p:nvCxnSpPr>
          <p:cNvPr id="762" name="Artifact to AOT preparation"/>
          <p:cNvCxnSpPr>
            <a:stCxn xmlns:a="http://schemas.openxmlformats.org/drawingml/2006/main" id="198" idx="2"/>
            <a:endCxn xmlns:a="http://schemas.openxmlformats.org/drawingml/2006/main" id="208" idx="1"/>
          </p:cNvCxnSpPr>
          <p:nvPr/>
        </p:nvCxnSpPr>
        <p:spPr>
          <a:xfrm xmlns:a="http://schemas.openxmlformats.org/drawingml/2006/main" rot="16200000" flipH="1">
            <a:off x="11370469" y="22609969"/>
            <a:ext cx="261937" cy="2714625"/>
          </a:xfrm>
          <a:prstGeom xmlns:a="http://schemas.openxmlformats.org/drawingml/2006/main" prst="curvedConnector3">
            <a:avLst>
              <a:gd name="adj1" fmla="val 50000"/>
            </a:avLst>
          </a:prstGeom>
          <a:ln xmlns:a="http://schemas.openxmlformats.org/drawingml/2006/main" w="28575">
            <a:solidFill>
              <a:srgbClr val="33AB94"/>
            </a:solidFill>
            <a:tailEnd type="triangle" w="med" len="med"/>
          </a:ln>
        </p:spPr>
      </p:cxnSp>
      <p:cxnSp>
        <p:nvCxnSpPr>
          <p:cNvPr id="763" name="AOT preparation to library"/>
          <p:cNvCxnSpPr>
            <a:stCxn xmlns:a="http://schemas.openxmlformats.org/drawingml/2006/main" id="208" idx="3"/>
            <a:endCxn xmlns:a="http://schemas.openxmlformats.org/drawingml/2006/main" id="209" idx="1"/>
          </p:cNvCxnSpPr>
          <p:nvPr/>
        </p:nvCxnSpPr>
        <p:spPr>
          <a:xfrm xmlns:a="http://schemas.openxmlformats.org/drawingml/2006/main">
            <a:off x="18097500" y="24098250"/>
            <a:ext cx="666750" cy="0"/>
          </a:xfrm>
          <a:prstGeom xmlns:a="http://schemas.openxmlformats.org/drawingml/2006/main" prst="straightConnector1">
            <a:avLst/>
          </a:prstGeom>
          <a:ln xmlns:a="http://schemas.openxmlformats.org/drawingml/2006/main" w="28575">
            <a:solidFill>
              <a:srgbClr val="33AB94"/>
            </a:solidFill>
            <a:tailEnd type="triangle" w="med" len="med"/>
          </a:ln>
        </p:spPr>
      </p:cxnSp>
      <p:cxnSp>
        <p:nvCxnSpPr>
          <p:cNvPr id="770" name="EKF prediction to correction"/>
          <p:cNvCxnSpPr>
            <a:stCxn xmlns:a="http://schemas.openxmlformats.org/drawingml/2006/main" id="217" idx="2"/>
            <a:endCxn xmlns:a="http://schemas.openxmlformats.org/drawingml/2006/main" id="218" idx="0"/>
          </p:cNvCxnSpPr>
          <p:nvPr/>
        </p:nvCxnSpPr>
        <p:spPr>
          <a:xfrm xmlns:a="http://schemas.openxmlformats.org/drawingml/2006/main">
            <a:off x="7715250" y="25736550"/>
            <a:ext cx="0" cy="171450"/>
          </a:xfrm>
          <a:prstGeom xmlns:a="http://schemas.openxmlformats.org/drawingml/2006/main" prst="straightConnector1">
            <a:avLst/>
          </a:prstGeom>
          <a:ln xmlns:a="http://schemas.openxmlformats.org/drawingml/2006/main" w="23813">
            <a:solidFill>
              <a:srgbClr val="A4BAC8"/>
            </a:solidFill>
            <a:tailEnd type="triangle" w="med" len="med"/>
          </a:ln>
        </p:spPr>
      </p:cxnSp>
      <p:cxnSp>
        <p:nvCxnSpPr>
          <p:cNvPr id="771" name="Correction to pose mapping"/>
          <p:cNvCxnSpPr>
            <a:stCxn xmlns:a="http://schemas.openxmlformats.org/drawingml/2006/main" id="218" idx="2"/>
            <a:endCxn xmlns:a="http://schemas.openxmlformats.org/drawingml/2006/main" id="219" idx="0"/>
          </p:cNvCxnSpPr>
          <p:nvPr/>
        </p:nvCxnSpPr>
        <p:spPr>
          <a:xfrm xmlns:a="http://schemas.openxmlformats.org/drawingml/2006/main" rot="5400000">
            <a:off x="6869906" y="25796081"/>
            <a:ext cx="333375" cy="1357313"/>
          </a:xfrm>
          <a:prstGeom xmlns:a="http://schemas.openxmlformats.org/drawingml/2006/main" prst="curvedConnector3">
            <a:avLst>
              <a:gd name="adj1" fmla="val 50000"/>
            </a:avLst>
          </a:prstGeom>
          <a:ln xmlns:a="http://schemas.openxmlformats.org/drawingml/2006/main" w="23813">
            <a:solidFill>
              <a:srgbClr val="A4BAC8"/>
            </a:solidFill>
            <a:tailEnd type="triangle" w="med" len="med"/>
          </a:ln>
        </p:spPr>
      </p:cxnSp>
      <p:cxnSp>
        <p:nvCxnSpPr>
          <p:cNvPr id="772" name="Correction to covariance mapping"/>
          <p:cNvCxnSpPr>
            <a:stCxn xmlns:a="http://schemas.openxmlformats.org/drawingml/2006/main" id="218" idx="2"/>
            <a:endCxn xmlns:a="http://schemas.openxmlformats.org/drawingml/2006/main" id="220" idx="0"/>
          </p:cNvCxnSpPr>
          <p:nvPr/>
        </p:nvCxnSpPr>
        <p:spPr>
          <a:xfrm xmlns:a="http://schemas.openxmlformats.org/drawingml/2006/main" rot="16200000" flipH="1">
            <a:off x="8227219" y="25796081"/>
            <a:ext cx="333375" cy="1357313"/>
          </a:xfrm>
          <a:prstGeom xmlns:a="http://schemas.openxmlformats.org/drawingml/2006/main" prst="curvedConnector3">
            <a:avLst>
              <a:gd name="adj1" fmla="val 50000"/>
            </a:avLst>
          </a:prstGeom>
          <a:ln xmlns:a="http://schemas.openxmlformats.org/drawingml/2006/main" w="23813">
            <a:solidFill>
              <a:srgbClr val="A4BAC8"/>
            </a:solidFill>
            <a:tailEnd type="triangle" w="med" len="med"/>
          </a:ln>
        </p:spPr>
      </p:cxnSp>
      <p:cxnSp>
        <p:nvCxnSpPr>
          <p:cNvPr id="773" name="Host drivers to resident computation"/>
          <p:cNvCxnSpPr>
            <a:stCxn xmlns:a="http://schemas.openxmlformats.org/drawingml/2006/main" id="213" idx="3"/>
            <a:endCxn xmlns:a="http://schemas.openxmlformats.org/drawingml/2006/main" id="215" idx="1"/>
          </p:cNvCxnSpPr>
          <p:nvPr/>
        </p:nvCxnSpPr>
        <p:spPr>
          <a:xfrm xmlns:a="http://schemas.openxmlformats.org/drawingml/2006/main" flipV="1">
            <a:off x="4000500" y="25931813"/>
            <a:ext cx="809625"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74" name="Resident computation to validation"/>
          <p:cNvCxnSpPr>
            <a:stCxn xmlns:a="http://schemas.openxmlformats.org/drawingml/2006/main" id="215" idx="3"/>
            <a:endCxn xmlns:a="http://schemas.openxmlformats.org/drawingml/2006/main" id="224" idx="1"/>
          </p:cNvCxnSpPr>
          <p:nvPr/>
        </p:nvCxnSpPr>
        <p:spPr>
          <a:xfrm xmlns:a="http://schemas.openxmlformats.org/drawingml/2006/main">
            <a:off x="10620375" y="25931813"/>
            <a:ext cx="762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75" name="Accepted candidate to publication"/>
          <p:cNvCxnSpPr>
            <a:stCxn xmlns:a="http://schemas.openxmlformats.org/drawingml/2006/main" id="224" idx="3"/>
            <a:endCxn xmlns:a="http://schemas.openxmlformats.org/drawingml/2006/main" id="225" idx="1"/>
          </p:cNvCxnSpPr>
          <p:nvPr/>
        </p:nvCxnSpPr>
        <p:spPr>
          <a:xfrm xmlns:a="http://schemas.openxmlformats.org/drawingml/2006/main">
            <a:off x="13906500" y="25931813"/>
            <a:ext cx="8572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76" name="Rejected candidate"/>
          <p:cNvCxnSpPr>
            <a:stCxn xmlns:a="http://schemas.openxmlformats.org/drawingml/2006/main" id="224" idx="2"/>
            <a:endCxn xmlns:a="http://schemas.openxmlformats.org/drawingml/2006/main" id="230" idx="0"/>
          </p:cNvCxnSpPr>
          <p:nvPr/>
        </p:nvCxnSpPr>
        <p:spPr>
          <a:xfrm xmlns:a="http://schemas.openxmlformats.org/drawingml/2006/main" rot="16200000" flipH="1">
            <a:off x="12489656" y="26515219"/>
            <a:ext cx="333375" cy="23813"/>
          </a:xfrm>
          <a:prstGeom xmlns:a="http://schemas.openxmlformats.org/drawingml/2006/main" prst="curvedConnector3">
            <a:avLst>
              <a:gd name="adj1" fmla="val 50000"/>
            </a:avLst>
          </a:prstGeom>
          <a:ln xmlns:a="http://schemas.openxmlformats.org/drawingml/2006/main" w="28575">
            <a:solidFill>
              <a:srgbClr val="CE7979"/>
            </a:solidFill>
            <a:tailEnd type="triangle" w="med" len="med"/>
          </a:ln>
        </p:spPr>
      </p:cxnSp>
      <p:cxnSp>
        <p:nvCxnSpPr>
          <p:cNvPr id="777" name="Publication to numeric state"/>
          <p:cNvCxnSpPr>
            <a:stCxn xmlns:a="http://schemas.openxmlformats.org/drawingml/2006/main" id="225" idx="3"/>
            <a:endCxn xmlns:a="http://schemas.openxmlformats.org/drawingml/2006/main" id="233" idx="1"/>
          </p:cNvCxnSpPr>
          <p:nvPr/>
        </p:nvCxnSpPr>
        <p:spPr>
          <a:xfrm xmlns:a="http://schemas.openxmlformats.org/drawingml/2006/main" rot="5400000">
            <a:off x="17499806" y="25334119"/>
            <a:ext cx="528638" cy="666750"/>
          </a:xfrm>
          <a:prstGeom xmlns:a="http://schemas.openxmlformats.org/drawingml/2006/main" prst="curvedConnector3">
            <a:avLst>
              <a:gd name="adj1" fmla="val 50000"/>
            </a:avLst>
          </a:prstGeom>
          <a:ln xmlns:a="http://schemas.openxmlformats.org/drawingml/2006/main" w="28575">
            <a:solidFill>
              <a:srgbClr val="33AB94"/>
            </a:solidFill>
            <a:tailEnd type="triangle" w="med" len="med"/>
          </a:ln>
        </p:spPr>
      </p:cxnSp>
      <p:cxnSp>
        <p:nvCxnSpPr>
          <p:cNvPr id="778" name="Publication to SVG output"/>
          <p:cNvCxnSpPr>
            <a:stCxn xmlns:a="http://schemas.openxmlformats.org/drawingml/2006/main" id="225" idx="3"/>
            <a:endCxn xmlns:a="http://schemas.openxmlformats.org/drawingml/2006/main" id="234" idx="1"/>
          </p:cNvCxnSpPr>
          <p:nvPr/>
        </p:nvCxnSpPr>
        <p:spPr>
          <a:xfrm xmlns:a="http://schemas.openxmlformats.org/drawingml/2006/main" rot="16200000" flipH="1">
            <a:off x="17247394" y="26115169"/>
            <a:ext cx="1033462" cy="666750"/>
          </a:xfrm>
          <a:prstGeom xmlns:a="http://schemas.openxmlformats.org/drawingml/2006/main" prst="curvedConnector3">
            <a:avLst>
              <a:gd name="adj1" fmla="val 50000"/>
            </a:avLst>
          </a:prstGeom>
          <a:ln xmlns:a="http://schemas.openxmlformats.org/drawingml/2006/main" w="28575">
            <a:solidFill>
              <a:srgbClr val="33AB94"/>
            </a:solidFill>
            <a:tailEnd type="triangle" w="med" len="med"/>
          </a:ln>
        </p:spPr>
      </p:cxnSp>
      <p:sp>
        <p:nvSpPr>
          <p:cNvPr id="193" name="Serialized program input">
            <a:extLst xmlns:a="http://schemas.openxmlformats.org/drawingml/2006/main">
              <a:ext uri="{FF2B5EF4-FFF2-40B4-BE49-F238E27FC236}">
                <a16:creationId xmlns:a16="http://schemas.microsoft.com/office/drawing/2014/main" id="{77C647FD-16E0-4155-B09C-A8E7C7FE38E5}"/>
              </a:ext>
            </a:extLst>
          </p:cNvPr>
          <p:cNvSpPr>
            <a:spLocks xmlns:a="http://schemas.openxmlformats.org/drawingml/2006/main" noGrp="1"/>
          </p:cNvSpPr>
          <p:nvPr/>
        </p:nvSpPr>
        <p:spPr>
          <a:xfrm xmlns:a="http://schemas.openxmlformats.org/drawingml/2006/main">
            <a:off x="8191500" y="2166937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6" name="Reactive source">
            <a:extLst xmlns:a="http://schemas.openxmlformats.org/drawingml/2006/main">
              <a:ext uri="{FF2B5EF4-FFF2-40B4-BE49-F238E27FC236}">
                <a16:creationId xmlns:a16="http://schemas.microsoft.com/office/drawing/2014/main" id="{CB8DDA00-B87B-4588-81B7-D74B128558C0}"/>
              </a:ext>
            </a:extLst>
          </p:cNvPr>
          <p:cNvSpPr>
            <a:spLocks xmlns:a="http://schemas.openxmlformats.org/drawingml/2006/main" noGrp="1"/>
          </p:cNvSpPr>
          <p:nvPr/>
        </p:nvSpPr>
        <p:spPr>
          <a:xfrm xmlns:a="http://schemas.openxmlformats.org/drawingml/2006/main">
            <a:off x="952500" y="22812375"/>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7" name="Reactive compile">
            <a:extLst xmlns:a="http://schemas.openxmlformats.org/drawingml/2006/main">
              <a:ext uri="{FF2B5EF4-FFF2-40B4-BE49-F238E27FC236}">
                <a16:creationId xmlns:a16="http://schemas.microsoft.com/office/drawing/2014/main" id="{A33BFF48-2452-43EB-957F-4704069E8CB9}"/>
              </a:ext>
            </a:extLst>
          </p:cNvPr>
          <p:cNvSpPr>
            <a:spLocks xmlns:a="http://schemas.openxmlformats.org/drawingml/2006/main" noGrp="1"/>
          </p:cNvSpPr>
          <p:nvPr/>
        </p:nvSpPr>
        <p:spPr>
          <a:xfrm xmlns:a="http://schemas.openxmlformats.org/drawingml/2006/main">
            <a:off x="4286250" y="22812375"/>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Compile</a:t>
            </a:r>
          </a:p>
        </p:txBody>
      </p:sp>
      <p:sp>
        <p:nvSpPr>
          <p:cNvPr id="198" name="Program artifact">
            <a:extLst xmlns:a="http://schemas.openxmlformats.org/drawingml/2006/main">
              <a:ext uri="{FF2B5EF4-FFF2-40B4-BE49-F238E27FC236}">
                <a16:creationId xmlns:a16="http://schemas.microsoft.com/office/drawing/2014/main" id="{8CA2152C-95F2-466A-86E5-B9B757CC1BC4}"/>
              </a:ext>
            </a:extLst>
          </p:cNvPr>
          <p:cNvSpPr>
            <a:spLocks xmlns:a="http://schemas.openxmlformats.org/drawingml/2006/main" noGrp="1"/>
          </p:cNvSpPr>
          <p:nvPr/>
        </p:nvSpPr>
        <p:spPr>
          <a:xfrm xmlns:a="http://schemas.openxmlformats.org/drawingml/2006/main">
            <a:off x="7905750" y="22598063"/>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9" name="Reactive activation">
            <a:extLst xmlns:a="http://schemas.openxmlformats.org/drawingml/2006/main">
              <a:ext uri="{FF2B5EF4-FFF2-40B4-BE49-F238E27FC236}">
                <a16:creationId xmlns:a16="http://schemas.microsoft.com/office/drawing/2014/main" id="{26B92BC5-18E7-432F-B930-DC4AE6F91BFA}"/>
              </a:ext>
            </a:extLst>
          </p:cNvPr>
          <p:cNvSpPr>
            <a:spLocks xmlns:a="http://schemas.openxmlformats.org/drawingml/2006/main" noGrp="1"/>
          </p:cNvSpPr>
          <p:nvPr/>
        </p:nvSpPr>
        <p:spPr>
          <a:xfrm xmlns:a="http://schemas.openxmlformats.org/drawingml/2006/main">
            <a:off x="13335000" y="22812375"/>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0" name="Reactive resident instance">
            <a:extLst xmlns:a="http://schemas.openxmlformats.org/drawingml/2006/main">
              <a:ext uri="{FF2B5EF4-FFF2-40B4-BE49-F238E27FC236}">
                <a16:creationId xmlns:a16="http://schemas.microsoft.com/office/drawing/2014/main" id="{84BDD81B-30B1-4B6C-B071-AEB51F9D249A}"/>
              </a:ext>
            </a:extLst>
          </p:cNvPr>
          <p:cNvSpPr>
            <a:spLocks xmlns:a="http://schemas.openxmlformats.org/drawingml/2006/main" noGrp="1"/>
          </p:cNvSpPr>
          <p:nvPr/>
        </p:nvSpPr>
        <p:spPr>
          <a:xfrm xmlns:a="http://schemas.openxmlformats.org/drawingml/2006/main">
            <a:off x="18002250" y="22812375"/>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Resident instance</a:t>
            </a:r>
          </a:p>
        </p:txBody>
      </p:sp>
      <p:sp>
        <p:nvSpPr>
          <p:cNvPr id="207" name="Artifact decoding">
            <a:extLst xmlns:a="http://schemas.openxmlformats.org/drawingml/2006/main">
              <a:ext uri="{FF2B5EF4-FFF2-40B4-BE49-F238E27FC236}">
                <a16:creationId xmlns:a16="http://schemas.microsoft.com/office/drawing/2014/main" id="{7674E409-EB94-444F-A6A8-3A55D19FE11C}"/>
              </a:ext>
            </a:extLst>
          </p:cNvPr>
          <p:cNvSpPr>
            <a:spLocks xmlns:a="http://schemas.openxmlformats.org/drawingml/2006/main" noGrp="1"/>
          </p:cNvSpPr>
          <p:nvPr/>
        </p:nvSpPr>
        <p:spPr>
          <a:xfrm xmlns:a="http://schemas.openxmlformats.org/drawingml/2006/main">
            <a:off x="10477500" y="22288500"/>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12" name="Execution phase">
            <a:extLst xmlns:a="http://schemas.openxmlformats.org/drawingml/2006/main">
              <a:ext uri="{FF2B5EF4-FFF2-40B4-BE49-F238E27FC236}">
                <a16:creationId xmlns:a16="http://schemas.microsoft.com/office/drawing/2014/main" id="{AC8FA2A7-900B-4900-BF71-C6FE6FECD249}"/>
              </a:ext>
            </a:extLst>
          </p:cNvPr>
          <p:cNvSpPr>
            <a:spLocks xmlns:a="http://schemas.openxmlformats.org/drawingml/2006/main" noGrp="1"/>
          </p:cNvSpPr>
          <p:nvPr/>
        </p:nvSpPr>
        <p:spPr>
          <a:xfrm xmlns:a="http://schemas.openxmlformats.org/drawingml/2006/main">
            <a:off x="952500" y="2414587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3" name="Turn inputs">
            <a:extLst xmlns:a="http://schemas.openxmlformats.org/drawingml/2006/main">
              <a:ext uri="{FF2B5EF4-FFF2-40B4-BE49-F238E27FC236}">
                <a16:creationId xmlns:a16="http://schemas.microsoft.com/office/drawing/2014/main" id="{186976AE-7BC9-4C25-B639-BA8AB3EC2187}"/>
              </a:ext>
            </a:extLst>
          </p:cNvPr>
          <p:cNvSpPr>
            <a:spLocks xmlns:a="http://schemas.openxmlformats.org/drawingml/2006/main" noGrp="1"/>
          </p:cNvSpPr>
          <p:nvPr/>
        </p:nvSpPr>
        <p:spPr>
          <a:xfrm xmlns:a="http://schemas.openxmlformats.org/drawingml/2006/main">
            <a:off x="952500" y="25312688"/>
            <a:ext cx="3048000" cy="123825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14" name="Host driver explanation">
            <a:extLst xmlns:a="http://schemas.openxmlformats.org/drawingml/2006/main">
              <a:ext uri="{FF2B5EF4-FFF2-40B4-BE49-F238E27FC236}">
                <a16:creationId xmlns:a16="http://schemas.microsoft.com/office/drawing/2014/main" id="{939B8B63-51F0-4742-9381-4FAE6D21D37B}"/>
              </a:ext>
            </a:extLst>
          </p:cNvPr>
          <p:cNvSpPr>
            <a:spLocks xmlns:a="http://schemas.openxmlformats.org/drawingml/2006/main" noGrp="1"/>
          </p:cNvSpPr>
          <p:nvPr/>
        </p:nvSpPr>
        <p:spPr>
          <a:xfrm xmlns:a="http://schemas.openxmlformats.org/drawingml/2006/main">
            <a:off x="952500" y="26741438"/>
            <a:ext cx="323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Direct input or</a:t>
            </a:r>
          </a:p>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ROS adapter</a:t>
            </a:r>
          </a:p>
        </p:txBody>
      </p:sp>
      <p:sp>
        <p:nvSpPr>
          <p:cNvPr id="216" name="Resident computation title">
            <a:extLst xmlns:a="http://schemas.openxmlformats.org/drawingml/2006/main">
              <a:ext uri="{FF2B5EF4-FFF2-40B4-BE49-F238E27FC236}">
                <a16:creationId xmlns:a16="http://schemas.microsoft.com/office/drawing/2014/main" id="{6BD2B01E-77F0-433F-986C-A18FAE328432}"/>
              </a:ext>
            </a:extLst>
          </p:cNvPr>
          <p:cNvSpPr>
            <a:spLocks xmlns:a="http://schemas.openxmlformats.org/drawingml/2006/main" noGrp="1"/>
          </p:cNvSpPr>
          <p:nvPr/>
        </p:nvSpPr>
        <p:spPr>
          <a:xfrm xmlns:a="http://schemas.openxmlformats.org/drawingml/2006/main">
            <a:off x="5048250" y="248126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7" name="EKF time update">
            <a:extLst xmlns:a="http://schemas.openxmlformats.org/drawingml/2006/main">
              <a:ext uri="{FF2B5EF4-FFF2-40B4-BE49-F238E27FC236}">
                <a16:creationId xmlns:a16="http://schemas.microsoft.com/office/drawing/2014/main" id="{31860099-B226-4A5C-BD78-0A1E6850090A}"/>
              </a:ext>
            </a:extLst>
          </p:cNvPr>
          <p:cNvSpPr>
            <a:spLocks xmlns:a="http://schemas.openxmlformats.org/drawingml/2006/main" noGrp="1"/>
          </p:cNvSpPr>
          <p:nvPr/>
        </p:nvSpPr>
        <p:spPr>
          <a:xfrm xmlns:a="http://schemas.openxmlformats.org/drawingml/2006/main">
            <a:off x="5095875" y="25336500"/>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8" name="EKF measurement update">
            <a:extLst xmlns:a="http://schemas.openxmlformats.org/drawingml/2006/main">
              <a:ext uri="{FF2B5EF4-FFF2-40B4-BE49-F238E27FC236}">
                <a16:creationId xmlns:a16="http://schemas.microsoft.com/office/drawing/2014/main" id="{96F7584C-5C94-47C0-BC25-511220673F9E}"/>
              </a:ext>
            </a:extLst>
          </p:cNvPr>
          <p:cNvSpPr>
            <a:spLocks xmlns:a="http://schemas.openxmlformats.org/drawingml/2006/main" noGrp="1"/>
          </p:cNvSpPr>
          <p:nvPr/>
        </p:nvSpPr>
        <p:spPr>
          <a:xfrm xmlns:a="http://schemas.openxmlformats.org/drawingml/2006/main">
            <a:off x="5095875" y="25908000"/>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9" name="Mean visual mapping">
            <a:extLst xmlns:a="http://schemas.openxmlformats.org/drawingml/2006/main">
              <a:ext uri="{FF2B5EF4-FFF2-40B4-BE49-F238E27FC236}">
                <a16:creationId xmlns:a16="http://schemas.microsoft.com/office/drawing/2014/main" id="{324222CC-5F18-4BDA-AAB1-23AA6F9C8758}"/>
              </a:ext>
            </a:extLst>
          </p:cNvPr>
          <p:cNvSpPr>
            <a:spLocks xmlns:a="http://schemas.openxmlformats.org/drawingml/2006/main" noGrp="1"/>
          </p:cNvSpPr>
          <p:nvPr/>
        </p:nvSpPr>
        <p:spPr>
          <a:xfrm xmlns:a="http://schemas.openxmlformats.org/drawingml/2006/main">
            <a:off x="5095875" y="26641425"/>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μ → robot pose</a:t>
            </a:r>
          </a:p>
        </p:txBody>
      </p:sp>
      <p:sp>
        <p:nvSpPr>
          <p:cNvPr id="220" name="Covariance visual mapping">
            <a:extLst xmlns:a="http://schemas.openxmlformats.org/drawingml/2006/main">
              <a:ext uri="{FF2B5EF4-FFF2-40B4-BE49-F238E27FC236}">
                <a16:creationId xmlns:a16="http://schemas.microsoft.com/office/drawing/2014/main" id="{23BCBD4B-C245-46CD-AAA5-63B2FFA78D36}"/>
              </a:ext>
            </a:extLst>
          </p:cNvPr>
          <p:cNvSpPr>
            <a:spLocks xmlns:a="http://schemas.openxmlformats.org/drawingml/2006/main" noGrp="1"/>
          </p:cNvSpPr>
          <p:nvPr/>
        </p:nvSpPr>
        <p:spPr>
          <a:xfrm xmlns:a="http://schemas.openxmlformats.org/drawingml/2006/main">
            <a:off x="7810500" y="26641425"/>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sp>
        <p:nvSpPr>
          <p:cNvPr id="224" name="Guards">
            <a:extLst xmlns:a="http://schemas.openxmlformats.org/drawingml/2006/main">
              <a:ext uri="{FF2B5EF4-FFF2-40B4-BE49-F238E27FC236}">
                <a16:creationId xmlns:a16="http://schemas.microsoft.com/office/drawing/2014/main" id="{310AA0C1-C9DD-4DC3-A471-5BB329541A6F}"/>
              </a:ext>
            </a:extLst>
          </p:cNvPr>
          <p:cNvSpPr>
            <a:spLocks xmlns:a="http://schemas.openxmlformats.org/drawingml/2006/main" noGrp="1"/>
          </p:cNvSpPr>
          <p:nvPr/>
        </p:nvSpPr>
        <p:spPr>
          <a:xfrm xmlns:a="http://schemas.openxmlformats.org/drawingml/2006/main">
            <a:off x="11382375" y="25503188"/>
            <a:ext cx="2524125"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5" name="Publish">
            <a:extLst xmlns:a="http://schemas.openxmlformats.org/drawingml/2006/main">
              <a:ext uri="{FF2B5EF4-FFF2-40B4-BE49-F238E27FC236}">
                <a16:creationId xmlns:a16="http://schemas.microsoft.com/office/drawing/2014/main" id="{8F1E2C7B-A96C-4BE9-B3A3-798E09D04F22}"/>
              </a:ext>
            </a:extLst>
          </p:cNvPr>
          <p:cNvSpPr>
            <a:spLocks xmlns:a="http://schemas.openxmlformats.org/drawingml/2006/main" noGrp="1"/>
          </p:cNvSpPr>
          <p:nvPr/>
        </p:nvSpPr>
        <p:spPr>
          <a:xfrm xmlns:a="http://schemas.openxmlformats.org/drawingml/2006/main">
            <a:off x="14763750" y="25503188"/>
            <a:ext cx="2667000"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Publish state</a:t>
            </a:r>
          </a:p>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 record</a:t>
            </a:r>
          </a:p>
        </p:txBody>
      </p:sp>
      <p:sp>
        <p:nvSpPr>
          <p:cNvPr id="229" name="Accept label">
            <a:extLst xmlns:a="http://schemas.openxmlformats.org/drawingml/2006/main">
              <a:ext uri="{FF2B5EF4-FFF2-40B4-BE49-F238E27FC236}">
                <a16:creationId xmlns:a16="http://schemas.microsoft.com/office/drawing/2014/main" id="{8A94B7F6-5A5D-4DAF-996C-DA29720BB55D}"/>
              </a:ext>
            </a:extLst>
          </p:cNvPr>
          <p:cNvSpPr>
            <a:spLocks xmlns:a="http://schemas.openxmlformats.org/drawingml/2006/main" noGrp="1"/>
          </p:cNvSpPr>
          <p:nvPr/>
        </p:nvSpPr>
        <p:spPr>
          <a:xfrm xmlns:a="http://schemas.openxmlformats.org/drawingml/2006/main">
            <a:off x="14039850" y="2511742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0" name="Reject turn">
            <a:extLst xmlns:a="http://schemas.openxmlformats.org/drawingml/2006/main">
              <a:ext uri="{FF2B5EF4-FFF2-40B4-BE49-F238E27FC236}">
                <a16:creationId xmlns:a16="http://schemas.microsoft.com/office/drawing/2014/main" id="{D17722CA-0128-4BFB-896C-28A3A69481D9}"/>
              </a:ext>
            </a:extLst>
          </p:cNvPr>
          <p:cNvSpPr>
            <a:spLocks xmlns:a="http://schemas.openxmlformats.org/drawingml/2006/main" noGrp="1"/>
          </p:cNvSpPr>
          <p:nvPr/>
        </p:nvSpPr>
        <p:spPr>
          <a:xfrm xmlns:a="http://schemas.openxmlformats.org/drawingml/2006/main">
            <a:off x="11096625" y="26693813"/>
            <a:ext cx="3143250" cy="738188"/>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100">
                <a:solidFill>
                  <a:srgbClr val="E8EDF0"/>
                </a:solidFill>
                <a:latin typeface="Segoe UI"/>
                <a:ea typeface="Segoe UI"/>
                <a:cs typeface="Segoe UI"/>
              </a:rPr>
              <a:t>Abort candidate</a:t>
            </a:r>
          </a:p>
          <a:p xmlns:a="http://schemas.openxmlformats.org/drawingml/2006/main">
            <a:pPr algn="ctr">
              <a:buNone/>
              <a:defRPr sz="2400">
                <a:solidFill>
                  <a:srgbClr val="E8EDF0"/>
                </a:solidFill>
                <a:latin typeface="Segoe UI"/>
                <a:ea typeface="Segoe UI"/>
                <a:cs typeface="Segoe UI"/>
              </a:defRPr>
            </a:pPr>
            <a:r>
              <a:rPr sz="2100">
                <a:solidFill>
                  <a:srgbClr val="E8EDF0"/>
                </a:solidFill>
                <a:latin typeface="Segoe UI"/>
                <a:ea typeface="Segoe UI"/>
                <a:cs typeface="Segoe UI"/>
              </a:rPr>
              <a:t>retain prior state</a:t>
            </a:r>
          </a:p>
        </p:txBody>
      </p:sp>
      <p:sp>
        <p:nvSpPr>
          <p:cNvPr id="232" name="Reject label">
            <a:extLst xmlns:a="http://schemas.openxmlformats.org/drawingml/2006/main">
              <a:ext uri="{FF2B5EF4-FFF2-40B4-BE49-F238E27FC236}">
                <a16:creationId xmlns:a16="http://schemas.microsoft.com/office/drawing/2014/main" id="{60C90CD9-BCCB-41D3-A552-A046CAC7B4F7}"/>
              </a:ext>
            </a:extLst>
          </p:cNvPr>
          <p:cNvSpPr>
            <a:spLocks xmlns:a="http://schemas.openxmlformats.org/drawingml/2006/main" noGrp="1"/>
          </p:cNvSpPr>
          <p:nvPr/>
        </p:nvSpPr>
        <p:spPr>
          <a:xfrm xmlns:a="http://schemas.openxmlformats.org/drawingml/2006/main">
            <a:off x="13115925" y="26384250"/>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CE7979"/>
                </a:solidFill>
                <a:latin typeface="Fira Code"/>
                <a:ea typeface="Fira Code"/>
                <a:cs typeface="Fira Code"/>
              </a:defRPr>
            </a:pPr>
            <a:r>
              <a:rPr sz="1725" b="1">
                <a:solidFill>
                  <a:srgbClr val="CE7979"/>
                </a:solidFill>
                <a:latin typeface="Fira Code"/>
                <a:ea typeface="Fira Code"/>
                <a:cs typeface="Fira Code"/>
              </a:rPr>
              <a:t>fail</a:t>
            </a:r>
          </a:p>
        </p:txBody>
      </p:sp>
      <p:sp>
        <p:nvSpPr>
          <p:cNvPr id="233" name="Estimate output">
            <a:extLst xmlns:a="http://schemas.openxmlformats.org/drawingml/2006/main">
              <a:ext uri="{FF2B5EF4-FFF2-40B4-BE49-F238E27FC236}">
                <a16:creationId xmlns:a16="http://schemas.microsoft.com/office/drawing/2014/main" id="{8DF5A502-DEC1-4BD4-B259-8359C11FC517}"/>
              </a:ext>
            </a:extLst>
          </p:cNvPr>
          <p:cNvSpPr>
            <a:spLocks xmlns:a="http://schemas.openxmlformats.org/drawingml/2006/main" noGrp="1"/>
          </p:cNvSpPr>
          <p:nvPr/>
        </p:nvSpPr>
        <p:spPr>
          <a:xfrm xmlns:a="http://schemas.openxmlformats.org/drawingml/2006/main">
            <a:off x="18097500" y="24574500"/>
            <a:ext cx="3571875" cy="16573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34" name="Scene output">
            <a:extLst xmlns:a="http://schemas.openxmlformats.org/drawingml/2006/main">
              <a:ext uri="{FF2B5EF4-FFF2-40B4-BE49-F238E27FC236}">
                <a16:creationId xmlns:a16="http://schemas.microsoft.com/office/drawing/2014/main" id="{E812C68E-EDBF-4B69-9463-0FE1AB92E0D8}"/>
              </a:ext>
            </a:extLst>
          </p:cNvPr>
          <p:cNvSpPr>
            <a:spLocks xmlns:a="http://schemas.openxmlformats.org/drawingml/2006/main" noGrp="1"/>
          </p:cNvSpPr>
          <p:nvPr/>
        </p:nvSpPr>
        <p:spPr>
          <a:xfrm xmlns:a="http://schemas.openxmlformats.org/drawingml/2006/main">
            <a:off x="18097500" y="26431875"/>
            <a:ext cx="3571875" cy="10668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764" name="Rust host driver label">
            <a:extLst xmlns:a="http://schemas.openxmlformats.org/drawingml/2006/main">
              <a:ext uri="{FF2B5EF4-FFF2-40B4-BE49-F238E27FC236}">
                <a16:creationId xmlns:a16="http://schemas.microsoft.com/office/drawing/2014/main" id="{99884F59-710C-42D6-BA3A-AD291B72AC57}"/>
              </a:ext>
            </a:extLst>
          </p:cNvPr>
          <p:cNvSpPr>
            <a:spLocks xmlns:a="http://schemas.openxmlformats.org/drawingml/2006/main" noGrp="1"/>
          </p:cNvSpPr>
          <p:nvPr/>
        </p:nvSpPr>
        <p:spPr>
          <a:xfrm xmlns:a="http://schemas.openxmlformats.org/drawingml/2006/main">
            <a:off x="1933575" y="25527000"/>
            <a:ext cx="1952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Rust host</a:t>
            </a:r>
          </a:p>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drivers</a:t>
            </a:r>
          </a:p>
        </p:txBody>
      </p:sp>
      <p:sp>
        <p:nvSpPr>
          <p:cNvPr id="765" name="Example state title">
            <a:extLst xmlns:a="http://schemas.openxmlformats.org/drawingml/2006/main">
              <a:ext uri="{FF2B5EF4-FFF2-40B4-BE49-F238E27FC236}">
                <a16:creationId xmlns:a16="http://schemas.microsoft.com/office/drawing/2014/main" id="{9E789A6C-08FA-4AA7-81A1-62BBB9C5A5D5}"/>
              </a:ext>
            </a:extLst>
          </p:cNvPr>
          <p:cNvSpPr>
            <a:spLocks xmlns:a="http://schemas.openxmlformats.org/drawingml/2006/main" noGrp="1"/>
          </p:cNvSpPr>
          <p:nvPr/>
        </p:nvSpPr>
        <p:spPr>
          <a:xfrm xmlns:a="http://schemas.openxmlformats.org/drawingml/2006/main">
            <a:off x="18249900" y="2465070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Example turn 40</a:t>
            </a:r>
          </a:p>
        </p:txBody>
      </p:sp>
      <p:sp>
        <p:nvSpPr>
          <p:cNvPr id="766" name="Example mean">
            <a:extLst xmlns:a="http://schemas.openxmlformats.org/drawingml/2006/main">
              <a:ext uri="{FF2B5EF4-FFF2-40B4-BE49-F238E27FC236}">
                <a16:creationId xmlns:a16="http://schemas.microsoft.com/office/drawing/2014/main" id="{C3A0A394-0496-46F3-A6A0-3E4EE16B7561}"/>
              </a:ext>
            </a:extLst>
          </p:cNvPr>
          <p:cNvSpPr>
            <a:spLocks xmlns:a="http://schemas.openxmlformats.org/drawingml/2006/main" noGrp="1"/>
          </p:cNvSpPr>
          <p:nvPr/>
        </p:nvSpPr>
        <p:spPr>
          <a:xfrm xmlns:a="http://schemas.openxmlformats.org/drawingml/2006/main">
            <a:off x="18249900" y="25003125"/>
            <a:ext cx="326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E8EDF0"/>
                </a:solidFill>
                <a:latin typeface="Fira Code"/>
                <a:ea typeface="Fira Code"/>
                <a:cs typeface="Fira Code"/>
              </a:defRPr>
            </a:pPr>
            <a:r>
              <a:rPr sz="1575" b="0">
                <a:solidFill>
                  <a:srgbClr val="E8EDF0"/>
                </a:solidFill>
                <a:latin typeface="Fira Code"/>
                <a:ea typeface="Fira Code"/>
                <a:cs typeface="Fira Code"/>
              </a:rPr>
              <a:t>μ = [58.63, 26.12, 0.411]</a:t>
            </a:r>
          </a:p>
        </p:txBody>
      </p:sp>
      <p:sp>
        <p:nvSpPr>
          <p:cNvPr id="767" name="Example covariance">
            <a:extLst xmlns:a="http://schemas.openxmlformats.org/drawingml/2006/main">
              <a:ext uri="{FF2B5EF4-FFF2-40B4-BE49-F238E27FC236}">
                <a16:creationId xmlns:a16="http://schemas.microsoft.com/office/drawing/2014/main" id="{4D815B09-A014-411D-B8E4-1606403A0AB9}"/>
              </a:ext>
            </a:extLst>
          </p:cNvPr>
          <p:cNvSpPr>
            <a:spLocks xmlns:a="http://schemas.openxmlformats.org/drawingml/2006/main" noGrp="1"/>
          </p:cNvSpPr>
          <p:nvPr/>
        </p:nvSpPr>
        <p:spPr>
          <a:xfrm xmlns:a="http://schemas.openxmlformats.org/drawingml/2006/main">
            <a:off x="18249900" y="25336500"/>
            <a:ext cx="3267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Σ = [100.35  −0.39  −0.193</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−0.39  85.00  −0.953</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−0.193 −0.953   0.018]</a:t>
            </a:r>
          </a:p>
        </p:txBody>
      </p:sp>
      <p:sp>
        <p:nvSpPr>
          <p:cNvPr id="768" name="SVG scene label">
            <a:extLst xmlns:a="http://schemas.openxmlformats.org/drawingml/2006/main">
              <a:ext uri="{FF2B5EF4-FFF2-40B4-BE49-F238E27FC236}">
                <a16:creationId xmlns:a16="http://schemas.microsoft.com/office/drawing/2014/main" id="{C0E01B3C-D4C8-4AFF-AAFC-18B7FC49F359}"/>
              </a:ext>
            </a:extLst>
          </p:cNvPr>
          <p:cNvSpPr>
            <a:spLocks xmlns:a="http://schemas.openxmlformats.org/drawingml/2006/main" noGrp="1"/>
          </p:cNvSpPr>
          <p:nvPr/>
        </p:nvSpPr>
        <p:spPr>
          <a:xfrm xmlns:a="http://schemas.openxmlformats.org/drawingml/2006/main">
            <a:off x="18440400" y="2652712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SVG scene</a:t>
            </a:r>
          </a:p>
        </p:txBody>
      </p:sp>
      <p:sp>
        <p:nvSpPr>
          <p:cNvPr id="769" name="SVG scene explanation">
            <a:extLst xmlns:a="http://schemas.openxmlformats.org/drawingml/2006/main">
              <a:ext uri="{FF2B5EF4-FFF2-40B4-BE49-F238E27FC236}">
                <a16:creationId xmlns:a16="http://schemas.microsoft.com/office/drawing/2014/main" id="{6701A4FB-8DB9-48AD-A03F-EE3087CC9EBC}"/>
              </a:ext>
            </a:extLst>
          </p:cNvPr>
          <p:cNvSpPr>
            <a:spLocks xmlns:a="http://schemas.openxmlformats.org/drawingml/2006/main" noGrp="1"/>
          </p:cNvSpPr>
          <p:nvPr/>
        </p:nvSpPr>
        <p:spPr>
          <a:xfrm xmlns:a="http://schemas.openxmlformats.org/drawingml/2006/main">
            <a:off x="18440400" y="26860500"/>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Pose and 2σ</a:t>
            </a:r>
          </a:p>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position ellipse</a:t>
            </a:r>
          </a:p>
        </p:txBody>
      </p:sp>
      <p:pic>
        <p:nvPicPr>
          <p:cNvPr id="779" name="White Rust logo"/>
          <p:cNvPicPr>
            <a:picLocks xmlns:a="http://schemas.openxmlformats.org/drawingml/2006/main" noChangeAspect="1"/>
          </p:cNvPicPr>
          <p:nvPr/>
        </p:nvPicPr>
        <p:blipFill>
          <a:blip xmlns:r="http://schemas.openxmlformats.org/officeDocument/2006/relationships" xmlns:a="http://schemas.openxmlformats.org/drawingml/2006/main" r:embed="rIdReactive1">
            <a:extLst>
              <a:ext uri="{96DAC541-7B7A-43D3-8B79-37D633B846F1}">
                <asvg:svgBlip xmlns:asvg="http://schemas.microsoft.com/office/drawing/2016/SVG/main" r:embed="rIdReactive2"/>
              </a:ext>
            </a:extLst>
          </a:blip>
          <a:stretch xmlns:a="http://schemas.openxmlformats.org/drawingml/2006/main"/>
        </p:blipFill>
        <p:spPr>
          <a:xfrm xmlns:a="http://schemas.openxmlformats.org/drawingml/2006/main">
            <a:off x="1143000" y="25574625"/>
            <a:ext cx="647700" cy="647700"/>
          </a:xfrm>
          <a:prstGeom xmlns:a="http://schemas.openxmlformats.org/drawingml/2006/main" prst="rect">
            <a:avLst/>
          </a:prstGeom>
        </p:spPr>
      </p:pic>
      <p:pic>
        <p:nvPicPr>
          <p:cNvPr id="780" name="EKF example SVG output"/>
          <p:cNvPicPr>
            <a:picLocks xmlns:a="http://schemas.openxmlformats.org/drawingml/2006/main" noChangeAspect="1"/>
          </p:cNvPicPr>
          <p:nvPr/>
        </p:nvPicPr>
        <p:blipFill>
          <a:blip xmlns:r="http://schemas.openxmlformats.org/officeDocument/2006/relationships" xmlns:a="http://schemas.openxmlformats.org/drawingml/2006/main" r:embed="rIdReactive3">
            <a:extLst>
              <a:ext uri="{96DAC541-7B7A-43D3-8B79-37D633B846F1}">
                <asvg:svgBlip xmlns:asvg="http://schemas.microsoft.com/office/drawing/2016/SVG/main" r:embed="rIdReactive4"/>
              </a:ext>
            </a:extLst>
          </a:blip>
          <a:stretch xmlns:a="http://schemas.openxmlformats.org/drawingml/2006/main"/>
        </p:blipFill>
        <p:spPr>
          <a:xfrm xmlns:a="http://schemas.openxmlformats.org/drawingml/2006/main">
            <a:off x="20288250" y="26489025"/>
            <a:ext cx="1285875" cy="971550"/>
          </a:xfrm>
          <a:prstGeom xmlns:a="http://schemas.openxmlformats.org/drawingml/2006/main" prst="rect">
            <a:avLst/>
          </a:prstGeom>
        </p:spPr>
      </p:pic>
      <p:sp>
        <p:nvSpPr>
          <p:cNvPr id="781" name="Yellow dashed curly QR arrow">
            <a:extLst xmlns:a="http://schemas.openxmlformats.org/drawingml/2006/main">
              <a:ext uri="{FF2B5EF4-FFF2-40B4-BE49-F238E27FC236}">
                <a16:creationId xmlns:a16="http://schemas.microsoft.com/office/drawing/2014/main" id="{71125DDD-289A-4C22-A861-60EBCCAE057F}"/>
              </a:ext>
            </a:extLst>
          </p:cNvPr>
          <p:cNvSpPr>
            <a:spLocks xmlns:a="http://schemas.openxmlformats.org/drawingml/2006/main" noGrp="1"/>
          </p:cNvSpPr>
          <p:nvPr/>
        </p:nvSpPr>
        <p:spPr>
          <a:xfrm xmlns:a="http://schemas.openxmlformats.org/drawingml/2006/main">
            <a:off x="2524125" y="42243375"/>
            <a:ext cx="742950" cy="942975"/>
          </a:xfrm>
          <a:custGeom>
            <a:avLst/>
            <a:gdLst/>
            <a:ahLst/>
            <a:cxnLst/>
            <a:rect l="0" t="0" r="r" b="b"/>
            <a:pathLst>
              <a:path w="78000" h="99000" fill="none" stroke="1">
                <a:moveTo>
                  <a:pt x="60000" y="0"/>
                </a:moveTo>
                <a:cubicBezTo>
                  <a:pt x="76000" y="28000"/>
                  <a:pt x="66000" y="62000"/>
                  <a:pt x="34000" y="60000"/>
                </a:cubicBezTo>
                <a:cubicBezTo>
                  <a:pt x="-2000" y="58000"/>
                  <a:pt x="13000" y="29000"/>
                  <a:pt x="41000" y="39000"/>
                </a:cubicBezTo>
                <a:cubicBezTo>
                  <a:pt x="72000" y="50000"/>
                  <a:pt x="57000" y="83000"/>
                  <a:pt x="0" y="95000"/>
                </a:cubicBezTo>
              </a:path>
            </a:pathLst>
          </a:custGeom>
          <a:noFill xmlns:a="http://schemas.openxmlformats.org/drawingml/2006/main"/>
          <a:ln xmlns:a="http://schemas.openxmlformats.org/drawingml/2006/main" w="38100" cap="rnd">
            <a:solidFill>
              <a:srgbClr val="F6C04E"/>
            </a:solidFill>
            <a:prstDash val="lgDash"/>
            <a:round/>
            <a:headEnd type="none"/>
            <a:tailEnd type="triangle" w="med" len="med"/>
          </a:ln>
        </p:spPr>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2026-09-25T16:34:52.5070000Z</dcterms:created>
  <dcterms:modified xsi:type="dcterms:W3CDTF">2026-09-25T16:34:52.5070000Z</dcterms:modified>
</coreProperties>
</file>