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a:p>
            <a:r>
              <a:t>Reactive output example: the current diagram uses turn800 of the same repeated-input checked Rust f32 control fixture archived in benchmarks/iros-2026/poster/reactive-output/turn-800.json. It is an illustrative state, not a new throughput sample or a freshly executed Mech result. Mean [98.23776245117188,55.18589401245117,-0.034165628254413605]. Covariance rows [[107.88896942138672,-28.88761329650879,-0.9072326421737671],[-28.88755226135254,19.884502410888672,0.10412274301052094],[-0.9072338342666626,0.10412327200174332,0.012010792270302773]]. Matching 2-sigma positional semiaxes [21.58926311865064,6.7080254414225955], SVG rotation 16.642502461815663 degrees. Robot heading -0.034165628254413605 radians. Independent NumPy f32 matrix-equation cross-check is recorded in the same evidence file. The scene is a local view centered on the mean with equal x/y scale. The simplified build/activation lane intentionally omits the separate AOT emission path. The embedding section continues to describe AOT. Rust logo © Rust Foundation, CC BY4.0, recolored white. Source: https://github.com/rust-lang/rust-artwork/blob/main/logo/rust-logo-single-path.svg . License: https://creativecommons.org/licenses/by/4.0/ .</a:t>
            </a:r>
          </a:p>
          <a:p>
            <a:r>
              <a:t xml:space="preserve">2026-09-25 integrated interface and poster revision: JIT excerpt from examples/embedded_ekf/main.rs; saved native bundle loader from examples/embedded_ekf/load.rs; separate AOT producer in examples/embedded_ekf/build.rs. Backend::Jit compiles scalar Cranelift code once and supports independent persistent sessions. Kernel::save_bundle saves the AOT dylib and interface metadata. Unsafe Kernel::load_bundle loads trusted matching native code without parsing, lowering, compiling or linking. The current Cargo consumer feature still includes compiler dependencies. Public Session::turn reports integrity errors without changing published state and retains updated input bindings on rejection. The Rust crate links into host applications; a generated-kernel rlib export and C++/Python wrappers are not implemented here. New wrapper operations are separately tested, not remeasured in the archived minimal-ABI dylib table. Optional predicates are omitted from the unchecked benchmark source, not disabled via a public Session flag. Benchmark evidence: benchmarks/iros-2026/MECH-BACKEND-PAIRS.md and results/apple-m1-mech-backend-pairs-n10-2026-09-25.json. SIMD AOT throughput reduction is 100*(1-34.617/37.059)=6.59%; Metal checked/unchecked difference is smaller than either MAD. These measure predicate checking, not the complete cost of reactive publication. Interpreter means fixed-shape numerical instruction interpretation, with unchanged measurements 0.695 checked and 0.828 unchecked million filter-turns/s, now displayed to one decimal. Original source and title whitespace restored from the user-supplied PowerPoint. All equations and syntax colors retained. Timeline labels Reactive Runtime and v1.0 Release Candidate, 2028 planned, and the next-year robot-hardware/deployment validation plan are supplied by the user in this revision.</a:t>
            </a:r>
          </a:p>
          <a:p>
            <a:r>
              <a:t xml:space="preserve">2026-09-25 layout revision: Mech code indentation is one Fira Code space, while import and headings retain their margin. A six-line notation key uses Mech comment syntax in the code panel's upper-right whitespace. Normalized source-character heading and local definition use matching asterisk markers. Reactive legend moved under the paragraph. Activation checks existing configured capabilities and host availability before creating the resident instance, distinct from per-turn integrity validation. Code references: src/runtime/src/runtime/builder.rs:355, src/runtime/src/runtime/program/external/admission.rs:95, src/runtime/src/runtime/program/loading.rs:401. Same-source and checked/unchecked findings promoted to body text without changing data. JIT/AOT pipeline sentence moved below charts. Avenir Next is a body-prose design comparison, with Fira Code headings/code and Segoe UI chart measurements retained.</a:t>
            </a:r>
          </a:p>
          <a:p>
            <a:r>
              <a:t>GitHub Invertocat logo: GitHub Brand Toolkit, https://brand.github.com/foundations/logo. Original white asset: https://brand.github.com/GitHub_Logos.zip.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0f6c527d4bb845b7"/><Relationship Type="http://schemas.openxmlformats.org/officeDocument/2006/relationships/image" Target="/ppt/media/image.png" Id="R62d1fdb73ec24b6f"/><Relationship Type="http://schemas.openxmlformats.org/officeDocument/2006/relationships/image" Target="/ppt/media/image.svg" Id="Ra4e8406e62434cb3"/><Relationship Type="http://schemas.openxmlformats.org/officeDocument/2006/relationships/image" Target="/ppt/media/image2.png" Id="R4e3d5f9419fb421f"/><Relationship Type="http://schemas.openxmlformats.org/officeDocument/2006/relationships/chart" Target="/ppt/slides/charts/chart1.xml" Id="Rca1ac46396b840f1"/><Relationship Type="http://schemas.openxmlformats.org/officeDocument/2006/relationships/chart" Target="/ppt/slides/charts/chart2.xml" Id="R47fedaccb9b14b88"/><Relationship Type="http://schemas.openxmlformats.org/officeDocument/2006/relationships/notesSlide" Target="/ppt/notesSlides/notesSlide1.xml" Id="Rbe9344e5789740f8"/><Relationship Type="http://schemas.openxmlformats.org/officeDocument/2006/relationships/image" Target="../media/reactive-polish-1.png" Id="rIdReactive1"/><Relationship Type="http://schemas.openxmlformats.org/officeDocument/2006/relationships/image" Target="../media/reactive-polish-2.svg" Id="rIdReactive2"/><Relationship Type="http://schemas.openxmlformats.org/officeDocument/2006/relationships/image" Target="../media/reactive-polish-3.png" Id="rIdReactive3"/><Relationship Type="http://schemas.openxmlformats.org/officeDocument/2006/relationships/image" Target="../media/reactive-polish-4.svg" Id="rIdReactive4"/><Relationship Type="http://schemas.openxmlformats.org/officeDocument/2006/relationships/image" Target="../media/reactive-turn800-1.png" Id="rIdTurn8001"/><Relationship Type="http://schemas.openxmlformats.org/officeDocument/2006/relationships/image" Target="../media/reactive-turn800-2.svg" Id="rIdTurn8002"/><Relationship Type="http://schemas.openxmlformats.org/officeDocument/2006/relationships/hyperlink" Target="https://mech-lang.org" TargetMode="External" Id="rId1"/><Relationship Type="http://schemas.openxmlformats.org/officeDocument/2006/relationships/hyperlink" Target="https://github.com/mech-lang/mech" TargetMode="External" Id="rId2"/><Relationship Type="http://schemas.openxmlformats.org/officeDocument/2006/relationships/hyperlink" Target="https://github.com/mech-lang/mech" TargetMode="External" Id="rId3"/><Relationship Type="http://schemas.openxmlformats.org/officeDocument/2006/relationships/image" Target="../media/github-invertocat-white.png" Id="rId4"/><Relationship Type="http://schemas.openxmlformats.org/officeDocument/2006/relationships/hyperlink" Target="https://mech-lang.org/iros-r4r-2026/index.html" TargetMode="External" Id="rIdPosterDemo"/></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C85E00"/>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invertIfNegative val="0"/>
          <c:dPt>
            <c:idx val="0"/>
            <c:invertIfNegative val="0"/>
            <c:spPr>
              <a:solidFill>
                <a:srgbClr val="F6C04E"/>
              </a:solidFill>
              <a:ln w="0">
                <a:noFill/>
              </a:ln>
            </c:spPr>
          </c:dPt>
          <c:dPt>
            <c:idx val="4"/>
            <c:invertIfNegative val="0"/>
            <c:spPr>
              <a:pattFill xmlns:a="http://schemas.openxmlformats.org/drawingml/2006/main" prst="upDiag">
                <a:fgClr>
                  <a:srgbClr val="D9A637"/>
                </a:fgClr>
                <a:bgClr>
                  <a:srgbClr val="F6C04E"/>
                </a:bgClr>
              </a:pattFill>
            </c:spPr>
          </c:dPt>
          <c:cat>
            <c:strRef>
              <c:f>'Chart Data'!$A$2:$A$6</c:f>
              <c:strCache>
                <c:ptCount val="5"/>
                <c:pt idx="0">
                  <c:v>Interpreter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invertIfNegative val="0"/>
          <c:dPt>
            <c:idx val="0"/>
            <c:invertIfNegative val="0"/>
            <c:spPr>
              <a:solidFill>
                <a:srgbClr val="996900"/>
              </a:solidFill>
              <a:ln w="0">
                <a:noFill/>
              </a:ln>
            </c:spPr>
          </c:dPt>
          <c:dPt>
            <c:idx val="4"/>
            <c:invertIfNegative val="0"/>
            <c:spPr>
              <a:pattFill xmlns:a="http://schemas.openxmlformats.org/drawingml/2006/main" prst="upDiag">
                <a:fgClr>
                  <a:srgbClr val="6B4A00"/>
                </a:fgClr>
                <a:bgClr>
                  <a:srgbClr val="996900"/>
                </a:bgClr>
              </a:pattFill>
            </c:spPr>
          </c:dPt>
          <c:cat>
            <c:strRef>
              <c:f>'Chart Data'!$C$2:$C$6</c:f>
              <c:strCache>
                <c:ptCount val="5"/>
                <c:pt idx="0">
                  <c:v>Interpreter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rosses val="min"/>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General" sourceLinked="0"/>
        <c:majorTickMark val="none"/>
        <c:minorTickMark val="none"/>
        <c:tickLblPos val="low"/>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esAt val="0.1"/>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xmlns:a="http://schemas.openxmlformats.org/drawing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 xml:space="preserve">A Rust-Native </a:t>
            </a:r>
            <a:r>
              <a:rPr sz="7600">
                <a:solidFill>
                  <a:srgbClr val="3DA98C"/>
                </a:solidFill>
                <a:latin typeface="Fira Code"/>
                <a:ea typeface="Fira Code"/>
                <a:cs typeface="Fira Code"/>
              </a:rPr>
              <a:t xml:space="preserve">Embeddable</a:t>
            </a:r>
            <a:r>
              <a:rPr sz="7600">
                <a:solidFill>
                  <a:srgbClr val="FFFFFF"/>
                </a:solidFill>
                <a:latin typeface="Fira Code"/>
                <a:ea typeface="Fira Code"/>
                <a:cs typeface="Fira Code"/>
              </a:rPr>
              <a:t xml:space="preserve"> </a:t>
            </a:r>
            <a:r>
              <a:rPr sz="7600">
                <a:solidFill>
                  <a:srgbClr val="D18FC8"/>
                </a:solidFill>
                <a:latin typeface="Fira Code"/>
                <a:ea typeface="Fira Code"/>
                <a:cs typeface="Fira Code"/>
              </a:rPr>
              <a:t xml:space="preserve">Reactive </a:t>
            </a:r>
          </a:p>
          <a:p xmlns:a="http://schemas.openxmlformats.org/drawingml/2006/main">
            <a:r>
              <a:rPr sz="7600">
                <a:solidFill>
                  <a:srgbClr val="80C8FF"/>
                </a:solidFill>
                <a:latin typeface="Fira Code"/>
                <a:ea typeface="Fira Code"/>
                <a:cs typeface="Fira Code"/>
              </a:rPr>
              <a:t xml:space="preserve">Numerical</a:t>
            </a:r>
            <a:r>
              <a:rPr sz="7600">
                <a:solidFill>
                  <a:srgbClr val="FFFFFF"/>
                </a:solidFill>
                <a:latin typeface="Fira Code"/>
                <a:ea typeface="Fira Code"/>
                <a:cs typeface="Fira Code"/>
              </a:rPr>
              <a:t xml:space="preserve"> Language for </a:t>
            </a:r>
          </a:p>
          <a:p xmlns:a="http://schemas.openxmlformats.org/drawingml/2006/main">
            <a:r>
              <a:rPr sz="7600">
                <a:solidFill>
                  <a:srgbClr val="F8D07B"/>
                </a:solidFill>
                <a:latin typeface="Fira Code"/>
                <a:ea typeface="Fira Code"/>
                <a:cs typeface="Fira Code"/>
              </a:rPr>
              <a:t xml:space="preserve">Heterogeneous</a:t>
            </a:r>
            <a:r>
              <a:rPr sz="7600">
                <a:solidFill>
                  <a:schemeClr val="accent2">
                    <a:lumMod val="20000"/>
                    <a:lumOff val="80000"/>
                  </a:schemeClr>
                </a:solidFill>
                <a:latin typeface="Fira Code"/>
                <a:ea typeface="Fira Code"/>
                <a:cs typeface="Fira Code"/>
              </a:rPr>
              <a:t xml:space="preserve"> </a:t>
            </a:r>
            <a:r>
              <a:rPr sz="7600">
                <a:solidFill>
                  <a:srgbClr val="FFFFFF"/>
                </a:solidFill>
                <a:latin typeface="Fira Code"/>
                <a:ea typeface="Fira Code"/>
                <a:cs typeface="Fira Code"/>
              </a:rPr>
              <a:t xml:space="preserve">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762000"/>
            <a:ext cx="0" cy="4962293"/>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hlinkClick xmlns:r="http://schemas.openxmlformats.org/officeDocument/2006/relationships" r:id="rId1"/>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7" y="4000500"/>
            <a:ext cx="7403335" cy="704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4000">
                <a:solidFill>
                  <a:srgbClr val="9EB3C2"/>
                </a:solidFill>
                <a:latin typeface="Fira Code"/>
                <a:ea typeface="Fira Code"/>
                <a:cs typeface="Fira Code"/>
              </a:defRPr>
            </a:pPr>
            <a:r>
              <a:rPr sz="4000" u="none">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1386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1652825"/>
            <a:ext cx="1476375" cy="14763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+&gt;</a:t>
            </a:r>
            <a:r>
              <a:rPr sz="2800">
                <a:solidFill>
                  <a:srgbClr val="EDDAF1"/>
                </a:solidFill>
                <a:latin typeface="Fira Code"/>
                <a:ea typeface="Fira Code"/>
                <a:cs typeface="Fira Code"/>
              </a:rPr>
              <a:t> </a:t>
            </a:r>
            <a:r>
              <a:rPr sz="2800">
                <a:solidFill>
                  <a:srgbClr val="BBDDC2"/>
                </a:solidFill>
                <a:latin typeface="Fira Code"/>
                <a:ea typeface="Fira Code"/>
                <a:cs typeface="Fira Code"/>
              </a:rPr>
              <a:t>math</a:t>
            </a:r>
            <a:r>
              <a:rPr sz="2800">
                <a:solidFill>
                  <a:srgbClr val="99CCA4"/>
                </a:solidFill>
                <a:latin typeface="Fira Code"/>
                <a:ea typeface="Fira Code"/>
                <a:cs typeface="Fira Code"/>
              </a:rPr>
              <a:t>/</a:t>
            </a:r>
            <a:r>
              <a:rPr sz="2800">
                <a:solidFill>
                  <a:srgbClr val="BBDDC2"/>
                </a:solidFill>
                <a:latin typeface="Fira Code"/>
                <a:ea typeface="Fira Code"/>
                <a:cs typeface="Fira Code"/>
              </a:rPr>
              <a:t>*</a:t>
            </a:r>
            <a:r>
              <a:rPr sz="2800">
                <a:solidFill>
                  <a:srgbClr val="99CCA4"/>
                </a:solidFill>
                <a:latin typeface="Fira Code"/>
                <a:ea typeface="Fira Code"/>
                <a:cs typeface="Fira Code"/>
              </a:rPr>
              <a:t>, </a:t>
            </a:r>
            <a:r>
              <a:rPr sz="2800">
                <a:solidFill>
                  <a:srgbClr val="BBDDC2"/>
                </a:solidFill>
                <a:latin typeface="Fira Code"/>
                <a:ea typeface="Fira Code"/>
                <a:cs typeface="Fira Code"/>
              </a:rPr>
              <a:t>logic</a:t>
            </a:r>
            <a:r>
              <a:rPr sz="2800">
                <a:solidFill>
                  <a:srgbClr val="99CCA4"/>
                </a:solidFill>
                <a:latin typeface="Fira Code"/>
                <a:ea typeface="Fira Code"/>
                <a:cs typeface="Fira Code"/>
              </a:rPr>
              <a:t>/</a:t>
            </a:r>
            <a:r>
              <a:rPr sz="2800">
                <a:solidFill>
                  <a:srgbClr val="BBDDC2"/>
                </a:solidFill>
                <a:latin typeface="Fira Code"/>
                <a:ea typeface="Fira Code"/>
                <a:cs typeface="Fira Code"/>
              </a:rPr>
              <a:t>all</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3025735" y="1438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3025735" y="1476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140 12</a:t>
            </a:r>
            <a:r>
              <a:rPr sz="2800">
                <a:solidFill>
                  <a:srgbClr val="AB7AB8"/>
                </a:solidFill>
                <a:latin typeface="Fira Code"/>
                <a:ea typeface="Fira Code"/>
                <a:cs typeface="Fira Code"/>
              </a:rPr>
              <a:t xml:space="preserve">]'</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3025735" y="1514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3025735" y="1552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0    0.0025</a:t>
            </a:r>
            <a:r>
              <a:rPr sz="2800">
                <a:solidFill>
                  <a:srgbClr val="AB7AB8"/>
                </a:solidFill>
                <a:latin typeface="Fira Code"/>
                <a:ea typeface="Fira Code"/>
                <a:cs typeface="Fira Code"/>
              </a:rPr>
              <a:t xml:space="preserve">]</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3025735" y="1590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3025735" y="1628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3025735" y="1666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3025735" y="1704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0 0 1</a:t>
            </a:r>
            <a:r>
              <a:rPr sz="2800">
                <a:solidFill>
                  <a:srgbClr val="AB7AB8"/>
                </a:solidFill>
                <a:latin typeface="Fira Code"/>
                <a:ea typeface="Fira Code"/>
                <a:cs typeface="Fira Code"/>
              </a:rPr>
              <a:t xml:space="preserve">]</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3025735" y="1743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55 25 0.4</a:t>
            </a:r>
            <a:r>
              <a:rPr sz="2800">
                <a:solidFill>
                  <a:srgbClr val="AB7AB8"/>
                </a:solidFill>
                <a:latin typeface="Fira Code"/>
                <a:ea typeface="Fira Code"/>
                <a:cs typeface="Fira Code"/>
              </a:rPr>
              <a:t xml:space="preserve">]’</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3025735" y="1781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100 0   0</a:t>
            </a:r>
            <a:r>
              <a:rPr sz="2800">
                <a:solidFill>
                  <a:srgbClr val="9BC7F3"/>
                </a:solidFill>
                <a:latin typeface="Fira Code"/>
                <a:ea typeface="Fira Code"/>
                <a:cs typeface="Fira Code"/>
              </a:rPr>
              <a:t xml:space="preserve">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3025735" y="1819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3025735" y="1857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0   0   0.15</a:t>
            </a:r>
            <a:r>
              <a:rPr sz="2800">
                <a:solidFill>
                  <a:srgbClr val="AB7AB8"/>
                </a:solidFill>
                <a:latin typeface="Fira Code"/>
                <a:ea typeface="Fira Code"/>
                <a:cs typeface="Fira Code"/>
              </a:rPr>
              <a:t xml:space="preserve">]</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3025735" y="2009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θ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3025735" y="2047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3025735" y="2085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1 0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AB7AB8"/>
                </a:solidFill>
                <a:latin typeface="Fira Code"/>
                <a:ea typeface="Fira Code"/>
                <a:cs typeface="Fira Code"/>
              </a:rPr>
              <a:t xml:space="preserve">)</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3025735" y="2124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0 1</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3025735" y="2162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0 0 1</a:t>
            </a:r>
            <a:r>
              <a:rPr sz="2800">
                <a:solidFill>
                  <a:srgbClr val="AB7AB8"/>
                </a:solidFill>
                <a:latin typeface="Fira Code"/>
                <a:ea typeface="Fira Code"/>
                <a:cs typeface="Fira Code"/>
              </a:rPr>
              <a:t xml:space="preserve">]</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3025735" y="2200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V </a:t>
            </a:r>
            <a:r>
              <a:rPr sz="2800">
                <a:solidFill>
                  <a:srgbClr val="AB7AB8"/>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3025735" y="2238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3025735" y="2276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3025735" y="2352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3025735" y="2390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3025735" y="2428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ω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3025735" y="2466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a:t>
            </a:r>
            <a:r>
              <a:rPr sz="2800">
                <a:solidFill>
                  <a:srgbClr val="AB7AB8"/>
                </a:solidFill>
                <a:latin typeface="Fira Code"/>
                <a:ea typeface="Fira Code"/>
                <a:cs typeface="Fira Code"/>
              </a:rPr>
              <a:t xml:space="preserve">'</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3025735" y="2619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3025735" y="2657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3025735" y="2695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3025735" y="2733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3025735" y="2809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3025735" y="2847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3025735" y="2886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ν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3025735" y="2962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H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3025735" y="3000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S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3025735" y="3038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S</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3025735" y="3076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3025735" y="313372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3025735" y="317182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A</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099250"/>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3025735" y="3228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3025735" y="3267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52475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offers a concrete syntax for typed matrix equations, illustrated by the bearing-only EKF below.</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8572500"/>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The kernel is shorter than both the textbook-style Rust implementation and the SIMD Rust implementation. SIMD Rust adds vector and batch support, while Mech reuses one numerical kernel across backends.</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0572750"/>
            <a:ext cx="9525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compiles this syntax to a typed dataflow artifact that can run in a nalgebra-based interpreter or compile for different host architectures without source changes or backend-specific annotations.</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D0DEE6"/>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D0DEE6"/>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D0DEE6"/>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D0DEE6"/>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D0DEE6"/>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D0DEE6"/>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7719000"/>
            <a:ext cx="9525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The EKF and candidate update alone use about three times as many normalized characters in Rust (1,024 or 1,119) as in Mech (356), before counting helpers or batching.</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39195375"/>
            <a:ext cx="9525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SIMD and batch support adds 2,857 characters, over half the Rust SIMD source. Mech handles these operations in reusable compiler and runtime components.</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2945725" y="41148000"/>
            <a:ext cx="93440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734675"/>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782425"/>
            <a:ext cx="20716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runs standalone or embeds in Rust, from a single numerical function to a reactive subsystem. Rust hosts can compile Mech source or load a dylib, and browser applications can embed it through WebAssembly.</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29254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JIT compilation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592175"/>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782675"/>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rPr sz="2500">
                <a:solidFill>
                  <a:srgbClr val="AB7AB8"/>
                </a:solidFill>
                <a:latin typeface="Fira Code"/>
                <a:ea typeface="Fira Code"/>
                <a:cs typeface="Fira Code"/>
              </a:rPr>
              <a:t xml:space="preserve">use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mech</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EDDAF1"/>
                </a:solidFill>
                <a:latin typeface="Fira Code"/>
                <a:ea typeface="Fira Code"/>
                <a:cs typeface="Fira Code"/>
              </a:rPr>
              <a:t xml:space="preserve">}</a:t>
            </a:r>
            <a:r>
              <a:rPr sz="2500">
                <a:solidFill>
                  <a:srgbClr val="AB7AB8"/>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source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include_str!</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"ekf.mec"</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mech</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mech!</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source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input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0.55</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export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compile</a:t>
            </a:r>
            <a:r>
              <a:rPr sz="2500">
                <a:solidFill>
                  <a:srgbClr val="99CCA4"/>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Jit</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AB7AB8"/>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mut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start</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AB7AB8"/>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turn</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0.54</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AB7AB8"/>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state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AB7AB8"/>
                </a:solidFill>
                <a:latin typeface="Fira Code"/>
                <a:ea typeface="Fira Code"/>
                <a:cs typeface="Fira Code"/>
              </a:rPr>
              <a:t xml:space="preserve">;</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630775"/>
            <a:ext cx="9810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Compile Mech source from a file or inline macro, then submit updates as they arrive. Calls run synchronously.</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2925425"/>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Checked dylibs</a:t>
            </a:r>
          </a:p>
        </p:txBody>
      </p:sp>
      <p:graphicFrame>
        <p:nvGraphicFramePr>
          <p:cNvPr id="623" name=""/>
          <p:cNvGraphicFramePr/>
          <p:nvPr/>
        </p:nvGraphicFramePr>
        <p:xfrm>
          <a:off xmlns:a="http://schemas.openxmlformats.org/drawingml/2006/main" x="11525250" y="13592175"/>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D0DEE6"/>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D0DEE6"/>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D0DEE6"/>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6116300"/>
            <a:ext cx="1014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Load an AOT library</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8164175"/>
            <a:ext cx="1014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The bundle stores the dylib and metadata for named inputs, exported state and initial values.</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902142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2006917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models robot feedback loops over continuous sensor streams from Rust host drivers, through direct interfaces or ROS. Each update triggers a turn that computes and validates candidate state. Rejection notifies the caller and preserves prior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2050375"/>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307425"/>
            <a:ext cx="5143500" cy="2571750"/>
          </a:xfrm>
          <a:prstGeom xmlns:a="http://schemas.openxmlformats.org/drawingml/2006/main" prst="rect">
            <a:avLst/>
          </a:prstGeom>
          <a:noFill xmlns:a="http://schemas.openxmlformats.org/drawingml/2006/main"/>
          <a:ln xmlns:a="http://schemas.openxmlformats.org/drawingml/2006/main" w="28575">
            <a:solidFill>
              <a:srgbClr val="CD8DCA"/>
            </a:solidFill>
            <a:prstDash val="dot"/>
          </a:ln>
        </p:spPr>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49792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926050" y="21259800"/>
            <a:ext cx="37433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Activation checks host availability and capabilities (resource permissions).</a:t>
            </a:r>
          </a:p>
        </p:txBody>
      </p: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6987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575000"/>
            <a:ext cx="20716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Mech’s typed graph targets CPU/GPU and WebAssembly/WGPU. The right chart runs the same f32 EKF on five backends without source changes. Integrity checks add cost but can be disabled to increase throughput. The left chart compares a similar workload across languages used for numerical computing.</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00375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003750"/>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0527625"/>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A4BAC8"/>
                </a:solidFill>
                <a:latin typeface="Avenir Next"/>
                <a:ea typeface="Avenir Next"/>
                <a:cs typeface="Avenir Next"/>
              </a:defRPr>
            </a:pPr>
            <a:r>
              <a:rPr sz="1800" b="0">
                <a:solidFill>
                  <a:srgbClr val="A4BAC8"/>
                </a:solidFill>
                <a:latin typeface="Avenir Next"/>
                <a:ea typeface="Avenir Next"/>
                <a:cs typeface="Avenir Next"/>
              </a:rPr>
              <a:t>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05276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A4BAC8"/>
                </a:solidFill>
                <a:latin typeface="Avenir Next"/>
                <a:ea typeface="Avenir Next"/>
                <a:cs typeface="Avenir Next"/>
              </a:defRPr>
            </a:pPr>
            <a:r>
              <a:rPr sz="1800" b="0">
                <a:solidFill>
                  <a:srgbClr val="A4BAC8"/>
                </a:solidFill>
                <a:latin typeface="Avenir Next"/>
                <a:ea typeface="Avenir Next"/>
                <a:cs typeface="Avenir Next"/>
              </a:rPr>
              <a:t>Median ± MAD</a:t>
            </a:r>
          </a:p>
        </p:txBody>
      </p:sp>
      <p:graphicFrame>
        <p:nvGraphicFramePr>
          <p:cNvPr id="681" name="Chart"/>
          <p:cNvGraphicFramePr/>
          <p:nvPr/>
        </p:nvGraphicFramePr>
        <p:xfrm>
          <a:off xmlns:a="http://schemas.openxmlformats.org/drawingml/2006/main" x="809625" y="30908625"/>
          <a:ext xmlns:a="http://schemas.openxmlformats.org/drawingml/2006/main" cx="10096500" cy="4572000"/>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5718750"/>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56044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5718750"/>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56044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checked (bottom)</a:t>
            </a:r>
          </a:p>
        </p:txBody>
      </p:sp>
      <p:graphicFrame>
        <p:nvGraphicFramePr>
          <p:cNvPr id="686" name="Chart"/>
          <p:cNvGraphicFramePr/>
          <p:nvPr/>
        </p:nvGraphicFramePr>
        <p:xfrm>
          <a:off xmlns:a="http://schemas.openxmlformats.org/drawingml/2006/main" x="11572875" y="30908625"/>
          <a:ext xmlns:a="http://schemas.openxmlformats.org/drawingml/2006/main" cx="10096500" cy="4572000"/>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450816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426233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3881280"/>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363544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325439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300855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262750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238166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000613"/>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1754775"/>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137372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127885"/>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907250" y="3446053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0.7</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907250" y="34165533"/>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0.8</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907250" y="3370827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13.2</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907250" y="334132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15.9</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907250" y="3295600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34.6</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907250" y="3266099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37.1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907250" y="32203738"/>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121.1</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907250" y="3190873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141.6</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907250" y="3145147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420.9</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907250" y="311564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420.7</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906250" y="35604450"/>
            <a:ext cx="9763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1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SIMD JIT and AOT share the numerical compilation pipeline.</a:t>
            </a:r>
          </a:p>
          <a:p xmlns:a="http://schemas.openxmlformats.org/drawingml/2006/main">
            <a:pPr algn="l">
              <a:lnSpc>
                <a:spcPts val="21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1w/8w: one/eight workers. Worker scaling depends on host support.</a:t>
            </a:r>
          </a:p>
          <a:p xmlns:a="http://schemas.openxmlformats.org/drawingml/2006/main">
            <a:pPr algn="l">
              <a:lnSpc>
                <a:spcPts val="21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Performance specialists may further optimize these implementations.</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63855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7290375"/>
            <a:ext cx="20716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v0.4-beta needs further validation and hardening. Over the next year, we plan to expand research-robot deployments and use feedback from users to guide work on additional hosts, an expanded standard library and language features. A v1.0 release candidate is planned for 2028.</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389953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389953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389953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389953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3899535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3899535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3899535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88239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893820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Reactive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00"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88239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88239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Candidate</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0986075"/>
            <a:ext cx="2071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6C04E"/>
                </a:solidFill>
                <a:latin typeface="Avenir Next"/>
                <a:ea typeface="Avenir Next"/>
                <a:cs typeface="Avenir Next"/>
              </a:defRPr>
            </a:pPr>
            <a:r>
              <a:rPr sz="1800" b="0">
                <a:solidFill>
                  <a:srgbClr val="F6C04E"/>
                </a:solidFill>
                <a:latin typeface="Avenir Next"/>
                <a:ea typeface="Avenir Next"/>
                <a:cs typeface="Avenir Next"/>
              </a:rPr>
              <a:t>Experience this poster as a live reactive program: CPU/WGPU in WebAssembly.</a:t>
            </a:r>
          </a:p>
        </p:txBody>
      </p: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810125" y="24831675"/>
            <a:ext cx="5810250" cy="25241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cxnSp>
        <p:nvCxnSpPr>
          <p:cNvPr id="756" name="Build source to compiler"/>
          <p:cNvCxnSpPr>
            <a:stCxn xmlns:a="http://schemas.openxmlformats.org/drawingml/2006/main" id="196" idx="3"/>
            <a:endCxn xmlns:a="http://schemas.openxmlformats.org/drawingml/2006/main" id="197" idx="1"/>
          </p:cNvCxnSpPr>
          <p:nvPr/>
        </p:nvCxnSpPr>
        <p:spPr>
          <a:xfrm xmlns:a="http://schemas.openxmlformats.org/drawingml/2006/main">
            <a:off x="3619500" y="23045738"/>
            <a:ext cx="666750" cy="0"/>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57" name="Compiler to program artifact"/>
          <p:cNvCxnSpPr>
            <a:stCxn xmlns:a="http://schemas.openxmlformats.org/drawingml/2006/main" id="197" idx="3"/>
            <a:endCxn xmlns:a="http://schemas.openxmlformats.org/drawingml/2006/main" id="198" idx="1"/>
          </p:cNvCxnSpPr>
          <p:nvPr/>
        </p:nvCxnSpPr>
        <p:spPr>
          <a:xfrm xmlns:a="http://schemas.openxmlformats.org/drawingml/2006/main">
            <a:off x="7524750" y="23045738"/>
            <a:ext cx="381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8" name="Artifact to activation"/>
          <p:cNvCxnSpPr>
            <a:stCxn xmlns:a="http://schemas.openxmlformats.org/drawingml/2006/main" id="198" idx="3"/>
            <a:endCxn xmlns:a="http://schemas.openxmlformats.org/drawingml/2006/main" id="199" idx="1"/>
          </p:cNvCxnSpPr>
          <p:nvPr/>
        </p:nvCxnSpPr>
        <p:spPr>
          <a:xfrm xmlns:a="http://schemas.openxmlformats.org/drawingml/2006/main" flipV="1">
            <a:off x="12382500" y="23045738"/>
            <a:ext cx="9525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9" name="Activation to resident instance"/>
          <p:cNvCxnSpPr>
            <a:stCxn xmlns:a="http://schemas.openxmlformats.org/drawingml/2006/main" id="199" idx="3"/>
            <a:endCxn xmlns:a="http://schemas.openxmlformats.org/drawingml/2006/main" id="200" idx="1"/>
          </p:cNvCxnSpPr>
          <p:nvPr/>
        </p:nvCxnSpPr>
        <p:spPr>
          <a:xfrm xmlns:a="http://schemas.openxmlformats.org/drawingml/2006/main">
            <a:off x="17335500" y="23045738"/>
            <a:ext cx="6667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60" name="Artifact encode and decode"/>
          <p:cNvCxnSpPr>
            <a:stCxn xmlns:a="http://schemas.openxmlformats.org/drawingml/2006/main" id="193" idx="2"/>
            <a:endCxn xmlns:a="http://schemas.openxmlformats.org/drawingml/2006/main" id="198" idx="0"/>
          </p:cNvCxnSpPr>
          <p:nvPr/>
        </p:nvCxnSpPr>
        <p:spPr>
          <a:xfrm xmlns:a="http://schemas.openxmlformats.org/drawingml/2006/main">
            <a:off x="10144125" y="22069425"/>
            <a:ext cx="0" cy="357188"/>
          </a:xfrm>
          <a:prstGeom xmlns:a="http://schemas.openxmlformats.org/drawingml/2006/main" prst="straightConnector1">
            <a:avLst/>
          </a:prstGeom>
          <a:ln xmlns:a="http://schemas.openxmlformats.org/drawingml/2006/main" w="38100">
            <a:solidFill>
              <a:srgbClr val="7FC7FF"/>
            </a:solidFill>
            <a:headEnd type="triangle" w="med" len="med"/>
            <a:tailEnd type="triangle" w="med" len="med"/>
          </a:ln>
        </p:spPr>
      </p:cxnSp>
      <p:cxnSp>
        <p:nvCxnSpPr>
          <p:cNvPr id="761" name="Configuration to activation"/>
          <p:cNvCxnSpPr>
            <a:stCxn xmlns:a="http://schemas.openxmlformats.org/drawingml/2006/main" id="194" idx="2"/>
            <a:endCxn xmlns:a="http://schemas.openxmlformats.org/drawingml/2006/main" id="199" idx="0"/>
          </p:cNvCxnSpPr>
          <p:nvPr/>
        </p:nvCxnSpPr>
        <p:spPr>
          <a:xfrm xmlns:a="http://schemas.openxmlformats.org/drawingml/2006/main">
            <a:off x="15335250" y="22069425"/>
            <a:ext cx="0" cy="571500"/>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70" name="EKF prediction to correction"/>
          <p:cNvCxnSpPr>
            <a:stCxn xmlns:a="http://schemas.openxmlformats.org/drawingml/2006/main" id="217" idx="2"/>
            <a:endCxn xmlns:a="http://schemas.openxmlformats.org/drawingml/2006/main" id="218" idx="0"/>
          </p:cNvCxnSpPr>
          <p:nvPr/>
        </p:nvCxnSpPr>
        <p:spPr>
          <a:xfrm xmlns:a="http://schemas.openxmlformats.org/drawingml/2006/main">
            <a:off x="7715250" y="25898475"/>
            <a:ext cx="0" cy="171450"/>
          </a:xfrm>
          <a:prstGeom xmlns:a="http://schemas.openxmlformats.org/drawingml/2006/main" prst="straightConnector1">
            <a:avLst/>
          </a:prstGeom>
          <a:ln xmlns:a="http://schemas.openxmlformats.org/drawingml/2006/main" w="38100">
            <a:solidFill>
              <a:srgbClr val="A4BAC8"/>
            </a:solidFill>
            <a:tailEnd type="triangle" w="med" len="med"/>
          </a:ln>
        </p:spPr>
      </p:cxnSp>
      <p:cxnSp>
        <p:nvCxnSpPr>
          <p:cNvPr id="771" name="Correction to pose mapping"/>
          <p:cNvCxnSpPr>
            <a:stCxn xmlns:a="http://schemas.openxmlformats.org/drawingml/2006/main" id="218" idx="2"/>
            <a:endCxn xmlns:a="http://schemas.openxmlformats.org/drawingml/2006/main" id="219" idx="0"/>
          </p:cNvCxnSpPr>
          <p:nvPr/>
        </p:nvCxnSpPr>
        <p:spPr>
          <a:xfrm xmlns:a="http://schemas.openxmlformats.org/drawingml/2006/main" rot="5400000">
            <a:off x="6869906" y="25958006"/>
            <a:ext cx="333375" cy="1357313"/>
          </a:xfrm>
          <a:prstGeom xmlns:a="http://schemas.openxmlformats.org/drawingml/2006/main" prst="curvedConnector3">
            <a:avLst>
              <a:gd name="adj1" fmla="val 50000"/>
            </a:avLst>
          </a:prstGeom>
          <a:ln xmlns:a="http://schemas.openxmlformats.org/drawingml/2006/main" w="38100">
            <a:solidFill>
              <a:srgbClr val="A4BAC8"/>
            </a:solidFill>
            <a:tailEnd type="triangle" w="med" len="med"/>
          </a:ln>
        </p:spPr>
      </p:cxnSp>
      <p:cxnSp>
        <p:nvCxnSpPr>
          <p:cNvPr id="772" name="Correction to covariance mapping"/>
          <p:cNvCxnSpPr>
            <a:stCxn xmlns:a="http://schemas.openxmlformats.org/drawingml/2006/main" id="218" idx="2"/>
            <a:endCxn xmlns:a="http://schemas.openxmlformats.org/drawingml/2006/main" id="220" idx="0"/>
          </p:cNvCxnSpPr>
          <p:nvPr/>
        </p:nvCxnSpPr>
        <p:spPr>
          <a:xfrm xmlns:a="http://schemas.openxmlformats.org/drawingml/2006/main" rot="16200000" flipH="1">
            <a:off x="8227219" y="25958006"/>
            <a:ext cx="333375" cy="1357313"/>
          </a:xfrm>
          <a:prstGeom xmlns:a="http://schemas.openxmlformats.org/drawingml/2006/main" prst="curvedConnector3">
            <a:avLst>
              <a:gd name="adj1" fmla="val 50000"/>
            </a:avLst>
          </a:prstGeom>
          <a:ln xmlns:a="http://schemas.openxmlformats.org/drawingml/2006/main" w="38100">
            <a:solidFill>
              <a:srgbClr val="A4BAC8"/>
            </a:solidFill>
            <a:tailEnd type="triangle" w="med" len="med"/>
          </a:ln>
        </p:spPr>
      </p:cxnSp>
      <p:cxnSp>
        <p:nvCxnSpPr>
          <p:cNvPr id="773" name="Host drivers to resident computation"/>
          <p:cNvCxnSpPr>
            <a:stCxn xmlns:a="http://schemas.openxmlformats.org/drawingml/2006/main" id="213" idx="3"/>
            <a:endCxn xmlns:a="http://schemas.openxmlformats.org/drawingml/2006/main" id="215" idx="1"/>
          </p:cNvCxnSpPr>
          <p:nvPr/>
        </p:nvCxnSpPr>
        <p:spPr>
          <a:xfrm xmlns:a="http://schemas.openxmlformats.org/drawingml/2006/main" flipV="1">
            <a:off x="4000500" y="26093738"/>
            <a:ext cx="809625" cy="1"/>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74" name="Resident computation to validation"/>
          <p:cNvCxnSpPr>
            <a:stCxn xmlns:a="http://schemas.openxmlformats.org/drawingml/2006/main" id="215" idx="3"/>
            <a:endCxn xmlns:a="http://schemas.openxmlformats.org/drawingml/2006/main" id="224" idx="1"/>
          </p:cNvCxnSpPr>
          <p:nvPr/>
        </p:nvCxnSpPr>
        <p:spPr>
          <a:xfrm xmlns:a="http://schemas.openxmlformats.org/drawingml/2006/main">
            <a:off x="10620375" y="26093738"/>
            <a:ext cx="762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5" name="Accepted candidate to publication"/>
          <p:cNvCxnSpPr>
            <a:stCxn xmlns:a="http://schemas.openxmlformats.org/drawingml/2006/main" id="224" idx="3"/>
            <a:endCxn xmlns:a="http://schemas.openxmlformats.org/drawingml/2006/main" id="225" idx="1"/>
          </p:cNvCxnSpPr>
          <p:nvPr/>
        </p:nvCxnSpPr>
        <p:spPr>
          <a:xfrm xmlns:a="http://schemas.openxmlformats.org/drawingml/2006/main">
            <a:off x="13906500" y="26093738"/>
            <a:ext cx="8572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76" name="Rejected candidate"/>
          <p:cNvCxnSpPr>
            <a:stCxn xmlns:a="http://schemas.openxmlformats.org/drawingml/2006/main" id="224" idx="3"/>
            <a:endCxn xmlns:a="http://schemas.openxmlformats.org/drawingml/2006/main" id="230" idx="1"/>
          </p:cNvCxnSpPr>
          <p:nvPr/>
        </p:nvCxnSpPr>
        <p:spPr>
          <a:xfrm xmlns:a="http://schemas.openxmlformats.org/drawingml/2006/main" rot="16200000" flipH="1">
            <a:off x="13769578" y="26230660"/>
            <a:ext cx="1131094" cy="857250"/>
          </a:xfrm>
          <a:prstGeom xmlns:a="http://schemas.openxmlformats.org/drawingml/2006/main" prst="curvedConnector3">
            <a:avLst>
              <a:gd name="adj1" fmla="val 50000"/>
            </a:avLst>
          </a:prstGeom>
          <a:ln xmlns:a="http://schemas.openxmlformats.org/drawingml/2006/main" w="38100">
            <a:solidFill>
              <a:srgbClr val="EF948D"/>
            </a:solidFill>
            <a:tailEnd type="triangle" w="med" len="med"/>
          </a:ln>
        </p:spPr>
      </p:cxnSp>
      <p:cxnSp>
        <p:nvCxnSpPr>
          <p:cNvPr id="777" name="Publication to numeric state"/>
          <p:cNvCxnSpPr>
            <a:stCxn xmlns:a="http://schemas.openxmlformats.org/drawingml/2006/main" id="225" idx="3"/>
            <a:endCxn xmlns:a="http://schemas.openxmlformats.org/drawingml/2006/main" id="233" idx="1"/>
          </p:cNvCxnSpPr>
          <p:nvPr/>
        </p:nvCxnSpPr>
        <p:spPr>
          <a:xfrm xmlns:a="http://schemas.openxmlformats.org/drawingml/2006/main" rot="5400000">
            <a:off x="17499806" y="25496044"/>
            <a:ext cx="528638" cy="666750"/>
          </a:xfrm>
          <a:prstGeom xmlns:a="http://schemas.openxmlformats.org/drawingml/2006/main" prst="curvedConnector3">
            <a:avLst>
              <a:gd name="adj1" fmla="val 50000"/>
            </a:avLst>
          </a:prstGeom>
          <a:ln xmlns:a="http://schemas.openxmlformats.org/drawingml/2006/main" w="38100">
            <a:solidFill>
              <a:srgbClr val="33AB94"/>
            </a:solidFill>
            <a:tailEnd type="triangle" w="med" len="med"/>
          </a:ln>
        </p:spPr>
      </p:cxnSp>
      <p:cxnSp>
        <p:nvCxnSpPr>
          <p:cNvPr id="778" name="Publication to SVG output"/>
          <p:cNvCxnSpPr>
            <a:stCxn xmlns:a="http://schemas.openxmlformats.org/drawingml/2006/main" id="225" idx="3"/>
            <a:endCxn xmlns:a="http://schemas.openxmlformats.org/drawingml/2006/main" id="234" idx="1"/>
          </p:cNvCxnSpPr>
          <p:nvPr/>
        </p:nvCxnSpPr>
        <p:spPr>
          <a:xfrm xmlns:a="http://schemas.openxmlformats.org/drawingml/2006/main" rot="16200000" flipH="1">
            <a:off x="17247394" y="26277094"/>
            <a:ext cx="1033462" cy="666750"/>
          </a:xfrm>
          <a:prstGeom xmlns:a="http://schemas.openxmlformats.org/drawingml/2006/main" prst="curvedConnector3">
            <a:avLst>
              <a:gd name="adj1" fmla="val 50000"/>
            </a:avLst>
          </a:prstGeom>
          <a:ln xmlns:a="http://schemas.openxmlformats.org/drawingml/2006/main" w="38100">
            <a:solidFill>
              <a:srgbClr val="33AB94"/>
            </a:solidFill>
            <a:tailEnd type="triangle" w="med" len="med"/>
          </a:ln>
        </p:spPr>
      </p:cxn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49792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640925"/>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640925"/>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Mech compiler</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426613"/>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640925"/>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640925"/>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computation</a:t>
            </a:r>
          </a:p>
        </p:txBody>
      </p: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477500" y="2211705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411730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474613"/>
            <a:ext cx="3048000" cy="123825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5048250" y="249745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5095875" y="25498425"/>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5095875" y="26069925"/>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5095875" y="26803350"/>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robot pose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810500" y="26803350"/>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382375" y="25665113"/>
            <a:ext cx="2524125"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4763750" y="25665113"/>
            <a:ext cx="2667000"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 record</a:t>
            </a:r>
          </a:p>
        </p:txBody>
      </p: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039850" y="2527935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4763750" y="26855738"/>
            <a:ext cx="2667000" cy="738188"/>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retain prior state</a:t>
            </a:r>
          </a:p>
        </p:txBody>
      </p: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4039850" y="2735580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F948D"/>
                </a:solidFill>
                <a:latin typeface="Fira Code"/>
                <a:ea typeface="Fira Code"/>
                <a:cs typeface="Fira Code"/>
              </a:defRPr>
            </a:pPr>
            <a:r>
              <a:rPr sz="1875" b="1">
                <a:solidFill>
                  <a:srgbClr val="EF948D"/>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8097500" y="24736425"/>
            <a:ext cx="3571875" cy="16573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8097500" y="26593800"/>
            <a:ext cx="3571875" cy="10668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764" name="Rust host driver label">
            <a:extLst xmlns:a="http://schemas.openxmlformats.org/drawingml/2006/main">
              <a:ext uri="{FF2B5EF4-FFF2-40B4-BE49-F238E27FC236}">
                <a16:creationId xmlns:a16="http://schemas.microsoft.com/office/drawing/2014/main" id="{99884F59-710C-42D6-BA3A-AD291B72AC57}"/>
              </a:ext>
            </a:extLst>
          </p:cNvPr>
          <p:cNvSpPr>
            <a:spLocks xmlns:a="http://schemas.openxmlformats.org/drawingml/2006/main" noGrp="1"/>
          </p:cNvSpPr>
          <p:nvPr/>
        </p:nvSpPr>
        <p:spPr>
          <a:xfrm xmlns:a="http://schemas.openxmlformats.org/drawingml/2006/main">
            <a:off x="1933575" y="25688925"/>
            <a:ext cx="1952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Rust host</a:t>
            </a:r>
          </a:p>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drivers</a:t>
            </a:r>
          </a:p>
        </p:txBody>
      </p:sp>
      <p:sp>
        <p:nvSpPr>
          <p:cNvPr id="765" name="Example state title">
            <a:extLst xmlns:a="http://schemas.openxmlformats.org/drawingml/2006/main">
              <a:ext uri="{FF2B5EF4-FFF2-40B4-BE49-F238E27FC236}">
                <a16:creationId xmlns:a16="http://schemas.microsoft.com/office/drawing/2014/main" id="{9E789A6C-08FA-4AA7-81A1-62BBB9C5A5D5}"/>
              </a:ext>
            </a:extLst>
          </p:cNvPr>
          <p:cNvSpPr>
            <a:spLocks xmlns:a="http://schemas.openxmlformats.org/drawingml/2006/main" noGrp="1"/>
          </p:cNvSpPr>
          <p:nvPr/>
        </p:nvSpPr>
        <p:spPr>
          <a:xfrm xmlns:a="http://schemas.openxmlformats.org/drawingml/2006/main">
            <a:off x="18249900" y="248126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EKF state telemetry</a:t>
            </a:r>
          </a:p>
        </p:txBody>
      </p:sp>
      <p:sp>
        <p:nvSpPr>
          <p:cNvPr id="766" name="Example mean">
            <a:extLst xmlns:a="http://schemas.openxmlformats.org/drawingml/2006/main">
              <a:ext uri="{FF2B5EF4-FFF2-40B4-BE49-F238E27FC236}">
                <a16:creationId xmlns:a16="http://schemas.microsoft.com/office/drawing/2014/main" id="{C3A0A394-0496-46F3-A6A0-3E4EE16B7561}"/>
              </a:ext>
            </a:extLst>
          </p:cNvPr>
          <p:cNvSpPr>
            <a:spLocks xmlns:a="http://schemas.openxmlformats.org/drawingml/2006/main" noGrp="1"/>
          </p:cNvSpPr>
          <p:nvPr/>
        </p:nvSpPr>
        <p:spPr>
          <a:xfrm xmlns:a="http://schemas.openxmlformats.org/drawingml/2006/main">
            <a:off x="18249900" y="25165050"/>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E8EDF0"/>
                </a:solidFill>
                <a:latin typeface="Fira Code"/>
                <a:ea typeface="Fira Code"/>
                <a:cs typeface="Fira Code"/>
              </a:defRPr>
            </a:pPr>
            <a:r>
              <a:rPr sz="1575" b="0">
                <a:solidFill>
                  <a:srgbClr val="E8EDF0"/>
                </a:solidFill>
                <a:latin typeface="Fira Code"/>
                <a:ea typeface="Fira Code"/>
                <a:cs typeface="Fira Code"/>
              </a:rPr>
              <a:t>μ = [98.24, 55.19, -0.034]</a:t>
            </a:r>
          </a:p>
        </p:txBody>
      </p:sp>
      <p:sp>
        <p:nvSpPr>
          <p:cNvPr id="767" name="Example covariance">
            <a:extLst xmlns:a="http://schemas.openxmlformats.org/drawingml/2006/main">
              <a:ext uri="{FF2B5EF4-FFF2-40B4-BE49-F238E27FC236}">
                <a16:creationId xmlns:a16="http://schemas.microsoft.com/office/drawing/2014/main" id="{4D815B09-A014-411D-B8E4-1606403A0AB9}"/>
              </a:ext>
            </a:extLst>
          </p:cNvPr>
          <p:cNvSpPr>
            <a:spLocks xmlns:a="http://schemas.openxmlformats.org/drawingml/2006/main" noGrp="1"/>
          </p:cNvSpPr>
          <p:nvPr/>
        </p:nvSpPr>
        <p:spPr>
          <a:xfrm xmlns:a="http://schemas.openxmlformats.org/drawingml/2006/main">
            <a:off x="18249900" y="25498425"/>
            <a:ext cx="3267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Σ = [107.89 −28.89 −0.907</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−28.89  19.88  0.104</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−0.907  0.104  0.012]</a:t>
            </a:r>
          </a:p>
        </p:txBody>
      </p:sp>
      <p:sp>
        <p:nvSpPr>
          <p:cNvPr id="768" name="SVG scene label">
            <a:extLst xmlns:a="http://schemas.openxmlformats.org/drawingml/2006/main">
              <a:ext uri="{FF2B5EF4-FFF2-40B4-BE49-F238E27FC236}">
                <a16:creationId xmlns:a16="http://schemas.microsoft.com/office/drawing/2014/main" id="{C0E01B3C-D4C8-4AFF-AAFC-18B7FC49F359}"/>
              </a:ext>
            </a:extLst>
          </p:cNvPr>
          <p:cNvSpPr>
            <a:spLocks xmlns:a="http://schemas.openxmlformats.org/drawingml/2006/main" noGrp="1"/>
          </p:cNvSpPr>
          <p:nvPr/>
        </p:nvSpPr>
        <p:spPr>
          <a:xfrm xmlns:a="http://schemas.openxmlformats.org/drawingml/2006/main">
            <a:off x="18440400" y="266890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SVG scene</a:t>
            </a:r>
          </a:p>
        </p:txBody>
      </p:sp>
      <p:sp>
        <p:nvSpPr>
          <p:cNvPr id="769" name="SVG scene explanation">
            <a:extLst xmlns:a="http://schemas.openxmlformats.org/drawingml/2006/main">
              <a:ext uri="{FF2B5EF4-FFF2-40B4-BE49-F238E27FC236}">
                <a16:creationId xmlns:a16="http://schemas.microsoft.com/office/drawing/2014/main" id="{6701A4FB-8DB9-48AD-A03F-EE3087CC9EBC}"/>
              </a:ext>
            </a:extLst>
          </p:cNvPr>
          <p:cNvSpPr>
            <a:spLocks xmlns:a="http://schemas.openxmlformats.org/drawingml/2006/main" noGrp="1"/>
          </p:cNvSpPr>
          <p:nvPr/>
        </p:nvSpPr>
        <p:spPr>
          <a:xfrm xmlns:a="http://schemas.openxmlformats.org/drawingml/2006/main">
            <a:off x="18440400" y="27022425"/>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Pose and 2σ</a:t>
            </a:r>
          </a:p>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position ellipse</a:t>
            </a:r>
          </a:p>
        </p:txBody>
      </p:sp>
      <p:pic>
        <p:nvPicPr>
          <p:cNvPr id="779" name="White Rust logo"/>
          <p:cNvPicPr>
            <a:picLocks xmlns:a="http://schemas.openxmlformats.org/drawingml/2006/main" noChangeAspect="1"/>
          </p:cNvPicPr>
          <p:nvPr/>
        </p:nvPicPr>
        <p:blipFill>
          <a:blip xmlns:r="http://schemas.openxmlformats.org/officeDocument/2006/relationships" xmlns:a="http://schemas.openxmlformats.org/drawingml/2006/main" r:embed="rIdReactive1">
            <a:extLst>
              <a:ext uri="{96DAC541-7B7A-43D3-8B79-37D633B846F1}">
                <asvg:svgBlip xmlns:asvg="http://schemas.microsoft.com/office/drawing/2016/SVG/main" r:embed="rIdReactive2"/>
              </a:ext>
            </a:extLst>
          </a:blip>
          <a:stretch xmlns:a="http://schemas.openxmlformats.org/drawingml/2006/main"/>
        </p:blipFill>
        <p:spPr>
          <a:xfrm xmlns:a="http://schemas.openxmlformats.org/drawingml/2006/main">
            <a:off x="1143000" y="25736550"/>
            <a:ext cx="647700" cy="647700"/>
          </a:xfrm>
          <a:prstGeom xmlns:a="http://schemas.openxmlformats.org/drawingml/2006/main" prst="rect">
            <a:avLst/>
          </a:prstGeom>
        </p:spPr>
      </p:pic>
      <p:pic>
        <p:nvPicPr>
          <p:cNvPr id="780" name="EKF example SVG output"/>
          <p:cNvPicPr>
            <a:picLocks xmlns:a="http://schemas.openxmlformats.org/drawingml/2006/main" noChangeAspect="1"/>
          </p:cNvPicPr>
          <p:nvPr/>
        </p:nvPicPr>
        <p:blipFill>
          <a:blip xmlns:r="http://schemas.openxmlformats.org/officeDocument/2006/relationships" xmlns:a="http://schemas.openxmlformats.org/drawingml/2006/main" r:embed="rIdTurn8001">
            <a:extLst>
              <a:ext uri="{96DAC541-7B7A-43D3-8B79-37D633B846F1}">
                <asvg:svgBlip xmlns:asvg="http://schemas.microsoft.com/office/drawing/2016/SVG/main" r:embed="rIdTurn8002"/>
              </a:ext>
            </a:extLst>
          </a:blip>
          <a:stretch xmlns:a="http://schemas.openxmlformats.org/drawingml/2006/main"/>
        </p:blipFill>
        <p:spPr>
          <a:xfrm xmlns:a="http://schemas.openxmlformats.org/drawingml/2006/main">
            <a:off x="20288250" y="26650950"/>
            <a:ext cx="1285875" cy="971550"/>
          </a:xfrm>
          <a:prstGeom xmlns:a="http://schemas.openxmlformats.org/drawingml/2006/main" prst="rect">
            <a:avLst/>
          </a:prstGeom>
        </p:spPr>
      </p:pic>
      <p:sp>
        <p:nvSpPr>
          <p:cNvPr id="781" name="Yellow dashed curly QR arrow">
            <a:extLst xmlns:a="http://schemas.openxmlformats.org/drawingml/2006/main">
              <a:ext uri="{FF2B5EF4-FFF2-40B4-BE49-F238E27FC236}">
                <a16:creationId xmlns:a16="http://schemas.microsoft.com/office/drawing/2014/main" id="{71125DDD-289A-4C22-A861-60EBCCAE057F}"/>
              </a:ext>
            </a:extLst>
          </p:cNvPr>
          <p:cNvSpPr>
            <a:spLocks xmlns:a="http://schemas.openxmlformats.org/drawingml/2006/main" noGrp="1"/>
          </p:cNvSpPr>
          <p:nvPr/>
        </p:nvSpPr>
        <p:spPr>
          <a:xfrm xmlns:a="http://schemas.openxmlformats.org/drawingml/2006/main">
            <a:off x="2419350" y="41757600"/>
            <a:ext cx="742950" cy="942975"/>
          </a:xfrm>
          <a:custGeom>
            <a:avLst/>
            <a:gdLst/>
            <a:ahLst/>
            <a:cxnLst/>
            <a:rect l="0" t="0" r="r" b="b"/>
            <a:pathLst>
              <a:path w="78000" h="99000" fill="none" stroke="1">
                <a:moveTo>
                  <a:pt x="61000" y="0"/>
                </a:moveTo>
                <a:cubicBezTo>
                  <a:pt x="68000" y="10500"/>
                  <a:pt x="73500" y="22000"/>
                  <a:pt x="70100" y="33500"/>
                </a:cubicBezTo>
                <a:cubicBezTo>
                  <a:pt x="71400" y="45100"/>
                  <a:pt x="60100" y="55600"/>
                  <a:pt x="47300" y="59500"/>
                </a:cubicBezTo>
                <a:cubicBezTo>
                  <a:pt x="38000" y="62700"/>
                  <a:pt x="20500" y="62900"/>
                  <a:pt x="14200" y="55100"/>
                </a:cubicBezTo>
                <a:cubicBezTo>
                  <a:pt x="6800" y="49400"/>
                  <a:pt x="14000" y="39300"/>
                  <a:pt x="24200" y="37400"/>
                </a:cubicBezTo>
                <a:cubicBezTo>
                  <a:pt x="34500" y="33200"/>
                  <a:pt x="47900" y="41400"/>
                  <a:pt x="54100" y="47600"/>
                </a:cubicBezTo>
                <a:cubicBezTo>
                  <a:pt x="62000" y="54500"/>
                  <a:pt x="59600" y="65400"/>
                  <a:pt x="52600" y="73500"/>
                </a:cubicBezTo>
                <a:cubicBezTo>
                  <a:pt x="39200" y="86300"/>
                  <a:pt x="20400" y="91000"/>
                  <a:pt x="0" y="96000"/>
                </a:cubicBezTo>
              </a:path>
            </a:pathLst>
          </a:custGeom>
          <a:noFill xmlns:a="http://schemas.openxmlformats.org/drawingml/2006/main"/>
          <a:ln w="42863" cap="rnd">
            <a:solidFill>
              <a:srgbClr val="F6C04E"/>
            </a:solidFill>
            <a:prstDash val="sysDot"/>
            <a:round/>
            <a:headEnd type="none"/>
            <a:tailEnd type="arrow" w="lg" len="lg"/>
          </a:ln>
        </p:spPr>
      </p:sp>
      <p:sp>
        <p:nvSpPr>
          <p:cNvPr id="782" name="AOT load code panel">
            <a:extLst xmlns:a="http://schemas.openxmlformats.org/drawingml/2006/main">
              <a:ext uri="{FF2B5EF4-FFF2-40B4-BE49-F238E27FC236}">
                <a16:creationId xmlns:a16="http://schemas.microsoft.com/office/drawing/2014/main" id="{1A587E87-005D-4C9F-9012-02069323CEFB}"/>
              </a:ext>
            </a:extLst>
          </p:cNvPr>
          <p:cNvSpPr>
            <a:spLocks xmlns:a="http://schemas.openxmlformats.org/drawingml/2006/main" noGrp="1"/>
          </p:cNvSpPr>
          <p:nvPr/>
        </p:nvSpPr>
        <p:spPr>
          <a:xfrm xmlns:a="http://schemas.openxmlformats.org/drawingml/2006/main">
            <a:off x="11334750" y="16687800"/>
            <a:ext cx="10334625" cy="13811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3" name="Reactive key Inputs">
            <a:extLst xmlns:a="http://schemas.openxmlformats.org/drawingml/2006/main">
              <a:ext uri="{FF2B5EF4-FFF2-40B4-BE49-F238E27FC236}">
                <a16:creationId xmlns:a16="http://schemas.microsoft.com/office/drawing/2014/main" id="{4B955967-94B1-421B-AC73-1D86EAC156B9}"/>
              </a:ext>
            </a:extLst>
          </p:cNvPr>
          <p:cNvSpPr>
            <a:spLocks xmlns:a="http://schemas.openxmlformats.org/drawingml/2006/main" noGrp="1"/>
          </p:cNvSpPr>
          <p:nvPr/>
        </p:nvSpPr>
        <p:spPr>
          <a:xfrm xmlns:a="http://schemas.openxmlformats.org/drawingml/2006/main">
            <a:off x="952500" y="216027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4" name="Reactive key label Inputs">
            <a:extLst xmlns:a="http://schemas.openxmlformats.org/drawingml/2006/main">
              <a:ext uri="{FF2B5EF4-FFF2-40B4-BE49-F238E27FC236}">
                <a16:creationId xmlns:a16="http://schemas.microsoft.com/office/drawing/2014/main" id="{8E62BB02-417E-464E-93FA-F938A8AE74AE}"/>
              </a:ext>
            </a:extLst>
          </p:cNvPr>
          <p:cNvSpPr>
            <a:spLocks xmlns:a="http://schemas.openxmlformats.org/drawingml/2006/main" noGrp="1"/>
          </p:cNvSpPr>
          <p:nvPr/>
        </p:nvSpPr>
        <p:spPr>
          <a:xfrm xmlns:a="http://schemas.openxmlformats.org/drawingml/2006/main">
            <a:off x="1276350" y="215455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Inputs</a:t>
            </a:r>
          </a:p>
        </p:txBody>
      </p:sp>
      <p:sp>
        <p:nvSpPr>
          <p:cNvPr id="785" name="Reactive key Program">
            <a:extLst xmlns:a="http://schemas.openxmlformats.org/drawingml/2006/main">
              <a:ext uri="{FF2B5EF4-FFF2-40B4-BE49-F238E27FC236}">
                <a16:creationId xmlns:a16="http://schemas.microsoft.com/office/drawing/2014/main" id="{B064E948-2F1E-45AD-81AA-7B57DC419F64}"/>
              </a:ext>
            </a:extLst>
          </p:cNvPr>
          <p:cNvSpPr>
            <a:spLocks xmlns:a="http://schemas.openxmlformats.org/drawingml/2006/main" noGrp="1"/>
          </p:cNvSpPr>
          <p:nvPr/>
        </p:nvSpPr>
        <p:spPr>
          <a:xfrm xmlns:a="http://schemas.openxmlformats.org/drawingml/2006/main">
            <a:off x="2619375" y="216027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6" name="Reactive key label Program">
            <a:extLst xmlns:a="http://schemas.openxmlformats.org/drawingml/2006/main">
              <a:ext uri="{FF2B5EF4-FFF2-40B4-BE49-F238E27FC236}">
                <a16:creationId xmlns:a16="http://schemas.microsoft.com/office/drawing/2014/main" id="{31890D18-2496-4352-A109-4C3994BAC60B}"/>
              </a:ext>
            </a:extLst>
          </p:cNvPr>
          <p:cNvSpPr>
            <a:spLocks xmlns:a="http://schemas.openxmlformats.org/drawingml/2006/main" noGrp="1"/>
          </p:cNvSpPr>
          <p:nvPr/>
        </p:nvSpPr>
        <p:spPr>
          <a:xfrm xmlns:a="http://schemas.openxmlformats.org/drawingml/2006/main">
            <a:off x="2943225" y="215455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Program</a:t>
            </a:r>
          </a:p>
        </p:txBody>
      </p:sp>
      <p:sp>
        <p:nvSpPr>
          <p:cNvPr id="787" name="Reactive key Outputs">
            <a:extLst xmlns:a="http://schemas.openxmlformats.org/drawingml/2006/main">
              <a:ext uri="{FF2B5EF4-FFF2-40B4-BE49-F238E27FC236}">
                <a16:creationId xmlns:a16="http://schemas.microsoft.com/office/drawing/2014/main" id="{3F5AC1EB-7AE9-4733-B18A-8B880DA5B03A}"/>
              </a:ext>
            </a:extLst>
          </p:cNvPr>
          <p:cNvSpPr>
            <a:spLocks xmlns:a="http://schemas.openxmlformats.org/drawingml/2006/main" noGrp="1"/>
          </p:cNvSpPr>
          <p:nvPr/>
        </p:nvSpPr>
        <p:spPr>
          <a:xfrm xmlns:a="http://schemas.openxmlformats.org/drawingml/2006/main">
            <a:off x="4286250" y="216027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8" name="Reactive key label Outputs">
            <a:extLst xmlns:a="http://schemas.openxmlformats.org/drawingml/2006/main">
              <a:ext uri="{FF2B5EF4-FFF2-40B4-BE49-F238E27FC236}">
                <a16:creationId xmlns:a16="http://schemas.microsoft.com/office/drawing/2014/main" id="{947C78CE-0131-4628-A27D-A4F5405B2416}"/>
              </a:ext>
            </a:extLst>
          </p:cNvPr>
          <p:cNvSpPr>
            <a:spLocks xmlns:a="http://schemas.openxmlformats.org/drawingml/2006/main" noGrp="1"/>
          </p:cNvSpPr>
          <p:nvPr/>
        </p:nvSpPr>
        <p:spPr>
          <a:xfrm xmlns:a="http://schemas.openxmlformats.org/drawingml/2006/main">
            <a:off x="4610100" y="215455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Outputs</a:t>
            </a:r>
          </a:p>
        </p:txBody>
      </p:sp>
      <p:sp>
        <p:nvSpPr>
          <p:cNvPr id="789" name="Reactive key Failures">
            <a:extLst xmlns:a="http://schemas.openxmlformats.org/drawingml/2006/main">
              <a:ext uri="{FF2B5EF4-FFF2-40B4-BE49-F238E27FC236}">
                <a16:creationId xmlns:a16="http://schemas.microsoft.com/office/drawing/2014/main" id="{07C30400-5A68-452B-8712-80A0F1840F3C}"/>
              </a:ext>
            </a:extLst>
          </p:cNvPr>
          <p:cNvSpPr>
            <a:spLocks xmlns:a="http://schemas.openxmlformats.org/drawingml/2006/main" noGrp="1"/>
          </p:cNvSpPr>
          <p:nvPr/>
        </p:nvSpPr>
        <p:spPr>
          <a:xfrm xmlns:a="http://schemas.openxmlformats.org/drawingml/2006/main">
            <a:off x="5953125" y="216027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90" name="Reactive key label Failures">
            <a:extLst xmlns:a="http://schemas.openxmlformats.org/drawingml/2006/main">
              <a:ext uri="{FF2B5EF4-FFF2-40B4-BE49-F238E27FC236}">
                <a16:creationId xmlns:a16="http://schemas.microsoft.com/office/drawing/2014/main" id="{DA411DC6-112E-43F2-BFDD-EDFF05276311}"/>
              </a:ext>
            </a:extLst>
          </p:cNvPr>
          <p:cNvSpPr>
            <a:spLocks xmlns:a="http://schemas.openxmlformats.org/drawingml/2006/main" noGrp="1"/>
          </p:cNvSpPr>
          <p:nvPr/>
        </p:nvSpPr>
        <p:spPr>
          <a:xfrm xmlns:a="http://schemas.openxmlformats.org/drawingml/2006/main">
            <a:off x="6276975" y="215455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Failures</a:t>
            </a:r>
          </a:p>
        </p:txBody>
      </p:sp>
      <p:sp>
        <p:nvSpPr>
          <p:cNvPr id="791" name="Activation failure">
            <a:extLst xmlns:a="http://schemas.openxmlformats.org/drawingml/2006/main">
              <a:ext uri="{FF2B5EF4-FFF2-40B4-BE49-F238E27FC236}">
                <a16:creationId xmlns:a16="http://schemas.microsoft.com/office/drawing/2014/main" id="{FF18FBB5-E623-4826-A4C2-67C4FFBE5AD3}"/>
              </a:ext>
            </a:extLst>
          </p:cNvPr>
          <p:cNvSpPr>
            <a:spLocks xmlns:a="http://schemas.openxmlformats.org/drawingml/2006/main" noGrp="1"/>
          </p:cNvSpPr>
          <p:nvPr/>
        </p:nvSpPr>
        <p:spPr>
          <a:xfrm xmlns:a="http://schemas.openxmlformats.org/drawingml/2006/main">
            <a:off x="13335000" y="24022050"/>
            <a:ext cx="4000500" cy="619125"/>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pPr algn="ctr">
              <a:defRPr sz="2100">
                <a:solidFill>
                  <a:srgbClr val="E8EDF0"/>
                </a:solidFill>
                <a:latin typeface="Segoe UI"/>
                <a:ea typeface="Segoe UI"/>
                <a:cs typeface="Segoe UI"/>
              </a:defRPr>
            </a:pPr>
            <a:r>
              <a:rPr sz="2100">
                <a:solidFill>
                  <a:srgbClr val="E8EDF0"/>
                </a:solidFill>
                <a:latin typeface="Segoe UI"/>
                <a:ea typeface="Segoe UI"/>
                <a:cs typeface="Segoe UI"/>
              </a:rPr>
              <a:t>Activation failed</a:t>
            </a:r>
          </a:p>
        </p:txBody>
      </p:sp>
      <p:cxnSp>
        <p:nvCxnSpPr>
          <p:cNvPr id="792" name="Activation failure branch"/>
          <p:cNvCxnSpPr>
            <a:stCxn xmlns:a="http://schemas.openxmlformats.org/drawingml/2006/main" id="199" idx="2"/>
            <a:endCxn xmlns:a="http://schemas.openxmlformats.org/drawingml/2006/main" id="791" idx="0"/>
          </p:cNvCxnSpPr>
          <p:nvPr/>
        </p:nvCxnSpPr>
        <p:spPr>
          <a:xfrm xmlns:a="http://schemas.openxmlformats.org/drawingml/2006/main">
            <a:off x="15335250" y="23450550"/>
            <a:ext cx="0" cy="571500"/>
          </a:xfrm>
          <a:prstGeom xmlns:a="http://schemas.openxmlformats.org/drawingml/2006/main" prst="straightConnector1">
            <a:avLst/>
          </a:prstGeom>
          <a:ln xmlns:a="http://schemas.openxmlformats.org/drawingml/2006/main" w="38100">
            <a:solidFill>
              <a:srgbClr val="EF948D"/>
            </a:solidFill>
            <a:tailEnd type="triangle" w="med" len="med"/>
          </a:ln>
        </p:spPr>
      </p:cxnSp>
      <p:sp>
        <p:nvSpPr>
          <p:cNvPr id="793" name="Backend checked plus-minus 0">
            <a:extLst xmlns:a="http://schemas.openxmlformats.org/drawingml/2006/main">
              <a:ext uri="{FF2B5EF4-FFF2-40B4-BE49-F238E27FC236}">
                <a16:creationId xmlns:a16="http://schemas.microsoft.com/office/drawing/2014/main" id="{448D65B0-1D53-4F02-A682-EE0939BE295B}"/>
              </a:ext>
            </a:extLst>
          </p:cNvPr>
          <p:cNvSpPr>
            <a:spLocks xmlns:a="http://schemas.openxmlformats.org/drawingml/2006/main" noGrp="1"/>
          </p:cNvSpPr>
          <p:nvPr/>
        </p:nvSpPr>
        <p:spPr>
          <a:xfrm xmlns:a="http://schemas.openxmlformats.org/drawingml/2006/main">
            <a:off x="20764500" y="3446053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4" name="Backend checked MAD 0">
            <a:extLst xmlns:a="http://schemas.openxmlformats.org/drawingml/2006/main">
              <a:ext uri="{FF2B5EF4-FFF2-40B4-BE49-F238E27FC236}">
                <a16:creationId xmlns:a16="http://schemas.microsoft.com/office/drawing/2014/main" id="{9F19C37D-34F4-4A96-AA03-D2B6EDAD03AB}"/>
              </a:ext>
            </a:extLst>
          </p:cNvPr>
          <p:cNvSpPr>
            <a:spLocks xmlns:a="http://schemas.openxmlformats.org/drawingml/2006/main" noGrp="1"/>
          </p:cNvSpPr>
          <p:nvPr/>
        </p:nvSpPr>
        <p:spPr>
          <a:xfrm xmlns:a="http://schemas.openxmlformats.org/drawingml/2006/main">
            <a:off x="21031200" y="3446053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5" name="Backend checked plus-minus 1">
            <a:extLst xmlns:a="http://schemas.openxmlformats.org/drawingml/2006/main">
              <a:ext uri="{FF2B5EF4-FFF2-40B4-BE49-F238E27FC236}">
                <a16:creationId xmlns:a16="http://schemas.microsoft.com/office/drawing/2014/main" id="{AB3C21F2-8315-4204-A8B2-29341BEF5F2D}"/>
              </a:ext>
            </a:extLst>
          </p:cNvPr>
          <p:cNvSpPr>
            <a:spLocks xmlns:a="http://schemas.openxmlformats.org/drawingml/2006/main" noGrp="1"/>
          </p:cNvSpPr>
          <p:nvPr/>
        </p:nvSpPr>
        <p:spPr>
          <a:xfrm xmlns:a="http://schemas.openxmlformats.org/drawingml/2006/main">
            <a:off x="20764500" y="3370827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6" name="Backend checked MAD 1">
            <a:extLst xmlns:a="http://schemas.openxmlformats.org/drawingml/2006/main">
              <a:ext uri="{FF2B5EF4-FFF2-40B4-BE49-F238E27FC236}">
                <a16:creationId xmlns:a16="http://schemas.microsoft.com/office/drawing/2014/main" id="{1DE6B995-DACB-4D89-BF86-0D5BEE901770}"/>
              </a:ext>
            </a:extLst>
          </p:cNvPr>
          <p:cNvSpPr>
            <a:spLocks xmlns:a="http://schemas.openxmlformats.org/drawingml/2006/main" noGrp="1"/>
          </p:cNvSpPr>
          <p:nvPr/>
        </p:nvSpPr>
        <p:spPr>
          <a:xfrm xmlns:a="http://schemas.openxmlformats.org/drawingml/2006/main">
            <a:off x="21031200" y="3370827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7" name="Backend checked plus-minus 2">
            <a:extLst xmlns:a="http://schemas.openxmlformats.org/drawingml/2006/main">
              <a:ext uri="{FF2B5EF4-FFF2-40B4-BE49-F238E27FC236}">
                <a16:creationId xmlns:a16="http://schemas.microsoft.com/office/drawing/2014/main" id="{637972F5-8991-4639-963A-4EF06E8210A9}"/>
              </a:ext>
            </a:extLst>
          </p:cNvPr>
          <p:cNvSpPr>
            <a:spLocks xmlns:a="http://schemas.openxmlformats.org/drawingml/2006/main" noGrp="1"/>
          </p:cNvSpPr>
          <p:nvPr/>
        </p:nvSpPr>
        <p:spPr>
          <a:xfrm xmlns:a="http://schemas.openxmlformats.org/drawingml/2006/main">
            <a:off x="20764500" y="3295600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8" name="Backend checked MAD 2">
            <a:extLst xmlns:a="http://schemas.openxmlformats.org/drawingml/2006/main">
              <a:ext uri="{FF2B5EF4-FFF2-40B4-BE49-F238E27FC236}">
                <a16:creationId xmlns:a16="http://schemas.microsoft.com/office/drawing/2014/main" id="{33C9318E-64ED-4B84-AEC4-7ACA2964D0C8}"/>
              </a:ext>
            </a:extLst>
          </p:cNvPr>
          <p:cNvSpPr>
            <a:spLocks xmlns:a="http://schemas.openxmlformats.org/drawingml/2006/main" noGrp="1"/>
          </p:cNvSpPr>
          <p:nvPr/>
        </p:nvSpPr>
        <p:spPr>
          <a:xfrm xmlns:a="http://schemas.openxmlformats.org/drawingml/2006/main">
            <a:off x="21031200" y="3295600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9" name="Backend checked plus-minus 3">
            <a:extLst xmlns:a="http://schemas.openxmlformats.org/drawingml/2006/main">
              <a:ext uri="{FF2B5EF4-FFF2-40B4-BE49-F238E27FC236}">
                <a16:creationId xmlns:a16="http://schemas.microsoft.com/office/drawing/2014/main" id="{93F652AC-3B55-4533-9EFA-F321A623253E}"/>
              </a:ext>
            </a:extLst>
          </p:cNvPr>
          <p:cNvSpPr>
            <a:spLocks xmlns:a="http://schemas.openxmlformats.org/drawingml/2006/main" noGrp="1"/>
          </p:cNvSpPr>
          <p:nvPr/>
        </p:nvSpPr>
        <p:spPr>
          <a:xfrm xmlns:a="http://schemas.openxmlformats.org/drawingml/2006/main">
            <a:off x="20764500" y="32203738"/>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0" name="Backend checked MAD 3">
            <a:extLst xmlns:a="http://schemas.openxmlformats.org/drawingml/2006/main">
              <a:ext uri="{FF2B5EF4-FFF2-40B4-BE49-F238E27FC236}">
                <a16:creationId xmlns:a16="http://schemas.microsoft.com/office/drawing/2014/main" id="{38CC2EAC-0F76-493C-8906-D75D43C8A19B}"/>
              </a:ext>
            </a:extLst>
          </p:cNvPr>
          <p:cNvSpPr>
            <a:spLocks xmlns:a="http://schemas.openxmlformats.org/drawingml/2006/main" noGrp="1"/>
          </p:cNvSpPr>
          <p:nvPr/>
        </p:nvSpPr>
        <p:spPr>
          <a:xfrm xmlns:a="http://schemas.openxmlformats.org/drawingml/2006/main">
            <a:off x="21031200" y="32203738"/>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0.5</a:t>
            </a:r>
          </a:p>
        </p:txBody>
      </p:sp>
      <p:sp>
        <p:nvSpPr>
          <p:cNvPr id="801" name="Backend checked plus-minus 4">
            <a:extLst xmlns:a="http://schemas.openxmlformats.org/drawingml/2006/main">
              <a:ext uri="{FF2B5EF4-FFF2-40B4-BE49-F238E27FC236}">
                <a16:creationId xmlns:a16="http://schemas.microsoft.com/office/drawing/2014/main" id="{7C92080F-76B9-42A2-91F0-39742FE36E3F}"/>
              </a:ext>
            </a:extLst>
          </p:cNvPr>
          <p:cNvSpPr>
            <a:spLocks xmlns:a="http://schemas.openxmlformats.org/drawingml/2006/main" noGrp="1"/>
          </p:cNvSpPr>
          <p:nvPr/>
        </p:nvSpPr>
        <p:spPr>
          <a:xfrm xmlns:a="http://schemas.openxmlformats.org/drawingml/2006/main">
            <a:off x="20764500" y="3145147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2" name="Backend checked MAD 4">
            <a:extLst xmlns:a="http://schemas.openxmlformats.org/drawingml/2006/main">
              <a:ext uri="{FF2B5EF4-FFF2-40B4-BE49-F238E27FC236}">
                <a16:creationId xmlns:a16="http://schemas.microsoft.com/office/drawing/2014/main" id="{2D0B084E-17FC-492E-A64F-62604142C559}"/>
              </a:ext>
            </a:extLst>
          </p:cNvPr>
          <p:cNvSpPr>
            <a:spLocks xmlns:a="http://schemas.openxmlformats.org/drawingml/2006/main" noGrp="1"/>
          </p:cNvSpPr>
          <p:nvPr/>
        </p:nvSpPr>
        <p:spPr>
          <a:xfrm xmlns:a="http://schemas.openxmlformats.org/drawingml/2006/main">
            <a:off x="21031200" y="3145147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2.3</a:t>
            </a:r>
          </a:p>
        </p:txBody>
      </p:sp>
      <p:sp>
        <p:nvSpPr>
          <p:cNvPr id="803" name="Backend unchecked plus-minus 0">
            <a:extLst xmlns:a="http://schemas.openxmlformats.org/drawingml/2006/main">
              <a:ext uri="{FF2B5EF4-FFF2-40B4-BE49-F238E27FC236}">
                <a16:creationId xmlns:a16="http://schemas.microsoft.com/office/drawing/2014/main" id="{15A251E1-D487-47C3-A106-1E1CEED4DE68}"/>
              </a:ext>
            </a:extLst>
          </p:cNvPr>
          <p:cNvSpPr>
            <a:spLocks xmlns:a="http://schemas.openxmlformats.org/drawingml/2006/main" noGrp="1"/>
          </p:cNvSpPr>
          <p:nvPr/>
        </p:nvSpPr>
        <p:spPr>
          <a:xfrm xmlns:a="http://schemas.openxmlformats.org/drawingml/2006/main">
            <a:off x="20764500" y="34165533"/>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4" name="Backend unchecked MAD 0">
            <a:extLst xmlns:a="http://schemas.openxmlformats.org/drawingml/2006/main">
              <a:ext uri="{FF2B5EF4-FFF2-40B4-BE49-F238E27FC236}">
                <a16:creationId xmlns:a16="http://schemas.microsoft.com/office/drawing/2014/main" id="{E82E8857-E341-465D-878B-91C2CE9ACA73}"/>
              </a:ext>
            </a:extLst>
          </p:cNvPr>
          <p:cNvSpPr>
            <a:spLocks xmlns:a="http://schemas.openxmlformats.org/drawingml/2006/main" noGrp="1"/>
          </p:cNvSpPr>
          <p:nvPr/>
        </p:nvSpPr>
        <p:spPr>
          <a:xfrm xmlns:a="http://schemas.openxmlformats.org/drawingml/2006/main">
            <a:off x="21031200" y="34165533"/>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805" name="Backend unchecked plus-minus 1">
            <a:extLst xmlns:a="http://schemas.openxmlformats.org/drawingml/2006/main">
              <a:ext uri="{FF2B5EF4-FFF2-40B4-BE49-F238E27FC236}">
                <a16:creationId xmlns:a16="http://schemas.microsoft.com/office/drawing/2014/main" id="{67635534-5EC8-4B5D-8735-3846BCEA4709}"/>
              </a:ext>
            </a:extLst>
          </p:cNvPr>
          <p:cNvSpPr>
            <a:spLocks xmlns:a="http://schemas.openxmlformats.org/drawingml/2006/main" noGrp="1"/>
          </p:cNvSpPr>
          <p:nvPr/>
        </p:nvSpPr>
        <p:spPr>
          <a:xfrm xmlns:a="http://schemas.openxmlformats.org/drawingml/2006/main">
            <a:off x="20764500" y="334132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6" name="Backend unchecked MAD 1">
            <a:extLst xmlns:a="http://schemas.openxmlformats.org/drawingml/2006/main">
              <a:ext uri="{FF2B5EF4-FFF2-40B4-BE49-F238E27FC236}">
                <a16:creationId xmlns:a16="http://schemas.microsoft.com/office/drawing/2014/main" id="{5A348A60-85D8-4148-8CF9-A457157A61E3}"/>
              </a:ext>
            </a:extLst>
          </p:cNvPr>
          <p:cNvSpPr>
            <a:spLocks xmlns:a="http://schemas.openxmlformats.org/drawingml/2006/main" noGrp="1"/>
          </p:cNvSpPr>
          <p:nvPr/>
        </p:nvSpPr>
        <p:spPr>
          <a:xfrm xmlns:a="http://schemas.openxmlformats.org/drawingml/2006/main">
            <a:off x="21031200" y="334132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807" name="Backend unchecked plus-minus 2">
            <a:extLst xmlns:a="http://schemas.openxmlformats.org/drawingml/2006/main">
              <a:ext uri="{FF2B5EF4-FFF2-40B4-BE49-F238E27FC236}">
                <a16:creationId xmlns:a16="http://schemas.microsoft.com/office/drawing/2014/main" id="{93223277-6266-4388-98FA-1D0A5EB4B436}"/>
              </a:ext>
            </a:extLst>
          </p:cNvPr>
          <p:cNvSpPr>
            <a:spLocks xmlns:a="http://schemas.openxmlformats.org/drawingml/2006/main" noGrp="1"/>
          </p:cNvSpPr>
          <p:nvPr/>
        </p:nvSpPr>
        <p:spPr>
          <a:xfrm xmlns:a="http://schemas.openxmlformats.org/drawingml/2006/main">
            <a:off x="20764500" y="3266099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8" name="Backend unchecked MAD 2">
            <a:extLst xmlns:a="http://schemas.openxmlformats.org/drawingml/2006/main">
              <a:ext uri="{FF2B5EF4-FFF2-40B4-BE49-F238E27FC236}">
                <a16:creationId xmlns:a16="http://schemas.microsoft.com/office/drawing/2014/main" id="{8E9CB3A4-BE4A-49DB-9981-016570F6F0E9}"/>
              </a:ext>
            </a:extLst>
          </p:cNvPr>
          <p:cNvSpPr>
            <a:spLocks xmlns:a="http://schemas.openxmlformats.org/drawingml/2006/main" noGrp="1"/>
          </p:cNvSpPr>
          <p:nvPr/>
        </p:nvSpPr>
        <p:spPr>
          <a:xfrm xmlns:a="http://schemas.openxmlformats.org/drawingml/2006/main">
            <a:off x="21031200" y="3266099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0.1</a:t>
            </a:r>
          </a:p>
        </p:txBody>
      </p:sp>
      <p:sp>
        <p:nvSpPr>
          <p:cNvPr id="809" name="Backend unchecked plus-minus 3">
            <a:extLst xmlns:a="http://schemas.openxmlformats.org/drawingml/2006/main">
              <a:ext uri="{FF2B5EF4-FFF2-40B4-BE49-F238E27FC236}">
                <a16:creationId xmlns:a16="http://schemas.microsoft.com/office/drawing/2014/main" id="{0A67829D-EB30-49AF-9C46-0543D2E45B95}"/>
              </a:ext>
            </a:extLst>
          </p:cNvPr>
          <p:cNvSpPr>
            <a:spLocks xmlns:a="http://schemas.openxmlformats.org/drawingml/2006/main" noGrp="1"/>
          </p:cNvSpPr>
          <p:nvPr/>
        </p:nvSpPr>
        <p:spPr>
          <a:xfrm xmlns:a="http://schemas.openxmlformats.org/drawingml/2006/main">
            <a:off x="20764500" y="3190873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10" name="Backend unchecked MAD 3">
            <a:extLst xmlns:a="http://schemas.openxmlformats.org/drawingml/2006/main">
              <a:ext uri="{FF2B5EF4-FFF2-40B4-BE49-F238E27FC236}">
                <a16:creationId xmlns:a16="http://schemas.microsoft.com/office/drawing/2014/main" id="{9E689A90-455C-4CA9-BE50-09B384CC1994}"/>
              </a:ext>
            </a:extLst>
          </p:cNvPr>
          <p:cNvSpPr>
            <a:spLocks xmlns:a="http://schemas.openxmlformats.org/drawingml/2006/main" noGrp="1"/>
          </p:cNvSpPr>
          <p:nvPr/>
        </p:nvSpPr>
        <p:spPr>
          <a:xfrm xmlns:a="http://schemas.openxmlformats.org/drawingml/2006/main">
            <a:off x="21031200" y="3190873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0.8</a:t>
            </a:r>
          </a:p>
        </p:txBody>
      </p:sp>
      <p:sp>
        <p:nvSpPr>
          <p:cNvPr id="811" name="Backend unchecked plus-minus 4">
            <a:extLst xmlns:a="http://schemas.openxmlformats.org/drawingml/2006/main">
              <a:ext uri="{FF2B5EF4-FFF2-40B4-BE49-F238E27FC236}">
                <a16:creationId xmlns:a16="http://schemas.microsoft.com/office/drawing/2014/main" id="{A139C7A1-A3F3-4093-8F54-41F9A26A479D}"/>
              </a:ext>
            </a:extLst>
          </p:cNvPr>
          <p:cNvSpPr>
            <a:spLocks xmlns:a="http://schemas.openxmlformats.org/drawingml/2006/main" noGrp="1"/>
          </p:cNvSpPr>
          <p:nvPr/>
        </p:nvSpPr>
        <p:spPr>
          <a:xfrm xmlns:a="http://schemas.openxmlformats.org/drawingml/2006/main">
            <a:off x="20764500" y="311564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12" name="Backend unchecked MAD 4">
            <a:extLst xmlns:a="http://schemas.openxmlformats.org/drawingml/2006/main">
              <a:ext uri="{FF2B5EF4-FFF2-40B4-BE49-F238E27FC236}">
                <a16:creationId xmlns:a16="http://schemas.microsoft.com/office/drawing/2014/main" id="{FC597355-854F-4888-95AE-A39EEA77CA1D}"/>
              </a:ext>
            </a:extLst>
          </p:cNvPr>
          <p:cNvSpPr>
            <a:spLocks xmlns:a="http://schemas.openxmlformats.org/drawingml/2006/main" noGrp="1"/>
          </p:cNvSpPr>
          <p:nvPr/>
        </p:nvSpPr>
        <p:spPr>
          <a:xfrm xmlns:a="http://schemas.openxmlformats.org/drawingml/2006/main">
            <a:off x="21031200" y="311564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2.3</a:t>
            </a:r>
          </a:p>
        </p:txBody>
      </p:sp>
      <p:sp>
        <p:nvSpPr>
          <p:cNvPr id="813" name="AOT loader code">
            <a:extLst xmlns:a="http://schemas.openxmlformats.org/drawingml/2006/main">
              <a:ext uri="{FF2B5EF4-FFF2-40B4-BE49-F238E27FC236}">
                <a16:creationId xmlns:a16="http://schemas.microsoft.com/office/drawing/2014/main" id="{12DE081B-2DB3-4D4C-B18E-561384A0D9A0}"/>
              </a:ext>
            </a:extLst>
          </p:cNvPr>
          <p:cNvSpPr>
            <a:spLocks xmlns:a="http://schemas.openxmlformats.org/drawingml/2006/main" noGrp="1"/>
          </p:cNvSpPr>
          <p:nvPr/>
        </p:nvSpPr>
        <p:spPr>
          <a:xfrm xmlns:a="http://schemas.openxmlformats.org/drawingml/2006/main">
            <a:off x="11525250" y="16878300"/>
            <a:ext cx="9953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unsafe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BBDDC2"/>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load_bundle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"ekf.bundle"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AB7AB8"/>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mut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ekf</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start</a:t>
            </a:r>
            <a:r>
              <a:rPr sz="2100">
                <a:solidFill>
                  <a:srgbClr val="99CCA4"/>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AB7AB8"/>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EDDAF1"/>
                </a:solidFill>
                <a:latin typeface="Fira Code"/>
                <a:ea typeface="Fira Code"/>
                <a:cs typeface="Fira Code"/>
              </a:rPr>
              <a:t xml:space="preserve">ekf</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turn</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"bearing"</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BC7F3"/>
                </a:solidFill>
                <a:latin typeface="Fira Code"/>
                <a:ea typeface="Fira Code"/>
                <a:cs typeface="Fira Code"/>
              </a:rPr>
              <a:t xml:space="preserve">0.54</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9BC7F3"/>
                </a:solidFill>
                <a:latin typeface="Fira Code"/>
                <a:ea typeface="Fira Code"/>
                <a:cs typeface="Fira Code"/>
              </a:rPr>
              <a:t xml:space="preserve">4</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AB7AB8"/>
                </a:solidFill>
                <a:latin typeface="Fira Code"/>
                <a:ea typeface="Fira Code"/>
                <a:cs typeface="Fira Code"/>
              </a:rPr>
              <a:t xml:space="preserve">;</a:t>
            </a:r>
          </a:p>
        </p:txBody>
      </p:sp>
      <p:sp>
        <p:nvSpPr>
          <p:cNvPr id="814" name="Mech notation comments">
            <a:extLst xmlns:a="http://schemas.openxmlformats.org/drawingml/2006/main">
              <a:ext uri="{FF2B5EF4-FFF2-40B4-BE49-F238E27FC236}">
                <a16:creationId xmlns:a16="http://schemas.microsoft.com/office/drawing/2014/main" id="{DFB8122F-2D22-45E5-86A7-5A618E715FF3}"/>
              </a:ext>
            </a:extLst>
          </p:cNvPr>
          <p:cNvSpPr>
            <a:spLocks xmlns:a="http://schemas.openxmlformats.org/drawingml/2006/main" noGrp="1"/>
          </p:cNvSpPr>
          <p:nvPr/>
        </p:nvSpPr>
        <p:spPr>
          <a:xfrm xmlns:a="http://schemas.openxmlformats.org/drawingml/2006/main">
            <a:off x="27146250" y="15176497"/>
            <a:ext cx="4857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000"/>
              </a:lnSpc>
              <a:buNone/>
              <a:defRPr sz="2250">
                <a:solidFill>
                  <a:srgbClr val="BDCFDB"/>
                </a:solidFill>
                <a:latin typeface="Fira Code"/>
                <a:ea typeface="Fira Code"/>
                <a:cs typeface="Fira Code"/>
              </a:defRPr>
            </a:pPr>
            <a:r>
              <a:rPr sz="2250">
                <a:solidFill>
                  <a:srgbClr val="BDCFDB"/>
                </a:solidFill>
                <a:latin typeface="Fira Code"/>
                <a:ea typeface="Fira Code"/>
                <a:cs typeface="Fira Code"/>
              </a:rPr>
              <a:t>-- +&gt; import library</a:t>
            </a:r>
          </a:p>
          <a:p xmlns:a="http://schemas.openxmlformats.org/drawingml/2006/main">
            <a:pPr algn="l">
              <a:lnSpc>
                <a:spcPts val="3000"/>
              </a:lnSpc>
              <a:buNone/>
              <a:defRPr sz="2250">
                <a:solidFill>
                  <a:srgbClr val="BDCFDB"/>
                </a:solidFill>
                <a:latin typeface="Fira Code"/>
                <a:ea typeface="Fira Code"/>
                <a:cs typeface="Fira Code"/>
              </a:defRPr>
            </a:pPr>
            <a:r>
              <a:rPr sz="2250">
                <a:solidFill>
                  <a:srgbClr val="BDCFDB"/>
                </a:solidFill>
                <a:latin typeface="Fira Code"/>
                <a:ea typeface="Fira Code"/>
                <a:cs typeface="Fira Code"/>
              </a:rPr>
              <a:t>-- ~  mutable</a:t>
            </a:r>
          </a:p>
          <a:p xmlns:a="http://schemas.openxmlformats.org/drawingml/2006/main">
            <a:pPr algn="l">
              <a:lnSpc>
                <a:spcPts val="3000"/>
              </a:lnSpc>
              <a:buNone/>
              <a:defRPr sz="2250">
                <a:solidFill>
                  <a:srgbClr val="BDCFDB"/>
                </a:solidFill>
                <a:latin typeface="Fira Code"/>
                <a:ea typeface="Fira Code"/>
                <a:cs typeface="Fira Code"/>
              </a:defRPr>
            </a:pPr>
            <a:r>
              <a:rPr sz="2250">
                <a:solidFill>
                  <a:srgbClr val="BDCFDB"/>
                </a:solidFill>
                <a:latin typeface="Fira Code"/>
                <a:ea typeface="Fira Code"/>
                <a:cs typeface="Fira Code"/>
              </a:rPr>
              <a:t>-- := define</a:t>
            </a:r>
          </a:p>
          <a:p xmlns:a="http://schemas.openxmlformats.org/drawingml/2006/main">
            <a:pPr algn="l">
              <a:lnSpc>
                <a:spcPts val="3000"/>
              </a:lnSpc>
              <a:buNone/>
              <a:defRPr sz="2250">
                <a:solidFill>
                  <a:srgbClr val="BDCFDB"/>
                </a:solidFill>
                <a:latin typeface="Fira Code"/>
                <a:ea typeface="Fira Code"/>
                <a:cs typeface="Fira Code"/>
              </a:defRPr>
            </a:pPr>
            <a:r>
              <a:rPr sz="2250">
                <a:solidFill>
                  <a:srgbClr val="BDCFDB"/>
                </a:solidFill>
                <a:latin typeface="Fira Code"/>
                <a:ea typeface="Fira Code"/>
                <a:cs typeface="Fira Code"/>
              </a:rPr>
              <a:t>-- =  assign</a:t>
            </a:r>
          </a:p>
          <a:p xmlns:a="http://schemas.openxmlformats.org/drawingml/2006/main">
            <a:pPr algn="l">
              <a:lnSpc>
                <a:spcPts val="3000"/>
              </a:lnSpc>
              <a:buNone/>
              <a:defRPr sz="2250">
                <a:solidFill>
                  <a:srgbClr val="BDCFDB"/>
                </a:solidFill>
                <a:latin typeface="Fira Code"/>
                <a:ea typeface="Fira Code"/>
                <a:cs typeface="Fira Code"/>
              </a:defRPr>
            </a:pPr>
            <a:r>
              <a:rPr sz="2250">
                <a:solidFill>
                  <a:srgbClr val="BDCFDB"/>
                </a:solidFill>
                <a:latin typeface="Fira Code"/>
                <a:ea typeface="Fira Code"/>
                <a:cs typeface="Fira Code"/>
              </a:rPr>
              <a:t>-- ** matrix multiply</a:t>
            </a:r>
          </a:p>
          <a:p xmlns:a="http://schemas.openxmlformats.org/drawingml/2006/main">
            <a:pPr algn="l">
              <a:lnSpc>
                <a:spcPts val="3000"/>
              </a:lnSpc>
              <a:buNone/>
              <a:defRPr sz="2250">
                <a:solidFill>
                  <a:srgbClr val="BDCFDB"/>
                </a:solidFill>
                <a:latin typeface="Fira Code"/>
                <a:ea typeface="Fira Code"/>
                <a:cs typeface="Fira Code"/>
              </a:defRPr>
            </a:pPr>
            <a:r>
              <a:rPr sz="2250">
                <a:solidFill>
                  <a:srgbClr val="BDCFDB"/>
                </a:solidFill>
                <a:latin typeface="Fira Code"/>
                <a:ea typeface="Fira Code"/>
                <a:cs typeface="Fira Code"/>
              </a:rPr>
              <a:t>-- '  transpose</a:t>
            </a:r>
          </a:p>
          <a:p xmlns:a="http://schemas.openxmlformats.org/drawingml/2006/main">
            <a:pPr algn="l">
              <a:lnSpc>
                <a:spcPts val="3000"/>
              </a:lnSpc>
              <a:buNone/>
              <a:defRPr sz="2250">
                <a:solidFill>
                  <a:srgbClr val="BDCFDB"/>
                </a:solidFill>
                <a:latin typeface="Fira Code"/>
                <a:ea typeface="Fira Code"/>
                <a:cs typeface="Fira Code"/>
              </a:defRPr>
            </a:pPr>
            <a:r>
              <a:rPr sz="2250">
                <a:solidFill>
                  <a:srgbClr val="BDCFDB"/>
                </a:solidFill>
                <a:latin typeface="Fira Code"/>
                <a:ea typeface="Fira Code"/>
                <a:cs typeface="Fira Code"/>
              </a:rPr>
              <a:t>-- *  broadcast multiply</a:t>
            </a:r>
          </a:p>
          <a:p xmlns:a="http://schemas.openxmlformats.org/drawingml/2006/main">
            <a:pPr algn="l">
              <a:lnSpc>
                <a:spcPts val="3000"/>
              </a:lnSpc>
              <a:buNone/>
              <a:defRPr sz="2250">
                <a:solidFill>
                  <a:srgbClr val="BDCFDB"/>
                </a:solidFill>
                <a:latin typeface="Fira Code"/>
                <a:ea typeface="Fira Code"/>
                <a:cs typeface="Fira Code"/>
              </a:defRPr>
            </a:pPr>
            <a:r>
              <a:rPr sz="2250">
                <a:solidFill>
                  <a:srgbClr val="BDCFDB"/>
                </a:solidFill>
                <a:latin typeface="Fira Code"/>
                <a:ea typeface="Fira Code"/>
                <a:cs typeface="Fira Code"/>
              </a:rPr>
              <a:t>-- x! integrity constraint</a:t>
            </a:r>
          </a:p>
        </p:txBody>
      </p:sp>
      <p:sp>
        <p:nvSpPr>
          <p:cNvPr id="816" name="Motivation Rust">
            <a:extLst xmlns:a="http://schemas.openxmlformats.org/drawingml/2006/main">
              <a:ext uri="{FF2B5EF4-FFF2-40B4-BE49-F238E27FC236}">
                <a16:creationId xmlns:a16="http://schemas.microsoft.com/office/drawing/2014/main" id="{68FFA313-5A71-40BE-9812-76E8E24DE968}"/>
              </a:ext>
            </a:extLst>
          </p:cNvPr>
          <p:cNvSpPr>
            <a:spLocks xmlns:a="http://schemas.openxmlformats.org/drawingml/2006/main" noGrp="1"/>
          </p:cNvSpPr>
          <p:nvPr/>
        </p:nvSpPr>
        <p:spPr>
          <a:xfrm xmlns:a="http://schemas.openxmlformats.org/drawingml/2006/main">
            <a:off x="952500" y="7524750"/>
            <a:ext cx="9953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5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Rust’s memory safety and performance make it a strong foundation for robotics. Still, numerical kernels can require substantial code for SIMD layouts and GPU execution. This code can obscure the equations, and each specialized version must be verified and maintained.</a:t>
            </a:r>
          </a:p>
        </p:txBody>
      </p:sp>
      <p:sp>
        <p:nvSpPr>
          <p:cNvPr id="817" name="Motivation Mech">
            <a:extLst xmlns:a="http://schemas.openxmlformats.org/drawingml/2006/main">
              <a:ext uri="{FF2B5EF4-FFF2-40B4-BE49-F238E27FC236}">
                <a16:creationId xmlns:a16="http://schemas.microsoft.com/office/drawing/2014/main" id="{DEE16B77-DA84-4EC8-8EF8-100B6EA5909D}"/>
              </a:ext>
            </a:extLst>
          </p:cNvPr>
          <p:cNvSpPr>
            <a:spLocks xmlns:a="http://schemas.openxmlformats.org/drawingml/2006/main" noGrp="1"/>
          </p:cNvSpPr>
          <p:nvPr/>
        </p:nvSpPr>
        <p:spPr>
          <a:xfrm xmlns:a="http://schemas.openxmlformats.org/drawingml/2006/main">
            <a:off x="11715750" y="7524750"/>
            <a:ext cx="9953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5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Mech is an open-source, Rust-native embeddable numerical language. For robotics, its reactive execution handles sensor updates and retains accepted state after rejected turns. The EKF results below show SIMD throughput comparable to Rust.</a:t>
            </a:r>
          </a:p>
        </p:txBody>
      </p:sp>
      <p:sp>
        <p:nvSpPr>
          <p:cNvPr id="818" name="Motivation scope and demo">
            <a:extLst xmlns:a="http://schemas.openxmlformats.org/drawingml/2006/main">
              <a:ext uri="{FF2B5EF4-FFF2-40B4-BE49-F238E27FC236}">
                <a16:creationId xmlns:a16="http://schemas.microsoft.com/office/drawing/2014/main" id="{F01A6859-AE51-4FA3-8C51-A58720F278CB}"/>
              </a:ext>
            </a:extLst>
          </p:cNvPr>
          <p:cNvSpPr>
            <a:spLocks xmlns:a="http://schemas.openxmlformats.org/drawingml/2006/main" noGrp="1"/>
          </p:cNvSpPr>
          <p:nvPr/>
        </p:nvSpPr>
        <p:spPr>
          <a:xfrm xmlns:a="http://schemas.openxmlformats.org/drawingml/2006/main">
            <a:off x="1190625" y="10029825"/>
            <a:ext cx="2000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2EAD9"/>
                </a:solidFill>
                <a:latin typeface="Avenir Next"/>
                <a:ea typeface="Avenir Next"/>
                <a:cs typeface="Avenir Next"/>
              </a:defRPr>
            </a:pPr>
            <a:r>
              <a:rPr sz="2100">
                <a:solidFill>
                  <a:srgbClr val="F2EAD9"/>
                </a:solidFill>
                <a:latin typeface="Avenir Next"/>
                <a:ea typeface="Avenir Next"/>
                <a:cs typeface="Avenir Next"/>
              </a:rPr>
              <a:t>Embedded numerical kernels are one use of Mech, which also has first-class state machines and pattern matching. </a:t>
            </a:r>
            <a:r>
              <a:rPr sz="2100" b="1">
                <a:solidFill>
                  <a:srgbClr val="F6C04E"/>
                </a:solidFill>
                <a:latin typeface="Avenir Next"/>
                <a:ea typeface="Avenir Next"/>
                <a:cs typeface="Avenir Next"/>
              </a:rPr>
              <a:t>Scan the QR at the bottom for a demo.</a:t>
            </a:r>
          </a:p>
        </p:txBody>
      </p:sp>
      <p:sp>
        <p:nvSpPr>
          <p:cNvPr id="823" name="Benchmark note 0">
            <a:extLst xmlns:a="http://schemas.openxmlformats.org/drawingml/2006/main">
              <a:ext uri="{FF2B5EF4-FFF2-40B4-BE49-F238E27FC236}">
                <a16:creationId xmlns:a16="http://schemas.microsoft.com/office/drawing/2014/main" id="{CC0DB177-484E-41EB-89BF-6763E656A03F}"/>
              </a:ext>
            </a:extLst>
          </p:cNvPr>
          <p:cNvSpPr>
            <a:spLocks xmlns:a="http://schemas.openxmlformats.org/drawingml/2006/main" noGrp="1"/>
          </p:cNvSpPr>
          <p:nvPr/>
        </p:nvSpPr>
        <p:spPr>
          <a:xfrm xmlns:a="http://schemas.openxmlformats.org/drawingml/2006/main">
            <a:off x="3829050" y="419862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Benchmark setup. Apple M1 (4P + 4E, 8-core GPU, 8 GB), macOS 15.6.1. f32, 500,000 filters × 40 turns, n=10. CPU: 8 workers, fused turns. Mech backends: per-turn publication.</a:t>
            </a:r>
          </a:p>
        </p:txBody>
      </p:sp>
      <p:sp>
        <p:nvSpPr>
          <p:cNvPr id="824" name="Benchmark note 1">
            <a:extLst xmlns:a="http://schemas.openxmlformats.org/drawingml/2006/main">
              <a:ext uri="{FF2B5EF4-FFF2-40B4-BE49-F238E27FC236}">
                <a16:creationId xmlns:a16="http://schemas.microsoft.com/office/drawing/2014/main" id="{CCFB6DA7-0564-4FEB-867A-2F2801D1B77C}"/>
              </a:ext>
            </a:extLst>
          </p:cNvPr>
          <p:cNvSpPr>
            <a:spLocks xmlns:a="http://schemas.openxmlformats.org/drawingml/2006/main" noGrp="1"/>
          </p:cNvSpPr>
          <p:nvPr/>
        </p:nvSpPr>
        <p:spPr>
          <a:xfrm xmlns:a="http://schemas.openxmlformats.org/drawingml/2006/main">
            <a:off x="3829050" y="422529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Rust 1.96.0-nightly ec818fda3/LLVM 22.1.0. Cranelift 0.131.3. Julia 1.12.6. Mojo 1.1.0/MAX 26.6.0. Futhark 0.27.1/ISPC 1.31.0/LLVM 22.1.8. Python 3.12.14/NumPy 2.2.6/Numba 0.61.2. Clang 17.0.0.</a:t>
            </a:r>
          </a:p>
        </p:txBody>
      </p:sp>
      <p:sp>
        <p:nvSpPr>
          <p:cNvPr id="825" name="Benchmark note 2">
            <a:extLst xmlns:a="http://schemas.openxmlformats.org/drawingml/2006/main">
              <a:ext uri="{FF2B5EF4-FFF2-40B4-BE49-F238E27FC236}">
                <a16:creationId xmlns:a16="http://schemas.microsoft.com/office/drawing/2014/main" id="{55C031D4-494D-43D3-9DCF-924C84FB2E0E}"/>
              </a:ext>
            </a:extLst>
          </p:cNvPr>
          <p:cNvSpPr>
            <a:spLocks xmlns:a="http://schemas.openxmlformats.org/drawingml/2006/main" noGrp="1"/>
          </p:cNvSpPr>
          <p:nvPr/>
        </p:nvSpPr>
        <p:spPr>
          <a:xfrm xmlns:a="http://schemas.openxmlformats.org/drawingml/2006/main">
            <a:off x="3829050" y="425196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Mech v0.4 development (package 0.3.6). Backend pairs f4b69052c, CPU eedc1c75b, dylibs dab98af1d. iros-workshop-benchmarks, benchmarks/iros-2026.</a:t>
            </a:r>
          </a:p>
        </p:txBody>
      </p:sp>
      <p:sp>
        <p:nvSpPr>
          <p:cNvPr id="826" name="Benchmark note 3">
            <a:extLst xmlns:a="http://schemas.openxmlformats.org/drawingml/2006/main">
              <a:ext uri="{FF2B5EF4-FFF2-40B4-BE49-F238E27FC236}">
                <a16:creationId xmlns:a16="http://schemas.microsoft.com/office/drawing/2014/main" id="{C5E5E0F0-C311-4005-8B3E-2162DF6FB474}"/>
              </a:ext>
            </a:extLst>
          </p:cNvPr>
          <p:cNvSpPr>
            <a:spLocks xmlns:a="http://schemas.openxmlformats.org/drawingml/2006/main" noGrp="1"/>
          </p:cNvSpPr>
          <p:nvPr/>
        </p:nvSpPr>
        <p:spPr>
          <a:xfrm xmlns:a="http://schemas.openxmlformats.org/drawingml/2006/main">
            <a:off x="3829050" y="427863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Dylibs: minimal native-ABI hosts, 1 worker, 10,000 filters × 200 turns, n=7. Whole-process peak RSS. Timing excludes compilation, loading and warmup.</a:t>
            </a:r>
          </a:p>
        </p:txBody>
      </p:sp>
      <p:sp>
        <p:nvSpPr>
          <p:cNvPr id="827" name="Benchmark marker 3">
            <a:extLst xmlns:a="http://schemas.openxmlformats.org/drawingml/2006/main">
              <a:ext uri="{FF2B5EF4-FFF2-40B4-BE49-F238E27FC236}">
                <a16:creationId xmlns:a16="http://schemas.microsoft.com/office/drawing/2014/main" id="{C3604088-F319-4527-9958-4B7FA5719E6E}"/>
              </a:ext>
            </a:extLst>
          </p:cNvPr>
          <p:cNvSpPr>
            <a:spLocks xmlns:a="http://schemas.openxmlformats.org/drawingml/2006/main" noGrp="1"/>
          </p:cNvSpPr>
          <p:nvPr/>
        </p:nvSpPr>
        <p:spPr>
          <a:xfrm xmlns:a="http://schemas.openxmlformats.org/drawingml/2006/main">
            <a:off x="3619500" y="427863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7CE6E"/>
                </a:solidFill>
                <a:latin typeface="Fira Code"/>
                <a:ea typeface="Fira Code"/>
                <a:cs typeface="Fira Code"/>
              </a:defRPr>
            </a:pPr>
            <a:r>
              <a:rPr sz="2100">
                <a:solidFill>
                  <a:srgbClr val="F7CE6E"/>
                </a:solidFill>
                <a:latin typeface="Fira Code"/>
                <a:ea typeface="Fira Code"/>
                <a:cs typeface="Fira Code"/>
              </a:rPr>
              <a:t>†</a:t>
            </a:r>
          </a:p>
        </p:txBody>
      </p:sp>
      <p:sp>
        <p:nvSpPr>
          <p:cNvPr id="832" name="Motivation information accent">
            <a:extLst xmlns:a="http://schemas.openxmlformats.org/drawingml/2006/main">
              <a:ext uri="{FF2B5EF4-FFF2-40B4-BE49-F238E27FC236}">
                <a16:creationId xmlns:a16="http://schemas.microsoft.com/office/drawing/2014/main" id="{0BCD3C3A-BD75-4527-9C78-47B07437846D}"/>
              </a:ext>
            </a:extLst>
          </p:cNvPr>
          <p:cNvSpPr>
            <a:spLocks xmlns:a="http://schemas.openxmlformats.org/drawingml/2006/main" noGrp="1"/>
          </p:cNvSpPr>
          <p:nvPr/>
        </p:nvSpPr>
        <p:spPr>
          <a:xfrm xmlns:a="http://schemas.openxmlformats.org/drawingml/2006/main">
            <a:off x="952500" y="10029825"/>
            <a:ext cx="57150" cy="361950"/>
          </a:xfrm>
          <a:prstGeom xmlns:a="http://schemas.openxmlformats.org/drawingml/2006/main" prst="rect">
            <a:avLst/>
          </a:prstGeom>
          <a:solidFill xmlns:a="http://schemas.openxmlformats.org/drawingml/2006/main">
            <a:srgbClr val="B89A5A"/>
          </a:solidFill>
          <a:ln xmlns:a="http://schemas.openxmlformats.org/drawingml/2006/main" w="0">
            <a:noFill/>
          </a:ln>
        </p:spPr>
      </p:sp>
      <p:sp>
        <p:nvSpPr>
          <p:cNvPr id="834" name="Visible dylib dagger">
            <a:extLst xmlns:a="http://schemas.openxmlformats.org/drawingml/2006/main">
              <a:ext uri="{FF2B5EF4-FFF2-40B4-BE49-F238E27FC236}">
                <a16:creationId xmlns:a16="http://schemas.microsoft.com/office/drawing/2014/main" id="{4484D0DE-2981-47C6-989F-D43F7EC7986F}"/>
              </a:ext>
            </a:extLst>
          </p:cNvPr>
          <p:cNvSpPr>
            <a:spLocks xmlns:a="http://schemas.openxmlformats.org/drawingml/2006/main" noGrp="1"/>
          </p:cNvSpPr>
          <p:nvPr/>
        </p:nvSpPr>
        <p:spPr>
          <a:xfrm xmlns:a="http://schemas.openxmlformats.org/drawingml/2006/main">
            <a:off x="14516100" y="12858750"/>
            <a:ext cx="342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550">
                <a:solidFill>
                  <a:srgbClr val="F6C04E"/>
                </a:solidFill>
                <a:latin typeface="Fira Code"/>
                <a:ea typeface="Fira Code"/>
                <a:cs typeface="Fira Code"/>
              </a:defRPr>
            </a:pPr>
            <a:r>
              <a:rPr sz="2550">
                <a:solidFill>
                  <a:srgbClr val="F6C04E"/>
                </a:solidFill>
                <a:latin typeface="Fira Code"/>
                <a:ea typeface="Fira Code"/>
                <a:cs typeface="Fira Code"/>
              </a:rPr>
              <a:t>†</a:t>
            </a:r>
          </a:p>
        </p:txBody>
      </p:sp>
      <p:sp>
        <p:nvSpPr>
          <p:cNvPr id="835" name="Activation information accent">
            <a:extLst xmlns:a="http://schemas.openxmlformats.org/drawingml/2006/main">
              <a:ext uri="{FF2B5EF4-FFF2-40B4-BE49-F238E27FC236}">
                <a16:creationId xmlns:a16="http://schemas.microsoft.com/office/drawing/2014/main" id="{2E220D12-8EA1-465F-8887-B9EBC5158EE3}"/>
              </a:ext>
            </a:extLst>
          </p:cNvPr>
          <p:cNvSpPr>
            <a:spLocks xmlns:a="http://schemas.openxmlformats.org/drawingml/2006/main" noGrp="1"/>
          </p:cNvSpPr>
          <p:nvPr/>
        </p:nvSpPr>
        <p:spPr>
          <a:xfrm xmlns:a="http://schemas.openxmlformats.org/drawingml/2006/main">
            <a:off x="17716500" y="21259800"/>
            <a:ext cx="57150" cy="1009650"/>
          </a:xfrm>
          <a:prstGeom xmlns:a="http://schemas.openxmlformats.org/drawingml/2006/main" prst="rect">
            <a:avLst/>
          </a:prstGeom>
          <a:solidFill xmlns:a="http://schemas.openxmlformats.org/drawingml/2006/main">
            <a:srgbClr val="B89A5A"/>
          </a:solidFill>
          <a:ln xmlns:a="http://schemas.openxmlformats.org/drawingml/2006/main" w="0">
            <a:noFill/>
          </a:ln>
        </p:spPr>
      </p:sp>
      <p:sp>
        <p:nvSpPr>
          <p:cNvPr id="836" name="Source comparison title continuation">
            <a:extLst xmlns:a="http://schemas.openxmlformats.org/drawingml/2006/main">
              <a:ext uri="{FF2B5EF4-FFF2-40B4-BE49-F238E27FC236}">
                <a16:creationId xmlns:a16="http://schemas.microsoft.com/office/drawing/2014/main" id="{5B87583D-9095-4EDF-BAB9-8547E9AEF640}"/>
              </a:ext>
            </a:extLst>
          </p:cNvPr>
          <p:cNvSpPr>
            <a:spLocks xmlns:a="http://schemas.openxmlformats.org/drawingml/2006/main" noGrp="1"/>
          </p:cNvSpPr>
          <p:nvPr/>
        </p:nvSpPr>
        <p:spPr>
          <a:xfrm xmlns:a="http://schemas.openxmlformats.org/drawingml/2006/main">
            <a:off x="25336500" y="34099500"/>
            <a:ext cx="695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850">
                <a:solidFill>
                  <a:srgbClr val="7FC7FF"/>
                </a:solidFill>
                <a:latin typeface="Fira Code"/>
                <a:ea typeface="Fira Code"/>
                <a:cs typeface="Fira Code"/>
              </a:defRPr>
            </a:pPr>
            <a:r>
              <a:rPr sz="2850" b="1">
                <a:solidFill>
                  <a:srgbClr val="7FC7FF"/>
                </a:solidFill>
                <a:latin typeface="Fira Code"/>
                <a:ea typeface="Fira Code"/>
                <a:cs typeface="Fira Code"/>
              </a:rPr>
              <a:t>source characters</a:t>
            </a:r>
          </a:p>
        </p:txBody>
      </p:sp>
      <p:sp>
        <p:nvSpPr>
          <p:cNvPr id="837" name="Normalization diamond reference">
            <a:extLst xmlns:a="http://schemas.openxmlformats.org/drawingml/2006/main">
              <a:ext uri="{FF2B5EF4-FFF2-40B4-BE49-F238E27FC236}">
                <a16:creationId xmlns:a16="http://schemas.microsoft.com/office/drawing/2014/main" id="{31B3873B-A372-41C5-B0CA-19C3287AFC79}"/>
              </a:ext>
            </a:extLst>
          </p:cNvPr>
          <p:cNvSpPr>
            <a:spLocks xmlns:a="http://schemas.openxmlformats.org/drawingml/2006/main" noGrp="1"/>
          </p:cNvSpPr>
          <p:nvPr/>
        </p:nvSpPr>
        <p:spPr>
          <a:xfrm xmlns:a="http://schemas.openxmlformats.org/drawingml/2006/main">
            <a:off x="25050750" y="34204275"/>
            <a:ext cx="133350" cy="133350"/>
          </a:xfrm>
          <a:prstGeom xmlns:a="http://schemas.openxmlformats.org/drawingml/2006/main" prst="diamond">
            <a:avLst/>
          </a:prstGeom>
          <a:solidFill xmlns:a="http://schemas.openxmlformats.org/drawingml/2006/main">
            <a:srgbClr val="F6C04E"/>
          </a:solidFill>
          <a:ln xmlns:a="http://schemas.openxmlformats.org/drawingml/2006/main" w="0">
            <a:noFill/>
          </a:ln>
        </p:spPr>
      </p:sp>
      <p:sp>
        <p:nvSpPr>
          <p:cNvPr id="838" name="Normalization diamond note">
            <a:extLst xmlns:a="http://schemas.openxmlformats.org/drawingml/2006/main">
              <a:ext uri="{FF2B5EF4-FFF2-40B4-BE49-F238E27FC236}">
                <a16:creationId xmlns:a16="http://schemas.microsoft.com/office/drawing/2014/main" id="{DEAB11C8-530D-461A-96D5-9F143B114A4E}"/>
              </a:ext>
            </a:extLst>
          </p:cNvPr>
          <p:cNvSpPr>
            <a:spLocks xmlns:a="http://schemas.openxmlformats.org/drawingml/2006/main" noGrp="1"/>
          </p:cNvSpPr>
          <p:nvPr/>
        </p:nvSpPr>
        <p:spPr>
          <a:xfrm xmlns:a="http://schemas.openxmlformats.org/drawingml/2006/main">
            <a:off x="22764750" y="41205150"/>
            <a:ext cx="133350" cy="133350"/>
          </a:xfrm>
          <a:prstGeom xmlns:a="http://schemas.openxmlformats.org/drawingml/2006/main" prst="diamond">
            <a:avLst/>
          </a:prstGeom>
          <a:solidFill xmlns:a="http://schemas.openxmlformats.org/drawingml/2006/main">
            <a:srgbClr val="F6C04E"/>
          </a:solidFill>
          <a:ln xmlns:a="http://schemas.openxmlformats.org/drawingml/2006/main" w="0">
            <a:noFill/>
          </a:ln>
        </p:spPr>
      </p:sp>
      <p:sp>
        <p:nvSpPr>
          <p:cNvPr id="839" name="GitHub repository link">
            <a:hlinkClick xmlns:r="http://schemas.openxmlformats.org/officeDocument/2006/relationships" r:id="rId2"/>
            <a:extLst xmlns:a="http://schemas.openxmlformats.org/drawingml/2006/main">
              <a:ext uri="{FF2B5EF4-FFF2-40B4-BE49-F238E27FC236}">
                <a16:creationId xmlns:a16="http://schemas.microsoft.com/office/drawing/2014/main" id="{6ADE8C1B-F812-47D9-8751-4D68ACA56770}"/>
              </a:ext>
            </a:extLst>
          </p:cNvPr>
          <p:cNvSpPr>
            <a:spLocks xmlns:a="http://schemas.openxmlformats.org/drawingml/2006/main" noGrp="1"/>
          </p:cNvSpPr>
          <p:nvPr/>
        </p:nvSpPr>
        <p:spPr>
          <a:xfrm xmlns:a="http://schemas.openxmlformats.org/drawingml/2006/main">
            <a:off x="2952750" y="4772025"/>
            <a:ext cx="4857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4000">
                <a:solidFill>
                  <a:srgbClr val="9EB3C2"/>
                </a:solidFill>
                <a:latin typeface="Fira Code"/>
                <a:ea typeface="Fira Code"/>
                <a:cs typeface="Fira Code"/>
              </a:defRPr>
            </a:pPr>
            <a:r>
              <a:rPr sz="4000" u="none">
                <a:solidFill>
                  <a:srgbClr val="9EB3C2"/>
                </a:solidFill>
                <a:latin typeface="Fira Code"/>
                <a:ea typeface="Fira Code"/>
                <a:cs typeface="Fira Code"/>
              </a:rPr>
              <a:t>mech-lang/mech</a:t>
            </a:r>
          </a:p>
        </p:txBody>
      </p:sp>
      <p:sp>
        <p:nvSpPr>
          <p:cNvPr id="840" name="QR invitation hook">
            <a:extLst xmlns:a="http://schemas.openxmlformats.org/drawingml/2006/main">
              <a:ext uri="{FF2B5EF4-FFF2-40B4-BE49-F238E27FC236}">
                <a16:creationId xmlns:a16="http://schemas.microsoft.com/office/drawing/2014/main" id="{5D82B73E-F2EC-47C0-9AFF-802F5EB68028}"/>
              </a:ext>
            </a:extLst>
          </p:cNvPr>
          <p:cNvSpPr>
            <a:spLocks xmlns:a="http://schemas.openxmlformats.org/drawingml/2006/main" noGrp="1"/>
          </p:cNvSpPr>
          <p:nvPr/>
        </p:nvSpPr>
        <p:spPr>
          <a:xfrm xmlns:a="http://schemas.openxmlformats.org/drawingml/2006/main">
            <a:off x="20240625" y="10096500"/>
            <a:ext cx="1066800" cy="809625"/>
          </a:xfrm>
          <a:custGeom>
            <a:avLst/>
            <a:gdLst/>
            <a:ahLst/>
            <a:cxnLst/>
            <a:rect l="0" t="0" r="r" b="b"/>
            <a:pathLst>
              <a:path w="1120" h="850" fill="none" stroke="1">
                <a:moveTo>
                  <a:pt x="0" y="130"/>
                </a:moveTo>
                <a:cubicBezTo>
                  <a:pt x="930" y="-40"/>
                  <a:pt x="1000" y="60"/>
                  <a:pt x="930" y="220"/>
                </a:cubicBezTo>
                <a:cubicBezTo>
                  <a:pt x="810" y="380"/>
                  <a:pt x="465" y="400"/>
                  <a:pt x="325" y="625"/>
                </a:cubicBezTo>
                <a:lnTo>
                  <a:pt x="185" y="850"/>
                </a:lnTo>
              </a:path>
            </a:pathLst>
          </a:custGeom>
          <a:noFill/>
          <a:ln w="42863" cap="rnd">
            <a:solidFill>
              <a:srgbClr val="F6C04E"/>
            </a:solidFill>
            <a:prstDash val="sysDot"/>
            <a:round/>
            <a:headEnd type="none"/>
            <a:tailEnd type="arrow" w="lg" len="lg"/>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41" name="Benchmark setup title reference">
            <a:extLst xmlns:a="http://schemas.openxmlformats.org/drawingml/2006/main">
              <a:ext uri="{FF2B5EF4-FFF2-40B4-BE49-F238E27FC236}">
                <a16:creationId xmlns:a16="http://schemas.microsoft.com/office/drawing/2014/main" id="{42D6F962-7EE6-4B9D-9E97-C1590F804BB5}"/>
              </a:ext>
            </a:extLst>
          </p:cNvPr>
          <p:cNvSpPr>
            <a:spLocks xmlns:a="http://schemas.openxmlformats.org/drawingml/2006/main" noGrp="1"/>
          </p:cNvSpPr>
          <p:nvPr/>
        </p:nvSpPr>
        <p:spPr>
          <a:xfrm xmlns:a="http://schemas.openxmlformats.org/drawingml/2006/main">
            <a:off x="9222391" y="29937075"/>
            <a:ext cx="323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400">
                <a:solidFill>
                  <a:srgbClr val="F6C04E"/>
                </a:solidFill>
                <a:latin typeface="Fira Code"/>
                <a:ea typeface="Fira Code"/>
                <a:cs typeface="Fira Code"/>
              </a:defRPr>
            </a:pPr>
            <a:r>
              <a:rPr sz="2400">
                <a:solidFill>
                  <a:srgbClr val="F6C04E"/>
                </a:solidFill>
                <a:latin typeface="Fira Code"/>
                <a:ea typeface="Fira Code"/>
                <a:cs typeface="Fira Code"/>
              </a:rPr>
              <a:t>‡</a:t>
            </a:r>
          </a:p>
        </p:txBody>
      </p:sp>
      <p:sp>
        <p:nvSpPr>
          <p:cNvPr id="842" name="EKF integrity constraint">
            <a:extLst xmlns:a="http://schemas.openxmlformats.org/drawingml/2006/main">
              <a:ext uri="{FF2B5EF4-FFF2-40B4-BE49-F238E27FC236}">
                <a16:creationId xmlns:a16="http://schemas.microsoft.com/office/drawing/2014/main" id="{BB9B39EC-5AB5-4A66-9059-747376F98062}"/>
              </a:ext>
            </a:extLst>
          </p:cNvPr>
          <p:cNvSpPr>
            <a:spLocks xmlns:a="http://schemas.openxmlformats.org/drawingml/2006/main" noGrp="1"/>
          </p:cNvSpPr>
          <p:nvPr/>
        </p:nvSpPr>
        <p:spPr>
          <a:xfrm xmlns:a="http://schemas.openxmlformats.org/drawingml/2006/main">
            <a:off x="23025735" y="3305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800">
                <a:solidFill>
                  <a:srgbClr val="EDDAF1"/>
                </a:solidFill>
                <a:latin typeface="Fira Code"/>
                <a:ea typeface="Fira Code"/>
                <a:cs typeface="Fira Code"/>
              </a:defRPr>
            </a:pPr>
            <a:r>
              <a:rPr sz="2800">
                <a:solidFill>
                  <a:srgbClr val="FFAA80"/>
                </a:solidFill>
                <a:latin typeface="Fira Code"/>
                <a:ea typeface="Fira Code"/>
                <a:cs typeface="Fira Code"/>
              </a:rPr>
              <a:t>variance!</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all</a:t>
            </a:r>
            <a:r>
              <a:rPr sz="2800">
                <a:solidFill>
                  <a:srgbClr val="AB7AB8"/>
                </a:solidFill>
                <a:latin typeface="Fira Code"/>
                <a:ea typeface="Fira Code"/>
                <a:cs typeface="Fira Code"/>
              </a:rPr>
              <a:t>(</a:t>
            </a:r>
            <a:r>
              <a:rPr sz="2800">
                <a:solidFill>
                  <a:srgbClr val="EDDAF1"/>
                </a:solidFill>
                <a:latin typeface="Fira Code"/>
                <a:ea typeface="Fira Code"/>
                <a:cs typeface="Fira Code"/>
              </a:rPr>
              <a:t>Σ₊</a:t>
            </a:r>
            <a:r>
              <a:rPr sz="2800">
                <a:solidFill>
                  <a:srgbClr val="AB7AB8"/>
                </a:solidFill>
                <a:latin typeface="Fira Code"/>
                <a:ea typeface="Fira Code"/>
                <a:cs typeface="Fira Code"/>
              </a:rPr>
              <a:t>[[</a:t>
            </a:r>
            <a:r>
              <a:rPr sz="2800">
                <a:solidFill>
                  <a:srgbClr val="93C1E8"/>
                </a:solidFill>
                <a:latin typeface="Fira Code"/>
                <a:ea typeface="Fira Code"/>
                <a:cs typeface="Fira Code"/>
              </a:rPr>
              <a:t>1 5 9</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&gt;</a:t>
            </a:r>
            <a:r>
              <a:rPr sz="2800">
                <a:solidFill>
                  <a:srgbClr val="EDDAF1"/>
                </a:solidFill>
                <a:latin typeface="Fira Code"/>
                <a:ea typeface="Fira Code"/>
                <a:cs typeface="Fira Code"/>
              </a:rPr>
              <a:t> </a:t>
            </a:r>
            <a:r>
              <a:rPr sz="2800">
                <a:solidFill>
                  <a:srgbClr val="93C1E8"/>
                </a:solidFill>
                <a:latin typeface="Fira Code"/>
                <a:ea typeface="Fira Code"/>
                <a:cs typeface="Fira Code"/>
              </a:rPr>
              <a:t>0</a:t>
            </a:r>
            <a:r>
              <a:rPr sz="2800">
                <a:solidFill>
                  <a:srgbClr val="AB7AB8"/>
                </a:solidFill>
                <a:latin typeface="Fira Code"/>
                <a:ea typeface="Fira Code"/>
                <a:cs typeface="Fira Code"/>
              </a:rPr>
              <a:t>)</a:t>
            </a:r>
          </a:p>
        </p:txBody>
      </p:sp>
      <p:sp>
        <p:nvSpPr>
          <p:cNvPr id="843" name="Contributions invitation">
            <a:hlinkClick xmlns:r="http://schemas.openxmlformats.org/officeDocument/2006/relationships" r:id="rId3"/>
            <a:extLst xmlns:a="http://schemas.openxmlformats.org/drawingml/2006/main">
              <a:ext uri="{FF2B5EF4-FFF2-40B4-BE49-F238E27FC236}">
                <a16:creationId xmlns:a16="http://schemas.microsoft.com/office/drawing/2014/main" id="{1CEF8EC6-C0BB-40D7-A6E6-C8E9F1B01E18}"/>
              </a:ext>
            </a:extLst>
          </p:cNvPr>
          <p:cNvSpPr>
            <a:spLocks xmlns:a="http://schemas.openxmlformats.org/drawingml/2006/main" noGrp="1"/>
          </p:cNvSpPr>
          <p:nvPr/>
        </p:nvSpPr>
        <p:spPr>
          <a:xfrm xmlns:a="http://schemas.openxmlformats.org/drawingml/2006/main">
            <a:off x="952500" y="41271825"/>
            <a:ext cx="2071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u="none">
                <a:solidFill>
                  <a:srgbClr val="F2EAD9"/>
                </a:solidFill>
                <a:latin typeface="Avenir Next"/>
                <a:ea typeface="Avenir Next"/>
                <a:cs typeface="Avenir Next"/>
              </a:rPr>
              <a:t>Contributions and bug reports are welcome on GitHub: </a:t>
            </a:r>
            <a:r>
              <a:rPr sz="1800" u="none">
                <a:solidFill>
                  <a:srgbClr val="F6C04E"/>
                </a:solidFill>
                <a:latin typeface="Avenir Next"/>
                <a:ea typeface="Avenir Next"/>
                <a:cs typeface="Avenir Next"/>
              </a:rPr>
              <a:t>mech-lang/mech</a:t>
            </a:r>
            <a:r>
              <a:rPr sz="1800" u="none">
                <a:solidFill>
                  <a:srgbClr val="F2EAD9"/>
                </a:solidFill>
                <a:latin typeface="Avenir Next"/>
                <a:ea typeface="Avenir Next"/>
                <a:cs typeface="Avenir Next"/>
              </a:rPr>
              <a:t>.</a:t>
            </a:r>
          </a:p>
        </p:txBody>
      </p:sp>
      <p:sp>
        <p:nvSpPr>
          <p:cNvPr id="844" name="Benchmark setup note reference">
            <a:extLst xmlns:a="http://schemas.openxmlformats.org/drawingml/2006/main">
              <a:ext uri="{FF2B5EF4-FFF2-40B4-BE49-F238E27FC236}">
                <a16:creationId xmlns:a16="http://schemas.microsoft.com/office/drawing/2014/main" id="{36FF6434-F66E-4F00-BD64-3B9D9AAAD5AB}"/>
              </a:ext>
            </a:extLst>
          </p:cNvPr>
          <p:cNvSpPr>
            <a:spLocks xmlns:a="http://schemas.openxmlformats.org/drawingml/2006/main" noGrp="1"/>
          </p:cNvSpPr>
          <p:nvPr/>
        </p:nvSpPr>
        <p:spPr>
          <a:xfrm xmlns:a="http://schemas.openxmlformats.org/drawingml/2006/main">
            <a:off x="3619500" y="419862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6C04E"/>
                </a:solidFill>
                <a:latin typeface="Fira Code"/>
                <a:ea typeface="Fira Code"/>
                <a:cs typeface="Fira Code"/>
              </a:defRPr>
            </a:pPr>
            <a:r>
              <a:rPr sz="2100">
                <a:solidFill>
                  <a:srgbClr val="F6C04E"/>
                </a:solidFill>
                <a:latin typeface="Fira Code"/>
                <a:ea typeface="Fira Code"/>
                <a:cs typeface="Fira Code"/>
              </a:rPr>
              <a:t>‡</a:t>
            </a:r>
          </a:p>
        </p:txBody>
      </p:sp>
      <p:pic>
        <p:nvPicPr>
          <p:cNvPr id="845" name="GitHub repository logo" descr="GitHub Invertocat logo">
            <a:hlinkClick xmlns:r="http://schemas.openxmlformats.org/officeDocument/2006/relationships" r:id="rId2"/>
          </p:cNvPr>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2278743" y="4912456"/>
            <a:ext cx="471714" cy="462088"/>
          </a:xfrm>
          <a:prstGeom xmlns:a="http://schemas.openxmlformats.org/drawingml/2006/main" prst="rect">
            <a:avLst/>
          </a:prstGeom>
        </p:spPr>
      </p:pic>
      <p:sp>
        <p:nvSpPr>
          <p:cNvPr id="848" name="Backend compilation note accent">
            <a:extLst xmlns:a="http://schemas.openxmlformats.org/drawingml/2006/main">
              <a:ext uri="{FF2B5EF4-FFF2-40B4-BE49-F238E27FC236}">
                <a16:creationId xmlns:a16="http://schemas.microsoft.com/office/drawing/2014/main" id="{47DA5003-0207-4DE4-BAE3-D8BAA5A0EE79}"/>
              </a:ext>
            </a:extLst>
          </p:cNvPr>
          <p:cNvSpPr>
            <a:spLocks xmlns:a="http://schemas.openxmlformats.org/drawingml/2006/main" noGrp="1"/>
          </p:cNvSpPr>
          <p:nvPr/>
        </p:nvSpPr>
        <p:spPr>
          <a:xfrm xmlns:a="http://schemas.openxmlformats.org/drawingml/2006/main">
            <a:off x="11715750" y="35652075"/>
            <a:ext cx="57150" cy="762000"/>
          </a:xfrm>
          <a:prstGeom xmlns:a="http://schemas.openxmlformats.org/drawingml/2006/main" prst="rect">
            <a:avLst/>
          </a:prstGeom>
          <a:solidFill xmlns:a="http://schemas.openxmlformats.org/drawingml/2006/main">
            <a:srgbClr val="B89A5A"/>
          </a:solidFill>
          <a:ln xmlns:a="http://schemas.openxmlformats.org/drawingml/2006/main" w="0">
            <a:noFill/>
          </a:ln>
        </p:spPr>
      </p:sp>
      <p:sp>
        <p:nvSpPr>
          <p:cNvPr id="849" name="QR human-readable URL">
            <a:hlinkClick xmlns:a="http://schemas.openxmlformats.org/drawingml/2006/main" xmlns:r="http://schemas.openxmlformats.org/officeDocument/2006/relationships" r:id="rIdPosterDemo"/>
            <a:extLst xmlns:a="http://schemas.openxmlformats.org/drawingml/2006/main">
              <a:ext uri="{FF2B5EF4-FFF2-40B4-BE49-F238E27FC236}">
                <a16:creationId xmlns:a16="http://schemas.microsoft.com/office/drawing/2014/main" id="{52057AC0-110B-4195-9C02-918AEEAB3DB7}"/>
              </a:ext>
            </a:extLst>
          </p:cNvPr>
          <p:cNvSpPr>
            <a:spLocks xmlns:a="http://schemas.openxmlformats.org/drawingml/2006/main" noGrp="1"/>
          </p:cNvSpPr>
          <p:nvPr/>
        </p:nvSpPr>
        <p:spPr>
          <a:xfrm xmlns:a="http://schemas.openxmlformats.org/drawingml/2006/main">
            <a:off x="3829050" y="416147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a:solidFill>
                  <a:srgbClr val="F6C04E"/>
                </a:solidFill>
                <a:latin typeface="Avenir Next"/>
                <a:ea typeface="Avenir Next"/>
                <a:cs typeface="Avenir Next"/>
              </a:defRPr>
            </a:pPr>
            <a:r>
              <a:rPr sz="2100">
                <a:solidFill>
                  <a:srgbClr val="F6C04E"/>
                </a:solidFill>
                <a:latin typeface="Avenir Next"/>
                <a:ea typeface="Avenir Next"/>
                <a:cs typeface="Avenir Next"/>
              </a:rPr>
              <a:t>mech-lang.org/iros-r4r-2026/</a:t>
            </a:r>
          </a:p>
        </p:txBody>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