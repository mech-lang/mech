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52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90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that expresses numerical algorithms as typed matrix equations. The bearing-only EKF below expresses prediction and correction at the matrix level.</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a typed dataflow artifact. Its ordinary backend uses nalgebra. Other backends specialize the graph without backend-specific source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Time and measurement updates remain explicit matrix equations. Backend code handles layout and batching for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3126700" y="41148000"/>
            <a:ext cx="9163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4298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4776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620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2873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4778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4783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6206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2873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58115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8593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87166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197643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Robots operate feedback loops over continuous data streams. Rust host drivers supply data directly or through ROS. Each turn checks candidate state against integrity constraints. Rejection notifies the caller and retains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4122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0669250"/>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0859750"/>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0621625"/>
            <a:ext cx="37433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690812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7955875"/>
            <a:ext cx="20716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interpretation, scalar/SIMD CPU, multicore, GPU and WebAssembly/WGPU, with more backends planned. The right chart runs one f32 EKF implementation of the displayed equations across targets. Checking validates integrity constraints. Omitting it can improve throughput while retaining per-turn publication. Mech’s specialized Cranelift backend and LLVM-compiled Rust have similar checked throughput. Mech’s unchecked median is 8% higher, a gap further Rust optimization may narrow.</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1942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1942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7181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8 workers, fused execution,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7181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Per-turn publication, median ± MAD</a:t>
            </a:r>
          </a:p>
        </p:txBody>
      </p:sp>
      <p:graphicFrame>
        <p:nvGraphicFramePr>
          <p:cNvPr id="681" name="Chart"/>
          <p:cNvGraphicFramePr/>
          <p:nvPr/>
        </p:nvGraphicFramePr>
        <p:xfrm>
          <a:off xmlns:a="http://schemas.openxmlformats.org/drawingml/2006/main" x="809625" y="310991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60045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8902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60045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8902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10991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6891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44330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406225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8164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4353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18952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80847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56263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18158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93575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55469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30886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6510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3560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8987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6037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31465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8514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3942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0992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6419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3469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5890200"/>
            <a:ext cx="995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CPU workers.</a:t>
            </a:r>
          </a:p>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576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4808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is a prerelease with implemented features that need further validation and hardening. Over the next year, we plan to expand limited research-robot deployments and gather feedback toward a v1.0 release in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8620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8048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22420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386012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2407563"/>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2407563"/>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2407563"/>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2407563"/>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1431250"/>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1431250"/>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492692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498645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498645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12218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12218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12218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525911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452449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530554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0859750"/>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002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002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1788438"/>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002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002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1478875"/>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33362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450306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0030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452687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09837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583180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583180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469356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469356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43078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588418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63842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376487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562225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471737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384107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419350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452687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57175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05087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476500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567940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176712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3830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0964525"/>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0907375"/>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0964525"/>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0907375"/>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0964525"/>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0907375"/>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0964525"/>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0907375"/>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383875"/>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2812375"/>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6510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6510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8987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8987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31465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31465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3942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3942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6419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6419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3560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3560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6037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6037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8514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8514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0992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0992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3469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3469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5735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622500" y="15144750"/>
            <a:ext cx="41433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 Rust-native embeddable language that aims to make numerical kernels easier to write in Rust. For robotics, it adds reactive semantics that process successive sensor updates, validate candidate state and retain the last accepted state when a turn fails.</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9715500"/>
            <a:ext cx="1952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This case study presents Mech’s numerical features within a functional language with first-class state machines and pattern matching.</a:t>
            </a:r>
          </a:p>
          <a:p xmlns:a="http://schemas.openxmlformats.org/drawingml/2006/main">
            <a:pPr algn="l">
              <a:lnSpc>
                <a:spcPct val="106000"/>
              </a:lnSpc>
              <a:buNone/>
              <a:defRPr sz="2100">
                <a:solidFill>
                  <a:srgbClr val="F2EAD9"/>
                </a:solidFill>
                <a:latin typeface="Avenir Next"/>
                <a:ea typeface="Avenir Next"/>
                <a:cs typeface="Avenir Next"/>
              </a:defRPr>
            </a:pPr>
            <a:r>
              <a:rPr sz="2100" b="1">
                <a:solidFill>
                  <a:srgbClr val="F6C04E"/>
                </a:solidFill>
                <a:latin typeface="Avenir Next"/>
                <a:ea typeface="Avenir Next"/>
                <a:cs typeface="Avenir Next"/>
              </a:rPr>
              <a:t>Scan the QR code below for a fuller demonstration.</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333750" y="4198620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CPU, 8-core GPU, 8 GB, macOS 15.6.1. Charts: f32, 500,000 filters × 40 turns, n=10. Median ± MAD.</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333750" y="4225290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333750" y="4251960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33375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9715500"/>
            <a:ext cx="57150" cy="647700"/>
          </a:xfrm>
          <a:prstGeom xmlns:a="http://schemas.openxmlformats.org/drawingml/2006/main" prst="rect">
            <a:avLst/>
          </a:prstGeom>
          <a:solidFill xmlns:a="http://schemas.openxmlformats.org/drawingml/2006/main">
            <a:srgbClr val="655943"/>
          </a:solidFill>
          <a:ln xmlns:a="http://schemas.openxmlformats.org/drawingml/2006/main" w="0">
            <a:noFill/>
          </a:ln>
        </p:spPr>
      </p:sp>
      <p:sp>
        <p:nvSpPr>
          <p:cNvPr id="833" name="Dotted downward demo arrow">
            <a:extLst xmlns:a="http://schemas.openxmlformats.org/drawingml/2006/main">
              <a:ext uri="{FF2B5EF4-FFF2-40B4-BE49-F238E27FC236}">
                <a16:creationId xmlns:a16="http://schemas.microsoft.com/office/drawing/2014/main" id="{F1F000F0-9E0E-44D5-8953-DE19D7432008}"/>
              </a:ext>
            </a:extLst>
          </p:cNvPr>
          <p:cNvSpPr>
            <a:spLocks xmlns:a="http://schemas.openxmlformats.org/drawingml/2006/main" noGrp="1"/>
          </p:cNvSpPr>
          <p:nvPr/>
        </p:nvSpPr>
        <p:spPr>
          <a:xfrm xmlns:a="http://schemas.openxmlformats.org/drawingml/2006/main">
            <a:off x="21316950" y="9553575"/>
            <a:ext cx="0" cy="809625"/>
          </a:xfrm>
          <a:prstGeom xmlns:a="http://schemas.openxmlformats.org/drawingml/2006/main" prst="line">
            <a:avLst/>
          </a:prstGeom>
          <a:noFill xmlns:a="http://schemas.openxmlformats.org/drawingml/2006/main"/>
          <a:ln xmlns:a="http://schemas.openxmlformats.org/drawingml/2006/main" w="47625" cap="rnd">
            <a:solidFill>
              <a:srgbClr val="F6C04E"/>
            </a:solidFill>
            <a:prstDash val="sysDot"/>
            <a:tailEnd type="arrow" w="lg" len="lg"/>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478000" y="125539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0621625"/>
            <a:ext cx="57150" cy="1162050"/>
          </a:xfrm>
          <a:prstGeom xmlns:a="http://schemas.openxmlformats.org/drawingml/2006/main" prst="rect">
            <a:avLst/>
          </a:prstGeom>
          <a:solidFill xmlns:a="http://schemas.openxmlformats.org/drawingml/2006/main">
            <a:srgbClr val="6B4A69"/>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