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Avenir Next is a body-prose design comparison, with Fira Code headings/code and Segoe UI chart measurements retained.</a:t>
            </a:r>
          </a:p>
          <a:p>
            <a:r>
              <a:t>GitHub Invertocat logo: GitHub Brand Toolkit, https://brand.github.com/foundations/logo. Original white asset: https://brand.github.com/GitHub_Logos.zip.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 Type="http://schemas.openxmlformats.org/officeDocument/2006/relationships/hyperlink" Target="https://mech-lang.org" TargetMode="External" Id="rId1"/><Relationship Type="http://schemas.openxmlformats.org/officeDocument/2006/relationships/hyperlink" Target="https://github.com/mech-lang/mech" TargetMode="External" Id="rId2"/><Relationship Type="http://schemas.openxmlformats.org/officeDocument/2006/relationships/hyperlink" Target="https://github.com/mech-lang/mech" TargetMode="External" Id="rId3"/><Relationship Type="http://schemas.openxmlformats.org/officeDocument/2006/relationships/image" Target="../media/github-invertocat-white.png" Id="rId4"/></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C85E00"/>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762000"/>
            <a:ext cx="0" cy="4962293"/>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hlinkClick xmlns:r="http://schemas.openxmlformats.org/officeDocument/2006/relationships" r:id="rId1"/>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7" y="4000500"/>
            <a:ext cx="7403335"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4000">
                <a:solidFill>
                  <a:srgbClr val="9EB3C2"/>
                </a:solidFill>
                <a:latin typeface="Fira Code"/>
                <a:ea typeface="Fira Code"/>
                <a:cs typeface="Fira Code"/>
              </a:defRPr>
            </a:pPr>
            <a:r>
              <a:rPr sz="4000" u="none">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1386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1652825"/>
            <a:ext cx="1476375" cy="14763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a:t>
            </a:r>
            <a:r>
              <a:rPr sz="2800">
                <a:solidFill>
                  <a:srgbClr val="99CCA4"/>
                </a:solidFill>
                <a:latin typeface="Fira Code"/>
                <a:ea typeface="Fira Code"/>
                <a:cs typeface="Fira Code"/>
              </a:rPr>
              <a:t>, </a:t>
            </a:r>
            <a:r>
              <a:rPr sz="2800">
                <a:solidFill>
                  <a:srgbClr val="BBDDC2"/>
                </a:solidFill>
                <a:latin typeface="Fira Code"/>
                <a:ea typeface="Fira Code"/>
                <a:cs typeface="Fira Code"/>
              </a:rPr>
              <a:t>logic</a:t>
            </a:r>
            <a:r>
              <a:rPr sz="2800">
                <a:solidFill>
                  <a:srgbClr val="99CCA4"/>
                </a:solidFill>
                <a:latin typeface="Fira Code"/>
                <a:ea typeface="Fira Code"/>
                <a:cs typeface="Fira Code"/>
              </a:rPr>
              <a:t>/</a:t>
            </a:r>
            <a:r>
              <a:rPr sz="2800">
                <a:solidFill>
                  <a:srgbClr val="BBDDC2"/>
                </a:solidFill>
                <a:latin typeface="Fira Code"/>
                <a:ea typeface="Fira Code"/>
                <a:cs typeface="Fira Code"/>
              </a:rPr>
              <a:t>all</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337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718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0992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28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offers a concrete syntax for typed matrix equations, illustrated by the bearing-only EKF below.</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857250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The kernel is shorter than both the textbook-style Rust implementation and the SIMD Rust implementation. SIMD Rust adds vector and batch support, while Mech reuses one numerical kernel across backends.</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0572750"/>
            <a:ext cx="9525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compiles this syntax to a typed dataflow artifact that can run in a nalgebra-based interpreter or compile for different host architectures without source changes or backend-specific annotations.</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D0DEE6"/>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719000"/>
            <a:ext cx="9525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EKF and candidate update alone use about three times as many normalized characters in Rust (1,024 or 1,119) as in Mech (356), before counting helpers or batching.</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195375"/>
            <a:ext cx="9525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SIMD and batch support adds 2,857 characters, over half the Rust SIMD source. Mech handles these operations in reusable compiler and runtime components.</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945725" y="41148000"/>
            <a:ext cx="93440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734675"/>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782425"/>
            <a:ext cx="2071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runs standalone or embeds in Rust, from a single numerical function to a reactive subsystem. Rust hosts can compile Mech source or load a dylib, and browser applications can embed it through WebAssembly.</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29254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592175"/>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782675"/>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AB7AB8"/>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mech!</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AB7AB8"/>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AB7AB8"/>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AB7AB8"/>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AB7AB8"/>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630775"/>
            <a:ext cx="9810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Compile Mech source from a file or inline macro, then submit updates as they arrive. Calls run synchronously.</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2925425"/>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592175"/>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D0DEE6"/>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D0DEE6"/>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D0DEE6"/>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D0DEE6"/>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116300"/>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8164175"/>
            <a:ext cx="1014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bundle stores the dylib and metadata for named inputs, exported state and initial values.</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02142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06917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models robot feedback loops over continuous sensor streams from Rust host drivers, through direct interfaces or ROS. Each update triggers a turn that computes and validates candidate state. Rejection notifies the caller and preserves prior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2050375"/>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30742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49792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926050" y="21259800"/>
            <a:ext cx="37433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Activation checks host availability and capabilities (resource permissions).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6987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575000"/>
            <a:ext cx="20716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Mech’s typed graph targets CPU/GPU and WebAssembly/WGPU. The right chart runs the same f32 EKF on five backends without source changes. Integrity checks add cost but can be disabled to increase throughput. The left chart compares a similar workload across languages used for numerical computing.</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037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0375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527625"/>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5276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Median ± MAD</a:t>
            </a:r>
          </a:p>
        </p:txBody>
      </p:sp>
      <p:graphicFrame>
        <p:nvGraphicFramePr>
          <p:cNvPr id="681" name="Chart"/>
          <p:cNvGraphicFramePr/>
          <p:nvPr/>
        </p:nvGraphicFramePr>
        <p:xfrm>
          <a:off xmlns:a="http://schemas.openxmlformats.org/drawingml/2006/main" x="80962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571875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56044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571875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56044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checked (bottom)</a:t>
            </a:r>
          </a:p>
        </p:txBody>
      </p:sp>
      <p:graphicFrame>
        <p:nvGraphicFramePr>
          <p:cNvPr id="686" name="Chart"/>
          <p:cNvGraphicFramePr/>
          <p:nvPr/>
        </p:nvGraphicFramePr>
        <p:xfrm>
          <a:off xmlns:a="http://schemas.openxmlformats.org/drawingml/2006/main" x="1157287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450816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426233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3881280"/>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36354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325439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300855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262750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238166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00061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175477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137372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12788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446053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4165533"/>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37082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34132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295600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266099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2203738"/>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190873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14514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156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906250" y="35604450"/>
            <a:ext cx="9763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SIMD JIT and AOT share the numerical compilation pipeline.</a:t>
            </a:r>
          </a:p>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1w/8w: one/eight workers. Worker scaling depends on host support.</a:t>
            </a:r>
          </a:p>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Performance specialists may further optimize these implementations.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6385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7290375"/>
            <a:ext cx="20716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v0.4-beta needs further validation and hardening. Over the next year, we plan to expand research-robot deployments and use feedback from users to guide work on additional hosts, an expanded standard library and language features. A v1.0 release candidate is planned for 2028.</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899535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89953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89953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893820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00"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098607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6C04E"/>
                </a:solidFill>
                <a:latin typeface="Avenir Next"/>
                <a:ea typeface="Avenir Next"/>
                <a:cs typeface="Avenir Next"/>
              </a:defRPr>
            </a:pPr>
            <a:r>
              <a:rPr sz="1800" b="0">
                <a:solidFill>
                  <a:srgbClr val="F6C04E"/>
                </a:solidFill>
                <a:latin typeface="Avenir Next"/>
                <a:ea typeface="Avenir Next"/>
                <a:cs typeface="Avenir Next"/>
              </a:rPr>
              <a:t>Experience this poster as a live reactive program: CPU/WGPU in WebAssembly.</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831675"/>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045738"/>
            <a:ext cx="666750" cy="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04573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04573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045738"/>
            <a:ext cx="6667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069425"/>
            <a:ext cx="0" cy="357188"/>
          </a:xfrm>
          <a:prstGeom xmlns:a="http://schemas.openxmlformats.org/drawingml/2006/main" prst="straightConnector1">
            <a:avLst/>
          </a:prstGeom>
          <a:ln xmlns:a="http://schemas.openxmlformats.org/drawingml/2006/main" w="38100">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069425"/>
            <a:ext cx="0" cy="57150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898475"/>
            <a:ext cx="0" cy="171450"/>
          </a:xfrm>
          <a:prstGeom xmlns:a="http://schemas.openxmlformats.org/drawingml/2006/main" prst="straightConnector1">
            <a:avLst/>
          </a:prstGeom>
          <a:ln xmlns:a="http://schemas.openxmlformats.org/drawingml/2006/main" w="38100">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9580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9580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6093738"/>
            <a:ext cx="809625" cy="1"/>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6093738"/>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6093738"/>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6230660"/>
            <a:ext cx="1131094" cy="857250"/>
          </a:xfrm>
          <a:prstGeom xmlns:a="http://schemas.openxmlformats.org/drawingml/2006/main" prst="curvedConnector3">
            <a:avLst>
              <a:gd name="adj1" fmla="val 50000"/>
            </a:avLst>
          </a:prstGeom>
          <a:ln xmlns:a="http://schemas.openxmlformats.org/drawingml/2006/main" w="38100">
            <a:solidFill>
              <a:srgbClr val="EF948D"/>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496044"/>
            <a:ext cx="528638"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277094"/>
            <a:ext cx="1033462"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49792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64092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64092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42661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64092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64092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computation</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11705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173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474613"/>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9745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4984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60699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8033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8033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665113"/>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665113"/>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27935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855738"/>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3558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F948D"/>
                </a:solidFill>
                <a:latin typeface="Fira Code"/>
                <a:ea typeface="Fira Code"/>
                <a:cs typeface="Fira Code"/>
              </a:defRPr>
            </a:pPr>
            <a:r>
              <a:rPr sz="1875" b="1">
                <a:solidFill>
                  <a:srgbClr val="EF948D"/>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736425"/>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593800"/>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688925"/>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8126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EKF state telemetry</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165050"/>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498425"/>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6890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7022425"/>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736550"/>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650950"/>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419350" y="41757600"/>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w="42863" cap="rnd">
            <a:solidFill>
              <a:srgbClr val="F6C04E"/>
            </a:solidFill>
            <a:prstDash val="sysDot"/>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687800"/>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4022050"/>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450550"/>
            <a:ext cx="0" cy="571500"/>
          </a:xfrm>
          <a:prstGeom xmlns:a="http://schemas.openxmlformats.org/drawingml/2006/main" prst="straightConnector1">
            <a:avLst/>
          </a:prstGeom>
          <a:ln xmlns:a="http://schemas.openxmlformats.org/drawingml/2006/main" w="38100">
            <a:solidFill>
              <a:srgbClr val="EF948D"/>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446053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446053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37082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37082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295600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295600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2203738"/>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2203738"/>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14514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14514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4165533"/>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4165533"/>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34132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34132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266099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266099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190873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190873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156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156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6878300"/>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AB7AB8"/>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AB7AB8"/>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AB7AB8"/>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7146250" y="15176497"/>
            <a:ext cx="4857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+&gt; import library</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mutable</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define</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assign</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matrix multiply</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transpose</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  broadcast multiply</a:t>
            </a:r>
          </a:p>
          <a:p xmlns:a="http://schemas.openxmlformats.org/drawingml/2006/main">
            <a:pPr algn="l">
              <a:lnSpc>
                <a:spcPts val="3000"/>
              </a:lnSpc>
              <a:buNone/>
              <a:defRPr sz="2250">
                <a:solidFill>
                  <a:srgbClr val="BDCFDB"/>
                </a:solidFill>
                <a:latin typeface="Fira Code"/>
                <a:ea typeface="Fira Code"/>
                <a:cs typeface="Fira Code"/>
              </a:defRPr>
            </a:pPr>
            <a:r>
              <a:rPr sz="2250">
                <a:solidFill>
                  <a:srgbClr val="BDCFDB"/>
                </a:solidFill>
                <a:latin typeface="Fira Code"/>
                <a:ea typeface="Fira Code"/>
                <a:cs typeface="Fira Code"/>
              </a:rPr>
              <a:t>-- x! integrity constraint</a:t>
            </a:r>
          </a:p>
        </p:txBody>
      </p:sp>
      <p:sp>
        <p:nvSpPr>
          <p:cNvPr id="816" name="Motivation Rust">
            <a:extLst xmlns:a="http://schemas.openxmlformats.org/drawingml/2006/main">
              <a:ext uri="{FF2B5EF4-FFF2-40B4-BE49-F238E27FC236}">
                <a16:creationId xmlns:a16="http://schemas.microsoft.com/office/drawing/2014/main" id="{68FFA313-5A71-40BE-9812-76E8E24DE968}"/>
              </a:ext>
            </a:extLst>
          </p:cNvPr>
          <p:cNvSpPr>
            <a:spLocks xmlns:a="http://schemas.openxmlformats.org/drawingml/2006/main" noGrp="1"/>
          </p:cNvSpPr>
          <p:nvPr/>
        </p:nvSpPr>
        <p:spPr>
          <a:xfrm xmlns:a="http://schemas.openxmlformats.org/drawingml/2006/main">
            <a:off x="952500" y="7524750"/>
            <a:ext cx="9953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5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Rust’s memory safety and performance make it a strong foundation for robotics. Numerical kernels can still require substantial code for SIMD layouts and GPU execution. This code can obscure the equations, and each specialized version must be verified and maintained.</a:t>
            </a:r>
          </a:p>
        </p:txBody>
      </p:sp>
      <p:sp>
        <p:nvSpPr>
          <p:cNvPr id="817" name="Motivation Mech">
            <a:extLst xmlns:a="http://schemas.openxmlformats.org/drawingml/2006/main">
              <a:ext uri="{FF2B5EF4-FFF2-40B4-BE49-F238E27FC236}">
                <a16:creationId xmlns:a16="http://schemas.microsoft.com/office/drawing/2014/main" id="{DEE16B77-DA84-4EC8-8EF8-100B6EA5909D}"/>
              </a:ext>
            </a:extLst>
          </p:cNvPr>
          <p:cNvSpPr>
            <a:spLocks xmlns:a="http://schemas.openxmlformats.org/drawingml/2006/main" noGrp="1"/>
          </p:cNvSpPr>
          <p:nvPr/>
        </p:nvSpPr>
        <p:spPr>
          <a:xfrm xmlns:a="http://schemas.openxmlformats.org/drawingml/2006/main">
            <a:off x="11715750" y="7524750"/>
            <a:ext cx="9953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5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Mech is an open-source, Rust-native embeddable language that simplifies numerical code. For robotics, its reactive runtime reduces the host code needed to handle sensor streams, validate updates and recover from rejected turns without losing the last accepted state.</a:t>
            </a:r>
          </a:p>
        </p:txBody>
      </p:sp>
      <p:sp>
        <p:nvSpPr>
          <p:cNvPr id="818" name="Motivation scope and demo">
            <a:extLst xmlns:a="http://schemas.openxmlformats.org/drawingml/2006/main">
              <a:ext uri="{FF2B5EF4-FFF2-40B4-BE49-F238E27FC236}">
                <a16:creationId xmlns:a16="http://schemas.microsoft.com/office/drawing/2014/main" id="{F01A6859-AE51-4FA3-8C51-A58720F278CB}"/>
              </a:ext>
            </a:extLst>
          </p:cNvPr>
          <p:cNvSpPr>
            <a:spLocks xmlns:a="http://schemas.openxmlformats.org/drawingml/2006/main" noGrp="1"/>
          </p:cNvSpPr>
          <p:nvPr/>
        </p:nvSpPr>
        <p:spPr>
          <a:xfrm xmlns:a="http://schemas.openxmlformats.org/drawingml/2006/main">
            <a:off x="1190625" y="10029825"/>
            <a:ext cx="2000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2EAD9"/>
                </a:solidFill>
                <a:latin typeface="Avenir Next"/>
                <a:ea typeface="Avenir Next"/>
                <a:cs typeface="Avenir Next"/>
              </a:defRPr>
            </a:pPr>
            <a:r>
              <a:rPr sz="2100">
                <a:solidFill>
                  <a:srgbClr val="F2EAD9"/>
                </a:solidFill>
                <a:latin typeface="Avenir Next"/>
                <a:ea typeface="Avenir Next"/>
                <a:cs typeface="Avenir Next"/>
              </a:rPr>
              <a:t>Embedded numerical kernels are one use of Mech’s full language, which also has first-class state machines and pattern matching: </a:t>
            </a:r>
            <a:r>
              <a:rPr sz="2100" b="1">
                <a:solidFill>
                  <a:srgbClr val="F6C04E"/>
                </a:solidFill>
                <a:latin typeface="Avenir Next"/>
                <a:ea typeface="Avenir Next"/>
                <a:cs typeface="Avenir Next"/>
              </a:rPr>
              <a:t>see the QR demo below.</a:t>
            </a:r>
          </a:p>
        </p:txBody>
      </p:sp>
      <p:sp>
        <p:nvSpPr>
          <p:cNvPr id="823" name="Benchmark note 0">
            <a:extLst xmlns:a="http://schemas.openxmlformats.org/drawingml/2006/main">
              <a:ext uri="{FF2B5EF4-FFF2-40B4-BE49-F238E27FC236}">
                <a16:creationId xmlns:a16="http://schemas.microsoft.com/office/drawing/2014/main" id="{CC0DB177-484E-41EB-89BF-6763E656A03F}"/>
              </a:ext>
            </a:extLst>
          </p:cNvPr>
          <p:cNvSpPr>
            <a:spLocks xmlns:a="http://schemas.openxmlformats.org/drawingml/2006/main" noGrp="1"/>
          </p:cNvSpPr>
          <p:nvPr/>
        </p:nvSpPr>
        <p:spPr>
          <a:xfrm xmlns:a="http://schemas.openxmlformats.org/drawingml/2006/main">
            <a:off x="3829050" y="419862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Benchmark setup. Apple M1 (4P + 4E, 8-core GPU, 8 GB), macOS 15.6.1. f32, 500,000 filters × 40 turns, n=10. CPU: 8 workers, fused turns. Mech backends: per-turn publication.</a:t>
            </a:r>
          </a:p>
        </p:txBody>
      </p:sp>
      <p:sp>
        <p:nvSpPr>
          <p:cNvPr id="824" name="Benchmark note 1">
            <a:extLst xmlns:a="http://schemas.openxmlformats.org/drawingml/2006/main">
              <a:ext uri="{FF2B5EF4-FFF2-40B4-BE49-F238E27FC236}">
                <a16:creationId xmlns:a16="http://schemas.microsoft.com/office/drawing/2014/main" id="{CCFB6DA7-0564-4FEB-867A-2F2801D1B77C}"/>
              </a:ext>
            </a:extLst>
          </p:cNvPr>
          <p:cNvSpPr>
            <a:spLocks xmlns:a="http://schemas.openxmlformats.org/drawingml/2006/main" noGrp="1"/>
          </p:cNvSpPr>
          <p:nvPr/>
        </p:nvSpPr>
        <p:spPr>
          <a:xfrm xmlns:a="http://schemas.openxmlformats.org/drawingml/2006/main">
            <a:off x="3829050" y="422529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Rust 1.96.0-nightly ec818fda3/LLVM 22.1.0. Cranelift 0.131.3. Julia 1.12.6. Mojo 1.1.0/MAX 26.6.0. Futhark 0.27.1/ISPC 1.31.0/LLVM 22.1.8. Python 3.12.14/NumPy 2.2.6/Numba 0.61.2. Clang 17.0.0.</a:t>
            </a:r>
          </a:p>
        </p:txBody>
      </p:sp>
      <p:sp>
        <p:nvSpPr>
          <p:cNvPr id="825" name="Benchmark note 2">
            <a:extLst xmlns:a="http://schemas.openxmlformats.org/drawingml/2006/main">
              <a:ext uri="{FF2B5EF4-FFF2-40B4-BE49-F238E27FC236}">
                <a16:creationId xmlns:a16="http://schemas.microsoft.com/office/drawing/2014/main" id="{55C031D4-494D-43D3-9DCF-924C84FB2E0E}"/>
              </a:ext>
            </a:extLst>
          </p:cNvPr>
          <p:cNvSpPr>
            <a:spLocks xmlns:a="http://schemas.openxmlformats.org/drawingml/2006/main" noGrp="1"/>
          </p:cNvSpPr>
          <p:nvPr/>
        </p:nvSpPr>
        <p:spPr>
          <a:xfrm xmlns:a="http://schemas.openxmlformats.org/drawingml/2006/main">
            <a:off x="3829050" y="425196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Mech v0.4 development (package 0.3.6). Backend pairs f4b69052c, CPU eedc1c75b, dylibs dab98af1d. iros-workshop-benchmarks, benchmarks/iros-2026.</a:t>
            </a:r>
          </a:p>
        </p:txBody>
      </p:sp>
      <p:sp>
        <p:nvSpPr>
          <p:cNvPr id="826" name="Benchmark note 3">
            <a:extLst xmlns:a="http://schemas.openxmlformats.org/drawingml/2006/main">
              <a:ext uri="{FF2B5EF4-FFF2-40B4-BE49-F238E27FC236}">
                <a16:creationId xmlns:a16="http://schemas.microsoft.com/office/drawing/2014/main" id="{C5E5E0F0-C311-4005-8B3E-2162DF6FB474}"/>
              </a:ext>
            </a:extLst>
          </p:cNvPr>
          <p:cNvSpPr>
            <a:spLocks xmlns:a="http://schemas.openxmlformats.org/drawingml/2006/main" noGrp="1"/>
          </p:cNvSpPr>
          <p:nvPr/>
        </p:nvSpPr>
        <p:spPr>
          <a:xfrm xmlns:a="http://schemas.openxmlformats.org/drawingml/2006/main">
            <a:off x="3829050" y="427863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Dylibs: minimal native-ABI hosts, 1 worker, 10,000 filters × 200 turns, n=7. Whole-process peak RSS. Timing excludes compilation, loading and warmup.</a:t>
            </a:r>
          </a:p>
        </p:txBody>
      </p:sp>
      <p:sp>
        <p:nvSpPr>
          <p:cNvPr id="827" name="Benchmark marker 3">
            <a:extLst xmlns:a="http://schemas.openxmlformats.org/drawingml/2006/main">
              <a:ext uri="{FF2B5EF4-FFF2-40B4-BE49-F238E27FC236}">
                <a16:creationId xmlns:a16="http://schemas.microsoft.com/office/drawing/2014/main" id="{C3604088-F319-4527-9958-4B7FA5719E6E}"/>
              </a:ext>
            </a:extLst>
          </p:cNvPr>
          <p:cNvSpPr>
            <a:spLocks xmlns:a="http://schemas.openxmlformats.org/drawingml/2006/main" noGrp="1"/>
          </p:cNvSpPr>
          <p:nvPr/>
        </p:nvSpPr>
        <p:spPr>
          <a:xfrm xmlns:a="http://schemas.openxmlformats.org/drawingml/2006/main">
            <a:off x="3619500" y="427863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7CE6E"/>
                </a:solidFill>
                <a:latin typeface="Fira Code"/>
                <a:ea typeface="Fira Code"/>
                <a:cs typeface="Fira Code"/>
              </a:defRPr>
            </a:pPr>
            <a:r>
              <a:rPr sz="2100">
                <a:solidFill>
                  <a:srgbClr val="F7CE6E"/>
                </a:solidFill>
                <a:latin typeface="Fira Code"/>
                <a:ea typeface="Fira Code"/>
                <a:cs typeface="Fira Code"/>
              </a:rPr>
              <a:t>†</a:t>
            </a:r>
          </a:p>
        </p:txBody>
      </p:sp>
      <p:sp>
        <p:nvSpPr>
          <p:cNvPr id="832" name="Motivation information accent">
            <a:extLst xmlns:a="http://schemas.openxmlformats.org/drawingml/2006/main">
              <a:ext uri="{FF2B5EF4-FFF2-40B4-BE49-F238E27FC236}">
                <a16:creationId xmlns:a16="http://schemas.microsoft.com/office/drawing/2014/main" id="{0BCD3C3A-BD75-4527-9C78-47B07437846D}"/>
              </a:ext>
            </a:extLst>
          </p:cNvPr>
          <p:cNvSpPr>
            <a:spLocks xmlns:a="http://schemas.openxmlformats.org/drawingml/2006/main" noGrp="1"/>
          </p:cNvSpPr>
          <p:nvPr/>
        </p:nvSpPr>
        <p:spPr>
          <a:xfrm xmlns:a="http://schemas.openxmlformats.org/drawingml/2006/main">
            <a:off x="952500" y="10029825"/>
            <a:ext cx="57150" cy="3619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4" name="Visible dylib dagger">
            <a:extLst xmlns:a="http://schemas.openxmlformats.org/drawingml/2006/main">
              <a:ext uri="{FF2B5EF4-FFF2-40B4-BE49-F238E27FC236}">
                <a16:creationId xmlns:a16="http://schemas.microsoft.com/office/drawing/2014/main" id="{4484D0DE-2981-47C6-989F-D43F7EC7986F}"/>
              </a:ext>
            </a:extLst>
          </p:cNvPr>
          <p:cNvSpPr>
            <a:spLocks xmlns:a="http://schemas.openxmlformats.org/drawingml/2006/main" noGrp="1"/>
          </p:cNvSpPr>
          <p:nvPr/>
        </p:nvSpPr>
        <p:spPr>
          <a:xfrm xmlns:a="http://schemas.openxmlformats.org/drawingml/2006/main">
            <a:off x="14516100" y="12858750"/>
            <a:ext cx="34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550">
                <a:solidFill>
                  <a:srgbClr val="F6C04E"/>
                </a:solidFill>
                <a:latin typeface="Fira Code"/>
                <a:ea typeface="Fira Code"/>
                <a:cs typeface="Fira Code"/>
              </a:defRPr>
            </a:pPr>
            <a:r>
              <a:rPr sz="2550">
                <a:solidFill>
                  <a:srgbClr val="F6C04E"/>
                </a:solidFill>
                <a:latin typeface="Fira Code"/>
                <a:ea typeface="Fira Code"/>
                <a:cs typeface="Fira Code"/>
              </a:rPr>
              <a:t>†</a:t>
            </a:r>
          </a:p>
        </p:txBody>
      </p:sp>
      <p:sp>
        <p:nvSpPr>
          <p:cNvPr id="835" name="Activation information accent">
            <a:extLst xmlns:a="http://schemas.openxmlformats.org/drawingml/2006/main">
              <a:ext uri="{FF2B5EF4-FFF2-40B4-BE49-F238E27FC236}">
                <a16:creationId xmlns:a16="http://schemas.microsoft.com/office/drawing/2014/main" id="{2E220D12-8EA1-465F-8887-B9EBC5158EE3}"/>
              </a:ext>
            </a:extLst>
          </p:cNvPr>
          <p:cNvSpPr>
            <a:spLocks xmlns:a="http://schemas.openxmlformats.org/drawingml/2006/main" noGrp="1"/>
          </p:cNvSpPr>
          <p:nvPr/>
        </p:nvSpPr>
        <p:spPr>
          <a:xfrm xmlns:a="http://schemas.openxmlformats.org/drawingml/2006/main">
            <a:off x="17716500" y="21259800"/>
            <a:ext cx="57150" cy="10096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6" name="Source comparison title continuation">
            <a:extLst xmlns:a="http://schemas.openxmlformats.org/drawingml/2006/main">
              <a:ext uri="{FF2B5EF4-FFF2-40B4-BE49-F238E27FC236}">
                <a16:creationId xmlns:a16="http://schemas.microsoft.com/office/drawing/2014/main" id="{5B87583D-9095-4EDF-BAB9-8547E9AEF640}"/>
              </a:ext>
            </a:extLst>
          </p:cNvPr>
          <p:cNvSpPr>
            <a:spLocks xmlns:a="http://schemas.openxmlformats.org/drawingml/2006/main" noGrp="1"/>
          </p:cNvSpPr>
          <p:nvPr/>
        </p:nvSpPr>
        <p:spPr>
          <a:xfrm xmlns:a="http://schemas.openxmlformats.org/drawingml/2006/main">
            <a:off x="25336500" y="3409950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50">
                <a:solidFill>
                  <a:srgbClr val="7FC7FF"/>
                </a:solidFill>
                <a:latin typeface="Fira Code"/>
                <a:ea typeface="Fira Code"/>
                <a:cs typeface="Fira Code"/>
              </a:defRPr>
            </a:pPr>
            <a:r>
              <a:rPr sz="2850" b="1">
                <a:solidFill>
                  <a:srgbClr val="7FC7FF"/>
                </a:solidFill>
                <a:latin typeface="Fira Code"/>
                <a:ea typeface="Fira Code"/>
                <a:cs typeface="Fira Code"/>
              </a:rPr>
              <a:t>source characters</a:t>
            </a:r>
          </a:p>
        </p:txBody>
      </p:sp>
      <p:sp>
        <p:nvSpPr>
          <p:cNvPr id="837" name="Normalization diamond reference">
            <a:extLst xmlns:a="http://schemas.openxmlformats.org/drawingml/2006/main">
              <a:ext uri="{FF2B5EF4-FFF2-40B4-BE49-F238E27FC236}">
                <a16:creationId xmlns:a16="http://schemas.microsoft.com/office/drawing/2014/main" id="{31B3873B-A372-41C5-B0CA-19C3287AFC79}"/>
              </a:ext>
            </a:extLst>
          </p:cNvPr>
          <p:cNvSpPr>
            <a:spLocks xmlns:a="http://schemas.openxmlformats.org/drawingml/2006/main" noGrp="1"/>
          </p:cNvSpPr>
          <p:nvPr/>
        </p:nvSpPr>
        <p:spPr>
          <a:xfrm xmlns:a="http://schemas.openxmlformats.org/drawingml/2006/main">
            <a:off x="25050750" y="34204275"/>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8" name="Normalization diamond note">
            <a:extLst xmlns:a="http://schemas.openxmlformats.org/drawingml/2006/main">
              <a:ext uri="{FF2B5EF4-FFF2-40B4-BE49-F238E27FC236}">
                <a16:creationId xmlns:a16="http://schemas.microsoft.com/office/drawing/2014/main" id="{DEAB11C8-530D-461A-96D5-9F143B114A4E}"/>
              </a:ext>
            </a:extLst>
          </p:cNvPr>
          <p:cNvSpPr>
            <a:spLocks xmlns:a="http://schemas.openxmlformats.org/drawingml/2006/main" noGrp="1"/>
          </p:cNvSpPr>
          <p:nvPr/>
        </p:nvSpPr>
        <p:spPr>
          <a:xfrm xmlns:a="http://schemas.openxmlformats.org/drawingml/2006/main">
            <a:off x="22764750" y="41205150"/>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9" name="GitHub repository link">
            <a:hlinkClick xmlns:r="http://schemas.openxmlformats.org/officeDocument/2006/relationships" r:id="rId2"/>
            <a:extLst xmlns:a="http://schemas.openxmlformats.org/drawingml/2006/main">
              <a:ext uri="{FF2B5EF4-FFF2-40B4-BE49-F238E27FC236}">
                <a16:creationId xmlns:a16="http://schemas.microsoft.com/office/drawing/2014/main" id="{6ADE8C1B-F812-47D9-8751-4D68ACA56770}"/>
              </a:ext>
            </a:extLst>
          </p:cNvPr>
          <p:cNvSpPr>
            <a:spLocks xmlns:a="http://schemas.openxmlformats.org/drawingml/2006/main" noGrp="1"/>
          </p:cNvSpPr>
          <p:nvPr/>
        </p:nvSpPr>
        <p:spPr>
          <a:xfrm xmlns:a="http://schemas.openxmlformats.org/drawingml/2006/main">
            <a:off x="2952750" y="4772025"/>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4000">
                <a:solidFill>
                  <a:srgbClr val="9EB3C2"/>
                </a:solidFill>
                <a:latin typeface="Fira Code"/>
                <a:ea typeface="Fira Code"/>
                <a:cs typeface="Fira Code"/>
              </a:defRPr>
            </a:pPr>
            <a:r>
              <a:rPr sz="4000" u="none">
                <a:solidFill>
                  <a:srgbClr val="9EB3C2"/>
                </a:solidFill>
                <a:latin typeface="Fira Code"/>
                <a:ea typeface="Fira Code"/>
                <a:cs typeface="Fira Code"/>
              </a:rPr>
              <a:t>mech-lang/mech</a:t>
            </a:r>
          </a:p>
        </p:txBody>
      </p:sp>
      <p:sp>
        <p:nvSpPr>
          <p:cNvPr id="840" name="QR invitation hook">
            <a:extLst xmlns:a="http://schemas.openxmlformats.org/drawingml/2006/main">
              <a:ext uri="{FF2B5EF4-FFF2-40B4-BE49-F238E27FC236}">
                <a16:creationId xmlns:a16="http://schemas.microsoft.com/office/drawing/2014/main" id="{5D82B73E-F2EC-47C0-9AFF-802F5EB68028}"/>
              </a:ext>
            </a:extLst>
          </p:cNvPr>
          <p:cNvSpPr>
            <a:spLocks xmlns:a="http://schemas.openxmlformats.org/drawingml/2006/main" noGrp="1"/>
          </p:cNvSpPr>
          <p:nvPr/>
        </p:nvSpPr>
        <p:spPr>
          <a:xfrm xmlns:a="http://schemas.openxmlformats.org/drawingml/2006/main">
            <a:off x="20240625" y="10096500"/>
            <a:ext cx="1066800" cy="809625"/>
          </a:xfrm>
          <a:custGeom>
            <a:avLst/>
            <a:gdLst/>
            <a:ahLst/>
            <a:cxnLst/>
            <a:rect l="0" t="0" r="r" b="b"/>
            <a:pathLst>
              <a:path w="1120" h="850" fill="none" stroke="1">
                <a:moveTo>
                  <a:pt x="0" y="130"/>
                </a:moveTo>
                <a:cubicBezTo>
                  <a:pt x="930" y="-40"/>
                  <a:pt x="1000" y="60"/>
                  <a:pt x="930" y="220"/>
                </a:cubicBezTo>
                <a:cubicBezTo>
                  <a:pt x="810" y="380"/>
                  <a:pt x="465" y="400"/>
                  <a:pt x="325" y="625"/>
                </a:cubicBezTo>
                <a:lnTo>
                  <a:pt x="185" y="850"/>
                </a:lnTo>
              </a:path>
            </a:pathLst>
          </a:custGeom>
          <a:noFill/>
          <a:ln w="42863" cap="rnd">
            <a:solidFill>
              <a:srgbClr val="F6C04E"/>
            </a:solidFill>
            <a:prstDash val="sysDot"/>
            <a:round/>
            <a:headEnd type="none"/>
            <a:tailEnd type="arrow" w="lg" len="lg"/>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41" name="Benchmark setup title reference">
            <a:extLst xmlns:a="http://schemas.openxmlformats.org/drawingml/2006/main">
              <a:ext uri="{FF2B5EF4-FFF2-40B4-BE49-F238E27FC236}">
                <a16:creationId xmlns:a16="http://schemas.microsoft.com/office/drawing/2014/main" id="{42D6F962-7EE6-4B9D-9E97-C1590F804BB5}"/>
              </a:ext>
            </a:extLst>
          </p:cNvPr>
          <p:cNvSpPr>
            <a:spLocks xmlns:a="http://schemas.openxmlformats.org/drawingml/2006/main" noGrp="1"/>
          </p:cNvSpPr>
          <p:nvPr/>
        </p:nvSpPr>
        <p:spPr>
          <a:xfrm xmlns:a="http://schemas.openxmlformats.org/drawingml/2006/main">
            <a:off x="9222391" y="29937075"/>
            <a:ext cx="32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400">
                <a:solidFill>
                  <a:srgbClr val="F6C04E"/>
                </a:solidFill>
                <a:latin typeface="Fira Code"/>
                <a:ea typeface="Fira Code"/>
                <a:cs typeface="Fira Code"/>
              </a:defRPr>
            </a:pPr>
            <a:r>
              <a:rPr sz="2400">
                <a:solidFill>
                  <a:srgbClr val="F6C04E"/>
                </a:solidFill>
                <a:latin typeface="Fira Code"/>
                <a:ea typeface="Fira Code"/>
                <a:cs typeface="Fira Code"/>
              </a:rPr>
              <a:t>‡</a:t>
            </a:r>
          </a:p>
        </p:txBody>
      </p:sp>
      <p:sp>
        <p:nvSpPr>
          <p:cNvPr id="842" name="EKF integrity constraint">
            <a:extLst xmlns:a="http://schemas.openxmlformats.org/drawingml/2006/main">
              <a:ext uri="{FF2B5EF4-FFF2-40B4-BE49-F238E27FC236}">
                <a16:creationId xmlns:a16="http://schemas.microsoft.com/office/drawing/2014/main" id="{BB9B39EC-5AB5-4A66-9059-747376F98062}"/>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00">
                <a:solidFill>
                  <a:srgbClr val="EDDAF1"/>
                </a:solidFill>
                <a:latin typeface="Fira Code"/>
                <a:ea typeface="Fira Code"/>
                <a:cs typeface="Fira Code"/>
              </a:defRPr>
            </a:pPr>
            <a:r>
              <a:rPr sz="2800">
                <a:solidFill>
                  <a:srgbClr val="FFAA80"/>
                </a:solidFill>
                <a:latin typeface="Fira Code"/>
                <a:ea typeface="Fira Code"/>
                <a:cs typeface="Fira Code"/>
              </a:rPr>
              <a:t>variance!</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all</a:t>
            </a:r>
            <a:r>
              <a:rPr sz="2800">
                <a:solidFill>
                  <a:srgbClr val="AB7AB8"/>
                </a:solidFill>
                <a:latin typeface="Fira Code"/>
                <a:ea typeface="Fira Code"/>
                <a:cs typeface="Fira Code"/>
              </a:rPr>
              <a:t>(</a:t>
            </a:r>
            <a:r>
              <a:rPr sz="2800">
                <a:solidFill>
                  <a:srgbClr val="EDDAF1"/>
                </a:solidFill>
                <a:latin typeface="Fira Code"/>
                <a:ea typeface="Fira Code"/>
                <a:cs typeface="Fira Code"/>
              </a:rPr>
              <a:t>Σ₊</a:t>
            </a:r>
            <a:r>
              <a:rPr sz="2800">
                <a:solidFill>
                  <a:srgbClr val="AB7AB8"/>
                </a:solidFill>
                <a:latin typeface="Fira Code"/>
                <a:ea typeface="Fira Code"/>
                <a:cs typeface="Fira Code"/>
              </a:rPr>
              <a:t>[[</a:t>
            </a:r>
            <a:r>
              <a:rPr sz="2800">
                <a:solidFill>
                  <a:srgbClr val="93C1E8"/>
                </a:solidFill>
                <a:latin typeface="Fira Code"/>
                <a:ea typeface="Fira Code"/>
                <a:cs typeface="Fira Code"/>
              </a:rPr>
              <a:t>1 5 9</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&gt;</a:t>
            </a:r>
            <a:r>
              <a:rPr sz="2800">
                <a:solidFill>
                  <a:srgbClr val="EDDAF1"/>
                </a:solidFill>
                <a:latin typeface="Fira Code"/>
                <a:ea typeface="Fira Code"/>
                <a:cs typeface="Fira Code"/>
              </a:rPr>
              <a:t> </a:t>
            </a:r>
            <a:r>
              <a:rPr sz="2800">
                <a:solidFill>
                  <a:srgbClr val="93C1E8"/>
                </a:solidFill>
                <a:latin typeface="Fira Code"/>
                <a:ea typeface="Fira Code"/>
                <a:cs typeface="Fira Code"/>
              </a:rPr>
              <a:t>0</a:t>
            </a:r>
            <a:r>
              <a:rPr sz="2800">
                <a:solidFill>
                  <a:srgbClr val="AB7AB8"/>
                </a:solidFill>
                <a:latin typeface="Fira Code"/>
                <a:ea typeface="Fira Code"/>
                <a:cs typeface="Fira Code"/>
              </a:rPr>
              <a:t>)</a:t>
            </a:r>
          </a:p>
        </p:txBody>
      </p:sp>
      <p:sp>
        <p:nvSpPr>
          <p:cNvPr id="843" name="Contributions invitation">
            <a:hlinkClick xmlns:r="http://schemas.openxmlformats.org/officeDocument/2006/relationships" r:id="rId3"/>
            <a:extLst xmlns:a="http://schemas.openxmlformats.org/drawingml/2006/main">
              <a:ext uri="{FF2B5EF4-FFF2-40B4-BE49-F238E27FC236}">
                <a16:creationId xmlns:a16="http://schemas.microsoft.com/office/drawing/2014/main" id="{1CEF8EC6-C0BB-40D7-A6E6-C8E9F1B01E18}"/>
              </a:ext>
            </a:extLst>
          </p:cNvPr>
          <p:cNvSpPr>
            <a:spLocks xmlns:a="http://schemas.openxmlformats.org/drawingml/2006/main" noGrp="1"/>
          </p:cNvSpPr>
          <p:nvPr/>
        </p:nvSpPr>
        <p:spPr>
          <a:xfrm xmlns:a="http://schemas.openxmlformats.org/drawingml/2006/main">
            <a:off x="952500" y="4127182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u="none">
                <a:solidFill>
                  <a:srgbClr val="F2EAD9"/>
                </a:solidFill>
                <a:latin typeface="Avenir Next"/>
                <a:ea typeface="Avenir Next"/>
                <a:cs typeface="Avenir Next"/>
              </a:rPr>
              <a:t>Contributions and bug reports are welcome on GitHub: </a:t>
            </a:r>
            <a:r>
              <a:rPr sz="1800" u="none">
                <a:solidFill>
                  <a:srgbClr val="F6C04E"/>
                </a:solidFill>
                <a:latin typeface="Avenir Next"/>
                <a:ea typeface="Avenir Next"/>
                <a:cs typeface="Avenir Next"/>
              </a:rPr>
              <a:t>mech-lang/mech</a:t>
            </a:r>
            <a:r>
              <a:rPr sz="1800" u="none">
                <a:solidFill>
                  <a:srgbClr val="F2EAD9"/>
                </a:solidFill>
                <a:latin typeface="Avenir Next"/>
                <a:ea typeface="Avenir Next"/>
                <a:cs typeface="Avenir Next"/>
              </a:rPr>
              <a:t>.</a:t>
            </a:r>
          </a:p>
        </p:txBody>
      </p:sp>
      <p:sp>
        <p:nvSpPr>
          <p:cNvPr id="844" name="Benchmark setup note reference">
            <a:extLst xmlns:a="http://schemas.openxmlformats.org/drawingml/2006/main">
              <a:ext uri="{FF2B5EF4-FFF2-40B4-BE49-F238E27FC236}">
                <a16:creationId xmlns:a16="http://schemas.microsoft.com/office/drawing/2014/main" id="{36FF6434-F66E-4F00-BD64-3B9D9AAAD5AB}"/>
              </a:ext>
            </a:extLst>
          </p:cNvPr>
          <p:cNvSpPr>
            <a:spLocks xmlns:a="http://schemas.openxmlformats.org/drawingml/2006/main" noGrp="1"/>
          </p:cNvSpPr>
          <p:nvPr/>
        </p:nvSpPr>
        <p:spPr>
          <a:xfrm xmlns:a="http://schemas.openxmlformats.org/drawingml/2006/main">
            <a:off x="3619500" y="419862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6C04E"/>
                </a:solidFill>
                <a:latin typeface="Fira Code"/>
                <a:ea typeface="Fira Code"/>
                <a:cs typeface="Fira Code"/>
              </a:defRPr>
            </a:pPr>
            <a:r>
              <a:rPr sz="2100">
                <a:solidFill>
                  <a:srgbClr val="F6C04E"/>
                </a:solidFill>
                <a:latin typeface="Fira Code"/>
                <a:ea typeface="Fira Code"/>
                <a:cs typeface="Fira Code"/>
              </a:rPr>
              <a:t>‡</a:t>
            </a:r>
          </a:p>
        </p:txBody>
      </p:sp>
      <p:pic>
        <p:nvPicPr>
          <p:cNvPr id="845" name="GitHub repository logo" descr="GitHub Invertocat logo">
            <a:hlinkClick xmlns:r="http://schemas.openxmlformats.org/officeDocument/2006/relationships" r:id="rId2"/>
          </p:cNvPr>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2278743" y="4912456"/>
            <a:ext cx="471714" cy="462088"/>
          </a:xfrm>
          <a:prstGeom xmlns:a="http://schemas.openxmlformats.org/drawingml/2006/main" prst="rect">
            <a:avLst/>
          </a:prstGeom>
        </p:spPr>
      </p:pic>
      <p:sp>
        <p:nvSpPr>
          <p:cNvPr id="848" name="Backend compilation note accent">
            <a:extLst xmlns:a="http://schemas.openxmlformats.org/drawingml/2006/main">
              <a:ext uri="{FF2B5EF4-FFF2-40B4-BE49-F238E27FC236}">
                <a16:creationId xmlns:a16="http://schemas.microsoft.com/office/drawing/2014/main" id="{47DA5003-0207-4DE4-BAE3-D8BAA5A0EE79}"/>
              </a:ext>
            </a:extLst>
          </p:cNvPr>
          <p:cNvSpPr>
            <a:spLocks xmlns:a="http://schemas.openxmlformats.org/drawingml/2006/main" noGrp="1"/>
          </p:cNvSpPr>
          <p:nvPr/>
        </p:nvSpPr>
        <p:spPr>
          <a:xfrm xmlns:a="http://schemas.openxmlformats.org/drawingml/2006/main">
            <a:off x="11715750" y="35652075"/>
            <a:ext cx="57150" cy="762000"/>
          </a:xfrm>
          <a:prstGeom xmlns:a="http://schemas.openxmlformats.org/drawingml/2006/main" prst="rect">
            <a:avLst/>
          </a:prstGeom>
          <a:solidFill xmlns:a="http://schemas.openxmlformats.org/drawingml/2006/main">
            <a:srgbClr val="B89A5A"/>
          </a:solidFill>
          <a:ln xmlns:a="http://schemas.openxmlformats.org/drawingml/2006/main" w="0">
            <a:noFill/>
          </a:ln>
        </p:spPr>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